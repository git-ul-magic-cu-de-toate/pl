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99FF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Relationship Id="rId4" Type="http://schemas.openxmlformats.org/officeDocument/2006/relationships/image" Target="../media/image16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Relationship Id="rId4" Type="http://schemas.openxmlformats.org/officeDocument/2006/relationships/image" Target="../media/image1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76077-8C37-4D7B-BEA7-D3E08959D2A9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294FFE-AACC-4E9D-9631-9D41023B4EFA}">
      <dgm:prSet phldrT="[Text]"/>
      <dgm:spPr>
        <a:solidFill>
          <a:srgbClr val="000066"/>
        </a:solidFill>
      </dgm:spPr>
      <dgm:t>
        <a:bodyPr/>
        <a:lstStyle/>
        <a:p>
          <a:r>
            <a:rPr lang="ro-RO" b="1"/>
            <a:t>Boșoagă Costin-Cornel</a:t>
          </a:r>
          <a:endParaRPr lang="en-US" b="1"/>
        </a:p>
      </dgm:t>
    </dgm:pt>
    <dgm:pt modelId="{47313F6B-49FE-41D6-8D6B-D17996C62514}" type="parTrans" cxnId="{74334CDF-CAA6-447C-AAFF-FB3AB8F71609}">
      <dgm:prSet/>
      <dgm:spPr/>
      <dgm:t>
        <a:bodyPr/>
        <a:lstStyle/>
        <a:p>
          <a:endParaRPr lang="en-US"/>
        </a:p>
      </dgm:t>
    </dgm:pt>
    <dgm:pt modelId="{660EE3CE-3898-4FBC-A973-B06AFE58932C}" type="sibTrans" cxnId="{74334CDF-CAA6-447C-AAFF-FB3AB8F71609}">
      <dgm:prSet/>
      <dgm:spPr/>
      <dgm:t>
        <a:bodyPr/>
        <a:lstStyle/>
        <a:p>
          <a:endParaRPr lang="en-US"/>
        </a:p>
      </dgm:t>
    </dgm:pt>
    <dgm:pt modelId="{80E049B3-717F-43C6-B4A4-4384FDC127F5}">
      <dgm:prSet phldrT="[Text]"/>
      <dgm:spPr>
        <a:solidFill>
          <a:srgbClr val="000066"/>
        </a:solidFill>
      </dgm:spPr>
      <dgm:t>
        <a:bodyPr/>
        <a:lstStyle/>
        <a:p>
          <a:r>
            <a:rPr lang="ro-RO" b="1"/>
            <a:t>Corduneanu Ioana</a:t>
          </a:r>
          <a:endParaRPr lang="en-US" b="1"/>
        </a:p>
      </dgm:t>
    </dgm:pt>
    <dgm:pt modelId="{874CD337-F374-441E-A38B-DDF7B7B9766F}" type="parTrans" cxnId="{6D81489B-C723-406F-A9F9-D6209A480A11}">
      <dgm:prSet/>
      <dgm:spPr/>
      <dgm:t>
        <a:bodyPr/>
        <a:lstStyle/>
        <a:p>
          <a:endParaRPr lang="en-US"/>
        </a:p>
      </dgm:t>
    </dgm:pt>
    <dgm:pt modelId="{0CF68EE8-EF54-41C3-8878-597F26EBF21E}" type="sibTrans" cxnId="{6D81489B-C723-406F-A9F9-D6209A480A11}">
      <dgm:prSet/>
      <dgm:spPr/>
      <dgm:t>
        <a:bodyPr/>
        <a:lstStyle/>
        <a:p>
          <a:endParaRPr lang="en-US"/>
        </a:p>
      </dgm:t>
    </dgm:pt>
    <dgm:pt modelId="{4AC0A299-61EC-4443-9CED-3027F0DD1CF6}">
      <dgm:prSet/>
      <dgm:spPr>
        <a:solidFill>
          <a:srgbClr val="000066"/>
        </a:solidFill>
      </dgm:spPr>
      <dgm:t>
        <a:bodyPr/>
        <a:lstStyle/>
        <a:p>
          <a:r>
            <a:rPr lang="ro-RO" b="1"/>
            <a:t>Dumitrescu Elena-Dayana</a:t>
          </a:r>
          <a:endParaRPr lang="en-US" b="1"/>
        </a:p>
      </dgm:t>
    </dgm:pt>
    <dgm:pt modelId="{93859C98-58B3-439F-B0C5-F4215019C4C2}" type="parTrans" cxnId="{4FC7683F-8201-4462-AFE1-A2C31074BD65}">
      <dgm:prSet/>
      <dgm:spPr/>
      <dgm:t>
        <a:bodyPr/>
        <a:lstStyle/>
        <a:p>
          <a:endParaRPr lang="en-US"/>
        </a:p>
      </dgm:t>
    </dgm:pt>
    <dgm:pt modelId="{1E8FB066-4056-4675-BC6F-0C369E8560E6}" type="sibTrans" cxnId="{4FC7683F-8201-4462-AFE1-A2C31074BD65}">
      <dgm:prSet/>
      <dgm:spPr/>
      <dgm:t>
        <a:bodyPr/>
        <a:lstStyle/>
        <a:p>
          <a:endParaRPr lang="en-US"/>
        </a:p>
      </dgm:t>
    </dgm:pt>
    <dgm:pt modelId="{189EF27A-754E-4129-867A-2FD56A787F65}">
      <dgm:prSet/>
      <dgm:spPr>
        <a:solidFill>
          <a:srgbClr val="000066"/>
        </a:solidFill>
      </dgm:spPr>
      <dgm:t>
        <a:bodyPr/>
        <a:lstStyle/>
        <a:p>
          <a:r>
            <a:rPr lang="ro-RO" b="1"/>
            <a:t>Ghiță Mihai-Andrei</a:t>
          </a:r>
          <a:endParaRPr lang="en-US" b="1"/>
        </a:p>
      </dgm:t>
    </dgm:pt>
    <dgm:pt modelId="{F65614B2-9199-4E5D-84B9-7352A1015360}" type="parTrans" cxnId="{21DB2560-B751-4B0B-922B-62C28E293691}">
      <dgm:prSet/>
      <dgm:spPr/>
      <dgm:t>
        <a:bodyPr/>
        <a:lstStyle/>
        <a:p>
          <a:endParaRPr lang="en-US"/>
        </a:p>
      </dgm:t>
    </dgm:pt>
    <dgm:pt modelId="{0B52BF9C-3015-4E93-9DA4-31CE456A98BD}" type="sibTrans" cxnId="{21DB2560-B751-4B0B-922B-62C28E293691}">
      <dgm:prSet/>
      <dgm:spPr/>
      <dgm:t>
        <a:bodyPr/>
        <a:lstStyle/>
        <a:p>
          <a:endParaRPr lang="en-US"/>
        </a:p>
      </dgm:t>
    </dgm:pt>
    <dgm:pt modelId="{62308A80-FEAE-4438-ABE7-6812A59A807A}" type="pres">
      <dgm:prSet presAssocID="{9A376077-8C37-4D7B-BEA7-D3E08959D2A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FFE83C-30B9-4AFA-8024-B3AA9F67BE75}" type="pres">
      <dgm:prSet presAssocID="{CA294FFE-AACC-4E9D-9631-9D41023B4EFA}" presName="parentText" presStyleLbl="node1" presStyleIdx="0" presStyleCnt="4" custLinFactY="-3149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1FE0A1-6022-4361-8278-D8F115060614}" type="pres">
      <dgm:prSet presAssocID="{660EE3CE-3898-4FBC-A973-B06AFE58932C}" presName="spacer" presStyleCnt="0"/>
      <dgm:spPr/>
    </dgm:pt>
    <dgm:pt modelId="{ECDFB32B-DD62-4F36-BAF1-B5CAF3D32DD5}" type="pres">
      <dgm:prSet presAssocID="{80E049B3-717F-43C6-B4A4-4384FDC127F5}" presName="parentText" presStyleLbl="node1" presStyleIdx="1" presStyleCnt="4" custLinFactNeighborX="38195" custLinFactNeighborY="-477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54933D-602A-479A-9EEA-B5EDD7894469}" type="pres">
      <dgm:prSet presAssocID="{0CF68EE8-EF54-41C3-8878-597F26EBF21E}" presName="spacer" presStyleCnt="0"/>
      <dgm:spPr/>
    </dgm:pt>
    <dgm:pt modelId="{F1C410F3-1B54-4FB2-832D-60D2ACA7C70E}" type="pres">
      <dgm:prSet presAssocID="{4AC0A299-61EC-4443-9CED-3027F0DD1CF6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FB5660-6B54-427C-AFB1-15847C1C4657}" type="pres">
      <dgm:prSet presAssocID="{1E8FB066-4056-4675-BC6F-0C369E8560E6}" presName="spacer" presStyleCnt="0"/>
      <dgm:spPr/>
    </dgm:pt>
    <dgm:pt modelId="{C7B5F499-98B3-4B17-9A6C-9C1C17821C50}" type="pres">
      <dgm:prSet presAssocID="{189EF27A-754E-4129-867A-2FD56A787F65}" presName="parentText" presStyleLbl="node1" presStyleIdx="3" presStyleCnt="4" custLinFactNeighborY="7087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52399AE-1E46-4CA9-81EF-BFEC2E12933D}" type="presOf" srcId="{9A376077-8C37-4D7B-BEA7-D3E08959D2A9}" destId="{62308A80-FEAE-4438-ABE7-6812A59A807A}" srcOrd="0" destOrd="0" presId="urn:microsoft.com/office/officeart/2005/8/layout/vList2"/>
    <dgm:cxn modelId="{4FC7683F-8201-4462-AFE1-A2C31074BD65}" srcId="{9A376077-8C37-4D7B-BEA7-D3E08959D2A9}" destId="{4AC0A299-61EC-4443-9CED-3027F0DD1CF6}" srcOrd="2" destOrd="0" parTransId="{93859C98-58B3-439F-B0C5-F4215019C4C2}" sibTransId="{1E8FB066-4056-4675-BC6F-0C369E8560E6}"/>
    <dgm:cxn modelId="{141C40D7-489F-4F67-8D54-44ABE30EC5CC}" type="presOf" srcId="{CA294FFE-AACC-4E9D-9631-9D41023B4EFA}" destId="{D9FFE83C-30B9-4AFA-8024-B3AA9F67BE75}" srcOrd="0" destOrd="0" presId="urn:microsoft.com/office/officeart/2005/8/layout/vList2"/>
    <dgm:cxn modelId="{6D81489B-C723-406F-A9F9-D6209A480A11}" srcId="{9A376077-8C37-4D7B-BEA7-D3E08959D2A9}" destId="{80E049B3-717F-43C6-B4A4-4384FDC127F5}" srcOrd="1" destOrd="0" parTransId="{874CD337-F374-441E-A38B-DDF7B7B9766F}" sibTransId="{0CF68EE8-EF54-41C3-8878-597F26EBF21E}"/>
    <dgm:cxn modelId="{21DB2560-B751-4B0B-922B-62C28E293691}" srcId="{9A376077-8C37-4D7B-BEA7-D3E08959D2A9}" destId="{189EF27A-754E-4129-867A-2FD56A787F65}" srcOrd="3" destOrd="0" parTransId="{F65614B2-9199-4E5D-84B9-7352A1015360}" sibTransId="{0B52BF9C-3015-4E93-9DA4-31CE456A98BD}"/>
    <dgm:cxn modelId="{56F55CAB-8CAB-4A04-B5B2-589E41917825}" type="presOf" srcId="{80E049B3-717F-43C6-B4A4-4384FDC127F5}" destId="{ECDFB32B-DD62-4F36-BAF1-B5CAF3D32DD5}" srcOrd="0" destOrd="0" presId="urn:microsoft.com/office/officeart/2005/8/layout/vList2"/>
    <dgm:cxn modelId="{74334CDF-CAA6-447C-AAFF-FB3AB8F71609}" srcId="{9A376077-8C37-4D7B-BEA7-D3E08959D2A9}" destId="{CA294FFE-AACC-4E9D-9631-9D41023B4EFA}" srcOrd="0" destOrd="0" parTransId="{47313F6B-49FE-41D6-8D6B-D17996C62514}" sibTransId="{660EE3CE-3898-4FBC-A973-B06AFE58932C}"/>
    <dgm:cxn modelId="{5AC7DA8D-8085-4C5B-BE4D-CBF3179C8B22}" type="presOf" srcId="{4AC0A299-61EC-4443-9CED-3027F0DD1CF6}" destId="{F1C410F3-1B54-4FB2-832D-60D2ACA7C70E}" srcOrd="0" destOrd="0" presId="urn:microsoft.com/office/officeart/2005/8/layout/vList2"/>
    <dgm:cxn modelId="{B8EA7A60-54B5-482D-A7D1-C6A78B6613DB}" type="presOf" srcId="{189EF27A-754E-4129-867A-2FD56A787F65}" destId="{C7B5F499-98B3-4B17-9A6C-9C1C17821C50}" srcOrd="0" destOrd="0" presId="urn:microsoft.com/office/officeart/2005/8/layout/vList2"/>
    <dgm:cxn modelId="{1969CE4A-122F-4538-85AD-C3D79558790F}" type="presParOf" srcId="{62308A80-FEAE-4438-ABE7-6812A59A807A}" destId="{D9FFE83C-30B9-4AFA-8024-B3AA9F67BE75}" srcOrd="0" destOrd="0" presId="urn:microsoft.com/office/officeart/2005/8/layout/vList2"/>
    <dgm:cxn modelId="{85B88951-803F-4BB0-8D77-857AE64F1D33}" type="presParOf" srcId="{62308A80-FEAE-4438-ABE7-6812A59A807A}" destId="{2F1FE0A1-6022-4361-8278-D8F115060614}" srcOrd="1" destOrd="0" presId="urn:microsoft.com/office/officeart/2005/8/layout/vList2"/>
    <dgm:cxn modelId="{74E0DFDB-6077-4495-9325-5501E03E0A21}" type="presParOf" srcId="{62308A80-FEAE-4438-ABE7-6812A59A807A}" destId="{ECDFB32B-DD62-4F36-BAF1-B5CAF3D32DD5}" srcOrd="2" destOrd="0" presId="urn:microsoft.com/office/officeart/2005/8/layout/vList2"/>
    <dgm:cxn modelId="{F300DD11-D40A-4E50-AE2D-C01EEBD355C4}" type="presParOf" srcId="{62308A80-FEAE-4438-ABE7-6812A59A807A}" destId="{8954933D-602A-479A-9EEA-B5EDD7894469}" srcOrd="3" destOrd="0" presId="urn:microsoft.com/office/officeart/2005/8/layout/vList2"/>
    <dgm:cxn modelId="{166F860A-0DDE-442D-942D-3F686C2322D5}" type="presParOf" srcId="{62308A80-FEAE-4438-ABE7-6812A59A807A}" destId="{F1C410F3-1B54-4FB2-832D-60D2ACA7C70E}" srcOrd="4" destOrd="0" presId="urn:microsoft.com/office/officeart/2005/8/layout/vList2"/>
    <dgm:cxn modelId="{D9BF0CEC-EDF8-4A30-A892-A39D80669E7C}" type="presParOf" srcId="{62308A80-FEAE-4438-ABE7-6812A59A807A}" destId="{B8FB5660-6B54-427C-AFB1-15847C1C4657}" srcOrd="5" destOrd="0" presId="urn:microsoft.com/office/officeart/2005/8/layout/vList2"/>
    <dgm:cxn modelId="{9E398AA5-F95D-48BC-856F-49B04AE48622}" type="presParOf" srcId="{62308A80-FEAE-4438-ABE7-6812A59A807A}" destId="{C7B5F499-98B3-4B17-9A6C-9C1C17821C5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376077-8C37-4D7B-BEA7-D3E08959D2A9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294FFE-AACC-4E9D-9631-9D41023B4EFA}">
      <dgm:prSet phldrT="[Text]"/>
      <dgm:spPr>
        <a:solidFill>
          <a:srgbClr val="000066"/>
        </a:solidFill>
      </dgm:spPr>
      <dgm:t>
        <a:bodyPr/>
        <a:lstStyle/>
        <a:p>
          <a:r>
            <a:rPr lang="ro-RO" b="1"/>
            <a:t>Grupa 312CC</a:t>
          </a:r>
          <a:endParaRPr lang="en-US" b="1"/>
        </a:p>
      </dgm:t>
    </dgm:pt>
    <dgm:pt modelId="{47313F6B-49FE-41D6-8D6B-D17996C62514}" type="parTrans" cxnId="{74334CDF-CAA6-447C-AAFF-FB3AB8F71609}">
      <dgm:prSet/>
      <dgm:spPr/>
      <dgm:t>
        <a:bodyPr/>
        <a:lstStyle/>
        <a:p>
          <a:endParaRPr lang="en-US"/>
        </a:p>
      </dgm:t>
    </dgm:pt>
    <dgm:pt modelId="{660EE3CE-3898-4FBC-A973-B06AFE58932C}" type="sibTrans" cxnId="{74334CDF-CAA6-447C-AAFF-FB3AB8F71609}">
      <dgm:prSet/>
      <dgm:spPr/>
      <dgm:t>
        <a:bodyPr/>
        <a:lstStyle/>
        <a:p>
          <a:endParaRPr lang="en-US"/>
        </a:p>
      </dgm:t>
    </dgm:pt>
    <dgm:pt modelId="{80E049B3-717F-43C6-B4A4-4384FDC127F5}">
      <dgm:prSet phldrT="[Text]"/>
      <dgm:spPr>
        <a:solidFill>
          <a:srgbClr val="000066"/>
        </a:solidFill>
      </dgm:spPr>
      <dgm:t>
        <a:bodyPr/>
        <a:lstStyle/>
        <a:p>
          <a:r>
            <a:rPr lang="en-US" b="1"/>
            <a:t>Profesor curs: Morar Anca Andreea</a:t>
          </a:r>
          <a:endParaRPr lang="en-US"/>
        </a:p>
      </dgm:t>
    </dgm:pt>
    <dgm:pt modelId="{874CD337-F374-441E-A38B-DDF7B7B9766F}" type="parTrans" cxnId="{6D81489B-C723-406F-A9F9-D6209A480A11}">
      <dgm:prSet/>
      <dgm:spPr/>
      <dgm:t>
        <a:bodyPr/>
        <a:lstStyle/>
        <a:p>
          <a:endParaRPr lang="en-US"/>
        </a:p>
      </dgm:t>
    </dgm:pt>
    <dgm:pt modelId="{0CF68EE8-EF54-41C3-8878-597F26EBF21E}" type="sibTrans" cxnId="{6D81489B-C723-406F-A9F9-D6209A480A11}">
      <dgm:prSet/>
      <dgm:spPr/>
      <dgm:t>
        <a:bodyPr/>
        <a:lstStyle/>
        <a:p>
          <a:endParaRPr lang="en-US"/>
        </a:p>
      </dgm:t>
    </dgm:pt>
    <dgm:pt modelId="{4AC0A299-61EC-4443-9CED-3027F0DD1CF6}">
      <dgm:prSet/>
      <dgm:spPr>
        <a:solidFill>
          <a:srgbClr val="000066"/>
        </a:solidFill>
      </dgm:spPr>
      <dgm:t>
        <a:bodyPr/>
        <a:lstStyle/>
        <a:p>
          <a:r>
            <a:rPr lang="en-US" b="1"/>
            <a:t>Seminar: Arsene Diana-Andreea</a:t>
          </a:r>
          <a:endParaRPr lang="en-US"/>
        </a:p>
      </dgm:t>
    </dgm:pt>
    <dgm:pt modelId="{93859C98-58B3-439F-B0C5-F4215019C4C2}" type="parTrans" cxnId="{4FC7683F-8201-4462-AFE1-A2C31074BD65}">
      <dgm:prSet/>
      <dgm:spPr/>
      <dgm:t>
        <a:bodyPr/>
        <a:lstStyle/>
        <a:p>
          <a:endParaRPr lang="en-US"/>
        </a:p>
      </dgm:t>
    </dgm:pt>
    <dgm:pt modelId="{1E8FB066-4056-4675-BC6F-0C369E8560E6}" type="sibTrans" cxnId="{4FC7683F-8201-4462-AFE1-A2C31074BD65}">
      <dgm:prSet/>
      <dgm:spPr/>
      <dgm:t>
        <a:bodyPr/>
        <a:lstStyle/>
        <a:p>
          <a:endParaRPr lang="en-US"/>
        </a:p>
      </dgm:t>
    </dgm:pt>
    <dgm:pt modelId="{62308A80-FEAE-4438-ABE7-6812A59A807A}" type="pres">
      <dgm:prSet presAssocID="{9A376077-8C37-4D7B-BEA7-D3E08959D2A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FFE83C-30B9-4AFA-8024-B3AA9F67BE75}" type="pres">
      <dgm:prSet presAssocID="{CA294FFE-AACC-4E9D-9631-9D41023B4EFA}" presName="parentText" presStyleLbl="node1" presStyleIdx="0" presStyleCnt="3" custLinFactNeighborY="-6105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1FE0A1-6022-4361-8278-D8F115060614}" type="pres">
      <dgm:prSet presAssocID="{660EE3CE-3898-4FBC-A973-B06AFE58932C}" presName="spacer" presStyleCnt="0"/>
      <dgm:spPr/>
    </dgm:pt>
    <dgm:pt modelId="{ECDFB32B-DD62-4F36-BAF1-B5CAF3D32DD5}" type="pres">
      <dgm:prSet presAssocID="{80E049B3-717F-43C6-B4A4-4384FDC127F5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54933D-602A-479A-9EEA-B5EDD7894469}" type="pres">
      <dgm:prSet presAssocID="{0CF68EE8-EF54-41C3-8878-597F26EBF21E}" presName="spacer" presStyleCnt="0"/>
      <dgm:spPr/>
    </dgm:pt>
    <dgm:pt modelId="{F1C410F3-1B54-4FB2-832D-60D2ACA7C70E}" type="pres">
      <dgm:prSet presAssocID="{4AC0A299-61EC-4443-9CED-3027F0DD1CF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52399AE-1E46-4CA9-81EF-BFEC2E12933D}" type="presOf" srcId="{9A376077-8C37-4D7B-BEA7-D3E08959D2A9}" destId="{62308A80-FEAE-4438-ABE7-6812A59A807A}" srcOrd="0" destOrd="0" presId="urn:microsoft.com/office/officeart/2005/8/layout/vList2"/>
    <dgm:cxn modelId="{4FC7683F-8201-4462-AFE1-A2C31074BD65}" srcId="{9A376077-8C37-4D7B-BEA7-D3E08959D2A9}" destId="{4AC0A299-61EC-4443-9CED-3027F0DD1CF6}" srcOrd="2" destOrd="0" parTransId="{93859C98-58B3-439F-B0C5-F4215019C4C2}" sibTransId="{1E8FB066-4056-4675-BC6F-0C369E8560E6}"/>
    <dgm:cxn modelId="{141C40D7-489F-4F67-8D54-44ABE30EC5CC}" type="presOf" srcId="{CA294FFE-AACC-4E9D-9631-9D41023B4EFA}" destId="{D9FFE83C-30B9-4AFA-8024-B3AA9F67BE75}" srcOrd="0" destOrd="0" presId="urn:microsoft.com/office/officeart/2005/8/layout/vList2"/>
    <dgm:cxn modelId="{6D81489B-C723-406F-A9F9-D6209A480A11}" srcId="{9A376077-8C37-4D7B-BEA7-D3E08959D2A9}" destId="{80E049B3-717F-43C6-B4A4-4384FDC127F5}" srcOrd="1" destOrd="0" parTransId="{874CD337-F374-441E-A38B-DDF7B7B9766F}" sibTransId="{0CF68EE8-EF54-41C3-8878-597F26EBF21E}"/>
    <dgm:cxn modelId="{56F55CAB-8CAB-4A04-B5B2-589E41917825}" type="presOf" srcId="{80E049B3-717F-43C6-B4A4-4384FDC127F5}" destId="{ECDFB32B-DD62-4F36-BAF1-B5CAF3D32DD5}" srcOrd="0" destOrd="0" presId="urn:microsoft.com/office/officeart/2005/8/layout/vList2"/>
    <dgm:cxn modelId="{74334CDF-CAA6-447C-AAFF-FB3AB8F71609}" srcId="{9A376077-8C37-4D7B-BEA7-D3E08959D2A9}" destId="{CA294FFE-AACC-4E9D-9631-9D41023B4EFA}" srcOrd="0" destOrd="0" parTransId="{47313F6B-49FE-41D6-8D6B-D17996C62514}" sibTransId="{660EE3CE-3898-4FBC-A973-B06AFE58932C}"/>
    <dgm:cxn modelId="{5AC7DA8D-8085-4C5B-BE4D-CBF3179C8B22}" type="presOf" srcId="{4AC0A299-61EC-4443-9CED-3027F0DD1CF6}" destId="{F1C410F3-1B54-4FB2-832D-60D2ACA7C70E}" srcOrd="0" destOrd="0" presId="urn:microsoft.com/office/officeart/2005/8/layout/vList2"/>
    <dgm:cxn modelId="{1969CE4A-122F-4538-85AD-C3D79558790F}" type="presParOf" srcId="{62308A80-FEAE-4438-ABE7-6812A59A807A}" destId="{D9FFE83C-30B9-4AFA-8024-B3AA9F67BE75}" srcOrd="0" destOrd="0" presId="urn:microsoft.com/office/officeart/2005/8/layout/vList2"/>
    <dgm:cxn modelId="{85B88951-803F-4BB0-8D77-857AE64F1D33}" type="presParOf" srcId="{62308A80-FEAE-4438-ABE7-6812A59A807A}" destId="{2F1FE0A1-6022-4361-8278-D8F115060614}" srcOrd="1" destOrd="0" presId="urn:microsoft.com/office/officeart/2005/8/layout/vList2"/>
    <dgm:cxn modelId="{74E0DFDB-6077-4495-9325-5501E03E0A21}" type="presParOf" srcId="{62308A80-FEAE-4438-ABE7-6812A59A807A}" destId="{ECDFB32B-DD62-4F36-BAF1-B5CAF3D32DD5}" srcOrd="2" destOrd="0" presId="urn:microsoft.com/office/officeart/2005/8/layout/vList2"/>
    <dgm:cxn modelId="{F300DD11-D40A-4E50-AE2D-C01EEBD355C4}" type="presParOf" srcId="{62308A80-FEAE-4438-ABE7-6812A59A807A}" destId="{8954933D-602A-479A-9EEA-B5EDD7894469}" srcOrd="3" destOrd="0" presId="urn:microsoft.com/office/officeart/2005/8/layout/vList2"/>
    <dgm:cxn modelId="{166F860A-0DDE-442D-942D-3F686C2322D5}" type="presParOf" srcId="{62308A80-FEAE-4438-ABE7-6812A59A807A}" destId="{F1C410F3-1B54-4FB2-832D-60D2ACA7C70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991239-CB23-4443-A3BF-B35B91E0762F}" type="doc">
      <dgm:prSet loTypeId="urn:microsoft.com/office/officeart/2005/8/layout/pList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435AD4-FD45-4B6A-AEF0-296AEA2CA39C}">
      <dgm:prSet phldrT="[Text]"/>
      <dgm:spPr>
        <a:xfrm rot="10800000">
          <a:off x="171285" y="2036825"/>
          <a:ext cx="1224335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/>
        <a:lstStyle/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schemei bloc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-calculul lungimii microinstrucțiunii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-alegerea componentelor digitale utilizate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pini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-proiectarea cablajului</a:t>
          </a:r>
          <a:endParaRPr lang="en-US" b="1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</dgm:t>
    </dgm:pt>
    <dgm:pt modelId="{86F1BDE4-2186-4850-862A-9E3125F97F85}" type="parTrans" cxnId="{8B71B184-D046-43B9-9930-72C9F5968A6A}">
      <dgm:prSet/>
      <dgm:spPr/>
      <dgm:t>
        <a:bodyPr/>
        <a:lstStyle/>
        <a:p>
          <a:endParaRPr lang="en-US"/>
        </a:p>
      </dgm:t>
    </dgm:pt>
    <dgm:pt modelId="{AB1AE165-993C-4375-A614-E41A20822E4D}" type="sibTrans" cxnId="{8B71B184-D046-43B9-9930-72C9F5968A6A}">
      <dgm:prSet/>
      <dgm:spPr/>
      <dgm:t>
        <a:bodyPr/>
        <a:lstStyle/>
        <a:p>
          <a:endParaRPr lang="en-US"/>
        </a:p>
      </dgm:t>
    </dgm:pt>
    <dgm:pt modelId="{89FC22A2-624E-4F9B-9010-9EC853B6CF99}">
      <dgm:prSet phldrT="[Text]"/>
      <dgm:spPr>
        <a:xfrm rot="10800000">
          <a:off x="1564328" y="2036825"/>
          <a:ext cx="1224335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/>
        <a:lstStyle/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-completarea conținutului  memoriei de microprogram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-alegerea componentelor digitale utilizate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schemei bloc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-proiectarea cablajului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pini</a:t>
          </a:r>
          <a:endParaRPr lang="en-US" b="1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</dgm:t>
    </dgm:pt>
    <dgm:pt modelId="{F785DE68-B55D-4A80-8D66-0EFD22114C93}" type="parTrans" cxnId="{357BCC41-C43D-4A19-AE30-D37A2D0AED92}">
      <dgm:prSet/>
      <dgm:spPr/>
      <dgm:t>
        <a:bodyPr/>
        <a:lstStyle/>
        <a:p>
          <a:endParaRPr lang="en-US"/>
        </a:p>
      </dgm:t>
    </dgm:pt>
    <dgm:pt modelId="{85331F3C-09CE-4ABF-9984-ACF9B61B34EF}" type="sibTrans" cxnId="{357BCC41-C43D-4A19-AE30-D37A2D0AED92}">
      <dgm:prSet/>
      <dgm:spPr/>
      <dgm:t>
        <a:bodyPr/>
        <a:lstStyle/>
        <a:p>
          <a:endParaRPr lang="en-US"/>
        </a:p>
      </dgm:t>
    </dgm:pt>
    <dgm:pt modelId="{149A516C-371F-4785-B870-D9BBCE7F31A3}">
      <dgm:prSet phldrT="[Text]"/>
      <dgm:spPr>
        <a:xfrm rot="10800000">
          <a:off x="2957370" y="2036825"/>
          <a:ext cx="1224335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/>
        <a:lstStyle/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organigramei</a:t>
          </a:r>
        </a:p>
        <a:p>
          <a:pPr algn="l"/>
          <a:r>
            <a:rPr lang="en-US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</a:t>
          </a:r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descrierea funcționalității automatului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pini</a:t>
          </a:r>
          <a:endParaRPr lang="en-US" b="1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  <a:p>
          <a:pPr algn="l"/>
          <a:r>
            <a:rPr lang="en-US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-scrierea documenta</a:t>
          </a:r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ției de proiect</a:t>
          </a:r>
        </a:p>
        <a:p>
          <a:pPr algn="l"/>
          <a:r>
            <a:rPr lang="ro-RO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prezentării .pptx</a:t>
          </a:r>
        </a:p>
      </dgm:t>
    </dgm:pt>
    <dgm:pt modelId="{647222EE-BFC0-46E2-816F-AAFD2502F72F}" type="parTrans" cxnId="{3D771B6E-7F4F-45D7-8F98-C13B0DF42064}">
      <dgm:prSet/>
      <dgm:spPr/>
      <dgm:t>
        <a:bodyPr/>
        <a:lstStyle/>
        <a:p>
          <a:endParaRPr lang="en-US"/>
        </a:p>
      </dgm:t>
    </dgm:pt>
    <dgm:pt modelId="{494810C6-B6E0-4C94-B188-24D4B2E70EBF}" type="sibTrans" cxnId="{3D771B6E-7F4F-45D7-8F98-C13B0DF42064}">
      <dgm:prSet/>
      <dgm:spPr/>
      <dgm:t>
        <a:bodyPr/>
        <a:lstStyle/>
        <a:p>
          <a:endParaRPr lang="en-US"/>
        </a:p>
      </dgm:t>
    </dgm:pt>
    <dgm:pt modelId="{3AEB2AD3-0B24-4BC7-9B25-34C6D63B4B14}">
      <dgm:prSet custT="1"/>
      <dgm:spPr>
        <a:xfrm rot="10800000">
          <a:off x="4304139" y="2036825"/>
          <a:ext cx="1224335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solidFill>
            <a:srgbClr val="3366FF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/>
        <a:lstStyle/>
        <a:p>
          <a:pPr algn="l"/>
          <a:r>
            <a:rPr lang="ro-RO" sz="10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</a:t>
          </a:r>
          <a:r>
            <a:rPr lang="ro-RO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realizarea schemei bloc</a:t>
          </a:r>
        </a:p>
        <a:p>
          <a:pPr algn="l"/>
          <a:r>
            <a:rPr lang="ro-RO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-proiectarea schemei unității de microprogramare</a:t>
          </a:r>
        </a:p>
        <a:p>
          <a:pPr algn="l"/>
          <a:r>
            <a:rPr lang="en-US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</a:t>
          </a:r>
          <a:r>
            <a:rPr lang="en-US" sz="1000" b="1" dirty="0" err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alegerea</a:t>
          </a:r>
          <a:r>
            <a:rPr lang="en-US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000" b="1" dirty="0" err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componentelor</a:t>
          </a:r>
          <a:r>
            <a:rPr lang="en-US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000" b="1" dirty="0" err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digitale</a:t>
          </a:r>
          <a:r>
            <a:rPr lang="en-US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ro-RO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utilizate</a:t>
          </a:r>
        </a:p>
        <a:p>
          <a:pPr algn="l"/>
          <a:r>
            <a:rPr lang="ro-RO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-calculul lungimii microinstrucțiunii</a:t>
          </a:r>
        </a:p>
        <a:p>
          <a:pPr algn="l"/>
          <a:r>
            <a:rPr lang="ro-RO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</a:t>
          </a:r>
          <a:r>
            <a:rPr lang="ro-RO" sz="11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i</a:t>
          </a:r>
          <a:endParaRPr lang="en-US" sz="1100" b="1" dirty="0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</dgm:t>
    </dgm:pt>
    <dgm:pt modelId="{21AD4C6A-44A8-4085-B196-D7413BB8AF21}" type="parTrans" cxnId="{D5F81E69-DB3C-4810-B6CE-2C98E889DC12}">
      <dgm:prSet/>
      <dgm:spPr/>
      <dgm:t>
        <a:bodyPr/>
        <a:lstStyle/>
        <a:p>
          <a:endParaRPr lang="en-US"/>
        </a:p>
      </dgm:t>
    </dgm:pt>
    <dgm:pt modelId="{786BFBB3-5C77-42DB-A42C-D1EA05B4E1AF}" type="sibTrans" cxnId="{D5F81E69-DB3C-4810-B6CE-2C98E889DC12}">
      <dgm:prSet/>
      <dgm:spPr/>
      <dgm:t>
        <a:bodyPr/>
        <a:lstStyle/>
        <a:p>
          <a:endParaRPr lang="en-US"/>
        </a:p>
      </dgm:t>
    </dgm:pt>
    <dgm:pt modelId="{232B14B8-35DD-413F-99C9-BE028489A637}" type="pres">
      <dgm:prSet presAssocID="{DC991239-CB23-4443-A3BF-B35B91E0762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BA0978B-0724-4849-B8A6-40AE4C0CE0FF}" type="pres">
      <dgm:prSet presAssocID="{DC991239-CB23-4443-A3BF-B35B91E0762F}" presName="bkgdShp" presStyleLbl="alignAccFollowNode1" presStyleIdx="0" presStyleCnt="1"/>
      <dgm:spPr>
        <a:xfrm>
          <a:off x="0" y="0"/>
          <a:ext cx="5699759" cy="2036826"/>
        </a:xfrm>
        <a:prstGeom prst="roundRect">
          <a:avLst>
            <a:gd name="adj" fmla="val 10000"/>
          </a:avLst>
        </a:prstGeom>
        <a:solidFill>
          <a:srgbClr val="3366FF">
            <a:alpha val="90000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/>
        <a:lstStyle/>
        <a:p>
          <a:endParaRPr lang="en-US"/>
        </a:p>
      </dgm:t>
    </dgm:pt>
    <dgm:pt modelId="{9A69F532-DF3C-432B-9B09-6C7ADB793A20}" type="pres">
      <dgm:prSet presAssocID="{DC991239-CB23-4443-A3BF-B35B91E0762F}" presName="linComp" presStyleCnt="0"/>
      <dgm:spPr/>
    </dgm:pt>
    <dgm:pt modelId="{ADF1C884-9B0F-46AE-B4C1-09D6FC7928F1}" type="pres">
      <dgm:prSet presAssocID="{6E435AD4-FD45-4B6A-AEF0-296AEA2CA39C}" presName="compNode" presStyleCnt="0"/>
      <dgm:spPr/>
    </dgm:pt>
    <dgm:pt modelId="{61391453-24D9-459A-BF3E-CF9A8283F747}" type="pres">
      <dgm:prSet presAssocID="{6E435AD4-FD45-4B6A-AEF0-296AEA2CA39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C2E485-98F4-40CE-BD02-1D5D2171C38E}" type="pres">
      <dgm:prSet presAssocID="{6E435AD4-FD45-4B6A-AEF0-296AEA2CA39C}" presName="invisiNode" presStyleLbl="node1" presStyleIdx="0" presStyleCnt="4"/>
      <dgm:spPr/>
    </dgm:pt>
    <dgm:pt modelId="{DEEA9A43-F5C7-47E0-9F5B-C3D482FD13E7}" type="pres">
      <dgm:prSet presAssocID="{6E435AD4-FD45-4B6A-AEF0-296AEA2CA39C}" presName="imagNode" presStyleLbl="fgImgPlace1" presStyleIdx="0" presStyleCnt="4"/>
      <dgm:spPr>
        <a:xfrm>
          <a:off x="171285" y="271576"/>
          <a:ext cx="1224335" cy="149367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gm:spPr>
      <dgm:t>
        <a:bodyPr/>
        <a:lstStyle/>
        <a:p>
          <a:endParaRPr lang="en-US"/>
        </a:p>
      </dgm:t>
    </dgm:pt>
    <dgm:pt modelId="{679FB51B-7A8C-4CA2-B3FA-78494D6ED9E9}" type="pres">
      <dgm:prSet presAssocID="{AB1AE165-993C-4375-A614-E41A20822E4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BD00ED4-63F0-442B-BBF9-40DEDCB04F49}" type="pres">
      <dgm:prSet presAssocID="{89FC22A2-624E-4F9B-9010-9EC853B6CF99}" presName="compNode" presStyleCnt="0"/>
      <dgm:spPr/>
    </dgm:pt>
    <dgm:pt modelId="{1672FA36-0BEE-406E-8965-77BF743BEACE}" type="pres">
      <dgm:prSet presAssocID="{89FC22A2-624E-4F9B-9010-9EC853B6CF9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240BB3-C78D-4255-9AB8-7CA8927C93E4}" type="pres">
      <dgm:prSet presAssocID="{89FC22A2-624E-4F9B-9010-9EC853B6CF99}" presName="invisiNode" presStyleLbl="node1" presStyleIdx="1" presStyleCnt="4"/>
      <dgm:spPr/>
    </dgm:pt>
    <dgm:pt modelId="{51207802-DD2F-4A54-9CBE-9EE93AC936B8}" type="pres">
      <dgm:prSet presAssocID="{89FC22A2-624E-4F9B-9010-9EC853B6CF99}" presName="imagNode" presStyleLbl="fgImgPlace1" presStyleIdx="1" presStyleCnt="4" custScaleX="107559" custScaleY="100347" custLinFactNeighborY="1530"/>
      <dgm:spPr>
        <a:xfrm>
          <a:off x="1518054" y="291838"/>
          <a:ext cx="1316882" cy="149885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gm:spPr>
      <dgm:t>
        <a:bodyPr/>
        <a:lstStyle/>
        <a:p>
          <a:endParaRPr lang="en-US"/>
        </a:p>
      </dgm:t>
    </dgm:pt>
    <dgm:pt modelId="{128E8C97-3EF4-4AD2-8946-D761D2708B0C}" type="pres">
      <dgm:prSet presAssocID="{85331F3C-09CE-4ABF-9984-ACF9B61B34E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F24903A-C393-4485-958F-B825881B40EE}" type="pres">
      <dgm:prSet presAssocID="{149A516C-371F-4785-B870-D9BBCE7F31A3}" presName="compNode" presStyleCnt="0"/>
      <dgm:spPr/>
    </dgm:pt>
    <dgm:pt modelId="{172CF52D-182D-4085-A1F3-AC509E243C68}" type="pres">
      <dgm:prSet presAssocID="{149A516C-371F-4785-B870-D9BBCE7F31A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6E2EC3-0908-4A78-800B-18C85CB25B95}" type="pres">
      <dgm:prSet presAssocID="{149A516C-371F-4785-B870-D9BBCE7F31A3}" presName="invisiNode" presStyleLbl="node1" presStyleIdx="2" presStyleCnt="4"/>
      <dgm:spPr/>
    </dgm:pt>
    <dgm:pt modelId="{6491F23E-ECBA-4619-A05C-4557877F52A8}" type="pres">
      <dgm:prSet presAssocID="{149A516C-371F-4785-B870-D9BBCE7F31A3}" presName="imagNode" presStyleLbl="fgImgPlace1" presStyleIdx="2" presStyleCnt="4"/>
      <dgm:spPr>
        <a:xfrm>
          <a:off x="2957370" y="271576"/>
          <a:ext cx="1224335" cy="149367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gm:spPr>
      <dgm:t>
        <a:bodyPr/>
        <a:lstStyle/>
        <a:p>
          <a:endParaRPr lang="en-US"/>
        </a:p>
      </dgm:t>
    </dgm:pt>
    <dgm:pt modelId="{3FC5D9D8-9C06-4AB8-9B8A-AD69DF58EFB7}" type="pres">
      <dgm:prSet presAssocID="{494810C6-B6E0-4C94-B188-24D4B2E70EB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09C94B1-E266-43A3-83C2-E420706422AA}" type="pres">
      <dgm:prSet presAssocID="{3AEB2AD3-0B24-4BC7-9B25-34C6D63B4B14}" presName="compNode" presStyleCnt="0"/>
      <dgm:spPr/>
    </dgm:pt>
    <dgm:pt modelId="{5944E51A-5100-47B4-A3F4-14F5B2A435A2}" type="pres">
      <dgm:prSet presAssocID="{3AEB2AD3-0B24-4BC7-9B25-34C6D63B4B1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F943DF-D90C-41F8-B68F-26FD0FC9E7F4}" type="pres">
      <dgm:prSet presAssocID="{3AEB2AD3-0B24-4BC7-9B25-34C6D63B4B14}" presName="invisiNode" presStyleLbl="node1" presStyleIdx="3" presStyleCnt="4"/>
      <dgm:spPr/>
    </dgm:pt>
    <dgm:pt modelId="{DC60C10E-EA48-44ED-90A2-7B50F583CDE4}" type="pres">
      <dgm:prSet presAssocID="{3AEB2AD3-0B24-4BC7-9B25-34C6D63B4B14}" presName="imagNode" presStyleLbl="fgImgPlace1" presStyleIdx="3" presStyleCnt="4" custLinFactNeighborY="-510"/>
      <dgm:spPr>
        <a:xfrm>
          <a:off x="4304139" y="263959"/>
          <a:ext cx="1224335" cy="149367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gm:spPr>
      <dgm:t>
        <a:bodyPr/>
        <a:lstStyle/>
        <a:p>
          <a:endParaRPr lang="en-US"/>
        </a:p>
      </dgm:t>
    </dgm:pt>
  </dgm:ptLst>
  <dgm:cxnLst>
    <dgm:cxn modelId="{B905BB2A-8722-4FA8-B1C7-D88EA93EAB6F}" type="presOf" srcId="{DC991239-CB23-4443-A3BF-B35B91E0762F}" destId="{232B14B8-35DD-413F-99C9-BE028489A637}" srcOrd="0" destOrd="0" presId="urn:microsoft.com/office/officeart/2005/8/layout/pList2"/>
    <dgm:cxn modelId="{630666D3-86DC-40D6-80FA-EB0E011DA805}" type="presOf" srcId="{149A516C-371F-4785-B870-D9BBCE7F31A3}" destId="{172CF52D-182D-4085-A1F3-AC509E243C68}" srcOrd="0" destOrd="0" presId="urn:microsoft.com/office/officeart/2005/8/layout/pList2"/>
    <dgm:cxn modelId="{D5F81E69-DB3C-4810-B6CE-2C98E889DC12}" srcId="{DC991239-CB23-4443-A3BF-B35B91E0762F}" destId="{3AEB2AD3-0B24-4BC7-9B25-34C6D63B4B14}" srcOrd="3" destOrd="0" parTransId="{21AD4C6A-44A8-4085-B196-D7413BB8AF21}" sibTransId="{786BFBB3-5C77-42DB-A42C-D1EA05B4E1AF}"/>
    <dgm:cxn modelId="{8B71B184-D046-43B9-9930-72C9F5968A6A}" srcId="{DC991239-CB23-4443-A3BF-B35B91E0762F}" destId="{6E435AD4-FD45-4B6A-AEF0-296AEA2CA39C}" srcOrd="0" destOrd="0" parTransId="{86F1BDE4-2186-4850-862A-9E3125F97F85}" sibTransId="{AB1AE165-993C-4375-A614-E41A20822E4D}"/>
    <dgm:cxn modelId="{3D771B6E-7F4F-45D7-8F98-C13B0DF42064}" srcId="{DC991239-CB23-4443-A3BF-B35B91E0762F}" destId="{149A516C-371F-4785-B870-D9BBCE7F31A3}" srcOrd="2" destOrd="0" parTransId="{647222EE-BFC0-46E2-816F-AAFD2502F72F}" sibTransId="{494810C6-B6E0-4C94-B188-24D4B2E70EBF}"/>
    <dgm:cxn modelId="{04F30775-DA9A-4158-9F57-051D01AFF562}" type="presOf" srcId="{6E435AD4-FD45-4B6A-AEF0-296AEA2CA39C}" destId="{61391453-24D9-459A-BF3E-CF9A8283F747}" srcOrd="0" destOrd="0" presId="urn:microsoft.com/office/officeart/2005/8/layout/pList2"/>
    <dgm:cxn modelId="{357BCC41-C43D-4A19-AE30-D37A2D0AED92}" srcId="{DC991239-CB23-4443-A3BF-B35B91E0762F}" destId="{89FC22A2-624E-4F9B-9010-9EC853B6CF99}" srcOrd="1" destOrd="0" parTransId="{F785DE68-B55D-4A80-8D66-0EFD22114C93}" sibTransId="{85331F3C-09CE-4ABF-9984-ACF9B61B34EF}"/>
    <dgm:cxn modelId="{6B37187E-F1E5-4FD3-9EB2-83CF80540F62}" type="presOf" srcId="{85331F3C-09CE-4ABF-9984-ACF9B61B34EF}" destId="{128E8C97-3EF4-4AD2-8946-D761D2708B0C}" srcOrd="0" destOrd="0" presId="urn:microsoft.com/office/officeart/2005/8/layout/pList2"/>
    <dgm:cxn modelId="{A10558B8-FC6D-445A-A34D-0494A2F11B30}" type="presOf" srcId="{89FC22A2-624E-4F9B-9010-9EC853B6CF99}" destId="{1672FA36-0BEE-406E-8965-77BF743BEACE}" srcOrd="0" destOrd="0" presId="urn:microsoft.com/office/officeart/2005/8/layout/pList2"/>
    <dgm:cxn modelId="{FB822240-452E-43BA-AD30-61767A663D3C}" type="presOf" srcId="{494810C6-B6E0-4C94-B188-24D4B2E70EBF}" destId="{3FC5D9D8-9C06-4AB8-9B8A-AD69DF58EFB7}" srcOrd="0" destOrd="0" presId="urn:microsoft.com/office/officeart/2005/8/layout/pList2"/>
    <dgm:cxn modelId="{11BF2D14-5955-4CB6-8C1C-50E971360CA7}" type="presOf" srcId="{3AEB2AD3-0B24-4BC7-9B25-34C6D63B4B14}" destId="{5944E51A-5100-47B4-A3F4-14F5B2A435A2}" srcOrd="0" destOrd="0" presId="urn:microsoft.com/office/officeart/2005/8/layout/pList2"/>
    <dgm:cxn modelId="{DA2B62AE-8C66-4E99-B183-2B262CE27290}" type="presOf" srcId="{AB1AE165-993C-4375-A614-E41A20822E4D}" destId="{679FB51B-7A8C-4CA2-B3FA-78494D6ED9E9}" srcOrd="0" destOrd="0" presId="urn:microsoft.com/office/officeart/2005/8/layout/pList2"/>
    <dgm:cxn modelId="{84F7F11F-B2A2-4AEC-A1DD-622BDB44BDCA}" type="presParOf" srcId="{232B14B8-35DD-413F-99C9-BE028489A637}" destId="{7BA0978B-0724-4849-B8A6-40AE4C0CE0FF}" srcOrd="0" destOrd="0" presId="urn:microsoft.com/office/officeart/2005/8/layout/pList2"/>
    <dgm:cxn modelId="{3E0FC9C2-DD43-43F5-A060-97CA43D87BFB}" type="presParOf" srcId="{232B14B8-35DD-413F-99C9-BE028489A637}" destId="{9A69F532-DF3C-432B-9B09-6C7ADB793A20}" srcOrd="1" destOrd="0" presId="urn:microsoft.com/office/officeart/2005/8/layout/pList2"/>
    <dgm:cxn modelId="{23A94449-24E1-4C13-A83F-B7EEC0855428}" type="presParOf" srcId="{9A69F532-DF3C-432B-9B09-6C7ADB793A20}" destId="{ADF1C884-9B0F-46AE-B4C1-09D6FC7928F1}" srcOrd="0" destOrd="0" presId="urn:microsoft.com/office/officeart/2005/8/layout/pList2"/>
    <dgm:cxn modelId="{FDDCD4B7-BB4D-4034-BBDC-B7E49BDD98B6}" type="presParOf" srcId="{ADF1C884-9B0F-46AE-B4C1-09D6FC7928F1}" destId="{61391453-24D9-459A-BF3E-CF9A8283F747}" srcOrd="0" destOrd="0" presId="urn:microsoft.com/office/officeart/2005/8/layout/pList2"/>
    <dgm:cxn modelId="{1A2EF79A-634E-48D0-8F14-5253D6E81F99}" type="presParOf" srcId="{ADF1C884-9B0F-46AE-B4C1-09D6FC7928F1}" destId="{DEC2E485-98F4-40CE-BD02-1D5D2171C38E}" srcOrd="1" destOrd="0" presId="urn:microsoft.com/office/officeart/2005/8/layout/pList2"/>
    <dgm:cxn modelId="{EF6765E6-8EA0-4843-9FB0-4C3C5B004C75}" type="presParOf" srcId="{ADF1C884-9B0F-46AE-B4C1-09D6FC7928F1}" destId="{DEEA9A43-F5C7-47E0-9F5B-C3D482FD13E7}" srcOrd="2" destOrd="0" presId="urn:microsoft.com/office/officeart/2005/8/layout/pList2"/>
    <dgm:cxn modelId="{EEA7B400-AD09-4334-8394-884228CCA009}" type="presParOf" srcId="{9A69F532-DF3C-432B-9B09-6C7ADB793A20}" destId="{679FB51B-7A8C-4CA2-B3FA-78494D6ED9E9}" srcOrd="1" destOrd="0" presId="urn:microsoft.com/office/officeart/2005/8/layout/pList2"/>
    <dgm:cxn modelId="{91184722-507F-4791-B8CD-BC9CB2EA3BF1}" type="presParOf" srcId="{9A69F532-DF3C-432B-9B09-6C7ADB793A20}" destId="{5BD00ED4-63F0-442B-BBF9-40DEDCB04F49}" srcOrd="2" destOrd="0" presId="urn:microsoft.com/office/officeart/2005/8/layout/pList2"/>
    <dgm:cxn modelId="{E5BB10A1-B67D-4A92-AB32-C74D4272F534}" type="presParOf" srcId="{5BD00ED4-63F0-442B-BBF9-40DEDCB04F49}" destId="{1672FA36-0BEE-406E-8965-77BF743BEACE}" srcOrd="0" destOrd="0" presId="urn:microsoft.com/office/officeart/2005/8/layout/pList2"/>
    <dgm:cxn modelId="{B54BA618-9E8F-4219-8C57-031E5A6262B5}" type="presParOf" srcId="{5BD00ED4-63F0-442B-BBF9-40DEDCB04F49}" destId="{F1240BB3-C78D-4255-9AB8-7CA8927C93E4}" srcOrd="1" destOrd="0" presId="urn:microsoft.com/office/officeart/2005/8/layout/pList2"/>
    <dgm:cxn modelId="{8E0FD9D0-D0C9-425B-B3BA-281ACC458AEA}" type="presParOf" srcId="{5BD00ED4-63F0-442B-BBF9-40DEDCB04F49}" destId="{51207802-DD2F-4A54-9CBE-9EE93AC936B8}" srcOrd="2" destOrd="0" presId="urn:microsoft.com/office/officeart/2005/8/layout/pList2"/>
    <dgm:cxn modelId="{4F6A6F4F-BB4B-4595-8B81-A2FC05E4FA7B}" type="presParOf" srcId="{9A69F532-DF3C-432B-9B09-6C7ADB793A20}" destId="{128E8C97-3EF4-4AD2-8946-D761D2708B0C}" srcOrd="3" destOrd="0" presId="urn:microsoft.com/office/officeart/2005/8/layout/pList2"/>
    <dgm:cxn modelId="{9A647964-2342-48B4-A3F4-BC5B9176FE17}" type="presParOf" srcId="{9A69F532-DF3C-432B-9B09-6C7ADB793A20}" destId="{6F24903A-C393-4485-958F-B825881B40EE}" srcOrd="4" destOrd="0" presId="urn:microsoft.com/office/officeart/2005/8/layout/pList2"/>
    <dgm:cxn modelId="{FC70D7D6-D67E-4F35-B26B-27C87599BA0D}" type="presParOf" srcId="{6F24903A-C393-4485-958F-B825881B40EE}" destId="{172CF52D-182D-4085-A1F3-AC509E243C68}" srcOrd="0" destOrd="0" presId="urn:microsoft.com/office/officeart/2005/8/layout/pList2"/>
    <dgm:cxn modelId="{8D303E77-2F37-4442-9F0C-79B30BEEE103}" type="presParOf" srcId="{6F24903A-C393-4485-958F-B825881B40EE}" destId="{E06E2EC3-0908-4A78-800B-18C85CB25B95}" srcOrd="1" destOrd="0" presId="urn:microsoft.com/office/officeart/2005/8/layout/pList2"/>
    <dgm:cxn modelId="{F1BC414E-0B13-4E28-818F-AD038B9BD213}" type="presParOf" srcId="{6F24903A-C393-4485-958F-B825881B40EE}" destId="{6491F23E-ECBA-4619-A05C-4557877F52A8}" srcOrd="2" destOrd="0" presId="urn:microsoft.com/office/officeart/2005/8/layout/pList2"/>
    <dgm:cxn modelId="{4A99BF35-5B6B-4C74-ACA3-E6648657C9CB}" type="presParOf" srcId="{9A69F532-DF3C-432B-9B09-6C7ADB793A20}" destId="{3FC5D9D8-9C06-4AB8-9B8A-AD69DF58EFB7}" srcOrd="5" destOrd="0" presId="urn:microsoft.com/office/officeart/2005/8/layout/pList2"/>
    <dgm:cxn modelId="{75712748-76F3-4242-BCB4-6DDFCE046817}" type="presParOf" srcId="{9A69F532-DF3C-432B-9B09-6C7ADB793A20}" destId="{309C94B1-E266-43A3-83C2-E420706422AA}" srcOrd="6" destOrd="0" presId="urn:microsoft.com/office/officeart/2005/8/layout/pList2"/>
    <dgm:cxn modelId="{92AF1FD3-1F66-4CDB-BDC9-B4FF8ACF649C}" type="presParOf" srcId="{309C94B1-E266-43A3-83C2-E420706422AA}" destId="{5944E51A-5100-47B4-A3F4-14F5B2A435A2}" srcOrd="0" destOrd="0" presId="urn:microsoft.com/office/officeart/2005/8/layout/pList2"/>
    <dgm:cxn modelId="{632B1677-8052-4C14-90B3-43E470A41776}" type="presParOf" srcId="{309C94B1-E266-43A3-83C2-E420706422AA}" destId="{9FF943DF-D90C-41F8-B68F-26FD0FC9E7F4}" srcOrd="1" destOrd="0" presId="urn:microsoft.com/office/officeart/2005/8/layout/pList2"/>
    <dgm:cxn modelId="{BC0D18BB-F9AB-41B3-BFF9-1FD6270D0476}" type="presParOf" srcId="{309C94B1-E266-43A3-83C2-E420706422AA}" destId="{DC60C10E-EA48-44ED-90A2-7B50F583CDE4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FE83C-30B9-4AFA-8024-B3AA9F67BE75}">
      <dsp:nvSpPr>
        <dsp:cNvPr id="0" name=""/>
        <dsp:cNvSpPr/>
      </dsp:nvSpPr>
      <dsp:spPr>
        <a:xfrm>
          <a:off x="0" y="0"/>
          <a:ext cx="3566160" cy="335790"/>
        </a:xfrm>
        <a:prstGeom prst="roundRect">
          <a:avLst/>
        </a:prstGeom>
        <a:solidFill>
          <a:srgbClr val="00006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400" b="1" kern="1200"/>
            <a:t>Boșoagă Costin-Cornel</a:t>
          </a:r>
          <a:endParaRPr lang="en-US" sz="1400" b="1" kern="1200"/>
        </a:p>
      </dsp:txBody>
      <dsp:txXfrm>
        <a:off x="16392" y="16392"/>
        <a:ext cx="3533376" cy="303006"/>
      </dsp:txXfrm>
    </dsp:sp>
    <dsp:sp modelId="{ECDFB32B-DD62-4F36-BAF1-B5CAF3D32DD5}">
      <dsp:nvSpPr>
        <dsp:cNvPr id="0" name=""/>
        <dsp:cNvSpPr/>
      </dsp:nvSpPr>
      <dsp:spPr>
        <a:xfrm>
          <a:off x="0" y="415553"/>
          <a:ext cx="3566160" cy="335790"/>
        </a:xfrm>
        <a:prstGeom prst="roundRect">
          <a:avLst/>
        </a:prstGeom>
        <a:solidFill>
          <a:srgbClr val="00006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400" b="1" kern="1200"/>
            <a:t>Corduneanu Ioana</a:t>
          </a:r>
          <a:endParaRPr lang="en-US" sz="1400" b="1" kern="1200"/>
        </a:p>
      </dsp:txBody>
      <dsp:txXfrm>
        <a:off x="16392" y="431945"/>
        <a:ext cx="3533376" cy="303006"/>
      </dsp:txXfrm>
    </dsp:sp>
    <dsp:sp modelId="{F1C410F3-1B54-4FB2-832D-60D2ACA7C70E}">
      <dsp:nvSpPr>
        <dsp:cNvPr id="0" name=""/>
        <dsp:cNvSpPr/>
      </dsp:nvSpPr>
      <dsp:spPr>
        <a:xfrm>
          <a:off x="0" y="793590"/>
          <a:ext cx="3566160" cy="335790"/>
        </a:xfrm>
        <a:prstGeom prst="roundRect">
          <a:avLst/>
        </a:prstGeom>
        <a:solidFill>
          <a:srgbClr val="00006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400" b="1" kern="1200"/>
            <a:t>Dumitrescu Elena-Dayana</a:t>
          </a:r>
          <a:endParaRPr lang="en-US" sz="1400" b="1" kern="1200"/>
        </a:p>
      </dsp:txBody>
      <dsp:txXfrm>
        <a:off x="16392" y="809982"/>
        <a:ext cx="3533376" cy="303006"/>
      </dsp:txXfrm>
    </dsp:sp>
    <dsp:sp modelId="{C7B5F499-98B3-4B17-9A6C-9C1C17821C50}">
      <dsp:nvSpPr>
        <dsp:cNvPr id="0" name=""/>
        <dsp:cNvSpPr/>
      </dsp:nvSpPr>
      <dsp:spPr>
        <a:xfrm>
          <a:off x="0" y="1198275"/>
          <a:ext cx="3566160" cy="335790"/>
        </a:xfrm>
        <a:prstGeom prst="roundRect">
          <a:avLst/>
        </a:prstGeom>
        <a:solidFill>
          <a:srgbClr val="00006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400" b="1" kern="1200"/>
            <a:t>Ghiță Mihai-Andrei</a:t>
          </a:r>
          <a:endParaRPr lang="en-US" sz="1400" b="1" kern="1200"/>
        </a:p>
      </dsp:txBody>
      <dsp:txXfrm>
        <a:off x="16392" y="1214667"/>
        <a:ext cx="3533376" cy="3030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FE83C-30B9-4AFA-8024-B3AA9F67BE75}">
      <dsp:nvSpPr>
        <dsp:cNvPr id="0" name=""/>
        <dsp:cNvSpPr/>
      </dsp:nvSpPr>
      <dsp:spPr>
        <a:xfrm>
          <a:off x="0" y="0"/>
          <a:ext cx="3634740" cy="359774"/>
        </a:xfrm>
        <a:prstGeom prst="roundRect">
          <a:avLst/>
        </a:prstGeom>
        <a:solidFill>
          <a:srgbClr val="00006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500" b="1" kern="1200"/>
            <a:t>Grupa 312CC</a:t>
          </a:r>
          <a:endParaRPr lang="en-US" sz="1500" b="1" kern="1200"/>
        </a:p>
      </dsp:txBody>
      <dsp:txXfrm>
        <a:off x="17563" y="17563"/>
        <a:ext cx="3599614" cy="324648"/>
      </dsp:txXfrm>
    </dsp:sp>
    <dsp:sp modelId="{ECDFB32B-DD62-4F36-BAF1-B5CAF3D32DD5}">
      <dsp:nvSpPr>
        <dsp:cNvPr id="0" name=""/>
        <dsp:cNvSpPr/>
      </dsp:nvSpPr>
      <dsp:spPr>
        <a:xfrm>
          <a:off x="0" y="422092"/>
          <a:ext cx="3634740" cy="359774"/>
        </a:xfrm>
        <a:prstGeom prst="roundRect">
          <a:avLst/>
        </a:prstGeom>
        <a:solidFill>
          <a:srgbClr val="00006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/>
            <a:t>Profesor curs: Morar Anca Andreea</a:t>
          </a:r>
          <a:endParaRPr lang="en-US" sz="1500" kern="1200"/>
        </a:p>
      </dsp:txBody>
      <dsp:txXfrm>
        <a:off x="17563" y="439655"/>
        <a:ext cx="3599614" cy="324648"/>
      </dsp:txXfrm>
    </dsp:sp>
    <dsp:sp modelId="{F1C410F3-1B54-4FB2-832D-60D2ACA7C70E}">
      <dsp:nvSpPr>
        <dsp:cNvPr id="0" name=""/>
        <dsp:cNvSpPr/>
      </dsp:nvSpPr>
      <dsp:spPr>
        <a:xfrm>
          <a:off x="0" y="825067"/>
          <a:ext cx="3634740" cy="359774"/>
        </a:xfrm>
        <a:prstGeom prst="roundRect">
          <a:avLst/>
        </a:prstGeom>
        <a:solidFill>
          <a:srgbClr val="00006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/>
            <a:t>Seminar: Arsene Diana-Andreea</a:t>
          </a:r>
          <a:endParaRPr lang="en-US" sz="1500" kern="1200"/>
        </a:p>
      </dsp:txBody>
      <dsp:txXfrm>
        <a:off x="17563" y="842630"/>
        <a:ext cx="3599614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0978B-0724-4849-B8A6-40AE4C0CE0FF}">
      <dsp:nvSpPr>
        <dsp:cNvPr id="0" name=""/>
        <dsp:cNvSpPr/>
      </dsp:nvSpPr>
      <dsp:spPr>
        <a:xfrm>
          <a:off x="0" y="0"/>
          <a:ext cx="6649366" cy="2036826"/>
        </a:xfrm>
        <a:prstGeom prst="roundRect">
          <a:avLst>
            <a:gd name="adj" fmla="val 10000"/>
          </a:avLst>
        </a:prstGeom>
        <a:solidFill>
          <a:srgbClr val="3366FF">
            <a:alpha val="90000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A9A43-F5C7-47E0-9F5B-C3D482FD13E7}">
      <dsp:nvSpPr>
        <dsp:cNvPr id="0" name=""/>
        <dsp:cNvSpPr/>
      </dsp:nvSpPr>
      <dsp:spPr>
        <a:xfrm>
          <a:off x="199822" y="271576"/>
          <a:ext cx="1428314" cy="149367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1391453-24D9-459A-BF3E-CF9A8283F747}">
      <dsp:nvSpPr>
        <dsp:cNvPr id="0" name=""/>
        <dsp:cNvSpPr/>
      </dsp:nvSpPr>
      <dsp:spPr>
        <a:xfrm rot="10800000">
          <a:off x="199822" y="2036825"/>
          <a:ext cx="1428314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schemei bloc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-calculul lungimii microinstrucțiunii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-alegerea componentelor digitale utilizate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pini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-proiectarea cablajului</a:t>
          </a:r>
          <a:endParaRPr lang="en-US" sz="1000" b="1" kern="1200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</dsp:txBody>
      <dsp:txXfrm rot="10800000">
        <a:off x="243748" y="2036825"/>
        <a:ext cx="1340462" cy="2445528"/>
      </dsp:txXfrm>
    </dsp:sp>
    <dsp:sp modelId="{51207802-DD2F-4A54-9CBE-9EE93AC936B8}">
      <dsp:nvSpPr>
        <dsp:cNvPr id="0" name=""/>
        <dsp:cNvSpPr/>
      </dsp:nvSpPr>
      <dsp:spPr>
        <a:xfrm>
          <a:off x="1770969" y="291838"/>
          <a:ext cx="1536281" cy="149885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672FA36-0BEE-406E-8965-77BF743BEACE}">
      <dsp:nvSpPr>
        <dsp:cNvPr id="0" name=""/>
        <dsp:cNvSpPr/>
      </dsp:nvSpPr>
      <dsp:spPr>
        <a:xfrm rot="10800000">
          <a:off x="1824952" y="2036825"/>
          <a:ext cx="1428314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-completarea conținutului  memoriei de microprogram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-alegerea componentelor digitale utilizate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schemei bloc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-proiectarea cablajului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pini</a:t>
          </a:r>
          <a:endParaRPr lang="en-US" sz="1000" b="1" kern="1200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</dsp:txBody>
      <dsp:txXfrm rot="10800000">
        <a:off x="1868878" y="2036825"/>
        <a:ext cx="1340462" cy="2445528"/>
      </dsp:txXfrm>
    </dsp:sp>
    <dsp:sp modelId="{6491F23E-ECBA-4619-A05C-4557877F52A8}">
      <dsp:nvSpPr>
        <dsp:cNvPr id="0" name=""/>
        <dsp:cNvSpPr/>
      </dsp:nvSpPr>
      <dsp:spPr>
        <a:xfrm>
          <a:off x="3450081" y="271576"/>
          <a:ext cx="1428314" cy="149367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72CF52D-182D-4085-A1F3-AC509E243C68}">
      <dsp:nvSpPr>
        <dsp:cNvPr id="0" name=""/>
        <dsp:cNvSpPr/>
      </dsp:nvSpPr>
      <dsp:spPr>
        <a:xfrm rot="10800000">
          <a:off x="3450081" y="2036825"/>
          <a:ext cx="1428314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organigramei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</a:t>
          </a: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descrierea funcționalității automatului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pini</a:t>
          </a:r>
          <a:endParaRPr lang="en-US" sz="1000" b="1" kern="1200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-scrierea documenta</a:t>
          </a: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ției de proiect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prezentării .pptx</a:t>
          </a:r>
        </a:p>
      </dsp:txBody>
      <dsp:txXfrm rot="10800000">
        <a:off x="3494007" y="2036825"/>
        <a:ext cx="1340462" cy="2445528"/>
      </dsp:txXfrm>
    </dsp:sp>
    <dsp:sp modelId="{DC60C10E-EA48-44ED-90A2-7B50F583CDE4}">
      <dsp:nvSpPr>
        <dsp:cNvPr id="0" name=""/>
        <dsp:cNvSpPr/>
      </dsp:nvSpPr>
      <dsp:spPr>
        <a:xfrm>
          <a:off x="5021228" y="263959"/>
          <a:ext cx="1428314" cy="149367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944E51A-5100-47B4-A3F4-14F5B2A435A2}">
      <dsp:nvSpPr>
        <dsp:cNvPr id="0" name=""/>
        <dsp:cNvSpPr/>
      </dsp:nvSpPr>
      <dsp:spPr>
        <a:xfrm rot="10800000">
          <a:off x="5021228" y="2036825"/>
          <a:ext cx="1428314" cy="2489454"/>
        </a:xfrm>
        <a:prstGeom prst="round2SameRect">
          <a:avLst>
            <a:gd name="adj1" fmla="val 10500"/>
            <a:gd name="adj2" fmla="val 0"/>
          </a:avLst>
        </a:prstGeom>
        <a:solidFill>
          <a:srgbClr val="3366FF"/>
        </a:solidFill>
        <a:ln>
          <a:solidFill>
            <a:srgbClr val="3366FF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</a:t>
          </a:r>
          <a:r>
            <a:rPr lang="ro-RO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realizarea schemei bloc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-proiectarea schemei unității de microprogramare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</a:t>
          </a:r>
          <a:r>
            <a:rPr lang="en-US" sz="1000" b="1" kern="1200" dirty="0" err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alegerea</a:t>
          </a:r>
          <a:r>
            <a:rPr lang="en-US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000" b="1" kern="1200" dirty="0" err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componentelor</a:t>
          </a:r>
          <a:r>
            <a:rPr lang="en-US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n-US" sz="1000" b="1" kern="1200" dirty="0" err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digitale</a:t>
          </a:r>
          <a:r>
            <a:rPr lang="en-US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ro-RO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utilizate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-calculul lungimii microinstrucțiunii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-realizarea conexiunilor dintre pin</a:t>
          </a:r>
          <a:r>
            <a:rPr lang="ro-RO" sz="11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i</a:t>
          </a:r>
          <a:endParaRPr lang="en-US" sz="1100" b="1" kern="1200" dirty="0">
            <a:solidFill>
              <a:sysClr val="windowText" lastClr="000000"/>
            </a:solidFill>
            <a:latin typeface="Calibri" panose="020F0502020204030204"/>
            <a:ea typeface="+mn-ea"/>
            <a:cs typeface="+mn-cs"/>
          </a:endParaRPr>
        </a:p>
      </dsp:txBody>
      <dsp:txXfrm rot="10800000">
        <a:off x="5065154" y="2036825"/>
        <a:ext cx="1340462" cy="2445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1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9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0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8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9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75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3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6D1EC-3472-463A-A85A-19E8EB393DED}" type="datetimeFigureOut">
              <a:rPr lang="en-US" smtClean="0"/>
              <a:t>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FB859-B2AE-461B-A924-906D38EF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330" y="1087042"/>
            <a:ext cx="4876190" cy="48761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8110" y="665045"/>
            <a:ext cx="9144000" cy="1706562"/>
          </a:xfrm>
        </p:spPr>
        <p:txBody>
          <a:bodyPr>
            <a:normAutofit fontScale="90000"/>
          </a:bodyPr>
          <a:lstStyle/>
          <a:p>
            <a:r>
              <a:rPr lang="ro-RO" sz="40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/>
            </a:r>
            <a:br>
              <a:rPr lang="ro-RO" sz="40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r>
              <a:rPr lang="ro-RO" sz="40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/>
            </a:r>
            <a:br>
              <a:rPr lang="ro-RO" sz="40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r>
              <a:rPr lang="ro-RO" sz="40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Proiectare </a:t>
            </a:r>
            <a:br>
              <a:rPr lang="ro-RO" sz="40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r>
              <a:rPr lang="ro-RO" sz="40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Logică</a:t>
            </a:r>
            <a:endParaRPr lang="en-US" sz="40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50291" y="665045"/>
            <a:ext cx="53730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Automat  de  Pizza</a:t>
            </a:r>
            <a:endParaRPr lang="en-US" sz="54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47675" y="5978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-1285875" y="41830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kumimoji="0" lang="ro-RO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Echipa: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1354657630"/>
              </p:ext>
            </p:extLst>
          </p:nvPr>
        </p:nvGraphicFramePr>
        <p:xfrm>
          <a:off x="561975" y="4537869"/>
          <a:ext cx="3566160" cy="1546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561975" y="657304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7915275" y="52532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1885853054"/>
              </p:ext>
            </p:extLst>
          </p:nvPr>
        </p:nvGraphicFramePr>
        <p:xfrm>
          <a:off x="7915275" y="5253277"/>
          <a:ext cx="3634740" cy="1203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915275" y="70058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07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2567">
            <a:off x="9110788" y="388157"/>
            <a:ext cx="2749170" cy="26050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Tema proiectului</a:t>
            </a:r>
            <a:endParaRPr lang="en-US" sz="54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87675"/>
            <a:ext cx="10515600" cy="4351338"/>
          </a:xfrm>
        </p:spPr>
        <p:txBody>
          <a:bodyPr/>
          <a:lstStyle/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Proiectul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nostru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are ca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temă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unui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automat de pizza care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poate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fi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amplasat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centrele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comerciale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astfel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încât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oamenii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să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aleagă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mai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rapid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mai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eficient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tipul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de pizza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care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doresc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să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-l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comande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Ei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pot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alege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între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câteva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tipuri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esențiale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de pizza,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precum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topping-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uri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ingrediente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ca la final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să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selecteze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modul</a:t>
            </a:r>
            <a:r>
              <a:rPr lang="en-US" b="1" i="1" dirty="0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b="1" i="1" dirty="0" err="1">
                <a:solidFill>
                  <a:srgbClr val="002060"/>
                </a:solidFill>
                <a:latin typeface="Lobster"/>
                <a:ea typeface="Calibri" panose="020F0502020204030204" pitchFamily="34" charset="0"/>
                <a:cs typeface="Times New Roman" panose="02020603050405020304" pitchFamily="18" charset="0"/>
              </a:rPr>
              <a:t>plată</a:t>
            </a:r>
            <a:r>
              <a:rPr 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Google Shape;330;p16"/>
          <p:cNvPicPr preferRelativeResize="0"/>
          <p:nvPr/>
        </p:nvPicPr>
        <p:blipFill rotWithShape="1">
          <a:blip r:embed="rId3">
            <a:alphaModFix/>
            <a:duotone>
              <a:prstClr val="black"/>
              <a:srgbClr val="0000FF">
                <a:tint val="45000"/>
                <a:satMod val="400000"/>
              </a:srgbClr>
            </a:duotone>
          </a:blip>
          <a:srcRect/>
          <a:stretch/>
        </p:blipFill>
        <p:spPr>
          <a:xfrm rot="18326292">
            <a:off x="-1514245" y="-2182444"/>
            <a:ext cx="3028489" cy="5647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173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Schema bloc</a:t>
            </a:r>
            <a:endParaRPr lang="en-US" sz="54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" t="25755" r="7819" b="5642"/>
          <a:stretch/>
        </p:blipFill>
        <p:spPr bwMode="auto">
          <a:xfrm>
            <a:off x="1101159" y="1825625"/>
            <a:ext cx="9989682" cy="43513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483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52425" y="-228600"/>
            <a:ext cx="10515600" cy="587692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1600" b="1" dirty="0" smtClean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16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1600" b="1" dirty="0" smtClean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600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endParaRPr lang="ro-RO" altLang="en-US" sz="16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00000-START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00001-VEGETARIANĂ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00011-LACTO-VEG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00100-GORGONZOLA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00101-FINALIZARE</a:t>
            </a:r>
            <a:endParaRPr lang="ro-RO" altLang="en-US" sz="16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00110-CASH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01001-VEGANĂ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01010-ROȘII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01100-RUCCOLA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01110-STANDARD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10000-PUI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10011-PEȘTE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10100-SOMON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10101-NEAFUMAT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10111-AFUMAT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11010-TON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11100-MOZARELLA</a:t>
            </a:r>
            <a:endParaRPr lang="en-US" alt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11110-CARD</a:t>
            </a:r>
            <a:endParaRPr lang="en-US" altLang="en-US" sz="1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11111-TERMINAT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370262" y="445292"/>
            <a:ext cx="1584325" cy="168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01111-S1</a:t>
            </a:r>
          </a:p>
          <a:p>
            <a:pPr marL="228600" marR="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00010-S2</a:t>
            </a:r>
          </a:p>
          <a:p>
            <a:pPr marL="228600" marR="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10001-S3</a:t>
            </a:r>
          </a:p>
          <a:p>
            <a:pPr marL="228600" marR="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11000-S4</a:t>
            </a:r>
          </a:p>
          <a:p>
            <a:pPr marL="228600" marR="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00111-S5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6086475" y="4200525"/>
            <a:ext cx="6253162" cy="230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o-RO" altLang="en-US" sz="1200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kumimoji="0" lang="en-US" altLang="en-US" sz="1400" b="1" i="0" u="sng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DECIZII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CATEGORIE=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 pizza STANDARD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una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VEGETARIANĂ;</a:t>
            </a: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TOPPING=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PUI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PEȘTE;</a:t>
            </a: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OPȚIUNE=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TON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SOMON</a:t>
            </a: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EXTRA=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Ruccola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și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ROȘII;</a:t>
            </a: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BRÂNZETURI=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MOZARELLA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și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GORGONZOLA;</a:t>
            </a: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TIP=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somon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AFUMAT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și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NEAFUMAT;</a:t>
            </a: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PLATĂ=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plata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CASH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cu CARD;</a:t>
            </a:r>
          </a:p>
          <a:p>
            <a:pPr marL="228600" marR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SUBCATEG=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clientul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alege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intre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VEGANĂ </a:t>
            </a:r>
            <a:r>
              <a:rPr lang="en-US" alt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și</a:t>
            </a: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LACTO-VEG;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9125" y="4032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sng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STĂRI: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05475" y="403223"/>
            <a:ext cx="638175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u="sng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IEȘIRI: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C1-afișează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mesajele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fost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selectată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categoria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STANDARD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C2- “A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fost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selectată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categoria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VEGETARIANĂ.”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C3- se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afișează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mesajul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”A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fost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ales topping-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PUI.”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C4-afișează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mesajul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fost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selectat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tipul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somon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afumat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.”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C5-afișează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mesajul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”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Tipul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brânză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ales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este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gorgonzola.”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C6-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afișează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mesajul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Introduceti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numerar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.”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C7-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automatul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eliberează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bonul</a:t>
            </a:r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C8-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afișează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mesajul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Introduceți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card.”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3566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 err="1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Descrierea</a:t>
            </a: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5400" dirty="0" err="1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funcționalității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Aparatul</a:t>
            </a:r>
            <a:r>
              <a:rPr lang="en-US" dirty="0"/>
              <a:t> </a:t>
            </a:r>
            <a:r>
              <a:rPr lang="en-US" dirty="0" err="1"/>
              <a:t>pornește</a:t>
            </a:r>
            <a:r>
              <a:rPr lang="en-US" dirty="0"/>
              <a:t> din </a:t>
            </a:r>
            <a:r>
              <a:rPr lang="en-US" dirty="0" err="1"/>
              <a:t>starea</a:t>
            </a:r>
            <a:r>
              <a:rPr lang="en-US" dirty="0"/>
              <a:t> </a:t>
            </a:r>
            <a:r>
              <a:rPr lang="en-US" dirty="0" err="1"/>
              <a:t>inițială</a:t>
            </a:r>
            <a:r>
              <a:rPr lang="en-US" dirty="0"/>
              <a:t> START(00000), </a:t>
            </a:r>
            <a:r>
              <a:rPr lang="en-US" dirty="0" err="1"/>
              <a:t>urmând</a:t>
            </a:r>
            <a:r>
              <a:rPr lang="en-US" dirty="0"/>
              <a:t> ca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instrucțiunea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CATEGORIE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aleasă</a:t>
            </a:r>
            <a:r>
              <a:rPr lang="en-US" dirty="0"/>
              <a:t> </a:t>
            </a:r>
            <a:r>
              <a:rPr lang="en-US" dirty="0" err="1"/>
              <a:t>categoria</a:t>
            </a:r>
            <a:r>
              <a:rPr lang="en-US" dirty="0"/>
              <a:t> de pizza </a:t>
            </a:r>
            <a:r>
              <a:rPr lang="en-US" dirty="0" err="1"/>
              <a:t>dorită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aparatul</a:t>
            </a:r>
            <a:r>
              <a:rPr lang="en-US" dirty="0"/>
              <a:t> </a:t>
            </a:r>
            <a:r>
              <a:rPr lang="en-US" dirty="0" err="1"/>
              <a:t>trece</a:t>
            </a:r>
            <a:r>
              <a:rPr lang="en-US" dirty="0"/>
              <a:t> </a:t>
            </a:r>
            <a:r>
              <a:rPr lang="en-US" dirty="0" err="1"/>
              <a:t>într-una</a:t>
            </a:r>
            <a:r>
              <a:rPr lang="en-US" dirty="0"/>
              <a:t> din </a:t>
            </a:r>
            <a:r>
              <a:rPr lang="en-US" dirty="0" err="1"/>
              <a:t>stările</a:t>
            </a:r>
            <a:r>
              <a:rPr lang="en-US" dirty="0"/>
              <a:t> STANDARD(01110) </a:t>
            </a:r>
            <a:r>
              <a:rPr lang="en-US" dirty="0" err="1"/>
              <a:t>pentru</a:t>
            </a:r>
            <a:r>
              <a:rPr lang="en-US" dirty="0"/>
              <a:t> CATEGORIE=0  </a:t>
            </a:r>
            <a:r>
              <a:rPr lang="en-US" dirty="0" err="1"/>
              <a:t>sau</a:t>
            </a:r>
            <a:r>
              <a:rPr lang="en-US" dirty="0"/>
              <a:t> VEGETARIANĂ(00001) </a:t>
            </a:r>
            <a:r>
              <a:rPr lang="en-US" dirty="0" err="1"/>
              <a:t>pentru</a:t>
            </a:r>
            <a:r>
              <a:rPr lang="en-US" dirty="0"/>
              <a:t> CATEGORIE=1. Ulterior, </a:t>
            </a:r>
            <a:r>
              <a:rPr lang="en-US" dirty="0" err="1"/>
              <a:t>ieșirile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stări</a:t>
            </a:r>
            <a:r>
              <a:rPr lang="en-US" dirty="0"/>
              <a:t>, C1 </a:t>
            </a:r>
            <a:r>
              <a:rPr lang="en-US" dirty="0" err="1"/>
              <a:t>și</a:t>
            </a:r>
            <a:r>
              <a:rPr lang="en-US" dirty="0"/>
              <a:t> C2,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mesajele</a:t>
            </a:r>
            <a:r>
              <a:rPr lang="en-US" dirty="0"/>
              <a:t> “A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selectată</a:t>
            </a:r>
            <a:r>
              <a:rPr lang="en-US" dirty="0"/>
              <a:t> </a:t>
            </a:r>
            <a:r>
              <a:rPr lang="en-US" dirty="0" err="1"/>
              <a:t>categoria</a:t>
            </a:r>
            <a:r>
              <a:rPr lang="en-US" dirty="0"/>
              <a:t> STANDARD.” </a:t>
            </a:r>
            <a:r>
              <a:rPr lang="en-US" dirty="0" err="1"/>
              <a:t>sau</a:t>
            </a:r>
            <a:r>
              <a:rPr lang="en-US" dirty="0"/>
              <a:t> “A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selectată</a:t>
            </a:r>
            <a:r>
              <a:rPr lang="en-US" dirty="0"/>
              <a:t> </a:t>
            </a:r>
            <a:r>
              <a:rPr lang="en-US" dirty="0" err="1"/>
              <a:t>categoria</a:t>
            </a:r>
            <a:r>
              <a:rPr lang="en-US" dirty="0"/>
              <a:t> VEGETARIANĂ.”</a:t>
            </a:r>
          </a:p>
          <a:p>
            <a:r>
              <a:rPr lang="en-US" dirty="0"/>
              <a:t>Din </a:t>
            </a:r>
            <a:r>
              <a:rPr lang="en-US" dirty="0" err="1"/>
              <a:t>starea</a:t>
            </a:r>
            <a:r>
              <a:rPr lang="en-US" dirty="0"/>
              <a:t> STANDARD </a:t>
            </a:r>
            <a:r>
              <a:rPr lang="en-US" dirty="0" err="1"/>
              <a:t>apare</a:t>
            </a:r>
            <a:r>
              <a:rPr lang="en-US" dirty="0"/>
              <a:t> o </a:t>
            </a:r>
            <a:r>
              <a:rPr lang="en-US" dirty="0" err="1"/>
              <a:t>nouă</a:t>
            </a:r>
            <a:r>
              <a:rPr lang="en-US" dirty="0"/>
              <a:t> </a:t>
            </a:r>
            <a:r>
              <a:rPr lang="en-US" dirty="0" err="1"/>
              <a:t>instrucțiune</a:t>
            </a:r>
            <a:r>
              <a:rPr lang="en-US" dirty="0"/>
              <a:t> de </a:t>
            </a:r>
            <a:r>
              <a:rPr lang="en-US" dirty="0" err="1"/>
              <a:t>decizie,TOPPING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alegem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trecem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PEȘTE(10011 ) </a:t>
            </a:r>
            <a:r>
              <a:rPr lang="en-US" dirty="0" err="1"/>
              <a:t>când</a:t>
            </a:r>
            <a:r>
              <a:rPr lang="en-US" dirty="0"/>
              <a:t> TOPPING=0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PUI(10000)  </a:t>
            </a:r>
            <a:r>
              <a:rPr lang="en-US" dirty="0" err="1"/>
              <a:t>când</a:t>
            </a:r>
            <a:r>
              <a:rPr lang="en-US" dirty="0"/>
              <a:t> TOPPING=1.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continuare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selectat</a:t>
            </a:r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pește</a:t>
            </a:r>
            <a:r>
              <a:rPr lang="en-US" dirty="0"/>
              <a:t> </a:t>
            </a:r>
            <a:r>
              <a:rPr lang="en-US" dirty="0" err="1"/>
              <a:t>dorit</a:t>
            </a:r>
            <a:r>
              <a:rPr lang="en-US" dirty="0"/>
              <a:t> 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variabilei</a:t>
            </a:r>
            <a:r>
              <a:rPr lang="en-US" dirty="0"/>
              <a:t> de </a:t>
            </a:r>
            <a:r>
              <a:rPr lang="en-US" dirty="0" err="1"/>
              <a:t>selecție</a:t>
            </a:r>
            <a:r>
              <a:rPr lang="en-US" dirty="0"/>
              <a:t> OPȚIUNE,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căreia</a:t>
            </a:r>
            <a:r>
              <a:rPr lang="en-US" dirty="0"/>
              <a:t> </a:t>
            </a:r>
            <a:r>
              <a:rPr lang="en-US" dirty="0" err="1"/>
              <a:t>automatul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TON(11010) </a:t>
            </a:r>
            <a:r>
              <a:rPr lang="en-US" dirty="0" err="1"/>
              <a:t>dacă</a:t>
            </a:r>
            <a:r>
              <a:rPr lang="en-US" dirty="0"/>
              <a:t> OPȚIUNE=0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SOMON(10100) </a:t>
            </a:r>
            <a:r>
              <a:rPr lang="en-US" dirty="0" err="1"/>
              <a:t>dacă</a:t>
            </a:r>
            <a:r>
              <a:rPr lang="en-US" dirty="0"/>
              <a:t> OPȚIUNE=1. Mai </a:t>
            </a:r>
            <a:r>
              <a:rPr lang="en-US" dirty="0" err="1"/>
              <a:t>departe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variabilei</a:t>
            </a:r>
            <a:r>
              <a:rPr lang="en-US" dirty="0"/>
              <a:t> de </a:t>
            </a:r>
            <a:r>
              <a:rPr lang="en-US" dirty="0" err="1"/>
              <a:t>selecție</a:t>
            </a:r>
            <a:r>
              <a:rPr lang="en-US" dirty="0"/>
              <a:t> TIP, se decide 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somon</a:t>
            </a:r>
            <a:r>
              <a:rPr lang="en-US" dirty="0"/>
              <a:t>, </a:t>
            </a:r>
            <a:r>
              <a:rPr lang="en-US" dirty="0" err="1"/>
              <a:t>trecându</a:t>
            </a:r>
            <a:r>
              <a:rPr lang="en-US" dirty="0"/>
              <a:t>-se </a:t>
            </a:r>
            <a:r>
              <a:rPr lang="en-US" dirty="0" err="1"/>
              <a:t>într-una</a:t>
            </a:r>
            <a:r>
              <a:rPr lang="en-US" dirty="0"/>
              <a:t> din </a:t>
            </a:r>
            <a:r>
              <a:rPr lang="en-US" dirty="0" err="1"/>
              <a:t>stările</a:t>
            </a:r>
            <a:r>
              <a:rPr lang="en-US" dirty="0"/>
              <a:t> AFUMAT(10111), </a:t>
            </a:r>
            <a:r>
              <a:rPr lang="en-US" dirty="0" err="1"/>
              <a:t>pentru</a:t>
            </a:r>
            <a:r>
              <a:rPr lang="en-US" dirty="0"/>
              <a:t> TIP=0, </a:t>
            </a:r>
            <a:r>
              <a:rPr lang="en-US" dirty="0" err="1"/>
              <a:t>sau</a:t>
            </a:r>
            <a:r>
              <a:rPr lang="en-US" dirty="0"/>
              <a:t> NEAFUMAT(10101), </a:t>
            </a:r>
            <a:r>
              <a:rPr lang="en-US" dirty="0" err="1"/>
              <a:t>când</a:t>
            </a:r>
            <a:r>
              <a:rPr lang="en-US" dirty="0"/>
              <a:t> TIP=1.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AFUMAT </a:t>
            </a:r>
            <a:r>
              <a:rPr lang="en-US" dirty="0" err="1"/>
              <a:t>automatul</a:t>
            </a:r>
            <a:r>
              <a:rPr lang="en-US" dirty="0"/>
              <a:t>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“A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selectat</a:t>
            </a:r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somon</a:t>
            </a:r>
            <a:r>
              <a:rPr lang="en-US" dirty="0"/>
              <a:t> </a:t>
            </a:r>
            <a:r>
              <a:rPr lang="en-US" dirty="0" err="1"/>
              <a:t>afumat</a:t>
            </a:r>
            <a:r>
              <a:rPr lang="en-US" dirty="0"/>
              <a:t>.”,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ieșirea</a:t>
            </a:r>
            <a:r>
              <a:rPr lang="en-US" dirty="0"/>
              <a:t> C4. 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PUI  se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”A </a:t>
            </a:r>
            <a:r>
              <a:rPr lang="en-US" dirty="0" err="1"/>
              <a:t>fost</a:t>
            </a:r>
            <a:r>
              <a:rPr lang="en-US" dirty="0"/>
              <a:t> ales topping-</a:t>
            </a:r>
            <a:r>
              <a:rPr lang="en-US" dirty="0" err="1"/>
              <a:t>ul</a:t>
            </a:r>
            <a:r>
              <a:rPr lang="en-US" dirty="0"/>
              <a:t> PUI.”,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ieșirea</a:t>
            </a:r>
            <a:r>
              <a:rPr lang="en-US" dirty="0"/>
              <a:t> C3.</a:t>
            </a:r>
          </a:p>
          <a:p>
            <a:r>
              <a:rPr lang="en-US" dirty="0" err="1"/>
              <a:t>Dacă</a:t>
            </a:r>
            <a:r>
              <a:rPr lang="en-US" dirty="0"/>
              <a:t> s-a ales </a:t>
            </a:r>
            <a:r>
              <a:rPr lang="en-US" dirty="0" err="1"/>
              <a:t>categoria</a:t>
            </a:r>
            <a:r>
              <a:rPr lang="en-US" dirty="0"/>
              <a:t> </a:t>
            </a:r>
            <a:r>
              <a:rPr lang="en-US" dirty="0" err="1"/>
              <a:t>vegetariană</a:t>
            </a:r>
            <a:r>
              <a:rPr lang="en-US" dirty="0"/>
              <a:t>,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selecta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o </a:t>
            </a:r>
            <a:r>
              <a:rPr lang="en-US" dirty="0" err="1"/>
              <a:t>subcategorie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variabilei</a:t>
            </a:r>
            <a:r>
              <a:rPr lang="en-US" dirty="0"/>
              <a:t> de </a:t>
            </a:r>
            <a:r>
              <a:rPr lang="en-US" dirty="0" err="1"/>
              <a:t>selecție</a:t>
            </a:r>
            <a:r>
              <a:rPr lang="en-US" dirty="0"/>
              <a:t> SUBCATEGORIE, </a:t>
            </a:r>
            <a:r>
              <a:rPr lang="en-US" dirty="0" err="1"/>
              <a:t>automatul</a:t>
            </a:r>
            <a:r>
              <a:rPr lang="en-US" dirty="0"/>
              <a:t> </a:t>
            </a:r>
            <a:r>
              <a:rPr lang="en-US" dirty="0" err="1"/>
              <a:t>trecând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VEGANĂ(01001)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0, </a:t>
            </a:r>
            <a:r>
              <a:rPr lang="en-US" dirty="0" err="1"/>
              <a:t>și</a:t>
            </a:r>
            <a:r>
              <a:rPr lang="en-US" dirty="0"/>
              <a:t> LACTO-VEG (00011),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dirty="0" err="1"/>
              <a:t>contrar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subcategoria</a:t>
            </a:r>
            <a:r>
              <a:rPr lang="en-US" dirty="0"/>
              <a:t> </a:t>
            </a:r>
            <a:r>
              <a:rPr lang="en-US" dirty="0" err="1"/>
              <a:t>vegană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instrucțiunea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EXTRA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trece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RUCCOLA(01100), </a:t>
            </a:r>
            <a:r>
              <a:rPr lang="en-US" dirty="0" err="1"/>
              <a:t>dacă</a:t>
            </a:r>
            <a:r>
              <a:rPr lang="en-US" dirty="0"/>
              <a:t> EXTRA=0,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ROȘII(01010), </a:t>
            </a:r>
            <a:r>
              <a:rPr lang="en-US" dirty="0" err="1"/>
              <a:t>dacă</a:t>
            </a:r>
            <a:r>
              <a:rPr lang="en-US" dirty="0"/>
              <a:t> EXTRA=1. Din </a:t>
            </a:r>
            <a:r>
              <a:rPr lang="en-US" dirty="0" err="1"/>
              <a:t>starea</a:t>
            </a:r>
            <a:r>
              <a:rPr lang="en-US" dirty="0"/>
              <a:t> LACTO-VEG </a:t>
            </a:r>
            <a:r>
              <a:rPr lang="en-US" dirty="0" err="1"/>
              <a:t>automatul</a:t>
            </a:r>
            <a:r>
              <a:rPr lang="en-US" dirty="0"/>
              <a:t> </a:t>
            </a:r>
            <a:r>
              <a:rPr lang="en-US" dirty="0" err="1"/>
              <a:t>trece</a:t>
            </a:r>
            <a:r>
              <a:rPr lang="en-US" dirty="0"/>
              <a:t> </a:t>
            </a:r>
            <a:r>
              <a:rPr lang="en-US" dirty="0" err="1"/>
              <a:t>într-una</a:t>
            </a:r>
            <a:r>
              <a:rPr lang="en-US" dirty="0"/>
              <a:t> din </a:t>
            </a:r>
            <a:r>
              <a:rPr lang="en-US" dirty="0" err="1"/>
              <a:t>stările</a:t>
            </a:r>
            <a:r>
              <a:rPr lang="en-US" dirty="0"/>
              <a:t> MOZARELLA(11100) </a:t>
            </a:r>
            <a:r>
              <a:rPr lang="en-US" dirty="0" err="1"/>
              <a:t>sau</a:t>
            </a:r>
            <a:r>
              <a:rPr lang="en-US" dirty="0"/>
              <a:t> GORGONZOLA(00100)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variabilei</a:t>
            </a:r>
            <a:r>
              <a:rPr lang="en-US" dirty="0"/>
              <a:t> de </a:t>
            </a:r>
            <a:r>
              <a:rPr lang="en-US" dirty="0" err="1"/>
              <a:t>selecție</a:t>
            </a:r>
            <a:r>
              <a:rPr lang="en-US" dirty="0"/>
              <a:t> BRÂNZETURI,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egală</a:t>
            </a:r>
            <a:r>
              <a:rPr lang="en-US" dirty="0"/>
              <a:t> cu 0, </a:t>
            </a:r>
            <a:r>
              <a:rPr lang="en-US" dirty="0" err="1"/>
              <a:t>respectiv</a:t>
            </a:r>
            <a:r>
              <a:rPr lang="en-US" dirty="0"/>
              <a:t> cu 1. </a:t>
            </a:r>
            <a:r>
              <a:rPr lang="en-US" dirty="0" err="1"/>
              <a:t>Ieșirea</a:t>
            </a:r>
            <a:r>
              <a:rPr lang="en-US" dirty="0"/>
              <a:t> C5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”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brânză</a:t>
            </a:r>
            <a:r>
              <a:rPr lang="en-US" dirty="0"/>
              <a:t> ales </a:t>
            </a:r>
            <a:r>
              <a:rPr lang="en-US" dirty="0" err="1"/>
              <a:t>este</a:t>
            </a:r>
            <a:r>
              <a:rPr lang="en-US" dirty="0"/>
              <a:t> gorgonzola.” . </a:t>
            </a:r>
          </a:p>
          <a:p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</a:t>
            </a:r>
            <a:r>
              <a:rPr lang="en-US" dirty="0" err="1"/>
              <a:t>opțiunile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pizza, </a:t>
            </a:r>
            <a:r>
              <a:rPr lang="en-US" dirty="0" err="1"/>
              <a:t>automatul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FINALIZARE(00101),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clientul</a:t>
            </a:r>
            <a:r>
              <a:rPr lang="en-US" dirty="0"/>
              <a:t> </a:t>
            </a:r>
            <a:r>
              <a:rPr lang="en-US" dirty="0" err="1"/>
              <a:t>selectează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vrea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plătească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decizia</a:t>
            </a:r>
            <a:r>
              <a:rPr lang="en-US" dirty="0"/>
              <a:t> PLATĂ, </a:t>
            </a:r>
            <a:r>
              <a:rPr lang="en-US" dirty="0" err="1"/>
              <a:t>trecându</a:t>
            </a:r>
            <a:r>
              <a:rPr lang="en-US" dirty="0"/>
              <a:t>-se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CASH(00110) </a:t>
            </a:r>
            <a:r>
              <a:rPr lang="en-US" dirty="0" err="1"/>
              <a:t>dacă</a:t>
            </a:r>
            <a:r>
              <a:rPr lang="en-US" dirty="0"/>
              <a:t> PLATĂ=1, </a:t>
            </a:r>
            <a:r>
              <a:rPr lang="en-US" dirty="0" err="1"/>
              <a:t>sau</a:t>
            </a:r>
            <a:r>
              <a:rPr lang="en-US" dirty="0"/>
              <a:t> CARD(11110), </a:t>
            </a:r>
            <a:r>
              <a:rPr lang="en-US" dirty="0" err="1"/>
              <a:t>dacă</a:t>
            </a:r>
            <a:r>
              <a:rPr lang="en-US" dirty="0"/>
              <a:t> PLATĂ=0. </a:t>
            </a:r>
            <a:r>
              <a:rPr lang="en-US" dirty="0" err="1"/>
              <a:t>Ieșirea</a:t>
            </a:r>
            <a:r>
              <a:rPr lang="en-US" dirty="0"/>
              <a:t> C6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“</a:t>
            </a:r>
            <a:r>
              <a:rPr lang="en-US" dirty="0" err="1"/>
              <a:t>Introduceti</a:t>
            </a:r>
            <a:r>
              <a:rPr lang="en-US" dirty="0"/>
              <a:t> </a:t>
            </a:r>
            <a:r>
              <a:rPr lang="en-US" dirty="0" err="1"/>
              <a:t>numerar</a:t>
            </a:r>
            <a:r>
              <a:rPr lang="en-US" dirty="0"/>
              <a:t>.”,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iesirea</a:t>
            </a:r>
            <a:r>
              <a:rPr lang="en-US" dirty="0"/>
              <a:t> C8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“</a:t>
            </a:r>
            <a:r>
              <a:rPr lang="en-US" dirty="0" err="1"/>
              <a:t>Introduceți</a:t>
            </a:r>
            <a:r>
              <a:rPr lang="en-US" dirty="0"/>
              <a:t> card.”.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ales </a:t>
            </a:r>
            <a:r>
              <a:rPr lang="en-US" dirty="0" err="1"/>
              <a:t>modul</a:t>
            </a:r>
            <a:r>
              <a:rPr lang="en-US" dirty="0"/>
              <a:t> de </a:t>
            </a:r>
            <a:r>
              <a:rPr lang="en-US" dirty="0" err="1"/>
              <a:t>plată</a:t>
            </a:r>
            <a:r>
              <a:rPr lang="en-US" dirty="0"/>
              <a:t>, </a:t>
            </a:r>
            <a:r>
              <a:rPr lang="en-US" dirty="0" err="1"/>
              <a:t>automatul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TERMINAT(11111), </a:t>
            </a:r>
            <a:r>
              <a:rPr lang="en-US" dirty="0" err="1"/>
              <a:t>eliberând</a:t>
            </a:r>
            <a:r>
              <a:rPr lang="en-US" dirty="0"/>
              <a:t> bon,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ieșirea</a:t>
            </a:r>
            <a:r>
              <a:rPr lang="en-US" dirty="0"/>
              <a:t> C7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ajungând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</a:t>
            </a:r>
            <a:r>
              <a:rPr lang="en-US" dirty="0" err="1"/>
              <a:t>inițială</a:t>
            </a:r>
            <a:r>
              <a:rPr lang="en-US" dirty="0"/>
              <a:t> START. 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Google Shape;330;p16"/>
          <p:cNvPicPr preferRelativeResize="0"/>
          <p:nvPr/>
        </p:nvPicPr>
        <p:blipFill rotWithShape="1">
          <a:blip r:embed="rId2">
            <a:alphaModFix/>
            <a:duotone>
              <a:prstClr val="black"/>
              <a:srgbClr val="0000FF">
                <a:tint val="45000"/>
                <a:satMod val="400000"/>
              </a:srgbClr>
            </a:duotone>
          </a:blip>
          <a:srcRect/>
          <a:stretch/>
        </p:blipFill>
        <p:spPr>
          <a:xfrm rot="18326292">
            <a:off x="-1815308" y="-2709488"/>
            <a:ext cx="3028489" cy="56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30;p16"/>
          <p:cNvPicPr preferRelativeResize="0"/>
          <p:nvPr/>
        </p:nvPicPr>
        <p:blipFill rotWithShape="1">
          <a:blip r:embed="rId2">
            <a:alphaModFix/>
            <a:duotone>
              <a:prstClr val="black"/>
              <a:srgbClr val="0000FF">
                <a:tint val="45000"/>
                <a:satMod val="400000"/>
              </a:srgbClr>
            </a:duotone>
          </a:blip>
          <a:srcRect/>
          <a:stretch/>
        </p:blipFill>
        <p:spPr>
          <a:xfrm rot="6754292">
            <a:off x="9330993" y="4257939"/>
            <a:ext cx="3028489" cy="5647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204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65125"/>
            <a:ext cx="521969" cy="5997575"/>
          </a:xfrm>
        </p:spPr>
        <p:txBody>
          <a:bodyPr>
            <a:normAutofit fontScale="90000"/>
          </a:bodyPr>
          <a:lstStyle/>
          <a:p>
            <a:pPr algn="ctr"/>
            <a:r>
              <a:rPr lang="ro-RO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  <a:ea typeface="+mn-ea"/>
                <a:cs typeface="+mn-cs"/>
              </a:rPr>
              <a:t>Organigrama </a:t>
            </a:r>
            <a:endParaRPr lang="en-US" sz="49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  <a:ea typeface="+mn-ea"/>
              <a:cs typeface="+mn-cs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0128" t="17292" r="30082" b="13321"/>
          <a:stretch/>
        </p:blipFill>
        <p:spPr bwMode="auto">
          <a:xfrm>
            <a:off x="1304925" y="85725"/>
            <a:ext cx="9639299" cy="67722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4579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o-RO" b="1" i="1" u="sng" dirty="0"/>
              <a:t/>
            </a:r>
            <a:br>
              <a:rPr lang="ro-RO" b="1" i="1" u="sng" dirty="0"/>
            </a:br>
            <a:r>
              <a:rPr lang="en-US" sz="5400" dirty="0" err="1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Calculul</a:t>
            </a: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5400" dirty="0" err="1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lungimii</a:t>
            </a: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5400" dirty="0" err="1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microinstrucțiunii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0450"/>
          </a:xfrm>
        </p:spPr>
        <p:txBody>
          <a:bodyPr>
            <a:normAutofit fontScale="47500" lnSpcReduction="20000"/>
          </a:bodyPr>
          <a:lstStyle/>
          <a:p>
            <a:r>
              <a:rPr lang="en-US" sz="4200" b="1" u="sng" dirty="0" err="1"/>
              <a:t>Automatul</a:t>
            </a:r>
            <a:r>
              <a:rPr lang="en-US" sz="4200" b="1" u="sng" dirty="0"/>
              <a:t> </a:t>
            </a:r>
            <a:r>
              <a:rPr lang="en-US" sz="4200" b="1" u="sng" dirty="0" err="1"/>
              <a:t>conține</a:t>
            </a:r>
            <a:r>
              <a:rPr lang="en-US" sz="4200" b="1" dirty="0"/>
              <a:t>: </a:t>
            </a:r>
            <a:endParaRPr lang="en-US" sz="4200" dirty="0"/>
          </a:p>
          <a:p>
            <a:pPr lvl="0"/>
            <a:r>
              <a:rPr lang="en-US" sz="4200" b="1" dirty="0"/>
              <a:t>8 </a:t>
            </a:r>
            <a:r>
              <a:rPr lang="en-US" sz="4200" b="1" smtClean="0"/>
              <a:t>ieșiri</a:t>
            </a:r>
            <a:endParaRPr lang="en-US" sz="4200" dirty="0"/>
          </a:p>
          <a:p>
            <a:pPr lvl="0"/>
            <a:r>
              <a:rPr lang="en-US" sz="4200" b="1" dirty="0"/>
              <a:t>32 de </a:t>
            </a:r>
            <a:r>
              <a:rPr lang="en-US" sz="4200" b="1" dirty="0" err="1"/>
              <a:t>stări</a:t>
            </a:r>
            <a:endParaRPr lang="en-US" sz="4200" dirty="0"/>
          </a:p>
          <a:p>
            <a:pPr lvl="0"/>
            <a:r>
              <a:rPr lang="ro-RO" sz="4200" b="1" dirty="0"/>
              <a:t>8</a:t>
            </a:r>
            <a:r>
              <a:rPr lang="en-US" sz="4200" b="1" dirty="0" smtClean="0"/>
              <a:t> </a:t>
            </a:r>
            <a:r>
              <a:rPr lang="en-US" sz="4200" b="1" dirty="0" err="1"/>
              <a:t>intrări</a:t>
            </a:r>
            <a:r>
              <a:rPr lang="en-US" sz="4200" b="1" dirty="0"/>
              <a:t> </a:t>
            </a:r>
            <a:endParaRPr lang="en-US" sz="4200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lvl="0"/>
            <a:r>
              <a:rPr lang="en-US" sz="3600" b="1" dirty="0" err="1"/>
              <a:t>Pe</a:t>
            </a:r>
            <a:r>
              <a:rPr lang="en-US" sz="3600" b="1" dirty="0"/>
              <a:t> </a:t>
            </a:r>
            <a:r>
              <a:rPr lang="en-US" sz="3600" b="1" dirty="0" err="1"/>
              <a:t>baza</a:t>
            </a:r>
            <a:r>
              <a:rPr lang="en-US" sz="3600" b="1" dirty="0"/>
              <a:t> </a:t>
            </a:r>
            <a:r>
              <a:rPr lang="en-US" sz="3600" b="1" dirty="0" err="1"/>
              <a:t>algoritmului</a:t>
            </a:r>
            <a:r>
              <a:rPr lang="en-US" sz="3600" b="1" dirty="0"/>
              <a:t> (</a:t>
            </a:r>
            <a:r>
              <a:rPr lang="en-US" sz="3600" b="1" dirty="0" err="1"/>
              <a:t>daca</a:t>
            </a:r>
            <a:r>
              <a:rPr lang="en-US" sz="3600" b="1" dirty="0"/>
              <a:t> nu </a:t>
            </a:r>
            <a:r>
              <a:rPr lang="en-US" sz="3600" b="1" dirty="0" err="1"/>
              <a:t>ținem</a:t>
            </a:r>
            <a:r>
              <a:rPr lang="en-US" sz="3600" b="1" dirty="0"/>
              <a:t> </a:t>
            </a:r>
            <a:r>
              <a:rPr lang="en-US" sz="3600" b="1" dirty="0" err="1"/>
              <a:t>cont</a:t>
            </a:r>
            <a:r>
              <a:rPr lang="en-US" sz="3600" b="1" dirty="0"/>
              <a:t> de </a:t>
            </a:r>
            <a:r>
              <a:rPr lang="en-US" sz="3600" b="1" dirty="0" err="1"/>
              <a:t>memoria</a:t>
            </a:r>
            <a:r>
              <a:rPr lang="en-US" sz="3600" b="1" dirty="0"/>
              <a:t> </a:t>
            </a:r>
            <a:r>
              <a:rPr lang="en-US" sz="3600" b="1" dirty="0" err="1"/>
              <a:t>aleasă</a:t>
            </a:r>
            <a:r>
              <a:rPr lang="en-US" sz="3600" b="1" dirty="0"/>
              <a:t>):</a:t>
            </a:r>
            <a:r>
              <a:rPr lang="en-US" sz="3600" dirty="0"/>
              <a:t> </a:t>
            </a:r>
          </a:p>
          <a:p>
            <a:r>
              <a:rPr lang="en-US" sz="3600" b="1" dirty="0" err="1"/>
              <a:t>μi</a:t>
            </a:r>
            <a:r>
              <a:rPr lang="en-US" sz="3600" b="1" dirty="0"/>
              <a:t> de tip1 -&gt; 1+n</a:t>
            </a:r>
            <a:r>
              <a:rPr lang="en-US" sz="3600" b="1" baseline="-25000" dirty="0"/>
              <a:t>out</a:t>
            </a:r>
            <a:r>
              <a:rPr lang="en-US" sz="3600" b="1" dirty="0"/>
              <a:t> = 9 </a:t>
            </a:r>
            <a:endParaRPr lang="en-US" sz="3600" dirty="0"/>
          </a:p>
          <a:p>
            <a:r>
              <a:rPr lang="en-US" sz="3600" b="1" dirty="0" err="1"/>
              <a:t>μi</a:t>
            </a:r>
            <a:r>
              <a:rPr lang="en-US" sz="3600" b="1" dirty="0"/>
              <a:t> de tip0 -&gt; 1+n</a:t>
            </a:r>
            <a:r>
              <a:rPr lang="en-US" sz="3600" b="1" baseline="-25000" dirty="0"/>
              <a:t>ci</a:t>
            </a:r>
            <a:r>
              <a:rPr lang="en-US" sz="3600" b="1" dirty="0"/>
              <a:t>+n</a:t>
            </a:r>
            <a:r>
              <a:rPr lang="en-US" sz="3600" b="1" baseline="-25000" dirty="0"/>
              <a:t>adr </a:t>
            </a:r>
            <a:r>
              <a:rPr lang="en-US" sz="3600" b="1" dirty="0"/>
              <a:t>= 1+4+5 = 10 </a:t>
            </a:r>
            <a:endParaRPr lang="en-US" sz="3600" dirty="0"/>
          </a:p>
          <a:p>
            <a:r>
              <a:rPr lang="en-US" sz="3600" b="1" dirty="0" err="1"/>
              <a:t>Lμi</a:t>
            </a:r>
            <a:r>
              <a:rPr lang="en-US" sz="3600" b="1" dirty="0"/>
              <a:t> = 1+max(</a:t>
            </a:r>
            <a:r>
              <a:rPr lang="en-US" sz="3600" b="1" dirty="0" err="1"/>
              <a:t>n</a:t>
            </a:r>
            <a:r>
              <a:rPr lang="en-US" sz="3600" b="1" baseline="-25000" dirty="0" err="1"/>
              <a:t>ci</a:t>
            </a:r>
            <a:r>
              <a:rPr lang="en-US" sz="3600" b="1" dirty="0" err="1"/>
              <a:t>+n</a:t>
            </a:r>
            <a:r>
              <a:rPr lang="en-US" sz="3600" b="1" baseline="-25000" dirty="0" err="1"/>
              <a:t>adr</a:t>
            </a:r>
            <a:r>
              <a:rPr lang="en-US" sz="3600" b="1" dirty="0"/>
              <a:t>, </a:t>
            </a:r>
            <a:r>
              <a:rPr lang="en-US" sz="3600" b="1" dirty="0" err="1"/>
              <a:t>n</a:t>
            </a:r>
            <a:r>
              <a:rPr lang="en-US" sz="3600" b="1" baseline="-25000" dirty="0" err="1"/>
              <a:t>out</a:t>
            </a:r>
            <a:r>
              <a:rPr lang="en-US" sz="3600" b="1" dirty="0"/>
              <a:t>) = 1+max(4+5, 8) = 1+9 = 10 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 </a:t>
            </a:r>
            <a:endParaRPr lang="en-US" sz="3600" dirty="0"/>
          </a:p>
          <a:p>
            <a:pPr lvl="0"/>
            <a:r>
              <a:rPr lang="en-US" sz="3600" b="1" dirty="0" err="1"/>
              <a:t>Pe</a:t>
            </a:r>
            <a:r>
              <a:rPr lang="en-US" sz="3600" b="1" dirty="0"/>
              <a:t> </a:t>
            </a:r>
            <a:r>
              <a:rPr lang="en-US" sz="3600" b="1" dirty="0" err="1"/>
              <a:t>baza</a:t>
            </a:r>
            <a:r>
              <a:rPr lang="en-US" sz="3600" b="1" dirty="0"/>
              <a:t> </a:t>
            </a:r>
            <a:r>
              <a:rPr lang="en-US" sz="3600" b="1" dirty="0" err="1"/>
              <a:t>algoritmului</a:t>
            </a:r>
            <a:r>
              <a:rPr lang="en-US" sz="3600" b="1" dirty="0"/>
              <a:t> (</a:t>
            </a:r>
            <a:r>
              <a:rPr lang="en-US" sz="3600" b="1" dirty="0" err="1"/>
              <a:t>daca</a:t>
            </a:r>
            <a:r>
              <a:rPr lang="en-US" sz="3600" b="1" dirty="0"/>
              <a:t> </a:t>
            </a:r>
            <a:r>
              <a:rPr lang="en-US" sz="3600" b="1" dirty="0" err="1"/>
              <a:t>ținem</a:t>
            </a:r>
            <a:r>
              <a:rPr lang="en-US" sz="3600" b="1" dirty="0"/>
              <a:t> </a:t>
            </a:r>
            <a:r>
              <a:rPr lang="en-US" sz="3600" b="1" dirty="0" err="1"/>
              <a:t>cont</a:t>
            </a:r>
            <a:r>
              <a:rPr lang="en-US" sz="3600" b="1" dirty="0"/>
              <a:t> de </a:t>
            </a:r>
            <a:r>
              <a:rPr lang="en-US" sz="3600" b="1" dirty="0" err="1"/>
              <a:t>memoria</a:t>
            </a:r>
            <a:r>
              <a:rPr lang="en-US" sz="3600" b="1" dirty="0"/>
              <a:t> </a:t>
            </a:r>
            <a:r>
              <a:rPr lang="en-US" sz="3600" b="1" dirty="0" err="1"/>
              <a:t>aleasă</a:t>
            </a:r>
            <a:r>
              <a:rPr lang="en-US" sz="3600" b="1" dirty="0"/>
              <a:t>): </a:t>
            </a:r>
            <a:endParaRPr lang="en-US" sz="3600" dirty="0"/>
          </a:p>
          <a:p>
            <a:r>
              <a:rPr lang="en-US" sz="3600" b="1" dirty="0" err="1"/>
              <a:t>Dacă</a:t>
            </a:r>
            <a:r>
              <a:rPr lang="en-US" sz="3600" b="1" dirty="0"/>
              <a:t> </a:t>
            </a:r>
            <a:r>
              <a:rPr lang="en-US" sz="3600" b="1" dirty="0" err="1"/>
              <a:t>ținem</a:t>
            </a:r>
            <a:r>
              <a:rPr lang="en-US" sz="3600" b="1" dirty="0"/>
              <a:t> </a:t>
            </a:r>
            <a:r>
              <a:rPr lang="en-US" sz="3600" b="1" dirty="0" err="1"/>
              <a:t>cont</a:t>
            </a:r>
            <a:r>
              <a:rPr lang="en-US" sz="3600" b="1" dirty="0"/>
              <a:t> de </a:t>
            </a:r>
            <a:r>
              <a:rPr lang="en-US" sz="3600" b="1" dirty="0" err="1"/>
              <a:t>memoria</a:t>
            </a:r>
            <a:r>
              <a:rPr lang="en-US" sz="3600" b="1" dirty="0"/>
              <a:t> </a:t>
            </a:r>
            <a:r>
              <a:rPr lang="en-US" sz="3600" b="1" dirty="0" err="1"/>
              <a:t>aleasă</a:t>
            </a:r>
            <a:r>
              <a:rPr lang="en-US" sz="3600" b="1" dirty="0"/>
              <a:t> 256 x </a:t>
            </a:r>
            <a:r>
              <a:rPr lang="en-US" sz="3600" b="1" dirty="0" smtClean="0"/>
              <a:t>4</a:t>
            </a:r>
            <a:r>
              <a:rPr lang="ro-RO" sz="3600" b="1" dirty="0" smtClean="0"/>
              <a:t>,</a:t>
            </a:r>
            <a:r>
              <a:rPr lang="en-US" sz="3600" b="1" dirty="0" smtClean="0"/>
              <a:t> </a:t>
            </a:r>
            <a:r>
              <a:rPr lang="en-US" sz="3600" b="1" dirty="0" err="1"/>
              <a:t>putem</a:t>
            </a:r>
            <a:r>
              <a:rPr lang="en-US" sz="3600" b="1" dirty="0"/>
              <a:t> </a:t>
            </a:r>
            <a:r>
              <a:rPr lang="en-US" sz="3600" b="1" dirty="0" err="1"/>
              <a:t>adresa</a:t>
            </a:r>
            <a:r>
              <a:rPr lang="en-US" sz="3600" b="1" dirty="0"/>
              <a:t> maxim 256 de </a:t>
            </a:r>
            <a:r>
              <a:rPr lang="en-US" sz="3600" b="1" dirty="0" err="1"/>
              <a:t>stări</a:t>
            </a:r>
            <a:r>
              <a:rPr lang="en-US" sz="3600" b="1" dirty="0"/>
              <a:t>, cu un RA </a:t>
            </a:r>
            <a:r>
              <a:rPr lang="en-US" sz="3600" b="1" dirty="0" err="1"/>
              <a:t>pe</a:t>
            </a:r>
            <a:r>
              <a:rPr lang="en-US" sz="3600" b="1" dirty="0"/>
              <a:t> 8 </a:t>
            </a:r>
            <a:r>
              <a:rPr lang="en-US" sz="3600" b="1" dirty="0" err="1"/>
              <a:t>biți</a:t>
            </a:r>
            <a:r>
              <a:rPr lang="en-US" sz="3600" b="1" dirty="0"/>
              <a:t>, </a:t>
            </a:r>
            <a:r>
              <a:rPr lang="en-US" sz="3600" b="1" dirty="0" err="1"/>
              <a:t>deci</a:t>
            </a:r>
            <a:r>
              <a:rPr lang="en-US" sz="3600" b="1" dirty="0"/>
              <a:t> 8 </a:t>
            </a:r>
            <a:r>
              <a:rPr lang="en-US" sz="3600" b="1" dirty="0" err="1"/>
              <a:t>biți</a:t>
            </a:r>
            <a:r>
              <a:rPr lang="en-US" sz="3600" b="1" dirty="0"/>
              <a:t> </a:t>
            </a:r>
            <a:r>
              <a:rPr lang="en-US" sz="3600" b="1" dirty="0" err="1"/>
              <a:t>pentru</a:t>
            </a:r>
            <a:r>
              <a:rPr lang="en-US" sz="3600" b="1" dirty="0"/>
              <a:t> </a:t>
            </a:r>
            <a:r>
              <a:rPr lang="en-US" sz="3600" b="1" dirty="0" err="1"/>
              <a:t>stări</a:t>
            </a:r>
            <a:r>
              <a:rPr lang="en-US" sz="3600" b="1" dirty="0"/>
              <a:t>: 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 </a:t>
            </a:r>
            <a:endParaRPr lang="en-US" sz="3600" dirty="0"/>
          </a:p>
          <a:p>
            <a:r>
              <a:rPr lang="en-US" sz="3600" b="1" dirty="0" err="1"/>
              <a:t>Lμ</a:t>
            </a:r>
            <a:r>
              <a:rPr lang="en-US" sz="3600" b="1" dirty="0"/>
              <a:t> = </a:t>
            </a:r>
            <a:r>
              <a:rPr lang="en-US" sz="3600" b="1" dirty="0" smtClean="0"/>
              <a:t>1+max(</a:t>
            </a:r>
            <a:r>
              <a:rPr lang="ro-RO" sz="3600" b="1" dirty="0" err="1"/>
              <a:t>n</a:t>
            </a:r>
            <a:r>
              <a:rPr lang="en-US" sz="3600" b="1" baseline="-25000" dirty="0" err="1" smtClean="0"/>
              <a:t>ci</a:t>
            </a:r>
            <a:r>
              <a:rPr lang="en-US" sz="3600" b="1" dirty="0" err="1" smtClean="0"/>
              <a:t>+n</a:t>
            </a:r>
            <a:r>
              <a:rPr lang="en-US" sz="3600" b="1" baseline="-25000" dirty="0" err="1" smtClean="0"/>
              <a:t>adr</a:t>
            </a:r>
            <a:r>
              <a:rPr lang="en-US" sz="3600" b="1" dirty="0"/>
              <a:t>, </a:t>
            </a:r>
            <a:r>
              <a:rPr lang="en-US" sz="3600" b="1" dirty="0" err="1"/>
              <a:t>n</a:t>
            </a:r>
            <a:r>
              <a:rPr lang="en-US" sz="3600" b="1" baseline="-25000" dirty="0" err="1"/>
              <a:t>out</a:t>
            </a:r>
            <a:r>
              <a:rPr lang="en-US" sz="3600" b="1" dirty="0" smtClean="0"/>
              <a:t>) </a:t>
            </a:r>
            <a:r>
              <a:rPr lang="en-US" sz="3600" b="1" dirty="0"/>
              <a:t>= 1+max(4+8, 8) = 1+12 =13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974" y="1424940"/>
            <a:ext cx="3381376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ro-RO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Completarea conținutului memoriei de            microprogram</a:t>
            </a:r>
            <a:endParaRPr lang="en-US" sz="49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175706"/>
              </p:ext>
            </p:extLst>
          </p:nvPr>
        </p:nvGraphicFramePr>
        <p:xfrm>
          <a:off x="190500" y="1175191"/>
          <a:ext cx="5114926" cy="5558980"/>
        </p:xfrm>
        <a:graphic>
          <a:graphicData uri="http://schemas.openxmlformats.org/drawingml/2006/table">
            <a:tbl>
              <a:tblPr firstRow="1" firstCol="1" bandRow="1"/>
              <a:tblGrid>
                <a:gridCol w="1036019">
                  <a:extLst>
                    <a:ext uri="{9D8B030D-6E8A-4147-A177-3AD203B41FA5}">
                      <a16:colId xmlns:a16="http://schemas.microsoft.com/office/drawing/2014/main" val="2063550256"/>
                    </a:ext>
                  </a:extLst>
                </a:gridCol>
                <a:gridCol w="317793">
                  <a:extLst>
                    <a:ext uri="{9D8B030D-6E8A-4147-A177-3AD203B41FA5}">
                      <a16:colId xmlns:a16="http://schemas.microsoft.com/office/drawing/2014/main" val="728942969"/>
                    </a:ext>
                  </a:extLst>
                </a:gridCol>
                <a:gridCol w="1263783">
                  <a:extLst>
                    <a:ext uri="{9D8B030D-6E8A-4147-A177-3AD203B41FA5}">
                      <a16:colId xmlns:a16="http://schemas.microsoft.com/office/drawing/2014/main" val="1015057636"/>
                    </a:ext>
                  </a:extLst>
                </a:gridCol>
                <a:gridCol w="915755">
                  <a:extLst>
                    <a:ext uri="{9D8B030D-6E8A-4147-A177-3AD203B41FA5}">
                      <a16:colId xmlns:a16="http://schemas.microsoft.com/office/drawing/2014/main" val="2448144725"/>
                    </a:ext>
                  </a:extLst>
                </a:gridCol>
                <a:gridCol w="317793">
                  <a:extLst>
                    <a:ext uri="{9D8B030D-6E8A-4147-A177-3AD203B41FA5}">
                      <a16:colId xmlns:a16="http://schemas.microsoft.com/office/drawing/2014/main" val="938793481"/>
                    </a:ext>
                  </a:extLst>
                </a:gridCol>
                <a:gridCol w="1263783">
                  <a:extLst>
                    <a:ext uri="{9D8B030D-6E8A-4147-A177-3AD203B41FA5}">
                      <a16:colId xmlns:a16="http://schemas.microsoft.com/office/drawing/2014/main" val="2669365947"/>
                    </a:ext>
                  </a:extLst>
                </a:gridCol>
              </a:tblGrid>
              <a:tr h="1438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 STARE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INPCOD+ADR0/OUT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 STARE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INPCOD+ADR0/OUT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5740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(START)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(S4)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 dirty="0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570358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(VEGETARIAN</a:t>
                      </a:r>
                      <a:r>
                        <a:rPr lang="ro-RO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Ă)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01000000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(S3)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249093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00010(S2)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742513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(LACTO-VEG)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11100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(PEȘTE)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0101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449852"/>
                  </a:ext>
                </a:extLst>
              </a:tr>
              <a:tr h="477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(GORGONZOLA)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00001000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(SOMON)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964890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(FINALIZARE)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0111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11110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(NEAFUMAT)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23775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(CASH)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00000100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571428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(S5)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11111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(AFUMAT)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00010000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196349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(PUI)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00100000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90004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(VEGANĂ)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303082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(ROȘII)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(TON)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305040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01011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046159"/>
                  </a:ext>
                </a:extLst>
              </a:tr>
              <a:tr h="477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(RUCCOLA)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11100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(MOZARELLA)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81617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11101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(*)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********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280969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(STANDARD)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10000000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11110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(CARD)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00000001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720981"/>
                  </a:ext>
                </a:extLst>
              </a:tr>
              <a:tr h="318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01111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(S1)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0001</a:t>
                      </a:r>
                      <a:r>
                        <a:rPr lang="en-US" sz="700" b="1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880360" algn="l"/>
                          <a:tab pos="2971800" algn="ctr"/>
                        </a:tabLs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11111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(TERMINAT)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6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00000010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33" marR="50833" marT="0" marB="0" anchor="ctr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489722"/>
                  </a:ext>
                </a:extLst>
              </a:tr>
            </a:tbl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305426" y="1247771"/>
            <a:ext cx="230504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Codificăm variabilele de intrare astfel</a:t>
            </a: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0000-CATEGORIE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0001-TOPPING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0010-SUBCATEG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0011-EXTRA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0100-BR</a:t>
            </a:r>
            <a:r>
              <a:rPr lang="ro-RO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ÂNZETURI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0101-OPȚIUNE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0110-TIP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0111-PLATA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1000-X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Ordinea ieșirilor</a:t>
            </a: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C3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C4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C5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C6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C7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C8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9743" t="33506" r="66796" b="22734"/>
          <a:stretch/>
        </p:blipFill>
        <p:spPr bwMode="auto">
          <a:xfrm>
            <a:off x="8275320" y="2611750"/>
            <a:ext cx="3078480" cy="32365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920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225040" algn="l"/>
              </a:tabLst>
            </a:pPr>
            <a:r>
              <a:rPr lang="ro-RO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/>
            </a:r>
            <a:br>
              <a:rPr lang="ro-RO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r>
              <a:rPr lang="ro-RO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Proiectarea schemei unității de comandă microprogramate</a:t>
            </a:r>
            <a:r>
              <a:rPr lang="en-US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/>
            </a:r>
            <a:br>
              <a:rPr lang="en-US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endParaRPr lang="en-US" sz="49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925" y="2111375"/>
            <a:ext cx="69437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2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o-RO" b="1" i="1" u="sng" dirty="0"/>
              <a:t/>
            </a:r>
            <a:br>
              <a:rPr lang="ro-RO" b="1" i="1" u="sng" dirty="0"/>
            </a:br>
            <a:r>
              <a:rPr lang="ro-RO" b="1" i="1" u="sng" dirty="0"/>
              <a:t/>
            </a:r>
            <a:br>
              <a:rPr lang="ro-RO" b="1" i="1" u="sng" dirty="0"/>
            </a:br>
            <a:r>
              <a:rPr lang="ro-RO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Alegerea componentelor </a:t>
            </a: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/>
            </a:r>
            <a:b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r>
              <a:rPr lang="ro-RO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digitale folosite</a:t>
            </a: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/>
            </a:r>
            <a:b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 </a:t>
            </a:r>
            <a:b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</a:br>
            <a:endParaRPr lang="en-US" sz="54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0" t="33220" r="21539" b="7634"/>
          <a:stretch/>
        </p:blipFill>
        <p:spPr bwMode="auto">
          <a:xfrm>
            <a:off x="1238250" y="1825624"/>
            <a:ext cx="9925050" cy="47466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943849" y="3752850"/>
            <a:ext cx="273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    N1                              N2</a:t>
            </a:r>
            <a:endParaRPr lang="en-US" b="1" dirty="0"/>
          </a:p>
        </p:txBody>
      </p:sp>
      <p:pic>
        <p:nvPicPr>
          <p:cNvPr id="6" name="Google Shape;330;p16"/>
          <p:cNvPicPr preferRelativeResize="0"/>
          <p:nvPr/>
        </p:nvPicPr>
        <p:blipFill rotWithShape="1">
          <a:blip r:embed="rId3">
            <a:alphaModFix/>
            <a:duotone>
              <a:prstClr val="black"/>
              <a:srgbClr val="0000FF">
                <a:tint val="45000"/>
                <a:satMod val="400000"/>
              </a:srgbClr>
            </a:duotone>
          </a:blip>
          <a:srcRect/>
          <a:stretch/>
        </p:blipFill>
        <p:spPr>
          <a:xfrm rot="18326292">
            <a:off x="-2034382" y="-2823900"/>
            <a:ext cx="3028489" cy="5647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532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u="sng" dirty="0" err="1">
                <a:solidFill>
                  <a:srgbClr val="0000FF"/>
                </a:solidFill>
              </a:rPr>
              <a:t>Conexiunile</a:t>
            </a:r>
            <a:r>
              <a:rPr lang="en-US" b="1" u="sng" dirty="0">
                <a:solidFill>
                  <a:srgbClr val="0000FF"/>
                </a:solidFill>
              </a:rPr>
              <a:t> </a:t>
            </a:r>
            <a:r>
              <a:rPr lang="en-US" b="1" u="sng" dirty="0" err="1">
                <a:solidFill>
                  <a:srgbClr val="0000FF"/>
                </a:solidFill>
              </a:rPr>
              <a:t>dintre</a:t>
            </a:r>
            <a:r>
              <a:rPr lang="en-US" b="1" u="sng" dirty="0">
                <a:solidFill>
                  <a:srgbClr val="0000FF"/>
                </a:solidFill>
              </a:rPr>
              <a:t> </a:t>
            </a:r>
            <a:r>
              <a:rPr lang="en-US" b="1" u="sng" dirty="0" err="1">
                <a:solidFill>
                  <a:srgbClr val="0000FF"/>
                </a:solidFill>
              </a:rPr>
              <a:t>pini</a:t>
            </a:r>
            <a:r>
              <a:rPr lang="en-US" b="1" u="sng" dirty="0">
                <a:solidFill>
                  <a:srgbClr val="0000FF"/>
                </a:solidFill>
              </a:rPr>
              <a:t>: </a:t>
            </a:r>
            <a:endParaRPr lang="en-US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b="1" u="sng" dirty="0" err="1">
                <a:solidFill>
                  <a:srgbClr val="0000FF"/>
                </a:solidFill>
              </a:rPr>
              <a:t>Memoria</a:t>
            </a:r>
            <a:r>
              <a:rPr lang="en-US" b="1" u="sng" dirty="0">
                <a:solidFill>
                  <a:srgbClr val="0000FF"/>
                </a:solidFill>
              </a:rPr>
              <a:t> </a:t>
            </a:r>
            <a:r>
              <a:rPr lang="en-US" b="1" u="sng" dirty="0" err="1">
                <a:solidFill>
                  <a:srgbClr val="0000FF"/>
                </a:solidFill>
              </a:rPr>
              <a:t>și</a:t>
            </a:r>
            <a:r>
              <a:rPr lang="en-US" b="1" u="sng" dirty="0">
                <a:solidFill>
                  <a:srgbClr val="0000FF"/>
                </a:solidFill>
              </a:rPr>
              <a:t> </a:t>
            </a:r>
            <a:r>
              <a:rPr lang="en-US" b="1" u="sng" dirty="0" err="1">
                <a:solidFill>
                  <a:srgbClr val="0000FF"/>
                </a:solidFill>
              </a:rPr>
              <a:t>multiplexorul</a:t>
            </a:r>
            <a:endParaRPr lang="en-US" dirty="0">
              <a:solidFill>
                <a:srgbClr val="0000FF"/>
              </a:solidFill>
            </a:endParaRPr>
          </a:p>
          <a:p>
            <a:pPr lvl="0"/>
            <a:r>
              <a:rPr lang="en-US" b="1" dirty="0"/>
              <a:t>DO3 (M1) → C (MUX)  </a:t>
            </a:r>
            <a:endParaRPr lang="en-US" dirty="0"/>
          </a:p>
          <a:p>
            <a:pPr lvl="0"/>
            <a:r>
              <a:rPr lang="en-US" b="1" dirty="0"/>
              <a:t>DO2 (M1) → B (MUX)  </a:t>
            </a:r>
            <a:endParaRPr lang="en-US" dirty="0"/>
          </a:p>
          <a:p>
            <a:pPr lvl="0"/>
            <a:r>
              <a:rPr lang="en-US" b="1" dirty="0"/>
              <a:t>DO1 (M1) → A (MUX)</a:t>
            </a:r>
            <a:endParaRPr lang="en-US" dirty="0"/>
          </a:p>
          <a:p>
            <a:r>
              <a:rPr lang="en-US" b="1" dirty="0"/>
              <a:t>E1 (MUX) → CATEGORIE</a:t>
            </a:r>
            <a:endParaRPr lang="en-US" sz="2700" b="1" dirty="0"/>
          </a:p>
          <a:p>
            <a:r>
              <a:rPr lang="en-US" sz="2700" b="1" dirty="0"/>
              <a:t>E2 (MUX) → TOPPING</a:t>
            </a:r>
          </a:p>
          <a:p>
            <a:pPr lvl="0"/>
            <a:r>
              <a:rPr lang="en-US" b="1" dirty="0"/>
              <a:t>E3 (MUX) → SUBCATEG</a:t>
            </a:r>
            <a:endParaRPr lang="en-US" dirty="0"/>
          </a:p>
          <a:p>
            <a:pPr lvl="0"/>
            <a:r>
              <a:rPr lang="en-US" b="1" dirty="0"/>
              <a:t>E4 (MUX) → EXTRA</a:t>
            </a:r>
            <a:endParaRPr lang="en-US" dirty="0"/>
          </a:p>
          <a:p>
            <a:pPr lvl="0"/>
            <a:r>
              <a:rPr lang="en-US" b="1" dirty="0"/>
              <a:t>E5 (MUX) → BRÂNZETURI</a:t>
            </a:r>
            <a:endParaRPr lang="en-US" dirty="0"/>
          </a:p>
          <a:p>
            <a:pPr lvl="0"/>
            <a:r>
              <a:rPr lang="en-US" b="1" dirty="0"/>
              <a:t>E6 (MUX) → OPȚIUNE</a:t>
            </a:r>
            <a:endParaRPr lang="en-US" dirty="0"/>
          </a:p>
          <a:p>
            <a:pPr lvl="0"/>
            <a:r>
              <a:rPr lang="en-US" b="1" dirty="0"/>
              <a:t>E7 (MUX) → TIP</a:t>
            </a:r>
            <a:endParaRPr lang="en-US" dirty="0"/>
          </a:p>
          <a:p>
            <a:pPr lvl="0"/>
            <a:r>
              <a:rPr lang="en-US" b="1" dirty="0"/>
              <a:t>E8 (MUX) → PLATĂ</a:t>
            </a:r>
            <a:endParaRPr lang="en-US" dirty="0"/>
          </a:p>
          <a:p>
            <a:pPr lvl="0"/>
            <a:r>
              <a:rPr lang="en-US" b="1" dirty="0"/>
              <a:t>E9 (MUX) → X</a:t>
            </a:r>
            <a:endParaRPr lang="en-US" dirty="0"/>
          </a:p>
          <a:p>
            <a:pPr lvl="0"/>
            <a:r>
              <a:rPr lang="en-US" b="1" dirty="0"/>
              <a:t>D, E0, E10 – E15, STROBE, GND (MUX) se </a:t>
            </a:r>
            <a:r>
              <a:rPr lang="en-US" b="1" dirty="0" err="1"/>
              <a:t>conectează</a:t>
            </a:r>
            <a:r>
              <a:rPr lang="en-US" b="1" dirty="0"/>
              <a:t> la </a:t>
            </a:r>
            <a:r>
              <a:rPr lang="en-US" b="1" dirty="0" err="1"/>
              <a:t>masă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7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9825" y="0"/>
            <a:ext cx="21621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130861" y="-114419"/>
            <a:ext cx="593027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5675" algn="l"/>
              </a:tabLst>
            </a:pPr>
            <a:endParaRPr lang="ro-RO" altLang="en-US" sz="49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5675" algn="l"/>
              </a:tabLst>
            </a:pPr>
            <a:r>
              <a:rPr lang="ro-RO" altLang="en-US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</a:rPr>
              <a:t>Conexiunile dintre pini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492628"/>
            <a:ext cx="601980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 err="1">
                <a:solidFill>
                  <a:srgbClr val="0000FF"/>
                </a:solidFill>
              </a:rPr>
              <a:t>Conexiunile</a:t>
            </a:r>
            <a:r>
              <a:rPr lang="en-US" sz="1500" b="1" u="sng" dirty="0">
                <a:solidFill>
                  <a:srgbClr val="0000FF"/>
                </a:solidFill>
              </a:rPr>
              <a:t> </a:t>
            </a:r>
            <a:r>
              <a:rPr lang="en-US" sz="1500" b="1" u="sng" dirty="0" err="1">
                <a:solidFill>
                  <a:srgbClr val="0000FF"/>
                </a:solidFill>
              </a:rPr>
              <a:t>dintre</a:t>
            </a:r>
            <a:r>
              <a:rPr lang="en-US" sz="1500" b="1" u="sng" dirty="0">
                <a:solidFill>
                  <a:srgbClr val="0000FF"/>
                </a:solidFill>
              </a:rPr>
              <a:t> </a:t>
            </a:r>
            <a:r>
              <a:rPr lang="en-US" sz="1500" b="1" u="sng" dirty="0" err="1">
                <a:solidFill>
                  <a:srgbClr val="0000FF"/>
                </a:solidFill>
              </a:rPr>
              <a:t>pini</a:t>
            </a:r>
            <a:r>
              <a:rPr lang="en-US" sz="1500" b="1" u="sng" dirty="0">
                <a:solidFill>
                  <a:srgbClr val="0000FF"/>
                </a:solidFill>
              </a:rPr>
              <a:t>: </a:t>
            </a:r>
          </a:p>
          <a:p>
            <a:r>
              <a:rPr lang="en-US" sz="1500" b="1" u="sng" dirty="0" err="1">
                <a:solidFill>
                  <a:srgbClr val="0000FF"/>
                </a:solidFill>
              </a:rPr>
              <a:t>Memorie</a:t>
            </a:r>
            <a:r>
              <a:rPr lang="en-US" sz="1500" b="1" u="sng" dirty="0">
                <a:solidFill>
                  <a:srgbClr val="0000FF"/>
                </a:solidFill>
              </a:rPr>
              <a:t>, MUX, </a:t>
            </a:r>
            <a:r>
              <a:rPr lang="en-US" sz="1500" b="1" u="sng" dirty="0" err="1">
                <a:solidFill>
                  <a:srgbClr val="0000FF"/>
                </a:solidFill>
              </a:rPr>
              <a:t>poarta</a:t>
            </a:r>
            <a:r>
              <a:rPr lang="en-US" sz="1500" b="1" u="sng" dirty="0">
                <a:solidFill>
                  <a:srgbClr val="0000FF"/>
                </a:solidFill>
              </a:rPr>
              <a:t> NOT, </a:t>
            </a:r>
            <a:r>
              <a:rPr lang="en-US" sz="1500" b="1" u="sng" dirty="0" err="1">
                <a:solidFill>
                  <a:srgbClr val="0000FF"/>
                </a:solidFill>
              </a:rPr>
              <a:t>poarta</a:t>
            </a:r>
            <a:r>
              <a:rPr lang="en-US" sz="1500" b="1" u="sng" dirty="0">
                <a:solidFill>
                  <a:srgbClr val="0000FF"/>
                </a:solidFill>
              </a:rPr>
              <a:t> SAU</a:t>
            </a:r>
          </a:p>
          <a:p>
            <a:r>
              <a:rPr lang="en-US" b="1" dirty="0"/>
              <a:t> 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DO4(M1) </a:t>
            </a:r>
            <a:r>
              <a:rPr lang="en-US" sz="1500" b="1" dirty="0" err="1"/>
              <a:t>este</a:t>
            </a:r>
            <a:r>
              <a:rPr lang="en-US" sz="1500" b="1" dirty="0"/>
              <a:t> </a:t>
            </a:r>
            <a:r>
              <a:rPr lang="en-US" sz="1500" b="1" dirty="0" err="1"/>
              <a:t>conectat</a:t>
            </a:r>
            <a:r>
              <a:rPr lang="en-US" sz="1500" b="1" dirty="0"/>
              <a:t> cu </a:t>
            </a:r>
            <a:r>
              <a:rPr lang="en-US" sz="1500" b="1" dirty="0" err="1"/>
              <a:t>pinul</a:t>
            </a:r>
            <a:r>
              <a:rPr lang="en-US" sz="1500" b="1" dirty="0"/>
              <a:t> 1 din chip-</a:t>
            </a:r>
            <a:r>
              <a:rPr lang="en-US" sz="1500" b="1" dirty="0" err="1"/>
              <a:t>ul</a:t>
            </a:r>
            <a:r>
              <a:rPr lang="en-US" sz="1500" b="1" dirty="0"/>
              <a:t> SAU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W din MUX </a:t>
            </a:r>
            <a:r>
              <a:rPr lang="en-US" sz="1500" b="1" dirty="0" err="1"/>
              <a:t>este</a:t>
            </a:r>
            <a:r>
              <a:rPr lang="en-US" sz="1500" b="1" dirty="0"/>
              <a:t> </a:t>
            </a:r>
            <a:r>
              <a:rPr lang="en-US" sz="1500" b="1" dirty="0" err="1"/>
              <a:t>conectat</a:t>
            </a:r>
            <a:r>
              <a:rPr lang="en-US" sz="1500" b="1" dirty="0"/>
              <a:t> cu </a:t>
            </a:r>
            <a:r>
              <a:rPr lang="en-US" sz="1500" b="1" dirty="0" err="1"/>
              <a:t>pinul</a:t>
            </a:r>
            <a:r>
              <a:rPr lang="en-US" sz="1500" b="1" dirty="0"/>
              <a:t> 1 din chip-</a:t>
            </a:r>
            <a:r>
              <a:rPr lang="en-US" sz="1500" b="1" dirty="0" err="1"/>
              <a:t>ul</a:t>
            </a:r>
            <a:r>
              <a:rPr lang="en-US" sz="1500" b="1" dirty="0"/>
              <a:t> NOT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500" b="1" dirty="0" err="1"/>
              <a:t>Pinul</a:t>
            </a:r>
            <a:r>
              <a:rPr lang="en-US" sz="1500" b="1" dirty="0"/>
              <a:t> 2 din chip-</a:t>
            </a:r>
            <a:r>
              <a:rPr lang="en-US" sz="1500" b="1" dirty="0" err="1"/>
              <a:t>ul</a:t>
            </a:r>
            <a:r>
              <a:rPr lang="en-US" sz="1500" b="1" dirty="0"/>
              <a:t> NOT </a:t>
            </a:r>
            <a:r>
              <a:rPr lang="en-US" sz="1500" b="1" dirty="0" err="1"/>
              <a:t>este</a:t>
            </a:r>
            <a:r>
              <a:rPr lang="en-US" sz="1500" b="1" dirty="0"/>
              <a:t> </a:t>
            </a:r>
            <a:r>
              <a:rPr lang="en-US" sz="1500" b="1" dirty="0" err="1"/>
              <a:t>conectat</a:t>
            </a:r>
            <a:r>
              <a:rPr lang="en-US" sz="1500" b="1" dirty="0"/>
              <a:t> cu </a:t>
            </a:r>
            <a:r>
              <a:rPr lang="en-US" sz="1500" b="1" dirty="0" err="1"/>
              <a:t>pinul</a:t>
            </a:r>
            <a:r>
              <a:rPr lang="en-US" sz="1500" b="1" dirty="0"/>
              <a:t> 2 din chip-</a:t>
            </a:r>
            <a:r>
              <a:rPr lang="en-US" sz="1500" b="1" dirty="0" err="1"/>
              <a:t>ul</a:t>
            </a:r>
            <a:r>
              <a:rPr lang="en-US" sz="1500" b="1" dirty="0"/>
              <a:t> SAU</a:t>
            </a:r>
          </a:p>
        </p:txBody>
      </p:sp>
    </p:spTree>
    <p:extLst>
      <p:ext uri="{BB962C8B-B14F-4D97-AF65-F5344CB8AC3E}">
        <p14:creationId xmlns:p14="http://schemas.microsoft.com/office/powerpoint/2010/main" val="350211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3400"/>
            <a:ext cx="4600575" cy="56435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100" b="1" u="sng" dirty="0" err="1">
                <a:solidFill>
                  <a:srgbClr val="0000FF"/>
                </a:solidFill>
              </a:rPr>
              <a:t>Conexiunile</a:t>
            </a:r>
            <a:r>
              <a:rPr lang="en-US" sz="3100" b="1" u="sng" dirty="0">
                <a:solidFill>
                  <a:srgbClr val="0000FF"/>
                </a:solidFill>
              </a:rPr>
              <a:t> </a:t>
            </a:r>
            <a:r>
              <a:rPr lang="en-US" sz="3100" b="1" u="sng" dirty="0" err="1">
                <a:solidFill>
                  <a:srgbClr val="0000FF"/>
                </a:solidFill>
              </a:rPr>
              <a:t>dintre</a:t>
            </a:r>
            <a:r>
              <a:rPr lang="en-US" sz="3100" b="1" u="sng" dirty="0">
                <a:solidFill>
                  <a:srgbClr val="0000FF"/>
                </a:solidFill>
              </a:rPr>
              <a:t> </a:t>
            </a:r>
            <a:r>
              <a:rPr lang="en-US" sz="3100" b="1" u="sng" dirty="0" err="1">
                <a:solidFill>
                  <a:srgbClr val="0000FF"/>
                </a:solidFill>
              </a:rPr>
              <a:t>pini</a:t>
            </a:r>
            <a:r>
              <a:rPr lang="en-US" sz="3100" b="1" u="sng" dirty="0">
                <a:solidFill>
                  <a:srgbClr val="0000FF"/>
                </a:solidFill>
              </a:rPr>
              <a:t>: </a:t>
            </a:r>
          </a:p>
          <a:p>
            <a:pPr marL="0" indent="0">
              <a:buNone/>
            </a:pPr>
            <a:r>
              <a:rPr lang="en-US" sz="3100" b="1" u="sng" dirty="0">
                <a:solidFill>
                  <a:srgbClr val="0000FF"/>
                </a:solidFill>
              </a:rPr>
              <a:t> </a:t>
            </a:r>
            <a:r>
              <a:rPr lang="en-US" sz="3100" b="1" u="sng" dirty="0" err="1">
                <a:solidFill>
                  <a:srgbClr val="0000FF"/>
                </a:solidFill>
              </a:rPr>
              <a:t>memorie</a:t>
            </a:r>
            <a:r>
              <a:rPr lang="en-US" sz="3100" b="1" u="sng" dirty="0">
                <a:solidFill>
                  <a:srgbClr val="0000FF"/>
                </a:solidFill>
              </a:rPr>
              <a:t> </a:t>
            </a:r>
            <a:r>
              <a:rPr lang="en-US" sz="3100" b="1" u="sng" dirty="0" err="1">
                <a:solidFill>
                  <a:srgbClr val="0000FF"/>
                </a:solidFill>
              </a:rPr>
              <a:t>și</a:t>
            </a:r>
            <a:r>
              <a:rPr lang="en-US" sz="3100" b="1" u="sng" dirty="0">
                <a:solidFill>
                  <a:srgbClr val="0000FF"/>
                </a:solidFill>
              </a:rPr>
              <a:t> </a:t>
            </a:r>
            <a:r>
              <a:rPr lang="en-US" sz="3100" b="1" u="sng" dirty="0" err="1">
                <a:solidFill>
                  <a:srgbClr val="0000FF"/>
                </a:solidFill>
              </a:rPr>
              <a:t>mască</a:t>
            </a:r>
            <a:endParaRPr lang="en-US" sz="3100" b="1" u="sng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3100" b="1" dirty="0"/>
              <a:t> </a:t>
            </a:r>
            <a:endParaRPr lang="en-US" sz="3100" dirty="0"/>
          </a:p>
          <a:p>
            <a:pPr lvl="0" fontAlgn="base"/>
            <a:r>
              <a:rPr lang="en-US" b="1" dirty="0"/>
              <a:t>DO4 (M1) se duce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toate</a:t>
            </a:r>
            <a:r>
              <a:rPr lang="en-US" b="1" dirty="0"/>
              <a:t> </a:t>
            </a:r>
            <a:r>
              <a:rPr lang="en-US" b="1" dirty="0" err="1"/>
              <a:t>porțile</a:t>
            </a:r>
            <a:r>
              <a:rPr lang="en-US" b="1" dirty="0"/>
              <a:t> AND (</a:t>
            </a:r>
            <a:r>
              <a:rPr lang="en-US" b="1" dirty="0" err="1"/>
              <a:t>pinii</a:t>
            </a:r>
            <a:r>
              <a:rPr lang="en-US" b="1" dirty="0"/>
              <a:t> 1, 4, 10, 13 de </a:t>
            </a:r>
            <a:r>
              <a:rPr lang="en-US" b="1" dirty="0" err="1"/>
              <a:t>pe</a:t>
            </a:r>
            <a:r>
              <a:rPr lang="en-US" b="1" dirty="0"/>
              <a:t> </a:t>
            </a:r>
            <a:r>
              <a:rPr lang="en-US" b="1" dirty="0" err="1"/>
              <a:t>fiecare</a:t>
            </a:r>
            <a:r>
              <a:rPr lang="en-US" b="1" dirty="0"/>
              <a:t> chip)</a:t>
            </a:r>
            <a:endParaRPr lang="en-US" dirty="0"/>
          </a:p>
          <a:p>
            <a:pPr lvl="0" fontAlgn="base"/>
            <a:r>
              <a:rPr lang="en-US" b="1" dirty="0"/>
              <a:t>DO3(M1) se duce </a:t>
            </a:r>
            <a:r>
              <a:rPr lang="en-US" b="1" dirty="0" err="1"/>
              <a:t>pinul</a:t>
            </a:r>
            <a:r>
              <a:rPr lang="en-US" b="1" dirty="0"/>
              <a:t> 2 </a:t>
            </a:r>
            <a:r>
              <a:rPr lang="en-US" b="1" dirty="0" err="1"/>
              <a:t>în</a:t>
            </a:r>
            <a:r>
              <a:rPr lang="en-US" b="1" dirty="0"/>
              <a:t> AND1</a:t>
            </a:r>
            <a:endParaRPr lang="en-US" dirty="0"/>
          </a:p>
          <a:p>
            <a:pPr lvl="0" fontAlgn="base"/>
            <a:r>
              <a:rPr lang="en-US" b="1" dirty="0"/>
              <a:t>DO2(M1) se duce </a:t>
            </a:r>
            <a:r>
              <a:rPr lang="en-US" b="1" dirty="0" err="1"/>
              <a:t>pinul</a:t>
            </a:r>
            <a:r>
              <a:rPr lang="en-US" b="1" dirty="0"/>
              <a:t> 5 </a:t>
            </a:r>
            <a:r>
              <a:rPr lang="en-US" b="1" dirty="0" err="1"/>
              <a:t>în</a:t>
            </a:r>
            <a:r>
              <a:rPr lang="en-US" b="1" dirty="0"/>
              <a:t> AND1</a:t>
            </a:r>
            <a:endParaRPr lang="en-US" dirty="0"/>
          </a:p>
          <a:p>
            <a:pPr lvl="0" fontAlgn="base"/>
            <a:r>
              <a:rPr lang="en-US" b="1" dirty="0"/>
              <a:t>DO1(M1) se </a:t>
            </a:r>
            <a:r>
              <a:rPr lang="en-US" b="1" dirty="0" smtClean="0"/>
              <a:t>duce </a:t>
            </a:r>
            <a:r>
              <a:rPr lang="en-US" b="1" dirty="0" err="1"/>
              <a:t>pinul</a:t>
            </a:r>
            <a:r>
              <a:rPr lang="en-US" b="1" dirty="0"/>
              <a:t> 9 </a:t>
            </a:r>
            <a:r>
              <a:rPr lang="en-US" b="1" dirty="0" err="1"/>
              <a:t>în</a:t>
            </a:r>
            <a:r>
              <a:rPr lang="en-US" b="1" dirty="0"/>
              <a:t> AND1</a:t>
            </a:r>
            <a:endParaRPr lang="en-US" dirty="0"/>
          </a:p>
          <a:p>
            <a:pPr lvl="0" fontAlgn="base"/>
            <a:r>
              <a:rPr lang="en-US" b="1" dirty="0"/>
              <a:t>DO4(M2) se duce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pinul</a:t>
            </a:r>
            <a:r>
              <a:rPr lang="en-US" b="1" dirty="0"/>
              <a:t> 12 </a:t>
            </a:r>
            <a:r>
              <a:rPr lang="en-US" b="1" dirty="0" err="1"/>
              <a:t>în</a:t>
            </a:r>
            <a:r>
              <a:rPr lang="en-US" b="1" dirty="0"/>
              <a:t> AND1</a:t>
            </a:r>
            <a:endParaRPr lang="en-US" dirty="0"/>
          </a:p>
          <a:p>
            <a:pPr lvl="0" fontAlgn="base"/>
            <a:r>
              <a:rPr lang="en-US" b="1" dirty="0"/>
              <a:t>DO3(M2) se duce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pinul</a:t>
            </a:r>
            <a:r>
              <a:rPr lang="en-US" b="1" dirty="0"/>
              <a:t> 2 </a:t>
            </a:r>
            <a:r>
              <a:rPr lang="en-US" b="1" dirty="0" err="1"/>
              <a:t>în</a:t>
            </a:r>
            <a:r>
              <a:rPr lang="en-US" b="1" dirty="0"/>
              <a:t> AND2</a:t>
            </a:r>
            <a:endParaRPr lang="en-US" dirty="0"/>
          </a:p>
          <a:p>
            <a:pPr lvl="0" fontAlgn="base"/>
            <a:r>
              <a:rPr lang="en-US" b="1" dirty="0"/>
              <a:t>DO2(M2) se duce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pinul</a:t>
            </a:r>
            <a:r>
              <a:rPr lang="en-US" b="1" dirty="0"/>
              <a:t> 5 </a:t>
            </a:r>
            <a:r>
              <a:rPr lang="en-US" b="1" dirty="0" err="1"/>
              <a:t>în</a:t>
            </a:r>
            <a:r>
              <a:rPr lang="en-US" b="1" dirty="0"/>
              <a:t> AND2</a:t>
            </a:r>
            <a:endParaRPr lang="en-US" dirty="0"/>
          </a:p>
          <a:p>
            <a:pPr lvl="0" fontAlgn="base"/>
            <a:r>
              <a:rPr lang="en-US" b="1" dirty="0"/>
              <a:t>DO1(M2) se duce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pinul</a:t>
            </a:r>
            <a:r>
              <a:rPr lang="en-US" b="1" dirty="0"/>
              <a:t> 9 </a:t>
            </a:r>
            <a:r>
              <a:rPr lang="en-US" b="1" dirty="0" err="1"/>
              <a:t>în</a:t>
            </a:r>
            <a:r>
              <a:rPr lang="en-US" b="1" dirty="0"/>
              <a:t> AND2</a:t>
            </a:r>
            <a:endParaRPr lang="en-US" dirty="0"/>
          </a:p>
          <a:p>
            <a:pPr lvl="0" fontAlgn="base"/>
            <a:r>
              <a:rPr lang="en-US" b="1" dirty="0"/>
              <a:t>DO4(M3) se duce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pinul</a:t>
            </a:r>
            <a:r>
              <a:rPr lang="en-US" b="1" dirty="0"/>
              <a:t> 12 </a:t>
            </a:r>
            <a:r>
              <a:rPr lang="en-US" b="1" dirty="0" err="1"/>
              <a:t>în</a:t>
            </a:r>
            <a:r>
              <a:rPr lang="en-US" b="1" dirty="0"/>
              <a:t> AND2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2275" y="533400"/>
            <a:ext cx="473392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 err="1">
                <a:solidFill>
                  <a:srgbClr val="0000FF"/>
                </a:solidFill>
              </a:rPr>
              <a:t>Pinii</a:t>
            </a:r>
            <a:r>
              <a:rPr lang="en-US" sz="2200" b="1" u="sng" dirty="0">
                <a:solidFill>
                  <a:srgbClr val="0000FF"/>
                </a:solidFill>
              </a:rPr>
              <a:t> </a:t>
            </a:r>
            <a:r>
              <a:rPr lang="en-US" sz="2200" b="1" u="sng" dirty="0" err="1">
                <a:solidFill>
                  <a:srgbClr val="0000FF"/>
                </a:solidFill>
              </a:rPr>
              <a:t>ieșirilor</a:t>
            </a:r>
            <a:r>
              <a:rPr lang="en-US" b="1" u="sng" dirty="0">
                <a:solidFill>
                  <a:srgbClr val="0000FF"/>
                </a:solidFill>
              </a:rPr>
              <a:t>:</a:t>
            </a:r>
            <a:endParaRPr lang="en-US" dirty="0"/>
          </a:p>
          <a:p>
            <a:r>
              <a:rPr lang="en-US" dirty="0"/>
              <a:t> </a:t>
            </a:r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3(AND1)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C1</a:t>
            </a:r>
            <a:endParaRPr lang="en-US" dirty="0"/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6(AND1)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C2</a:t>
            </a:r>
            <a:endParaRPr lang="en-US" dirty="0"/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8(AND1)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C4</a:t>
            </a:r>
            <a:endParaRPr lang="en-US" dirty="0"/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11(AND1)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C3</a:t>
            </a:r>
            <a:endParaRPr lang="en-US" dirty="0"/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3(AND2)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C5</a:t>
            </a:r>
            <a:endParaRPr lang="en-US" dirty="0"/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6(AND2)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C6</a:t>
            </a:r>
            <a:endParaRPr lang="en-US" dirty="0"/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8(AND2)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C8</a:t>
            </a:r>
            <a:endParaRPr lang="en-US" dirty="0"/>
          </a:p>
          <a:p>
            <a:pPr lvl="0" fontAlgn="base"/>
            <a:r>
              <a:rPr lang="en-US" b="1" dirty="0" err="1"/>
              <a:t>Pinul</a:t>
            </a:r>
            <a:r>
              <a:rPr lang="en-US" b="1" dirty="0"/>
              <a:t> 11(AND2) </a:t>
            </a:r>
            <a:r>
              <a:rPr lang="en-US" b="1" dirty="0" err="1"/>
              <a:t>reprezintă</a:t>
            </a:r>
            <a:r>
              <a:rPr lang="en-US" b="1" dirty="0"/>
              <a:t> </a:t>
            </a:r>
            <a:r>
              <a:rPr lang="en-US" b="1" dirty="0" err="1"/>
              <a:t>ieșirea</a:t>
            </a:r>
            <a:r>
              <a:rPr lang="en-US" b="1" dirty="0"/>
              <a:t> C7</a:t>
            </a:r>
            <a:endParaRPr lang="en-US" dirty="0"/>
          </a:p>
          <a:p>
            <a:pPr fontAlgn="base"/>
            <a:r>
              <a:rPr lang="en-US" b="1" dirty="0"/>
              <a:t> 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08526" y="3867150"/>
            <a:ext cx="4261422" cy="2809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886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Grp="1" noChangeArrowheads="1"/>
          </p:cNvSpPr>
          <p:nvPr>
            <p:ph idx="1"/>
          </p:nvPr>
        </p:nvSpPr>
        <p:spPr bwMode="auto">
          <a:xfrm>
            <a:off x="9016705" y="2888105"/>
            <a:ext cx="3267310" cy="3555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1200"/>
              </a:spcAft>
            </a:pPr>
            <a:r>
              <a:rPr lang="en-US" sz="1500" b="1" u="sng" dirty="0" err="1">
                <a:solidFill>
                  <a:srgbClr val="0000FF"/>
                </a:solidFill>
              </a:rPr>
              <a:t>Intr</a:t>
            </a:r>
            <a:r>
              <a:rPr lang="ro-RO" sz="1500" b="1" u="sng" dirty="0">
                <a:solidFill>
                  <a:srgbClr val="0000FF"/>
                </a:solidFill>
              </a:rPr>
              <a:t>ă</a:t>
            </a:r>
            <a:r>
              <a:rPr lang="en-US" sz="1500" b="1" u="sng" dirty="0" err="1">
                <a:solidFill>
                  <a:srgbClr val="0000FF"/>
                </a:solidFill>
              </a:rPr>
              <a:t>ri</a:t>
            </a:r>
            <a:r>
              <a:rPr lang="en-US" sz="1500" b="1" u="sng" dirty="0">
                <a:solidFill>
                  <a:srgbClr val="0000FF"/>
                </a:solidFill>
              </a:rPr>
              <a:t> M1-M4: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QD(N1) -A7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QC(N1)-A6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QB(N1)-A5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QA(N1)-A4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QD(N2</a:t>
            </a:r>
            <a:r>
              <a:rPr lang="en-US" sz="2000" b="1" dirty="0"/>
              <a:t>)-A3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QC(N2)-A2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QB (N2)-A1</a:t>
            </a:r>
          </a:p>
          <a:p>
            <a:pPr fontAlgn="base">
              <a:lnSpc>
                <a:spcPct val="70000"/>
              </a:lnSpc>
            </a:pPr>
            <a:r>
              <a:rPr lang="en-US" sz="2000" b="1" dirty="0"/>
              <a:t>QA (N2)-</a:t>
            </a:r>
            <a:r>
              <a:rPr lang="en-US" sz="2000" b="1" dirty="0"/>
              <a:t>A0</a:t>
            </a:r>
            <a:r>
              <a:rPr lang="en-US" sz="2000" b="1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218535" y="1386898"/>
            <a:ext cx="893409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u="sng" dirty="0" err="1">
                <a:solidFill>
                  <a:srgbClr val="0000FF"/>
                </a:solidFill>
              </a:rPr>
              <a:t>Conexiunilie</a:t>
            </a:r>
            <a:r>
              <a:rPr lang="en-US" sz="1500" b="1" u="sng" dirty="0">
                <a:solidFill>
                  <a:srgbClr val="0000FF"/>
                </a:solidFill>
              </a:rPr>
              <a:t> </a:t>
            </a:r>
            <a:r>
              <a:rPr lang="en-US" sz="1500" b="1" u="sng" dirty="0" err="1">
                <a:solidFill>
                  <a:srgbClr val="0000FF"/>
                </a:solidFill>
              </a:rPr>
              <a:t>dintre</a:t>
            </a:r>
            <a:r>
              <a:rPr lang="en-US" sz="1500" b="1" u="sng" dirty="0">
                <a:solidFill>
                  <a:srgbClr val="0000FF"/>
                </a:solidFill>
              </a:rPr>
              <a:t> </a:t>
            </a:r>
            <a:r>
              <a:rPr lang="en-US" sz="1500" b="1" u="sng" dirty="0" err="1">
                <a:solidFill>
                  <a:srgbClr val="0000FF"/>
                </a:solidFill>
              </a:rPr>
              <a:t>pini</a:t>
            </a:r>
            <a:r>
              <a:rPr lang="en-US" sz="1500" b="1" u="sng" dirty="0">
                <a:solidFill>
                  <a:srgbClr val="0000FF"/>
                </a:solidFill>
              </a:rPr>
              <a:t>: </a:t>
            </a:r>
          </a:p>
          <a:p>
            <a:r>
              <a:rPr lang="en-US" sz="1500" b="1" u="sng" dirty="0" err="1">
                <a:solidFill>
                  <a:srgbClr val="0000FF"/>
                </a:solidFill>
              </a:rPr>
              <a:t>memorie</a:t>
            </a:r>
            <a:r>
              <a:rPr lang="en-US" sz="1500" b="1" u="sng" dirty="0">
                <a:solidFill>
                  <a:srgbClr val="0000FF"/>
                </a:solidFill>
              </a:rPr>
              <a:t>, </a:t>
            </a:r>
            <a:r>
              <a:rPr lang="en-US" sz="1500" b="1" u="sng" dirty="0" err="1">
                <a:solidFill>
                  <a:srgbClr val="0000FF"/>
                </a:solidFill>
              </a:rPr>
              <a:t>numaratoare</a:t>
            </a:r>
            <a:r>
              <a:rPr lang="en-US" sz="1500" b="1" u="sng" dirty="0">
                <a:solidFill>
                  <a:srgbClr val="0000FF"/>
                </a:solidFill>
              </a:rPr>
              <a:t> </a:t>
            </a:r>
            <a:r>
              <a:rPr lang="en-US" sz="1500" b="1" u="sng" dirty="0" err="1">
                <a:solidFill>
                  <a:srgbClr val="0000FF"/>
                </a:solidFill>
              </a:rPr>
              <a:t>si</a:t>
            </a:r>
            <a:r>
              <a:rPr lang="en-US" sz="1500" b="1" u="sng" dirty="0">
                <a:solidFill>
                  <a:srgbClr val="0000FF"/>
                </a:solidFill>
              </a:rPr>
              <a:t> </a:t>
            </a:r>
            <a:r>
              <a:rPr lang="en-US" sz="1500" b="1" u="sng" dirty="0" err="1">
                <a:solidFill>
                  <a:srgbClr val="0000FF"/>
                </a:solidFill>
              </a:rPr>
              <a:t>poarta</a:t>
            </a:r>
            <a:r>
              <a:rPr lang="en-US" sz="1500" b="1" u="sng" dirty="0">
                <a:solidFill>
                  <a:srgbClr val="0000FF"/>
                </a:solidFill>
              </a:rPr>
              <a:t> SAU</a:t>
            </a:r>
          </a:p>
          <a:p>
            <a:endParaRPr lang="en-US" dirty="0"/>
          </a:p>
          <a:p>
            <a:r>
              <a:rPr lang="en-US" dirty="0" smtClean="0"/>
              <a:t>•</a:t>
            </a:r>
            <a:r>
              <a:rPr lang="en-US" sz="2000" b="1" dirty="0" err="1"/>
              <a:t>Pinul</a:t>
            </a:r>
            <a:r>
              <a:rPr lang="en-US" sz="2000" b="1" dirty="0"/>
              <a:t> </a:t>
            </a:r>
            <a:r>
              <a:rPr lang="en-US" sz="2000" b="1" dirty="0"/>
              <a:t>3 din chip-</a:t>
            </a:r>
            <a:r>
              <a:rPr lang="en-US" sz="2000" b="1" dirty="0" err="1"/>
              <a:t>ul</a:t>
            </a:r>
            <a:r>
              <a:rPr lang="en-US" sz="2000" b="1" dirty="0"/>
              <a:t> SAU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</a:t>
            </a:r>
            <a:r>
              <a:rPr lang="en-US" sz="2000" b="1" dirty="0" err="1"/>
              <a:t>pinul</a:t>
            </a:r>
            <a:r>
              <a:rPr lang="en-US" sz="2000" b="1" dirty="0"/>
              <a:t> LOAD(N1-N2) </a:t>
            </a:r>
            <a:r>
              <a:rPr lang="en-US" sz="2000" b="1" dirty="0" err="1"/>
              <a:t>si</a:t>
            </a:r>
            <a:r>
              <a:rPr lang="en-US" sz="2000" b="1" dirty="0"/>
              <a:t> cu </a:t>
            </a:r>
            <a:r>
              <a:rPr lang="en-US" sz="2000" b="1" dirty="0" err="1"/>
              <a:t>pinul</a:t>
            </a:r>
            <a:r>
              <a:rPr lang="en-US" sz="2000" b="1" dirty="0"/>
              <a:t> UP(N2)</a:t>
            </a:r>
          </a:p>
          <a:p>
            <a:r>
              <a:rPr lang="en-US" sz="2000" b="1" dirty="0"/>
              <a:t>•</a:t>
            </a:r>
            <a:r>
              <a:rPr lang="en-US" sz="2000" b="1" dirty="0" err="1"/>
              <a:t>Pinul</a:t>
            </a:r>
            <a:r>
              <a:rPr lang="en-US" sz="2000" b="1" dirty="0"/>
              <a:t> </a:t>
            </a:r>
            <a:r>
              <a:rPr lang="en-US" sz="2000" b="1" dirty="0"/>
              <a:t>CO(N2)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</a:t>
            </a:r>
            <a:r>
              <a:rPr lang="en-US" sz="2000" b="1" dirty="0" err="1"/>
              <a:t>pinul</a:t>
            </a:r>
            <a:r>
              <a:rPr lang="en-US" sz="2000" b="1" dirty="0"/>
              <a:t> UP(N1)</a:t>
            </a:r>
          </a:p>
          <a:p>
            <a:r>
              <a:rPr lang="en-US" sz="2000" b="1" dirty="0"/>
              <a:t>•DO4(M2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D(N1)</a:t>
            </a:r>
          </a:p>
          <a:p>
            <a:r>
              <a:rPr lang="en-US" sz="2000" b="1" dirty="0"/>
              <a:t>•DO3(M2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C(N1)</a:t>
            </a:r>
          </a:p>
          <a:p>
            <a:r>
              <a:rPr lang="en-US" sz="2000" b="1" dirty="0"/>
              <a:t>•DO2(M2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B(N1)</a:t>
            </a:r>
          </a:p>
          <a:p>
            <a:r>
              <a:rPr lang="en-US" sz="2000" b="1" dirty="0"/>
              <a:t>•DO1(M2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A(N1)</a:t>
            </a:r>
          </a:p>
          <a:p>
            <a:r>
              <a:rPr lang="en-US" sz="2000" b="1" dirty="0"/>
              <a:t>•DO4(M3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D(N2)</a:t>
            </a:r>
          </a:p>
          <a:p>
            <a:r>
              <a:rPr lang="en-US" sz="2000" b="1" dirty="0"/>
              <a:t>•DO3(M3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C(N2)</a:t>
            </a:r>
          </a:p>
          <a:p>
            <a:r>
              <a:rPr lang="en-US" sz="2000" b="1" dirty="0"/>
              <a:t>•DO2(M3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B(N2)</a:t>
            </a:r>
          </a:p>
          <a:p>
            <a:r>
              <a:rPr lang="en-US" sz="2000" b="1" dirty="0"/>
              <a:t>•DO1(M3</a:t>
            </a:r>
            <a:r>
              <a:rPr lang="en-US" sz="2000" b="1" dirty="0"/>
              <a:t>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conectat</a:t>
            </a:r>
            <a:r>
              <a:rPr lang="en-US" sz="2000" b="1" dirty="0"/>
              <a:t> cu A(N2)</a:t>
            </a:r>
          </a:p>
        </p:txBody>
      </p:sp>
      <p:pic>
        <p:nvPicPr>
          <p:cNvPr id="6" name="Google Shape;330;p16"/>
          <p:cNvPicPr preferRelativeResize="0"/>
          <p:nvPr/>
        </p:nvPicPr>
        <p:blipFill rotWithShape="1">
          <a:blip r:embed="rId2">
            <a:alphaModFix/>
            <a:duotone>
              <a:prstClr val="black"/>
              <a:srgbClr val="0000FF">
                <a:tint val="45000"/>
                <a:satMod val="400000"/>
              </a:srgbClr>
            </a:duotone>
          </a:blip>
          <a:srcRect/>
          <a:stretch/>
        </p:blipFill>
        <p:spPr>
          <a:xfrm rot="18326292">
            <a:off x="-1814574" y="-3263515"/>
            <a:ext cx="3028489" cy="56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 rotWithShape="1">
          <a:blip r:embed="rId3"/>
          <a:srcRect l="9743" t="33506" r="66796" b="22734"/>
          <a:stretch/>
        </p:blipFill>
        <p:spPr bwMode="auto">
          <a:xfrm>
            <a:off x="9016705" y="238625"/>
            <a:ext cx="3107887" cy="245305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08775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4375"/>
          </a:xfrm>
        </p:spPr>
        <p:txBody>
          <a:bodyPr>
            <a:normAutofit fontScale="90000"/>
          </a:bodyPr>
          <a:lstStyle/>
          <a:p>
            <a:pPr algn="ctr"/>
            <a:r>
              <a:rPr lang="ro-RO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  <a:ea typeface="+mn-ea"/>
                <a:cs typeface="+mn-cs"/>
              </a:rPr>
              <a:t>Proiectarea cablajului</a:t>
            </a:r>
            <a:endParaRPr lang="en-US" sz="49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3EA81AB9-F0C1-43B5-99DD-01D3960C69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49" y="428624"/>
            <a:ext cx="11515726" cy="633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7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028825" y="266700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914650" y="218957"/>
            <a:ext cx="695616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2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5675" algn="l"/>
              </a:tabLst>
            </a:pPr>
            <a:r>
              <a:rPr lang="ro-RO" altLang="en-US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</a:rPr>
              <a:t>Documentația pentru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25675" algn="l"/>
              </a:tabLst>
            </a:pPr>
            <a:r>
              <a:rPr lang="ro-RO" altLang="en-US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</a:rPr>
              <a:t>activitățile derulate</a:t>
            </a:r>
            <a:r>
              <a:rPr lang="en-US" altLang="en-US" sz="49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+mn-lt"/>
              </a:rPr>
              <a:t> </a:t>
            </a: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0" t="23476" r="33205" b="27066"/>
          <a:stretch/>
        </p:blipFill>
        <p:spPr bwMode="auto">
          <a:xfrm rot="1307291">
            <a:off x="9549900" y="688853"/>
            <a:ext cx="2060354" cy="165488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526218109"/>
              </p:ext>
            </p:extLst>
          </p:nvPr>
        </p:nvGraphicFramePr>
        <p:xfrm>
          <a:off x="2667001" y="1956435"/>
          <a:ext cx="6649366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Google Shape;330;p16"/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0000FF">
                <a:tint val="45000"/>
                <a:satMod val="400000"/>
              </a:srgbClr>
            </a:duotone>
          </a:blip>
          <a:srcRect/>
          <a:stretch/>
        </p:blipFill>
        <p:spPr>
          <a:xfrm rot="18326292">
            <a:off x="-1139033" y="-2595188"/>
            <a:ext cx="3028489" cy="56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30;p16"/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0000FF">
                <a:tint val="45000"/>
                <a:satMod val="400000"/>
              </a:srgbClr>
            </a:duotone>
          </a:blip>
          <a:srcRect/>
          <a:stretch/>
        </p:blipFill>
        <p:spPr>
          <a:xfrm rot="8503466">
            <a:off x="9942135" y="5136356"/>
            <a:ext cx="3028489" cy="344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34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6F3B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1129</Words>
  <Application>Microsoft Office PowerPoint</Application>
  <PresentationFormat>Widescreen</PresentationFormat>
  <Paragraphs>336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Lobster</vt:lpstr>
      <vt:lpstr>Times New Roman</vt:lpstr>
      <vt:lpstr>Office Theme</vt:lpstr>
      <vt:lpstr>  Proiectare  Logică</vt:lpstr>
      <vt:lpstr>Tema proiectului</vt:lpstr>
      <vt:lpstr>Schema bloc</vt:lpstr>
      <vt:lpstr>PowerPoint Presentation</vt:lpstr>
      <vt:lpstr>Descrierea funcționalității </vt:lpstr>
      <vt:lpstr>Organigrama </vt:lpstr>
      <vt:lpstr> Calculul lungimii microinstrucțiunii </vt:lpstr>
      <vt:lpstr>Completarea conținutului memoriei de            microprogram</vt:lpstr>
      <vt:lpstr> Proiectarea schemei unității de comandă microprogramate </vt:lpstr>
      <vt:lpstr>  Alegerea componentelor  digitale folosite   </vt:lpstr>
      <vt:lpstr>PowerPoint Presentation</vt:lpstr>
      <vt:lpstr>PowerPoint Presentation</vt:lpstr>
      <vt:lpstr>PowerPoint Presentation</vt:lpstr>
      <vt:lpstr>Proiectarea cablajului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Proiectare Logică</dc:title>
  <dc:creator>Dayana</dc:creator>
  <cp:lastModifiedBy>Dayana</cp:lastModifiedBy>
  <cp:revision>24</cp:revision>
  <dcterms:created xsi:type="dcterms:W3CDTF">2022-01-22T01:08:17Z</dcterms:created>
  <dcterms:modified xsi:type="dcterms:W3CDTF">2022-01-22T21:26:14Z</dcterms:modified>
</cp:coreProperties>
</file>