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Lato"/>
      <p:regular r:id="rId31"/>
      <p:bold r:id="rId32"/>
      <p:italic r:id="rId33"/>
      <p:boldItalic r:id="rId34"/>
    </p:embeddedFont>
    <p:embeddedFont>
      <p:font typeface="Poppins"/>
      <p:regular r:id="rId35"/>
      <p:bold r:id="rId36"/>
      <p:italic r:id="rId37"/>
      <p:boldItalic r:id="rId38"/>
    </p:embeddedFont>
    <p:embeddedFont>
      <p:font typeface="Poppins Medium"/>
      <p:regular r:id="rId39"/>
      <p:bold r:id="rId40"/>
      <p:italic r:id="rId41"/>
      <p:boldItalic r:id="rId42"/>
    </p:embeddedFont>
    <p:embeddedFont>
      <p:font typeface="Lato Black"/>
      <p:bold r:id="rId43"/>
      <p:boldItalic r:id="rId44"/>
    </p:embeddedFont>
    <p:embeddedFont>
      <p:font typeface="Poppins Black"/>
      <p:bold r:id="rId45"/>
      <p:boldItalic r:id="rId46"/>
    </p:embeddedFont>
    <p:embeddedFont>
      <p:font typeface="Poppins SemiBold"/>
      <p:regular r:id="rId47"/>
      <p:bold r:id="rId48"/>
      <p:italic r:id="rId49"/>
      <p:boldItalic r:id="rId50"/>
    </p:embeddedFont>
    <p:embeddedFont>
      <p:font typeface="Poppins ExtraBold"/>
      <p:bold r:id="rId51"/>
      <p:boldItalic r:id="rId52"/>
    </p:embeddedFont>
    <p:embeddedFont>
      <p:font typeface="Cambria Math"/>
      <p:regular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1E2A45-7145-4A88-83E2-4ED5196782D4}">
  <a:tblStyle styleId="{411E2A45-7145-4A88-83E2-4ED5196782D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fntdata"/><Relationship Id="rId42" Type="http://schemas.openxmlformats.org/officeDocument/2006/relationships/font" Target="fonts/PoppinsMedium-boldItalic.fntdata"/><Relationship Id="rId41" Type="http://schemas.openxmlformats.org/officeDocument/2006/relationships/font" Target="fonts/PoppinsMedium-italic.fntdata"/><Relationship Id="rId44" Type="http://schemas.openxmlformats.org/officeDocument/2006/relationships/font" Target="fonts/LatoBlack-boldItalic.fntdata"/><Relationship Id="rId43" Type="http://schemas.openxmlformats.org/officeDocument/2006/relationships/font" Target="fonts/LatoBlack-bold.fntdata"/><Relationship Id="rId46" Type="http://schemas.openxmlformats.org/officeDocument/2006/relationships/font" Target="fonts/PoppinsBlack-boldItalic.fntdata"/><Relationship Id="rId45" Type="http://schemas.openxmlformats.org/officeDocument/2006/relationships/font" Target="fonts/Poppins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oppinsSemiBold-bold.fntdata"/><Relationship Id="rId47" Type="http://schemas.openxmlformats.org/officeDocument/2006/relationships/font" Target="fonts/PoppinsSemiBold-regular.fntdata"/><Relationship Id="rId49" Type="http://schemas.openxmlformats.org/officeDocument/2006/relationships/font" Target="fonts/PoppinsSemi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regular.fntdata"/><Relationship Id="rId30" Type="http://schemas.openxmlformats.org/officeDocument/2006/relationships/slide" Target="slides/slide23.xml"/><Relationship Id="rId33" Type="http://schemas.openxmlformats.org/officeDocument/2006/relationships/font" Target="fonts/Lato-italic.fntdata"/><Relationship Id="rId32" Type="http://schemas.openxmlformats.org/officeDocument/2006/relationships/font" Target="fonts/Lato-bold.fntdata"/><Relationship Id="rId35" Type="http://schemas.openxmlformats.org/officeDocument/2006/relationships/font" Target="fonts/Poppins-regular.fntdata"/><Relationship Id="rId34" Type="http://schemas.openxmlformats.org/officeDocument/2006/relationships/font" Target="fonts/Lato-boldItalic.fntdata"/><Relationship Id="rId37" Type="http://schemas.openxmlformats.org/officeDocument/2006/relationships/font" Target="fonts/Poppins-italic.fntdata"/><Relationship Id="rId36" Type="http://schemas.openxmlformats.org/officeDocument/2006/relationships/font" Target="fonts/Poppins-bold.fntdata"/><Relationship Id="rId39" Type="http://schemas.openxmlformats.org/officeDocument/2006/relationships/font" Target="fonts/PoppinsMedium-regular.fntdata"/><Relationship Id="rId38" Type="http://schemas.openxmlformats.org/officeDocument/2006/relationships/font" Target="fonts/Poppins-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oppinsExtraBold-bold.fntdata"/><Relationship Id="rId50" Type="http://schemas.openxmlformats.org/officeDocument/2006/relationships/font" Target="fonts/PoppinsSemiBold-boldItalic.fntdata"/><Relationship Id="rId53" Type="http://schemas.openxmlformats.org/officeDocument/2006/relationships/font" Target="fonts/CambriaMath-regular.fntdata"/><Relationship Id="rId52" Type="http://schemas.openxmlformats.org/officeDocument/2006/relationships/font" Target="fonts/PoppinsExtraBold-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00efa90c6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1d00efa90c6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d00efa90c6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1d00efa90c6_2_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d00efa90c6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1d00efa90c6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d506161cd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1d506161cd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d52f37652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1d52f37652b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d52f37652b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1d52f37652b_4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d52f37652b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1d52f37652b_4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d52f37652b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1d52f37652b_4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d00efa90c6_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1d00efa90c6_2_1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d52f37652b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1d52f37652b_1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d52f37652b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1d52f37652b_1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d00efa90c6_2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1d00efa90c6_2_1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d00efa90c6_2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1d00efa90c6_2_2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d00efa90c6_2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1d00efa90c6_2_2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d00efa90c6_2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1d00efa90c6_2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d00efa90c6_2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1d00efa90c6_2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d52f37652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1d52f37652b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d52f37652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1d52f37652b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d00efa90c6_2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g1d00efa90c6_2_2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d52f37652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g1d52f37652b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d00efa90c6_2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1d00efa90c6_2_3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d00efa90c6_2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1d00efa90c6_2_3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d00efa90c6_2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g1d00efa90c6_2_3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3.png"/><Relationship Id="rId10" Type="http://schemas.openxmlformats.org/officeDocument/2006/relationships/image" Target="../media/image2.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20.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6.gif"/><Relationship Id="rId7"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3.gif"/><Relationship Id="rId6" Type="http://schemas.openxmlformats.org/officeDocument/2006/relationships/image" Target="../media/image22.gif"/><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7.gif"/><Relationship Id="rId7"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33.png"/><Relationship Id="rId6" Type="http://schemas.openxmlformats.org/officeDocument/2006/relationships/image" Target="../media/image2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33.png"/><Relationship Id="rId6" Type="http://schemas.openxmlformats.org/officeDocument/2006/relationships/image" Target="../media/image28.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3.gif"/><Relationship Id="rId6" Type="http://schemas.openxmlformats.org/officeDocument/2006/relationships/image" Target="../media/image2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2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38.gif"/><Relationship Id="rId7" Type="http://schemas.openxmlformats.org/officeDocument/2006/relationships/image" Target="../media/image31.png"/><Relationship Id="rId8" Type="http://schemas.openxmlformats.org/officeDocument/2006/relationships/hyperlink" Target="https://datasheetspdf.com/datasheet/CAT22C10.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6.png"/><Relationship Id="rId10" Type="http://schemas.openxmlformats.org/officeDocument/2006/relationships/hyperlink" Target="https://www.ti.com/product/SN54192" TargetMode="External"/><Relationship Id="rId9" Type="http://schemas.openxmlformats.org/officeDocument/2006/relationships/image" Target="../media/image37.png"/><Relationship Id="rId5" Type="http://schemas.openxmlformats.org/officeDocument/2006/relationships/image" Target="../media/image13.png"/><Relationship Id="rId6" Type="http://schemas.openxmlformats.org/officeDocument/2006/relationships/image" Target="../media/image38.gif"/><Relationship Id="rId7" Type="http://schemas.openxmlformats.org/officeDocument/2006/relationships/hyperlink" Target="https://datasheetspdf.com/pdf/236585/NationalSemiconductor/54150/1" TargetMode="External"/><Relationship Id="rId8"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hyperlink" Target="https://datasheetspdf.com/datasheet/7404.html" TargetMode="External"/><Relationship Id="rId5" Type="http://schemas.openxmlformats.org/officeDocument/2006/relationships/image" Target="../media/image38.gif"/><Relationship Id="rId6" Type="http://schemas.openxmlformats.org/officeDocument/2006/relationships/image" Target="../media/image39.png"/><Relationship Id="rId7" Type="http://schemas.openxmlformats.org/officeDocument/2006/relationships/hyperlink" Target="https://netsonic.fi/en/ic-7408-logic-gate-chip-datasheet-and-pinout/" TargetMode="External"/><Relationship Id="rId8"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38.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3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10" Type="http://schemas.openxmlformats.org/officeDocument/2006/relationships/image" Target="../media/image50.jpg"/><Relationship Id="rId9" Type="http://schemas.openxmlformats.org/officeDocument/2006/relationships/image" Target="../media/image47.jpg"/><Relationship Id="rId5" Type="http://schemas.openxmlformats.org/officeDocument/2006/relationships/image" Target="../media/image41.gif"/><Relationship Id="rId6" Type="http://schemas.openxmlformats.org/officeDocument/2006/relationships/image" Target="../media/image51.jpg"/><Relationship Id="rId7" Type="http://schemas.openxmlformats.org/officeDocument/2006/relationships/image" Target="../media/image49.jpg"/><Relationship Id="rId8" Type="http://schemas.openxmlformats.org/officeDocument/2006/relationships/image" Target="../media/image4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rotWithShape="1">
          <a:blip r:embed="rId3">
            <a:alphaModFix amt="60000"/>
          </a:blip>
          <a:srcRect b="0" l="0" r="0" t="0"/>
          <a:stretch/>
        </p:blipFill>
        <p:spPr>
          <a:xfrm>
            <a:off x="5217482" y="-1298853"/>
            <a:ext cx="3006414" cy="2776833"/>
          </a:xfrm>
          <a:prstGeom prst="rect">
            <a:avLst/>
          </a:prstGeom>
          <a:noFill/>
          <a:ln>
            <a:noFill/>
          </a:ln>
        </p:spPr>
      </p:pic>
      <p:pic>
        <p:nvPicPr>
          <p:cNvPr id="130" name="Google Shape;130;p25"/>
          <p:cNvPicPr preferRelativeResize="0"/>
          <p:nvPr/>
        </p:nvPicPr>
        <p:blipFill rotWithShape="1">
          <a:blip r:embed="rId4">
            <a:alphaModFix amt="60000"/>
          </a:blip>
          <a:srcRect b="0" l="0" r="0" t="0"/>
          <a:stretch/>
        </p:blipFill>
        <p:spPr>
          <a:xfrm>
            <a:off x="4975549" y="-1061128"/>
            <a:ext cx="3049055" cy="2816218"/>
          </a:xfrm>
          <a:prstGeom prst="rect">
            <a:avLst/>
          </a:prstGeom>
          <a:noFill/>
          <a:ln>
            <a:noFill/>
          </a:ln>
        </p:spPr>
      </p:pic>
      <p:pic>
        <p:nvPicPr>
          <p:cNvPr id="131" name="Google Shape;131;p25"/>
          <p:cNvPicPr preferRelativeResize="0"/>
          <p:nvPr/>
        </p:nvPicPr>
        <p:blipFill rotWithShape="1">
          <a:blip r:embed="rId5">
            <a:alphaModFix amt="60000"/>
          </a:blip>
          <a:srcRect b="0" l="0" r="0" t="0"/>
          <a:stretch/>
        </p:blipFill>
        <p:spPr>
          <a:xfrm>
            <a:off x="-439083" y="1266711"/>
            <a:ext cx="3092786" cy="2856609"/>
          </a:xfrm>
          <a:prstGeom prst="rect">
            <a:avLst/>
          </a:prstGeom>
          <a:noFill/>
          <a:ln>
            <a:noFill/>
          </a:ln>
        </p:spPr>
      </p:pic>
      <p:pic>
        <p:nvPicPr>
          <p:cNvPr id="132" name="Google Shape;132;p25"/>
          <p:cNvPicPr preferRelativeResize="0"/>
          <p:nvPr/>
        </p:nvPicPr>
        <p:blipFill rotWithShape="1">
          <a:blip r:embed="rId6">
            <a:alphaModFix amt="60000"/>
          </a:blip>
          <a:srcRect b="0" l="0" r="0" t="0"/>
          <a:stretch/>
        </p:blipFill>
        <p:spPr>
          <a:xfrm rot="7200000">
            <a:off x="-473950" y="842617"/>
            <a:ext cx="3162519" cy="2921017"/>
          </a:xfrm>
          <a:prstGeom prst="rect">
            <a:avLst/>
          </a:prstGeom>
          <a:noFill/>
          <a:ln>
            <a:noFill/>
          </a:ln>
        </p:spPr>
      </p:pic>
      <p:pic>
        <p:nvPicPr>
          <p:cNvPr id="133" name="Google Shape;133;p25"/>
          <p:cNvPicPr preferRelativeResize="0"/>
          <p:nvPr/>
        </p:nvPicPr>
        <p:blipFill rotWithShape="1">
          <a:blip r:embed="rId7">
            <a:alphaModFix/>
          </a:blip>
          <a:srcRect b="0" l="0" r="0" t="0"/>
          <a:stretch/>
        </p:blipFill>
        <p:spPr>
          <a:xfrm rot="2277314">
            <a:off x="308743" y="132377"/>
            <a:ext cx="942976" cy="1490336"/>
          </a:xfrm>
          <a:prstGeom prst="rect">
            <a:avLst/>
          </a:prstGeom>
          <a:noFill/>
          <a:ln>
            <a:noFill/>
          </a:ln>
        </p:spPr>
      </p:pic>
      <p:pic>
        <p:nvPicPr>
          <p:cNvPr id="134" name="Google Shape;134;p25"/>
          <p:cNvPicPr preferRelativeResize="0"/>
          <p:nvPr/>
        </p:nvPicPr>
        <p:blipFill rotWithShape="1">
          <a:blip r:embed="rId8">
            <a:alphaModFix/>
          </a:blip>
          <a:srcRect b="0" l="0" r="0" t="0"/>
          <a:stretch/>
        </p:blipFill>
        <p:spPr>
          <a:xfrm>
            <a:off x="6500076" y="1872747"/>
            <a:ext cx="2671911" cy="3194676"/>
          </a:xfrm>
          <a:prstGeom prst="rect">
            <a:avLst/>
          </a:prstGeom>
          <a:noFill/>
          <a:ln>
            <a:noFill/>
          </a:ln>
        </p:spPr>
      </p:pic>
      <p:pic>
        <p:nvPicPr>
          <p:cNvPr id="135" name="Google Shape;135;p25"/>
          <p:cNvPicPr preferRelativeResize="0"/>
          <p:nvPr/>
        </p:nvPicPr>
        <p:blipFill rotWithShape="1">
          <a:blip r:embed="rId9">
            <a:alphaModFix/>
          </a:blip>
          <a:srcRect b="0" l="0" r="0" t="0"/>
          <a:stretch/>
        </p:blipFill>
        <p:spPr>
          <a:xfrm rot="-1522425">
            <a:off x="7763225" y="155696"/>
            <a:ext cx="921342" cy="1443700"/>
          </a:xfrm>
          <a:prstGeom prst="rect">
            <a:avLst/>
          </a:prstGeom>
          <a:noFill/>
          <a:ln>
            <a:noFill/>
          </a:ln>
        </p:spPr>
      </p:pic>
      <p:pic>
        <p:nvPicPr>
          <p:cNvPr id="136" name="Google Shape;136;p25"/>
          <p:cNvPicPr preferRelativeResize="0"/>
          <p:nvPr/>
        </p:nvPicPr>
        <p:blipFill rotWithShape="1">
          <a:blip r:embed="rId10">
            <a:alphaModFix/>
          </a:blip>
          <a:srcRect b="0" l="0" r="0" t="0"/>
          <a:stretch/>
        </p:blipFill>
        <p:spPr>
          <a:xfrm>
            <a:off x="0" y="3563728"/>
            <a:ext cx="1140308" cy="1579772"/>
          </a:xfrm>
          <a:prstGeom prst="rect">
            <a:avLst/>
          </a:prstGeom>
          <a:noFill/>
          <a:ln>
            <a:noFill/>
          </a:ln>
        </p:spPr>
      </p:pic>
      <p:grpSp>
        <p:nvGrpSpPr>
          <p:cNvPr id="137" name="Google Shape;137;p25"/>
          <p:cNvGrpSpPr/>
          <p:nvPr/>
        </p:nvGrpSpPr>
        <p:grpSpPr>
          <a:xfrm>
            <a:off x="2381800" y="2029200"/>
            <a:ext cx="4830975" cy="1702418"/>
            <a:chOff x="-1003803" y="27763"/>
            <a:chExt cx="12882600" cy="4104190"/>
          </a:xfrm>
        </p:grpSpPr>
        <p:sp>
          <p:nvSpPr>
            <p:cNvPr id="138" name="Google Shape;138;p25"/>
            <p:cNvSpPr txBox="1"/>
            <p:nvPr/>
          </p:nvSpPr>
          <p:spPr>
            <a:xfrm>
              <a:off x="-1003803" y="27763"/>
              <a:ext cx="12882600" cy="289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900">
                  <a:latin typeface="Poppins Black"/>
                  <a:ea typeface="Poppins Black"/>
                  <a:cs typeface="Poppins Black"/>
                  <a:sym typeface="Poppins Black"/>
                </a:rPr>
                <a:t>Aparat de băuturi</a:t>
              </a:r>
              <a:endParaRPr sz="3900">
                <a:latin typeface="Poppins Black"/>
                <a:ea typeface="Poppins Black"/>
                <a:cs typeface="Poppins Black"/>
                <a:sym typeface="Poppins Black"/>
              </a:endParaRPr>
            </a:p>
            <a:p>
              <a:pPr indent="0" lvl="0" marL="0" marR="0" rtl="0" algn="ctr">
                <a:lnSpc>
                  <a:spcPct val="100000"/>
                </a:lnSpc>
                <a:spcBef>
                  <a:spcPts val="0"/>
                </a:spcBef>
                <a:spcAft>
                  <a:spcPts val="0"/>
                </a:spcAft>
                <a:buNone/>
              </a:pPr>
              <a:r>
                <a:rPr lang="en" sz="3900">
                  <a:latin typeface="Poppins Black"/>
                  <a:ea typeface="Poppins Black"/>
                  <a:cs typeface="Poppins Black"/>
                  <a:sym typeface="Poppins Black"/>
                </a:rPr>
                <a:t>răcoritoare</a:t>
              </a:r>
              <a:endParaRPr sz="3900">
                <a:latin typeface="Poppins Black"/>
                <a:ea typeface="Poppins Black"/>
                <a:cs typeface="Poppins Black"/>
                <a:sym typeface="Poppins Black"/>
              </a:endParaRPr>
            </a:p>
          </p:txBody>
        </p:sp>
        <p:sp>
          <p:nvSpPr>
            <p:cNvPr id="139" name="Google Shape;139;p25"/>
            <p:cNvSpPr txBox="1"/>
            <p:nvPr/>
          </p:nvSpPr>
          <p:spPr>
            <a:xfrm>
              <a:off x="89330" y="2963153"/>
              <a:ext cx="10606500" cy="1168800"/>
            </a:xfrm>
            <a:prstGeom prst="rect">
              <a:avLst/>
            </a:prstGeom>
            <a:noFill/>
            <a:ln>
              <a:noFill/>
            </a:ln>
          </p:spPr>
          <p:txBody>
            <a:bodyPr anchorCtr="0" anchor="t" bIns="0" lIns="0" spcFirstLastPara="1" rIns="0" wrap="square" tIns="0">
              <a:spAutoFit/>
            </a:bodyPr>
            <a:lstStyle/>
            <a:p>
              <a:pPr indent="0" lvl="0" marL="0" marR="0" rtl="0" algn="ctr">
                <a:lnSpc>
                  <a:spcPct val="109993"/>
                </a:lnSpc>
                <a:spcBef>
                  <a:spcPts val="0"/>
                </a:spcBef>
                <a:spcAft>
                  <a:spcPts val="0"/>
                </a:spcAft>
                <a:buNone/>
              </a:pPr>
              <a:r>
                <a:rPr lang="en" sz="1500">
                  <a:latin typeface="Poppins SemiBold"/>
                  <a:ea typeface="Poppins SemiBold"/>
                  <a:cs typeface="Poppins SemiBold"/>
                  <a:sym typeface="Poppins SemiBold"/>
                </a:rPr>
                <a:t>PROIECTARE LOGICĂ - 314CB</a:t>
              </a:r>
              <a:endParaRPr sz="1500">
                <a:latin typeface="Poppins SemiBold"/>
                <a:ea typeface="Poppins SemiBold"/>
                <a:cs typeface="Poppins SemiBold"/>
                <a:sym typeface="Poppins SemiBold"/>
              </a:endParaRPr>
            </a:p>
            <a:p>
              <a:pPr indent="0" lvl="0" marL="0" marR="0" rtl="0" algn="ctr">
                <a:lnSpc>
                  <a:spcPct val="109993"/>
                </a:lnSpc>
                <a:spcBef>
                  <a:spcPts val="0"/>
                </a:spcBef>
                <a:spcAft>
                  <a:spcPts val="0"/>
                </a:spcAft>
                <a:buNone/>
              </a:pPr>
              <a:r>
                <a:rPr lang="en" sz="1500">
                  <a:latin typeface="Poppins SemiBold"/>
                  <a:ea typeface="Poppins SemiBold"/>
                  <a:cs typeface="Poppins SemiBold"/>
                  <a:sym typeface="Poppins SemiBold"/>
                </a:rPr>
                <a:t>Universitatea </a:t>
              </a:r>
              <a:r>
                <a:rPr lang="en">
                  <a:solidFill>
                    <a:schemeClr val="dk1"/>
                  </a:solidFill>
                  <a:latin typeface="Poppins SemiBold"/>
                  <a:ea typeface="Poppins SemiBold"/>
                  <a:cs typeface="Poppins SemiBold"/>
                  <a:sym typeface="Poppins SemiBold"/>
                </a:rPr>
                <a:t>„</a:t>
              </a:r>
              <a:r>
                <a:rPr lang="en" sz="1500">
                  <a:latin typeface="Poppins SemiBold"/>
                  <a:ea typeface="Poppins SemiBold"/>
                  <a:cs typeface="Poppins SemiBold"/>
                  <a:sym typeface="Poppins SemiBold"/>
                </a:rPr>
                <a:t>Politehnica” din București</a:t>
              </a:r>
              <a:endParaRPr sz="1500">
                <a:latin typeface="Poppins SemiBold"/>
                <a:ea typeface="Poppins SemiBold"/>
                <a:cs typeface="Poppins SemiBold"/>
                <a:sym typeface="Poppins SemiBold"/>
              </a:endParaRPr>
            </a:p>
          </p:txBody>
        </p:sp>
      </p:grpSp>
      <p:sp>
        <p:nvSpPr>
          <p:cNvPr id="140" name="Google Shape;140;p25"/>
          <p:cNvSpPr txBox="1"/>
          <p:nvPr/>
        </p:nvSpPr>
        <p:spPr>
          <a:xfrm>
            <a:off x="2353025" y="3751725"/>
            <a:ext cx="4888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Poppins SemiBold"/>
                <a:ea typeface="Poppins SemiBold"/>
                <a:cs typeface="Poppins SemiBold"/>
                <a:sym typeface="Poppins SemiBold"/>
              </a:rPr>
              <a:t>Vlad - Andrei Chira		Diana - Ioana Tudor</a:t>
            </a:r>
            <a:endParaRPr>
              <a:latin typeface="Poppins SemiBold"/>
              <a:ea typeface="Poppins SemiBold"/>
              <a:cs typeface="Poppins SemiBold"/>
              <a:sym typeface="Poppins SemiBold"/>
            </a:endParaRPr>
          </a:p>
          <a:p>
            <a:pPr indent="0" lvl="0" marL="0" rtl="0" algn="l">
              <a:spcBef>
                <a:spcPts val="0"/>
              </a:spcBef>
              <a:spcAft>
                <a:spcPts val="0"/>
              </a:spcAft>
              <a:buNone/>
            </a:pPr>
            <a:r>
              <a:rPr lang="en">
                <a:latin typeface="Poppins SemiBold"/>
                <a:ea typeface="Poppins SemiBold"/>
                <a:cs typeface="Poppins SemiBold"/>
                <a:sym typeface="Poppins SemiBold"/>
              </a:rPr>
              <a:t>Victor - Gabriel Moisă 	Andrei Cozma</a:t>
            </a:r>
            <a:endParaRPr>
              <a:latin typeface="Poppins SemiBold"/>
              <a:ea typeface="Poppins SemiBold"/>
              <a:cs typeface="Poppins SemiBold"/>
              <a:sym typeface="Poppins SemiBold"/>
            </a:endParaRPr>
          </a:p>
          <a:p>
            <a:pPr indent="0" lvl="0" marL="0" rtl="0" algn="l">
              <a:spcBef>
                <a:spcPts val="0"/>
              </a:spcBef>
              <a:spcAft>
                <a:spcPts val="0"/>
              </a:spcAft>
              <a:buNone/>
            </a:pPr>
            <a:r>
              <a:rPr lang="en">
                <a:latin typeface="Poppins SemiBold"/>
                <a:ea typeface="Poppins SemiBold"/>
                <a:cs typeface="Poppins SemiBold"/>
                <a:sym typeface="Poppins SemiBold"/>
              </a:rPr>
              <a:t> 		        Andrei - Mihai Ioniță</a:t>
            </a:r>
            <a:endParaRPr>
              <a:latin typeface="Poppins SemiBold"/>
              <a:ea typeface="Poppins SemiBold"/>
              <a:cs typeface="Poppins SemiBold"/>
              <a:sym typeface="Poppi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6"/>
          <p:cNvPicPr preferRelativeResize="0"/>
          <p:nvPr/>
        </p:nvPicPr>
        <p:blipFill>
          <a:blip r:embed="rId3">
            <a:alphaModFix/>
          </a:blip>
          <a:stretch>
            <a:fillRect/>
          </a:stretch>
        </p:blipFill>
        <p:spPr>
          <a:xfrm>
            <a:off x="2285371" y="2867896"/>
            <a:ext cx="1495800" cy="1907599"/>
          </a:xfrm>
          <a:prstGeom prst="rect">
            <a:avLst/>
          </a:prstGeom>
          <a:noFill/>
          <a:ln>
            <a:noFill/>
          </a:ln>
        </p:spPr>
      </p:pic>
      <p:pic>
        <p:nvPicPr>
          <p:cNvPr id="146" name="Google Shape;146;p26"/>
          <p:cNvPicPr preferRelativeResize="0"/>
          <p:nvPr/>
        </p:nvPicPr>
        <p:blipFill rotWithShape="1">
          <a:blip r:embed="rId4">
            <a:alphaModFix amt="60000"/>
          </a:blip>
          <a:srcRect b="0" l="0" r="0" t="0"/>
          <a:stretch/>
        </p:blipFill>
        <p:spPr>
          <a:xfrm>
            <a:off x="-234551" y="163289"/>
            <a:ext cx="2666501" cy="2231665"/>
          </a:xfrm>
          <a:prstGeom prst="rect">
            <a:avLst/>
          </a:prstGeom>
          <a:noFill/>
          <a:ln>
            <a:noFill/>
          </a:ln>
        </p:spPr>
      </p:pic>
      <p:pic>
        <p:nvPicPr>
          <p:cNvPr id="147" name="Google Shape;147;p26"/>
          <p:cNvPicPr preferRelativeResize="0"/>
          <p:nvPr/>
        </p:nvPicPr>
        <p:blipFill rotWithShape="1">
          <a:blip r:embed="rId5">
            <a:alphaModFix amt="60000"/>
          </a:blip>
          <a:srcRect b="0" l="0" r="0" t="0"/>
          <a:stretch/>
        </p:blipFill>
        <p:spPr>
          <a:xfrm rot="7350237">
            <a:off x="-241299" y="-60623"/>
            <a:ext cx="2537065" cy="2461431"/>
          </a:xfrm>
          <a:prstGeom prst="rect">
            <a:avLst/>
          </a:prstGeom>
          <a:noFill/>
          <a:ln>
            <a:noFill/>
          </a:ln>
        </p:spPr>
      </p:pic>
      <p:pic>
        <p:nvPicPr>
          <p:cNvPr id="148" name="Google Shape;148;p26"/>
          <p:cNvPicPr preferRelativeResize="0"/>
          <p:nvPr/>
        </p:nvPicPr>
        <p:blipFill rotWithShape="1">
          <a:blip r:embed="rId4">
            <a:alphaModFix amt="60000"/>
          </a:blip>
          <a:srcRect b="0" l="0" r="0" t="0"/>
          <a:stretch/>
        </p:blipFill>
        <p:spPr>
          <a:xfrm rot="7200003">
            <a:off x="-1137762" y="-336573"/>
            <a:ext cx="411215" cy="379814"/>
          </a:xfrm>
          <a:prstGeom prst="rect">
            <a:avLst/>
          </a:prstGeom>
          <a:noFill/>
          <a:ln>
            <a:noFill/>
          </a:ln>
        </p:spPr>
      </p:pic>
      <p:pic>
        <p:nvPicPr>
          <p:cNvPr id="149" name="Google Shape;149;p26"/>
          <p:cNvPicPr preferRelativeResize="0"/>
          <p:nvPr/>
        </p:nvPicPr>
        <p:blipFill rotWithShape="1">
          <a:blip r:embed="rId5">
            <a:alphaModFix amt="60000"/>
          </a:blip>
          <a:srcRect b="0" l="0" r="0" t="0"/>
          <a:stretch/>
        </p:blipFill>
        <p:spPr>
          <a:xfrm rot="7200003">
            <a:off x="-1217804" y="-277603"/>
            <a:ext cx="411215" cy="379814"/>
          </a:xfrm>
          <a:prstGeom prst="rect">
            <a:avLst/>
          </a:prstGeom>
          <a:noFill/>
          <a:ln>
            <a:noFill/>
          </a:ln>
        </p:spPr>
      </p:pic>
      <p:pic>
        <p:nvPicPr>
          <p:cNvPr id="150" name="Google Shape;150;p26"/>
          <p:cNvPicPr preferRelativeResize="0"/>
          <p:nvPr/>
        </p:nvPicPr>
        <p:blipFill rotWithShape="1">
          <a:blip r:embed="rId4">
            <a:alphaModFix amt="60000"/>
          </a:blip>
          <a:srcRect b="0" l="0" r="0" t="0"/>
          <a:stretch/>
        </p:blipFill>
        <p:spPr>
          <a:xfrm rot="7200003">
            <a:off x="-1217804" y="715768"/>
            <a:ext cx="411215" cy="379814"/>
          </a:xfrm>
          <a:prstGeom prst="rect">
            <a:avLst/>
          </a:prstGeom>
          <a:noFill/>
          <a:ln>
            <a:noFill/>
          </a:ln>
        </p:spPr>
      </p:pic>
      <p:pic>
        <p:nvPicPr>
          <p:cNvPr id="151" name="Google Shape;151;p26"/>
          <p:cNvPicPr preferRelativeResize="0"/>
          <p:nvPr/>
        </p:nvPicPr>
        <p:blipFill rotWithShape="1">
          <a:blip r:embed="rId5">
            <a:alphaModFix amt="60000"/>
          </a:blip>
          <a:srcRect b="0" l="0" r="0" t="0"/>
          <a:stretch/>
        </p:blipFill>
        <p:spPr>
          <a:xfrm rot="7200003">
            <a:off x="-1122554" y="811018"/>
            <a:ext cx="411215" cy="379814"/>
          </a:xfrm>
          <a:prstGeom prst="rect">
            <a:avLst/>
          </a:prstGeom>
          <a:noFill/>
          <a:ln>
            <a:noFill/>
          </a:ln>
        </p:spPr>
      </p:pic>
      <p:pic>
        <p:nvPicPr>
          <p:cNvPr id="152" name="Google Shape;152;p26"/>
          <p:cNvPicPr preferRelativeResize="0"/>
          <p:nvPr/>
        </p:nvPicPr>
        <p:blipFill rotWithShape="1">
          <a:blip r:embed="rId4">
            <a:alphaModFix amt="60000"/>
          </a:blip>
          <a:srcRect b="0" l="0" r="0" t="0"/>
          <a:stretch/>
        </p:blipFill>
        <p:spPr>
          <a:xfrm rot="7200003">
            <a:off x="-1446670" y="2136944"/>
            <a:ext cx="411215" cy="379814"/>
          </a:xfrm>
          <a:prstGeom prst="rect">
            <a:avLst/>
          </a:prstGeom>
          <a:noFill/>
          <a:ln>
            <a:noFill/>
          </a:ln>
        </p:spPr>
      </p:pic>
      <p:pic>
        <p:nvPicPr>
          <p:cNvPr id="153" name="Google Shape;153;p26"/>
          <p:cNvPicPr preferRelativeResize="0"/>
          <p:nvPr/>
        </p:nvPicPr>
        <p:blipFill rotWithShape="1">
          <a:blip r:embed="rId5">
            <a:alphaModFix amt="60000"/>
          </a:blip>
          <a:srcRect b="0" l="0" r="0" t="0"/>
          <a:stretch/>
        </p:blipFill>
        <p:spPr>
          <a:xfrm rot="7200003">
            <a:off x="-1351420" y="2232194"/>
            <a:ext cx="411215" cy="379814"/>
          </a:xfrm>
          <a:prstGeom prst="rect">
            <a:avLst/>
          </a:prstGeom>
          <a:noFill/>
          <a:ln>
            <a:noFill/>
          </a:ln>
        </p:spPr>
      </p:pic>
      <p:pic>
        <p:nvPicPr>
          <p:cNvPr id="154" name="Google Shape;154;p26"/>
          <p:cNvPicPr preferRelativeResize="0"/>
          <p:nvPr/>
        </p:nvPicPr>
        <p:blipFill rotWithShape="1">
          <a:blip r:embed="rId6">
            <a:alphaModFix/>
          </a:blip>
          <a:srcRect b="0" l="0" r="0" t="0"/>
          <a:stretch/>
        </p:blipFill>
        <p:spPr>
          <a:xfrm>
            <a:off x="-416925" y="-61327"/>
            <a:ext cx="3783600" cy="3378325"/>
          </a:xfrm>
          <a:prstGeom prst="rect">
            <a:avLst/>
          </a:prstGeom>
          <a:noFill/>
          <a:ln>
            <a:noFill/>
          </a:ln>
        </p:spPr>
      </p:pic>
      <p:pic>
        <p:nvPicPr>
          <p:cNvPr id="155" name="Google Shape;155;p26"/>
          <p:cNvPicPr preferRelativeResize="0"/>
          <p:nvPr/>
        </p:nvPicPr>
        <p:blipFill rotWithShape="1">
          <a:blip r:embed="rId7">
            <a:alphaModFix/>
          </a:blip>
          <a:srcRect b="0" l="0" r="0" t="0"/>
          <a:stretch/>
        </p:blipFill>
        <p:spPr>
          <a:xfrm>
            <a:off x="7668468" y="1690898"/>
            <a:ext cx="1425043" cy="3378335"/>
          </a:xfrm>
          <a:prstGeom prst="rect">
            <a:avLst/>
          </a:prstGeom>
          <a:noFill/>
          <a:ln>
            <a:noFill/>
          </a:ln>
        </p:spPr>
      </p:pic>
      <p:sp>
        <p:nvSpPr>
          <p:cNvPr id="156" name="Google Shape;156;p26"/>
          <p:cNvSpPr txBox="1"/>
          <p:nvPr/>
        </p:nvSpPr>
        <p:spPr>
          <a:xfrm>
            <a:off x="151530" y="251090"/>
            <a:ext cx="3195600" cy="2848500"/>
          </a:xfrm>
          <a:prstGeom prst="rect">
            <a:avLst/>
          </a:prstGeom>
          <a:noFill/>
          <a:ln>
            <a:noFill/>
          </a:ln>
        </p:spPr>
        <p:txBody>
          <a:bodyPr anchorCtr="0" anchor="t" bIns="0" lIns="0" spcFirstLastPara="1" rIns="0" wrap="square" tIns="0">
            <a:spAutoFit/>
          </a:bodyPr>
          <a:lstStyle/>
          <a:p>
            <a:pPr indent="457200" lvl="0" marL="0" marR="0" rtl="0" algn="l">
              <a:lnSpc>
                <a:spcPct val="129004"/>
              </a:lnSpc>
              <a:spcBef>
                <a:spcPts val="0"/>
              </a:spcBef>
              <a:spcAft>
                <a:spcPts val="0"/>
              </a:spcAft>
              <a:buNone/>
            </a:pPr>
            <a:r>
              <a:rPr b="0" i="0" lang="en" sz="3800" u="none" cap="none" strike="noStrike">
                <a:solidFill>
                  <a:srgbClr val="042B60"/>
                </a:solidFill>
                <a:latin typeface="Poppins ExtraBold"/>
                <a:ea typeface="Poppins ExtraBold"/>
                <a:cs typeface="Poppins ExtraBold"/>
                <a:sym typeface="Poppins ExtraBold"/>
              </a:rPr>
              <a:t>TEMA</a:t>
            </a:r>
            <a:endParaRPr sz="700"/>
          </a:p>
          <a:p>
            <a:pPr indent="0" lvl="0" marL="0" marR="0" rtl="0" algn="l">
              <a:lnSpc>
                <a:spcPct val="129004"/>
              </a:lnSpc>
              <a:spcBef>
                <a:spcPts val="0"/>
              </a:spcBef>
              <a:spcAft>
                <a:spcPts val="0"/>
              </a:spcAft>
              <a:buNone/>
            </a:pPr>
            <a:r>
              <a:rPr b="0" i="0" lang="en" sz="3800" u="none" cap="none" strike="noStrike">
                <a:solidFill>
                  <a:srgbClr val="042B60"/>
                </a:solidFill>
                <a:latin typeface="Poppins ExtraBold"/>
                <a:ea typeface="Poppins ExtraBold"/>
                <a:cs typeface="Poppins ExtraBold"/>
                <a:sym typeface="Poppins ExtraBold"/>
              </a:rPr>
              <a:t>PROIECTULUI Ș</a:t>
            </a:r>
            <a:r>
              <a:rPr lang="en" sz="3800">
                <a:solidFill>
                  <a:srgbClr val="042B60"/>
                </a:solidFill>
                <a:latin typeface="Poppins ExtraBold"/>
                <a:ea typeface="Poppins ExtraBold"/>
                <a:cs typeface="Poppins ExtraBold"/>
                <a:sym typeface="Poppins ExtraBold"/>
              </a:rPr>
              <a:t>I SCHEMA</a:t>
            </a:r>
            <a:endParaRPr sz="3800">
              <a:solidFill>
                <a:srgbClr val="042B60"/>
              </a:solidFill>
              <a:latin typeface="Poppins ExtraBold"/>
              <a:ea typeface="Poppins ExtraBold"/>
              <a:cs typeface="Poppins ExtraBold"/>
              <a:sym typeface="Poppins ExtraBold"/>
            </a:endParaRPr>
          </a:p>
          <a:p>
            <a:pPr indent="0" lvl="0" marL="0" marR="0" rtl="0" algn="l">
              <a:lnSpc>
                <a:spcPct val="129004"/>
              </a:lnSpc>
              <a:spcBef>
                <a:spcPts val="0"/>
              </a:spcBef>
              <a:spcAft>
                <a:spcPts val="0"/>
              </a:spcAft>
              <a:buNone/>
            </a:pPr>
            <a:r>
              <a:rPr lang="en" sz="3800">
                <a:solidFill>
                  <a:srgbClr val="042B60"/>
                </a:solidFill>
                <a:latin typeface="Poppins ExtraBold"/>
                <a:ea typeface="Poppins ExtraBold"/>
                <a:cs typeface="Poppins ExtraBold"/>
                <a:sym typeface="Poppins ExtraBold"/>
              </a:rPr>
              <a:t>        BLOC</a:t>
            </a:r>
            <a:endParaRPr sz="700"/>
          </a:p>
        </p:txBody>
      </p:sp>
      <p:sp>
        <p:nvSpPr>
          <p:cNvPr id="157" name="Google Shape;157;p26"/>
          <p:cNvSpPr txBox="1"/>
          <p:nvPr/>
        </p:nvSpPr>
        <p:spPr>
          <a:xfrm>
            <a:off x="3688338" y="202550"/>
            <a:ext cx="3967200" cy="1600800"/>
          </a:xfrm>
          <a:prstGeom prst="rect">
            <a:avLst/>
          </a:prstGeom>
          <a:noFill/>
          <a:ln>
            <a:noFill/>
          </a:ln>
        </p:spPr>
        <p:txBody>
          <a:bodyPr anchorCtr="0" anchor="t" bIns="0" lIns="0" spcFirstLastPara="1" rIns="0" wrap="square" tIns="0">
            <a:spAutoFit/>
          </a:bodyPr>
          <a:lstStyle/>
          <a:p>
            <a:pPr indent="457200" lvl="0" marL="0" marR="0" rtl="0" algn="just">
              <a:lnSpc>
                <a:spcPct val="140000"/>
              </a:lnSpc>
              <a:spcBef>
                <a:spcPts val="0"/>
              </a:spcBef>
              <a:spcAft>
                <a:spcPts val="0"/>
              </a:spcAft>
              <a:buNone/>
            </a:pPr>
            <a:r>
              <a:rPr lang="en" sz="1300">
                <a:solidFill>
                  <a:srgbClr val="042B60"/>
                </a:solidFill>
                <a:latin typeface="Poppins Medium"/>
                <a:ea typeface="Poppins Medium"/>
                <a:cs typeface="Poppins Medium"/>
                <a:sym typeface="Poppins Medium"/>
              </a:rPr>
              <a:t>Tema proiectului este implementarea unui automat cu microinstrucţiuni cu format variabil al unui aparat de băuturi răcoritoare (pentru o firmă de exemplu, deoarece nu trebuie introduși bani pentru suc/apă) cu două funcții: băuturi răcoritoare și apă.</a:t>
            </a:r>
            <a:endParaRPr sz="200">
              <a:latin typeface="Poppins Medium"/>
              <a:ea typeface="Poppins Medium"/>
              <a:cs typeface="Poppins Medium"/>
              <a:sym typeface="Poppins Medium"/>
            </a:endParaRPr>
          </a:p>
        </p:txBody>
      </p:sp>
      <p:sp>
        <p:nvSpPr>
          <p:cNvPr id="158" name="Google Shape;158;p26"/>
          <p:cNvSpPr/>
          <p:nvPr/>
        </p:nvSpPr>
        <p:spPr>
          <a:xfrm>
            <a:off x="4848800" y="2053825"/>
            <a:ext cx="1737600" cy="2856600"/>
          </a:xfrm>
          <a:prstGeom prst="roundRect">
            <a:avLst>
              <a:gd fmla="val 16667" name="adj"/>
            </a:avLst>
          </a:prstGeom>
          <a:solidFill>
            <a:srgbClr val="EAD1DC"/>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txBox="1"/>
          <p:nvPr/>
        </p:nvSpPr>
        <p:spPr>
          <a:xfrm>
            <a:off x="5032475" y="2788500"/>
            <a:ext cx="1495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D5318F"/>
              </a:solidFill>
              <a:latin typeface="Poppins Black"/>
              <a:ea typeface="Poppins Black"/>
              <a:cs typeface="Poppins Black"/>
              <a:sym typeface="Poppins Black"/>
            </a:endParaRPr>
          </a:p>
          <a:p>
            <a:pPr indent="0" lvl="0" marL="0" rtl="0" algn="l">
              <a:spcBef>
                <a:spcPts val="0"/>
              </a:spcBef>
              <a:spcAft>
                <a:spcPts val="0"/>
              </a:spcAft>
              <a:buNone/>
            </a:pPr>
            <a:r>
              <a:rPr lang="en">
                <a:solidFill>
                  <a:srgbClr val="D5318F"/>
                </a:solidFill>
                <a:latin typeface="Poppins Black"/>
                <a:ea typeface="Poppins Black"/>
                <a:cs typeface="Poppins Black"/>
                <a:sym typeface="Poppins Black"/>
              </a:rPr>
              <a:t>APARAT</a:t>
            </a:r>
            <a:br>
              <a:rPr lang="en">
                <a:solidFill>
                  <a:srgbClr val="D5318F"/>
                </a:solidFill>
                <a:latin typeface="Poppins Black"/>
                <a:ea typeface="Poppins Black"/>
                <a:cs typeface="Poppins Black"/>
                <a:sym typeface="Poppins Black"/>
              </a:rPr>
            </a:br>
            <a:r>
              <a:rPr lang="en">
                <a:solidFill>
                  <a:srgbClr val="D5318F"/>
                </a:solidFill>
                <a:latin typeface="Poppins Black"/>
                <a:ea typeface="Poppins Black"/>
                <a:cs typeface="Poppins Black"/>
                <a:sym typeface="Poppins Black"/>
              </a:rPr>
              <a:t>BĂUTURI </a:t>
            </a:r>
            <a:br>
              <a:rPr lang="en">
                <a:solidFill>
                  <a:srgbClr val="D5318F"/>
                </a:solidFill>
                <a:latin typeface="Poppins Black"/>
                <a:ea typeface="Poppins Black"/>
                <a:cs typeface="Poppins Black"/>
                <a:sym typeface="Poppins Black"/>
              </a:rPr>
            </a:br>
            <a:r>
              <a:rPr lang="en">
                <a:solidFill>
                  <a:srgbClr val="D5318F"/>
                </a:solidFill>
                <a:latin typeface="Poppins Black"/>
                <a:ea typeface="Poppins Black"/>
                <a:cs typeface="Poppins Black"/>
                <a:sym typeface="Poppins Black"/>
              </a:rPr>
              <a:t>RĂCORITOARE</a:t>
            </a:r>
            <a:endParaRPr>
              <a:solidFill>
                <a:srgbClr val="D5318F"/>
              </a:solidFill>
              <a:latin typeface="Poppins Black"/>
              <a:ea typeface="Poppins Black"/>
              <a:cs typeface="Poppins Black"/>
              <a:sym typeface="Poppins Black"/>
            </a:endParaRPr>
          </a:p>
        </p:txBody>
      </p:sp>
      <p:sp>
        <p:nvSpPr>
          <p:cNvPr id="160" name="Google Shape;160;p26"/>
          <p:cNvSpPr/>
          <p:nvPr/>
        </p:nvSpPr>
        <p:spPr>
          <a:xfrm>
            <a:off x="6586403" y="214907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6586403" y="240210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6"/>
          <p:cNvSpPr/>
          <p:nvPr/>
        </p:nvSpPr>
        <p:spPr>
          <a:xfrm>
            <a:off x="6586403" y="265512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p:nvPr/>
        </p:nvSpPr>
        <p:spPr>
          <a:xfrm>
            <a:off x="6586403" y="290815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6"/>
          <p:cNvSpPr/>
          <p:nvPr/>
        </p:nvSpPr>
        <p:spPr>
          <a:xfrm>
            <a:off x="6586403" y="3188316"/>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6"/>
          <p:cNvSpPr/>
          <p:nvPr/>
        </p:nvSpPr>
        <p:spPr>
          <a:xfrm>
            <a:off x="6586403" y="346850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p:nvPr/>
        </p:nvSpPr>
        <p:spPr>
          <a:xfrm>
            <a:off x="6586403" y="372152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6"/>
          <p:cNvSpPr/>
          <p:nvPr/>
        </p:nvSpPr>
        <p:spPr>
          <a:xfrm>
            <a:off x="6586403" y="397455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6"/>
          <p:cNvSpPr/>
          <p:nvPr/>
        </p:nvSpPr>
        <p:spPr>
          <a:xfrm>
            <a:off x="6586403" y="422757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p:nvPr/>
        </p:nvSpPr>
        <p:spPr>
          <a:xfrm>
            <a:off x="6586403" y="448060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6"/>
          <p:cNvSpPr/>
          <p:nvPr/>
        </p:nvSpPr>
        <p:spPr>
          <a:xfrm>
            <a:off x="6525800" y="4733625"/>
            <a:ext cx="6564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6"/>
          <p:cNvSpPr txBox="1"/>
          <p:nvPr/>
        </p:nvSpPr>
        <p:spPr>
          <a:xfrm>
            <a:off x="7190975" y="2041725"/>
            <a:ext cx="3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I1</a:t>
            </a:r>
            <a:endParaRPr>
              <a:latin typeface="Calibri"/>
              <a:ea typeface="Calibri"/>
              <a:cs typeface="Calibri"/>
              <a:sym typeface="Calibri"/>
            </a:endParaRPr>
          </a:p>
        </p:txBody>
      </p:sp>
      <p:sp>
        <p:nvSpPr>
          <p:cNvPr id="172" name="Google Shape;172;p26"/>
          <p:cNvSpPr txBox="1"/>
          <p:nvPr/>
        </p:nvSpPr>
        <p:spPr>
          <a:xfrm>
            <a:off x="7190975" y="2298200"/>
            <a:ext cx="3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I2</a:t>
            </a:r>
            <a:endParaRPr>
              <a:latin typeface="Calibri"/>
              <a:ea typeface="Calibri"/>
              <a:cs typeface="Calibri"/>
              <a:sym typeface="Calibri"/>
            </a:endParaRPr>
          </a:p>
        </p:txBody>
      </p:sp>
      <p:sp>
        <p:nvSpPr>
          <p:cNvPr id="173" name="Google Shape;173;p26"/>
          <p:cNvSpPr txBox="1"/>
          <p:nvPr/>
        </p:nvSpPr>
        <p:spPr>
          <a:xfrm>
            <a:off x="7191050" y="2555225"/>
            <a:ext cx="3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I3</a:t>
            </a:r>
            <a:endParaRPr>
              <a:latin typeface="Calibri"/>
              <a:ea typeface="Calibri"/>
              <a:cs typeface="Calibri"/>
              <a:sym typeface="Calibri"/>
            </a:endParaRPr>
          </a:p>
        </p:txBody>
      </p:sp>
      <p:sp>
        <p:nvSpPr>
          <p:cNvPr id="174" name="Google Shape;174;p26"/>
          <p:cNvSpPr txBox="1"/>
          <p:nvPr/>
        </p:nvSpPr>
        <p:spPr>
          <a:xfrm>
            <a:off x="7191050" y="3068725"/>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I5</a:t>
            </a:r>
            <a:endParaRPr>
              <a:latin typeface="Calibri"/>
              <a:ea typeface="Calibri"/>
              <a:cs typeface="Calibri"/>
              <a:sym typeface="Calibri"/>
            </a:endParaRPr>
          </a:p>
        </p:txBody>
      </p:sp>
      <p:sp>
        <p:nvSpPr>
          <p:cNvPr id="175" name="Google Shape;175;p26"/>
          <p:cNvSpPr txBox="1"/>
          <p:nvPr/>
        </p:nvSpPr>
        <p:spPr>
          <a:xfrm>
            <a:off x="7191050" y="2811175"/>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I4</a:t>
            </a:r>
            <a:endParaRPr>
              <a:latin typeface="Calibri"/>
              <a:ea typeface="Calibri"/>
              <a:cs typeface="Calibri"/>
              <a:sym typeface="Calibri"/>
            </a:endParaRPr>
          </a:p>
        </p:txBody>
      </p:sp>
      <p:sp>
        <p:nvSpPr>
          <p:cNvPr id="176" name="Google Shape;176;p26"/>
          <p:cNvSpPr txBox="1"/>
          <p:nvPr/>
        </p:nvSpPr>
        <p:spPr>
          <a:xfrm>
            <a:off x="7191050" y="3877975"/>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I8</a:t>
            </a:r>
            <a:endParaRPr>
              <a:latin typeface="Calibri"/>
              <a:ea typeface="Calibri"/>
              <a:cs typeface="Calibri"/>
              <a:sym typeface="Calibri"/>
            </a:endParaRPr>
          </a:p>
        </p:txBody>
      </p:sp>
      <p:sp>
        <p:nvSpPr>
          <p:cNvPr id="177" name="Google Shape;177;p26"/>
          <p:cNvSpPr txBox="1"/>
          <p:nvPr/>
        </p:nvSpPr>
        <p:spPr>
          <a:xfrm>
            <a:off x="7191050" y="3621600"/>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I7</a:t>
            </a:r>
            <a:endParaRPr>
              <a:latin typeface="Calibri"/>
              <a:ea typeface="Calibri"/>
              <a:cs typeface="Calibri"/>
              <a:sym typeface="Calibri"/>
            </a:endParaRPr>
          </a:p>
        </p:txBody>
      </p:sp>
      <p:sp>
        <p:nvSpPr>
          <p:cNvPr id="178" name="Google Shape;178;p26"/>
          <p:cNvSpPr txBox="1"/>
          <p:nvPr/>
        </p:nvSpPr>
        <p:spPr>
          <a:xfrm>
            <a:off x="7191050" y="3344575"/>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I6</a:t>
            </a:r>
            <a:endParaRPr>
              <a:latin typeface="Calibri"/>
              <a:ea typeface="Calibri"/>
              <a:cs typeface="Calibri"/>
              <a:sym typeface="Calibri"/>
            </a:endParaRPr>
          </a:p>
        </p:txBody>
      </p:sp>
      <p:sp>
        <p:nvSpPr>
          <p:cNvPr id="179" name="Google Shape;179;p26"/>
          <p:cNvSpPr txBox="1"/>
          <p:nvPr/>
        </p:nvSpPr>
        <p:spPr>
          <a:xfrm>
            <a:off x="7191050" y="4335175"/>
            <a:ext cx="59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I10</a:t>
            </a:r>
            <a:endParaRPr>
              <a:latin typeface="Calibri"/>
              <a:ea typeface="Calibri"/>
              <a:cs typeface="Calibri"/>
              <a:sym typeface="Calibri"/>
            </a:endParaRPr>
          </a:p>
        </p:txBody>
      </p:sp>
      <p:sp>
        <p:nvSpPr>
          <p:cNvPr id="180" name="Google Shape;180;p26"/>
          <p:cNvSpPr txBox="1"/>
          <p:nvPr/>
        </p:nvSpPr>
        <p:spPr>
          <a:xfrm>
            <a:off x="7191050" y="4106575"/>
            <a:ext cx="3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I9</a:t>
            </a:r>
            <a:endParaRPr>
              <a:latin typeface="Calibri"/>
              <a:ea typeface="Calibri"/>
              <a:cs typeface="Calibri"/>
              <a:sym typeface="Calibri"/>
            </a:endParaRPr>
          </a:p>
        </p:txBody>
      </p:sp>
      <p:sp>
        <p:nvSpPr>
          <p:cNvPr id="181" name="Google Shape;181;p26"/>
          <p:cNvSpPr txBox="1"/>
          <p:nvPr/>
        </p:nvSpPr>
        <p:spPr>
          <a:xfrm>
            <a:off x="7191050" y="4633725"/>
            <a:ext cx="59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I11</a:t>
            </a:r>
            <a:endParaRPr>
              <a:latin typeface="Calibri"/>
              <a:ea typeface="Calibri"/>
              <a:cs typeface="Calibri"/>
              <a:sym typeface="Calibri"/>
            </a:endParaRPr>
          </a:p>
        </p:txBody>
      </p:sp>
      <p:sp>
        <p:nvSpPr>
          <p:cNvPr id="182" name="Google Shape;182;p26"/>
          <p:cNvSpPr/>
          <p:nvPr/>
        </p:nvSpPr>
        <p:spPr>
          <a:xfrm>
            <a:off x="4244325" y="2313600"/>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6"/>
          <p:cNvSpPr txBox="1"/>
          <p:nvPr/>
        </p:nvSpPr>
        <p:spPr>
          <a:xfrm>
            <a:off x="4148350" y="2053825"/>
            <a:ext cx="65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Pahar</a:t>
            </a:r>
            <a:endParaRPr>
              <a:latin typeface="Calibri"/>
              <a:ea typeface="Calibri"/>
              <a:cs typeface="Calibri"/>
              <a:sym typeface="Calibri"/>
            </a:endParaRPr>
          </a:p>
        </p:txBody>
      </p:sp>
      <p:sp>
        <p:nvSpPr>
          <p:cNvPr id="184" name="Google Shape;184;p26"/>
          <p:cNvSpPr txBox="1"/>
          <p:nvPr/>
        </p:nvSpPr>
        <p:spPr>
          <a:xfrm>
            <a:off x="4094650" y="4069438"/>
            <a:ext cx="78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Gheață</a:t>
            </a:r>
            <a:endParaRPr>
              <a:latin typeface="Calibri"/>
              <a:ea typeface="Calibri"/>
              <a:cs typeface="Calibri"/>
              <a:sym typeface="Calibri"/>
            </a:endParaRPr>
          </a:p>
        </p:txBody>
      </p:sp>
      <p:sp>
        <p:nvSpPr>
          <p:cNvPr id="185" name="Google Shape;185;p26"/>
          <p:cNvSpPr txBox="1"/>
          <p:nvPr/>
        </p:nvSpPr>
        <p:spPr>
          <a:xfrm>
            <a:off x="3835975" y="2747113"/>
            <a:ext cx="107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Fruct./cola</a:t>
            </a:r>
            <a:endParaRPr>
              <a:latin typeface="Calibri"/>
              <a:ea typeface="Calibri"/>
              <a:cs typeface="Calibri"/>
              <a:sym typeface="Calibri"/>
            </a:endParaRPr>
          </a:p>
        </p:txBody>
      </p:sp>
      <p:sp>
        <p:nvSpPr>
          <p:cNvPr id="186" name="Google Shape;186;p26"/>
          <p:cNvSpPr txBox="1"/>
          <p:nvPr/>
        </p:nvSpPr>
        <p:spPr>
          <a:xfrm>
            <a:off x="3603550" y="2395800"/>
            <a:ext cx="128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Băut. răc./apă</a:t>
            </a:r>
            <a:endParaRPr>
              <a:latin typeface="Calibri"/>
              <a:ea typeface="Calibri"/>
              <a:cs typeface="Calibri"/>
              <a:sym typeface="Calibri"/>
            </a:endParaRPr>
          </a:p>
        </p:txBody>
      </p:sp>
      <p:sp>
        <p:nvSpPr>
          <p:cNvPr id="187" name="Google Shape;187;p26"/>
          <p:cNvSpPr txBox="1"/>
          <p:nvPr/>
        </p:nvSpPr>
        <p:spPr>
          <a:xfrm>
            <a:off x="3734100" y="3407913"/>
            <a:ext cx="1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Light/Full ice</a:t>
            </a:r>
            <a:endParaRPr>
              <a:latin typeface="Calibri"/>
              <a:ea typeface="Calibri"/>
              <a:cs typeface="Calibri"/>
              <a:sym typeface="Calibri"/>
            </a:endParaRPr>
          </a:p>
        </p:txBody>
      </p:sp>
      <p:sp>
        <p:nvSpPr>
          <p:cNvPr id="188" name="Google Shape;188;p26"/>
          <p:cNvSpPr txBox="1"/>
          <p:nvPr/>
        </p:nvSpPr>
        <p:spPr>
          <a:xfrm>
            <a:off x="3934775" y="3707850"/>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Port./măr</a:t>
            </a:r>
            <a:endParaRPr>
              <a:latin typeface="Calibri"/>
              <a:ea typeface="Calibri"/>
              <a:cs typeface="Calibri"/>
              <a:sym typeface="Calibri"/>
            </a:endParaRPr>
          </a:p>
        </p:txBody>
      </p:sp>
      <p:sp>
        <p:nvSpPr>
          <p:cNvPr id="189" name="Google Shape;189;p26"/>
          <p:cNvSpPr txBox="1"/>
          <p:nvPr/>
        </p:nvSpPr>
        <p:spPr>
          <a:xfrm>
            <a:off x="3944525" y="3099600"/>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Neac./ac.</a:t>
            </a:r>
            <a:endParaRPr>
              <a:latin typeface="Calibri"/>
              <a:ea typeface="Calibri"/>
              <a:cs typeface="Calibri"/>
              <a:sym typeface="Calibri"/>
            </a:endParaRPr>
          </a:p>
        </p:txBody>
      </p:sp>
      <p:sp>
        <p:nvSpPr>
          <p:cNvPr id="190" name="Google Shape;190;p26"/>
          <p:cNvSpPr txBox="1"/>
          <p:nvPr/>
        </p:nvSpPr>
        <p:spPr>
          <a:xfrm>
            <a:off x="4136950" y="4383625"/>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    *(0)</a:t>
            </a:r>
            <a:endParaRPr>
              <a:latin typeface="Calibri"/>
              <a:ea typeface="Calibri"/>
              <a:cs typeface="Calibri"/>
              <a:sym typeface="Calibri"/>
            </a:endParaRPr>
          </a:p>
        </p:txBody>
      </p:sp>
      <p:sp>
        <p:nvSpPr>
          <p:cNvPr id="191" name="Google Shape;191;p26"/>
          <p:cNvSpPr/>
          <p:nvPr/>
        </p:nvSpPr>
        <p:spPr>
          <a:xfrm>
            <a:off x="4244325" y="2620402"/>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6"/>
          <p:cNvSpPr/>
          <p:nvPr/>
        </p:nvSpPr>
        <p:spPr>
          <a:xfrm>
            <a:off x="4237091" y="2999400"/>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6"/>
          <p:cNvSpPr/>
          <p:nvPr/>
        </p:nvSpPr>
        <p:spPr>
          <a:xfrm>
            <a:off x="4229841" y="333143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6"/>
          <p:cNvSpPr/>
          <p:nvPr/>
        </p:nvSpPr>
        <p:spPr>
          <a:xfrm>
            <a:off x="4237091" y="3663497"/>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6"/>
          <p:cNvSpPr/>
          <p:nvPr/>
        </p:nvSpPr>
        <p:spPr>
          <a:xfrm>
            <a:off x="4229857" y="3975532"/>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6"/>
          <p:cNvSpPr/>
          <p:nvPr/>
        </p:nvSpPr>
        <p:spPr>
          <a:xfrm>
            <a:off x="4237091" y="4287084"/>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6"/>
          <p:cNvSpPr/>
          <p:nvPr/>
        </p:nvSpPr>
        <p:spPr>
          <a:xfrm>
            <a:off x="4237091" y="4592366"/>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7"/>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03" name="Google Shape;203;p27"/>
          <p:cNvPicPr preferRelativeResize="0"/>
          <p:nvPr/>
        </p:nvPicPr>
        <p:blipFill rotWithShape="1">
          <a:blip r:embed="rId4">
            <a:alphaModFix amt="60000"/>
          </a:blip>
          <a:srcRect b="0" l="0" r="0" t="0"/>
          <a:stretch/>
        </p:blipFill>
        <p:spPr>
          <a:xfrm>
            <a:off x="6591058" y="3291730"/>
            <a:ext cx="3092785" cy="2856609"/>
          </a:xfrm>
          <a:prstGeom prst="rect">
            <a:avLst/>
          </a:prstGeom>
          <a:noFill/>
          <a:ln>
            <a:noFill/>
          </a:ln>
        </p:spPr>
      </p:pic>
      <p:pic>
        <p:nvPicPr>
          <p:cNvPr id="204" name="Google Shape;204;p27"/>
          <p:cNvPicPr preferRelativeResize="0"/>
          <p:nvPr/>
        </p:nvPicPr>
        <p:blipFill rotWithShape="1">
          <a:blip r:embed="rId3">
            <a:alphaModFix amt="60000"/>
          </a:blip>
          <a:srcRect b="0" l="0" r="0" t="0"/>
          <a:stretch/>
        </p:blipFill>
        <p:spPr>
          <a:xfrm rot="7200000">
            <a:off x="2199485" y="-1460508"/>
            <a:ext cx="3162519" cy="2921017"/>
          </a:xfrm>
          <a:prstGeom prst="rect">
            <a:avLst/>
          </a:prstGeom>
          <a:noFill/>
          <a:ln>
            <a:noFill/>
          </a:ln>
        </p:spPr>
      </p:pic>
      <p:pic>
        <p:nvPicPr>
          <p:cNvPr id="205" name="Google Shape;205;p27"/>
          <p:cNvPicPr preferRelativeResize="0"/>
          <p:nvPr/>
        </p:nvPicPr>
        <p:blipFill rotWithShape="1">
          <a:blip r:embed="rId4">
            <a:alphaModFix amt="60000"/>
          </a:blip>
          <a:srcRect b="0" l="0" r="0" t="0"/>
          <a:stretch/>
        </p:blipFill>
        <p:spPr>
          <a:xfrm>
            <a:off x="1866958" y="-1331938"/>
            <a:ext cx="3092786" cy="2856609"/>
          </a:xfrm>
          <a:prstGeom prst="rect">
            <a:avLst/>
          </a:prstGeom>
          <a:noFill/>
          <a:ln>
            <a:noFill/>
          </a:ln>
        </p:spPr>
      </p:pic>
      <p:pic>
        <p:nvPicPr>
          <p:cNvPr id="206" name="Google Shape;206;p27"/>
          <p:cNvPicPr preferRelativeResize="0"/>
          <p:nvPr/>
        </p:nvPicPr>
        <p:blipFill rotWithShape="1">
          <a:blip r:embed="rId5">
            <a:alphaModFix/>
          </a:blip>
          <a:srcRect b="0" l="0" r="0" t="0"/>
          <a:stretch/>
        </p:blipFill>
        <p:spPr>
          <a:xfrm rot="-1340945">
            <a:off x="7850557" y="217314"/>
            <a:ext cx="921342" cy="1443700"/>
          </a:xfrm>
          <a:prstGeom prst="rect">
            <a:avLst/>
          </a:prstGeom>
          <a:noFill/>
          <a:ln>
            <a:noFill/>
          </a:ln>
        </p:spPr>
      </p:pic>
      <p:pic>
        <p:nvPicPr>
          <p:cNvPr id="207" name="Google Shape;207;p27"/>
          <p:cNvPicPr preferRelativeResize="0"/>
          <p:nvPr/>
        </p:nvPicPr>
        <p:blipFill rotWithShape="1">
          <a:blip r:embed="rId6">
            <a:alphaModFix/>
          </a:blip>
          <a:srcRect b="0" l="0" r="0" t="0"/>
          <a:stretch/>
        </p:blipFill>
        <p:spPr>
          <a:xfrm>
            <a:off x="111052" y="3291730"/>
            <a:ext cx="453955" cy="1713038"/>
          </a:xfrm>
          <a:prstGeom prst="rect">
            <a:avLst/>
          </a:prstGeom>
          <a:noFill/>
          <a:ln>
            <a:noFill/>
          </a:ln>
        </p:spPr>
      </p:pic>
      <p:sp>
        <p:nvSpPr>
          <p:cNvPr id="208" name="Google Shape;208;p27"/>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a:t>
            </a:r>
            <a:r>
              <a:rPr lang="en" sz="2000">
                <a:solidFill>
                  <a:srgbClr val="042B60"/>
                </a:solidFill>
                <a:latin typeface="Poppins ExtraBold"/>
                <a:ea typeface="Poppins ExtraBold"/>
                <a:cs typeface="Poppins ExtraBold"/>
                <a:sym typeface="Poppins ExtraBold"/>
              </a:rPr>
              <a:t>I</a:t>
            </a:r>
            <a:r>
              <a:rPr b="0" i="0" lang="en" sz="2000" u="none" cap="none" strike="noStrike">
                <a:solidFill>
                  <a:srgbClr val="042B60"/>
                </a:solidFill>
                <a:latin typeface="Poppins ExtraBold"/>
                <a:ea typeface="Poppins ExtraBold"/>
                <a:cs typeface="Poppins ExtraBold"/>
                <a:sym typeface="Poppins ExtraBold"/>
              </a:rPr>
              <a:t>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09" name="Google Shape;209;p27"/>
          <p:cNvPicPr preferRelativeResize="0"/>
          <p:nvPr/>
        </p:nvPicPr>
        <p:blipFill rotWithShape="1">
          <a:blip r:embed="rId7">
            <a:alphaModFix/>
          </a:blip>
          <a:srcRect b="0" l="0" r="0" t="0"/>
          <a:stretch/>
        </p:blipFill>
        <p:spPr>
          <a:xfrm>
            <a:off x="2039057" y="-90355"/>
            <a:ext cx="3092786" cy="1701032"/>
          </a:xfrm>
          <a:prstGeom prst="rect">
            <a:avLst/>
          </a:prstGeom>
          <a:noFill/>
          <a:ln>
            <a:noFill/>
          </a:ln>
        </p:spPr>
      </p:pic>
      <p:sp>
        <p:nvSpPr>
          <p:cNvPr id="210" name="Google Shape;210;p27"/>
          <p:cNvSpPr txBox="1"/>
          <p:nvPr/>
        </p:nvSpPr>
        <p:spPr>
          <a:xfrm>
            <a:off x="565000" y="1351300"/>
            <a:ext cx="7665000" cy="3834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1.S</a:t>
            </a:r>
            <a:r>
              <a:rPr baseline="-25000" lang="en" sz="2700">
                <a:solidFill>
                  <a:schemeClr val="dk1"/>
                </a:solidFill>
                <a:latin typeface="Poppins SemiBold"/>
                <a:ea typeface="Poppins SemiBold"/>
                <a:cs typeface="Poppins SemiBold"/>
                <a:sym typeface="Poppins SemiBold"/>
              </a:rPr>
              <a:t>0</a:t>
            </a:r>
            <a:r>
              <a:rPr lang="en" sz="1600">
                <a:solidFill>
                  <a:schemeClr val="dk1"/>
                </a:solidFill>
                <a:latin typeface="Poppins SemiBold"/>
                <a:ea typeface="Poppins SemiBold"/>
                <a:cs typeface="Poppins SemiBold"/>
                <a:sym typeface="Poppins SemiBold"/>
              </a:rPr>
              <a:t> = START: starea inițială în se pornește aparatul</a:t>
            </a:r>
            <a:endParaRPr sz="16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2.S</a:t>
            </a:r>
            <a:r>
              <a:rPr baseline="-25000" lang="en" sz="2700">
                <a:solidFill>
                  <a:schemeClr val="dk1"/>
                </a:solidFill>
                <a:latin typeface="Poppins SemiBold"/>
                <a:ea typeface="Poppins SemiBold"/>
                <a:cs typeface="Poppins SemiBold"/>
                <a:sym typeface="Poppins SemiBold"/>
              </a:rPr>
              <a:t>1 </a:t>
            </a:r>
            <a:r>
              <a:rPr lang="en" sz="1600">
                <a:solidFill>
                  <a:schemeClr val="dk1"/>
                </a:solidFill>
                <a:latin typeface="Poppins SemiBold"/>
                <a:ea typeface="Poppins SemiBold"/>
                <a:cs typeface="Poppins SemiBold"/>
                <a:sym typeface="Poppins SemiBold"/>
              </a:rPr>
              <a:t>= starea în care aparatul are pahare</a:t>
            </a:r>
            <a:endParaRPr sz="16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3. S</a:t>
            </a:r>
            <a:r>
              <a:rPr baseline="-25000" lang="en" sz="2700">
                <a:solidFill>
                  <a:schemeClr val="dk1"/>
                </a:solidFill>
                <a:latin typeface="Poppins SemiBold"/>
                <a:ea typeface="Poppins SemiBold"/>
                <a:cs typeface="Poppins SemiBold"/>
                <a:sym typeface="Poppins SemiBold"/>
              </a:rPr>
              <a:t>2</a:t>
            </a:r>
            <a:r>
              <a:rPr lang="en" sz="1600">
                <a:solidFill>
                  <a:schemeClr val="dk1"/>
                </a:solidFill>
                <a:latin typeface="Poppins SemiBold"/>
                <a:ea typeface="Poppins SemiBold"/>
                <a:cs typeface="Poppins SemiBold"/>
                <a:sym typeface="Poppins SemiBold"/>
              </a:rPr>
              <a:t>: starea în care aparatul nu are pahare</a:t>
            </a:r>
            <a:endParaRPr sz="16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4. S</a:t>
            </a:r>
            <a:r>
              <a:rPr baseline="-25000" lang="en" sz="2700">
                <a:solidFill>
                  <a:schemeClr val="dk1"/>
                </a:solidFill>
                <a:latin typeface="Poppins SemiBold"/>
                <a:ea typeface="Poppins SemiBold"/>
                <a:cs typeface="Poppins SemiBold"/>
                <a:sym typeface="Poppins SemiBold"/>
              </a:rPr>
              <a:t>3</a:t>
            </a:r>
            <a:r>
              <a:rPr lang="en" sz="1600">
                <a:solidFill>
                  <a:schemeClr val="dk1"/>
                </a:solidFill>
                <a:latin typeface="Poppins SemiBold"/>
                <a:ea typeface="Poppins SemiBold"/>
                <a:cs typeface="Poppins SemiBold"/>
                <a:sym typeface="Poppins SemiBold"/>
              </a:rPr>
              <a:t>: starea în care aparatul ajunge dacă utilizatorul a ales băutura răcoritoare</a:t>
            </a:r>
            <a:endParaRPr sz="16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5. S</a:t>
            </a:r>
            <a:r>
              <a:rPr baseline="-25000" lang="en" sz="2700">
                <a:solidFill>
                  <a:schemeClr val="dk1"/>
                </a:solidFill>
                <a:latin typeface="Poppins SemiBold"/>
                <a:ea typeface="Poppins SemiBold"/>
                <a:cs typeface="Poppins SemiBold"/>
                <a:sym typeface="Poppins SemiBold"/>
              </a:rPr>
              <a:t>4</a:t>
            </a:r>
            <a:r>
              <a:rPr lang="en" sz="1600">
                <a:solidFill>
                  <a:schemeClr val="dk1"/>
                </a:solidFill>
                <a:latin typeface="Poppins SemiBold"/>
                <a:ea typeface="Poppins SemiBold"/>
                <a:cs typeface="Poppins SemiBold"/>
                <a:sym typeface="Poppins SemiBold"/>
              </a:rPr>
              <a:t>: starea în care aparatul așteaptă tipul băuturii răcoritoare (neacidulată/acidulată)</a:t>
            </a:r>
            <a:endParaRPr sz="16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600">
                <a:solidFill>
                  <a:schemeClr val="dk1"/>
                </a:solidFill>
                <a:latin typeface="Poppins SemiBold"/>
                <a:ea typeface="Poppins SemiBold"/>
                <a:cs typeface="Poppins SemiBold"/>
                <a:sym typeface="Poppins SemiBold"/>
              </a:rPr>
              <a:t>6. S</a:t>
            </a:r>
            <a:r>
              <a:rPr baseline="-25000" lang="en" sz="2700">
                <a:solidFill>
                  <a:schemeClr val="dk1"/>
                </a:solidFill>
                <a:latin typeface="Poppins SemiBold"/>
                <a:ea typeface="Poppins SemiBold"/>
                <a:cs typeface="Poppins SemiBold"/>
                <a:sym typeface="Poppins SemiBold"/>
              </a:rPr>
              <a:t>5</a:t>
            </a:r>
            <a:r>
              <a:rPr lang="en" sz="1600">
                <a:solidFill>
                  <a:schemeClr val="dk1"/>
                </a:solidFill>
                <a:latin typeface="Poppins SemiBold"/>
                <a:ea typeface="Poppins SemiBold"/>
                <a:cs typeface="Poppins SemiBold"/>
                <a:sym typeface="Poppins SemiBold"/>
              </a:rPr>
              <a:t>: starea în care aparatul ajunge dacă utilizatorul a ales apă</a:t>
            </a:r>
            <a:endParaRPr sz="1600">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chemeClr val="dk1"/>
              </a:solidFill>
              <a:latin typeface="Poppins SemiBold"/>
              <a:ea typeface="Poppins SemiBold"/>
              <a:cs typeface="Poppins SemiBold"/>
              <a:sym typeface="Poppins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8"/>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16" name="Google Shape;216;p28"/>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217" name="Google Shape;217;p28"/>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218" name="Google Shape;218;p28"/>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219" name="Google Shape;219;p28"/>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220" name="Google Shape;220;p28"/>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221" name="Google Shape;221;p28"/>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22" name="Google Shape;222;p28"/>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223" name="Google Shape;223;p28"/>
          <p:cNvSpPr txBox="1"/>
          <p:nvPr/>
        </p:nvSpPr>
        <p:spPr>
          <a:xfrm>
            <a:off x="565000" y="1372275"/>
            <a:ext cx="8579100" cy="4392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7. S</a:t>
            </a:r>
            <a:r>
              <a:rPr baseline="-25000" lang="en" sz="2600">
                <a:solidFill>
                  <a:schemeClr val="dk1"/>
                </a:solidFill>
                <a:latin typeface="Poppins SemiBold"/>
                <a:ea typeface="Poppins SemiBold"/>
                <a:cs typeface="Poppins SemiBold"/>
                <a:sym typeface="Poppins SemiBold"/>
              </a:rPr>
              <a:t>6</a:t>
            </a:r>
            <a:r>
              <a:rPr lang="en" sz="1500">
                <a:solidFill>
                  <a:schemeClr val="dk1"/>
                </a:solidFill>
                <a:latin typeface="Poppins SemiBold"/>
                <a:ea typeface="Poppins SemiBold"/>
                <a:cs typeface="Poppins SemiBold"/>
                <a:sym typeface="Poppins SemiBold"/>
              </a:rPr>
              <a:t>: starea în care aparatul a terminat de servit apa</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8. S</a:t>
            </a:r>
            <a:r>
              <a:rPr baseline="-25000" lang="en" sz="2600">
                <a:solidFill>
                  <a:schemeClr val="dk1"/>
                </a:solidFill>
                <a:latin typeface="Poppins SemiBold"/>
                <a:ea typeface="Poppins SemiBold"/>
                <a:cs typeface="Poppins SemiBold"/>
                <a:sym typeface="Poppins SemiBold"/>
              </a:rPr>
              <a:t>7</a:t>
            </a:r>
            <a:r>
              <a:rPr lang="en" sz="1500">
                <a:solidFill>
                  <a:schemeClr val="dk1"/>
                </a:solidFill>
                <a:latin typeface="Poppins SemiBold"/>
                <a:ea typeface="Poppins SemiBold"/>
                <a:cs typeface="Poppins SemiBold"/>
                <a:sym typeface="Poppins SemiBold"/>
              </a:rPr>
              <a:t>: starea în care aparatul ajunge dacă utilizatorul dorește băutur</a:t>
            </a:r>
            <a:r>
              <a:rPr lang="en">
                <a:solidFill>
                  <a:schemeClr val="dk1"/>
                </a:solidFill>
                <a:latin typeface="Poppins SemiBold"/>
                <a:ea typeface="Poppins SemiBold"/>
                <a:cs typeface="Poppins SemiBold"/>
                <a:sym typeface="Poppins SemiBold"/>
              </a:rPr>
              <a:t>ă</a:t>
            </a:r>
            <a:r>
              <a:rPr lang="en" sz="1500">
                <a:solidFill>
                  <a:schemeClr val="dk1"/>
                </a:solidFill>
                <a:latin typeface="Poppins SemiBold"/>
                <a:ea typeface="Poppins SemiBold"/>
                <a:cs typeface="Poppins SemiBold"/>
                <a:sym typeface="Poppins SemiBold"/>
              </a:rPr>
              <a:t> acidulată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9. S</a:t>
            </a:r>
            <a:r>
              <a:rPr baseline="-25000" lang="en" sz="2600">
                <a:solidFill>
                  <a:schemeClr val="dk1"/>
                </a:solidFill>
                <a:latin typeface="Poppins SemiBold"/>
                <a:ea typeface="Poppins SemiBold"/>
                <a:cs typeface="Poppins SemiBold"/>
                <a:sym typeface="Poppins SemiBold"/>
              </a:rPr>
              <a:t>8</a:t>
            </a:r>
            <a:r>
              <a:rPr lang="en" sz="1500">
                <a:solidFill>
                  <a:schemeClr val="dk1"/>
                </a:solidFill>
                <a:latin typeface="Poppins SemiBold"/>
                <a:ea typeface="Poppins SemiBold"/>
                <a:cs typeface="Poppins SemiBold"/>
                <a:sym typeface="Poppins SemiBold"/>
              </a:rPr>
              <a:t>: starea în care aparatul așteaptă tipul băuturii acidulate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10. S</a:t>
            </a:r>
            <a:r>
              <a:rPr baseline="-25000" lang="en" sz="2600">
                <a:solidFill>
                  <a:schemeClr val="dk1"/>
                </a:solidFill>
                <a:latin typeface="Poppins SemiBold"/>
                <a:ea typeface="Poppins SemiBold"/>
                <a:cs typeface="Poppins SemiBold"/>
                <a:sym typeface="Poppins SemiBold"/>
              </a:rPr>
              <a:t>9</a:t>
            </a:r>
            <a:r>
              <a:rPr lang="en" sz="1500">
                <a:solidFill>
                  <a:schemeClr val="dk1"/>
                </a:solidFill>
                <a:latin typeface="Poppins SemiBold"/>
                <a:ea typeface="Poppins SemiBold"/>
                <a:cs typeface="Poppins SemiBold"/>
                <a:sym typeface="Poppins SemiBold"/>
              </a:rPr>
              <a:t>: starea în care aparatul ajunge dacă utilizatorul dorește băutur</a:t>
            </a:r>
            <a:r>
              <a:rPr lang="en">
                <a:solidFill>
                  <a:schemeClr val="dk1"/>
                </a:solidFill>
                <a:latin typeface="Poppins SemiBold"/>
                <a:ea typeface="Poppins SemiBold"/>
                <a:cs typeface="Poppins SemiBold"/>
                <a:sym typeface="Poppins SemiBold"/>
              </a:rPr>
              <a:t>ă</a:t>
            </a:r>
            <a:r>
              <a:rPr lang="en" sz="1500">
                <a:solidFill>
                  <a:schemeClr val="dk1"/>
                </a:solidFill>
                <a:latin typeface="Poppins SemiBold"/>
                <a:ea typeface="Poppins SemiBold"/>
                <a:cs typeface="Poppins SemiBold"/>
                <a:sym typeface="Poppins SemiBold"/>
              </a:rPr>
              <a:t> neacidulată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11. S</a:t>
            </a:r>
            <a:r>
              <a:rPr baseline="-25000" lang="en" sz="2600">
                <a:solidFill>
                  <a:schemeClr val="dk1"/>
                </a:solidFill>
                <a:latin typeface="Poppins SemiBold"/>
                <a:ea typeface="Poppins SemiBold"/>
                <a:cs typeface="Poppins SemiBold"/>
                <a:sym typeface="Poppins SemiBold"/>
              </a:rPr>
              <a:t>10</a:t>
            </a:r>
            <a:r>
              <a:rPr lang="en" sz="1500">
                <a:solidFill>
                  <a:schemeClr val="dk1"/>
                </a:solidFill>
                <a:latin typeface="Poppins SemiBold"/>
                <a:ea typeface="Poppins SemiBold"/>
                <a:cs typeface="Poppins SemiBold"/>
                <a:sym typeface="Poppins SemiBold"/>
              </a:rPr>
              <a:t>: starea în care aparatul începe să prepare băutur</a:t>
            </a:r>
            <a:r>
              <a:rPr lang="en">
                <a:solidFill>
                  <a:schemeClr val="dk1"/>
                </a:solidFill>
                <a:latin typeface="Poppins SemiBold"/>
                <a:ea typeface="Poppins SemiBold"/>
                <a:cs typeface="Poppins SemiBold"/>
                <a:sym typeface="Poppins SemiBold"/>
              </a:rPr>
              <a:t>ă</a:t>
            </a:r>
            <a:r>
              <a:rPr lang="en" sz="1500">
                <a:solidFill>
                  <a:schemeClr val="dk1"/>
                </a:solidFill>
                <a:latin typeface="Poppins SemiBold"/>
                <a:ea typeface="Poppins SemiBold"/>
                <a:cs typeface="Poppins SemiBold"/>
                <a:sym typeface="Poppins SemiBold"/>
              </a:rPr>
              <a:t> neacidulată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12. S</a:t>
            </a:r>
            <a:r>
              <a:rPr baseline="-25000" lang="en" sz="2600">
                <a:solidFill>
                  <a:schemeClr val="dk1"/>
                </a:solidFill>
                <a:latin typeface="Poppins SemiBold"/>
                <a:ea typeface="Poppins SemiBold"/>
                <a:cs typeface="Poppins SemiBold"/>
                <a:sym typeface="Poppins SemiBold"/>
              </a:rPr>
              <a:t>11</a:t>
            </a:r>
            <a:r>
              <a:rPr lang="en" sz="1500">
                <a:solidFill>
                  <a:schemeClr val="dk1"/>
                </a:solidFill>
                <a:latin typeface="Poppins SemiBold"/>
                <a:ea typeface="Poppins SemiBold"/>
                <a:cs typeface="Poppins SemiBold"/>
                <a:sym typeface="Poppins SemiBold"/>
              </a:rPr>
              <a:t>: starea în care aparatul ajunge când se prepară băutur</a:t>
            </a:r>
            <a:r>
              <a:rPr lang="en">
                <a:solidFill>
                  <a:schemeClr val="dk1"/>
                </a:solidFill>
                <a:latin typeface="Poppins SemiBold"/>
                <a:ea typeface="Poppins SemiBold"/>
                <a:cs typeface="Poppins SemiBold"/>
                <a:sym typeface="Poppins SemiBold"/>
              </a:rPr>
              <a:t>a</a:t>
            </a:r>
            <a:r>
              <a:rPr lang="en" sz="1500">
                <a:solidFill>
                  <a:schemeClr val="dk1"/>
                </a:solidFill>
                <a:latin typeface="Poppins SemiBold"/>
                <a:ea typeface="Poppins SemiBold"/>
                <a:cs typeface="Poppins SemiBold"/>
                <a:sym typeface="Poppins SemiBold"/>
              </a:rPr>
              <a:t> acidulată cu fructe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13. S</a:t>
            </a:r>
            <a:r>
              <a:rPr baseline="-25000" lang="en" sz="2600">
                <a:solidFill>
                  <a:schemeClr val="dk1"/>
                </a:solidFill>
                <a:latin typeface="Poppins SemiBold"/>
                <a:ea typeface="Poppins SemiBold"/>
                <a:cs typeface="Poppins SemiBold"/>
                <a:sym typeface="Poppins SemiBold"/>
              </a:rPr>
              <a:t>12</a:t>
            </a:r>
            <a:r>
              <a:rPr lang="en" sz="1500">
                <a:solidFill>
                  <a:schemeClr val="dk1"/>
                </a:solidFill>
                <a:latin typeface="Poppins SemiBold"/>
                <a:ea typeface="Poppins SemiBold"/>
                <a:cs typeface="Poppins SemiBold"/>
                <a:sym typeface="Poppins SemiBold"/>
              </a:rPr>
              <a:t>: starea în care aparatul ajunge dacă utilizatorul dorește băutur</a:t>
            </a:r>
            <a:r>
              <a:rPr lang="en">
                <a:solidFill>
                  <a:schemeClr val="dk1"/>
                </a:solidFill>
                <a:latin typeface="Poppins SemiBold"/>
                <a:ea typeface="Poppins SemiBold"/>
                <a:cs typeface="Poppins SemiBold"/>
                <a:sym typeface="Poppins SemiBold"/>
              </a:rPr>
              <a:t>ă</a:t>
            </a:r>
            <a:r>
              <a:rPr lang="en" sz="1500">
                <a:solidFill>
                  <a:schemeClr val="dk1"/>
                </a:solidFill>
                <a:latin typeface="Poppins SemiBold"/>
                <a:ea typeface="Poppins SemiBold"/>
                <a:cs typeface="Poppins SemiBold"/>
                <a:sym typeface="Poppins SemiBold"/>
              </a:rPr>
              <a:t> acidulată de tip cola</a:t>
            </a:r>
            <a:endParaRPr sz="1500">
              <a:solidFill>
                <a:schemeClr val="dk1"/>
              </a:solidFill>
              <a:latin typeface="Poppins SemiBold"/>
              <a:ea typeface="Poppins SemiBold"/>
              <a:cs typeface="Poppins SemiBold"/>
              <a:sym typeface="Poppins SemiBold"/>
            </a:endParaRPr>
          </a:p>
          <a:p>
            <a:pPr indent="0" lvl="0" marL="0" rtl="0" algn="just">
              <a:lnSpc>
                <a:spcPct val="140000"/>
              </a:lnSpc>
              <a:spcBef>
                <a:spcPts val="0"/>
              </a:spcBef>
              <a:spcAft>
                <a:spcPts val="0"/>
              </a:spcAft>
              <a:buClr>
                <a:schemeClr val="dk1"/>
              </a:buClr>
              <a:buSzPts val="1100"/>
              <a:buFont typeface="Arial"/>
              <a:buNone/>
            </a:pPr>
            <a:r>
              <a:t/>
            </a:r>
            <a:endParaRPr sz="1200">
              <a:solidFill>
                <a:schemeClr val="dk1"/>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600">
              <a:solidFill>
                <a:schemeClr val="dk1"/>
              </a:solidFill>
              <a:latin typeface="Poppins SemiBold"/>
              <a:ea typeface="Poppins SemiBold"/>
              <a:cs typeface="Poppins SemiBold"/>
              <a:sym typeface="Poppins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9"/>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29" name="Google Shape;229;p29"/>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230" name="Google Shape;230;p29"/>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231" name="Google Shape;231;p29"/>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232" name="Google Shape;232;p29"/>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233" name="Google Shape;233;p29"/>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234" name="Google Shape;234;p29"/>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35" name="Google Shape;235;p29"/>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236" name="Google Shape;236;p29"/>
          <p:cNvSpPr txBox="1"/>
          <p:nvPr/>
        </p:nvSpPr>
        <p:spPr>
          <a:xfrm>
            <a:off x="565000" y="1304100"/>
            <a:ext cx="8134800" cy="421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14. S</a:t>
            </a:r>
            <a:r>
              <a:rPr baseline="-25000" lang="en" sz="2500">
                <a:solidFill>
                  <a:schemeClr val="dk1"/>
                </a:solidFill>
                <a:latin typeface="Poppins SemiBold"/>
                <a:ea typeface="Poppins SemiBold"/>
                <a:cs typeface="Poppins SemiBold"/>
                <a:sym typeface="Poppins SemiBold"/>
              </a:rPr>
              <a:t>13</a:t>
            </a:r>
            <a:r>
              <a:rPr lang="en" sz="1500">
                <a:solidFill>
                  <a:schemeClr val="dk1"/>
                </a:solidFill>
                <a:latin typeface="Poppins SemiBold"/>
                <a:ea typeface="Poppins SemiBold"/>
                <a:cs typeface="Poppins SemiBold"/>
                <a:sym typeface="Poppins SemiBold"/>
              </a:rPr>
              <a:t>: </a:t>
            </a:r>
            <a:r>
              <a:rPr lang="en" sz="1600">
                <a:solidFill>
                  <a:schemeClr val="dk1"/>
                </a:solidFill>
                <a:latin typeface="Poppins SemiBold"/>
                <a:ea typeface="Poppins SemiBold"/>
                <a:cs typeface="Poppins SemiBold"/>
                <a:sym typeface="Poppins SemiBold"/>
              </a:rPr>
              <a:t>starea în care aparatul ajunge când se pregătește băutur</a:t>
            </a:r>
            <a:r>
              <a:rPr lang="en" sz="1500">
                <a:solidFill>
                  <a:schemeClr val="dk1"/>
                </a:solidFill>
                <a:latin typeface="Poppins SemiBold"/>
                <a:ea typeface="Poppins SemiBold"/>
                <a:cs typeface="Poppins SemiBold"/>
                <a:sym typeface="Poppins SemiBold"/>
              </a:rPr>
              <a:t>a</a:t>
            </a:r>
            <a:r>
              <a:rPr lang="en" sz="1600">
                <a:solidFill>
                  <a:schemeClr val="dk1"/>
                </a:solidFill>
                <a:latin typeface="Poppins SemiBold"/>
                <a:ea typeface="Poppins SemiBold"/>
                <a:cs typeface="Poppins SemiBold"/>
                <a:sym typeface="Poppins SemiBold"/>
              </a:rPr>
              <a:t> acidulat</a:t>
            </a:r>
            <a:r>
              <a:rPr lang="en" sz="1500">
                <a:solidFill>
                  <a:schemeClr val="dk1"/>
                </a:solidFill>
                <a:latin typeface="Poppins SemiBold"/>
                <a:ea typeface="Poppins SemiBold"/>
                <a:cs typeface="Poppins SemiBold"/>
                <a:sym typeface="Poppins SemiBold"/>
              </a:rPr>
              <a:t>ă</a:t>
            </a:r>
            <a:r>
              <a:rPr lang="en" sz="1600">
                <a:solidFill>
                  <a:schemeClr val="dk1"/>
                </a:solidFill>
                <a:latin typeface="Poppins SemiBold"/>
                <a:ea typeface="Poppins SemiBold"/>
                <a:cs typeface="Poppins SemiBold"/>
                <a:sym typeface="Poppins SemiBold"/>
              </a:rPr>
              <a:t> de tip cola</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15. S</a:t>
            </a:r>
            <a:r>
              <a:rPr baseline="-25000" lang="en" sz="2500">
                <a:solidFill>
                  <a:schemeClr val="dk1"/>
                </a:solidFill>
                <a:latin typeface="Poppins SemiBold"/>
                <a:ea typeface="Poppins SemiBold"/>
                <a:cs typeface="Poppins SemiBold"/>
                <a:sym typeface="Poppins SemiBold"/>
              </a:rPr>
              <a:t>14</a:t>
            </a:r>
            <a:r>
              <a:rPr lang="en" sz="1500">
                <a:solidFill>
                  <a:schemeClr val="dk1"/>
                </a:solidFill>
                <a:latin typeface="Poppins SemiBold"/>
                <a:ea typeface="Poppins SemiBold"/>
                <a:cs typeface="Poppins SemiBold"/>
                <a:sym typeface="Poppins SemiBold"/>
              </a:rPr>
              <a:t>: starea în care aparatul ajunge </a:t>
            </a:r>
            <a:r>
              <a:rPr lang="en" sz="1600">
                <a:solidFill>
                  <a:schemeClr val="dk1"/>
                </a:solidFill>
                <a:latin typeface="Poppins SemiBold"/>
                <a:ea typeface="Poppins SemiBold"/>
                <a:cs typeface="Poppins SemiBold"/>
                <a:sym typeface="Poppins SemiBold"/>
              </a:rPr>
              <a:t>dacă utilizatorul dorește băutur</a:t>
            </a:r>
            <a:r>
              <a:rPr lang="en" sz="1500">
                <a:solidFill>
                  <a:schemeClr val="dk1"/>
                </a:solidFill>
                <a:latin typeface="Poppins SemiBold"/>
                <a:ea typeface="Poppins SemiBold"/>
                <a:cs typeface="Poppins SemiBold"/>
                <a:sym typeface="Poppins SemiBold"/>
              </a:rPr>
              <a:t>ă</a:t>
            </a:r>
            <a:r>
              <a:rPr lang="en" sz="1600">
                <a:solidFill>
                  <a:schemeClr val="dk1"/>
                </a:solidFill>
                <a:latin typeface="Poppins SemiBold"/>
                <a:ea typeface="Poppins SemiBold"/>
                <a:cs typeface="Poppins SemiBold"/>
                <a:sym typeface="Poppins SemiBold"/>
              </a:rPr>
              <a:t> neacidulată de portocale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16. S</a:t>
            </a:r>
            <a:r>
              <a:rPr baseline="-25000" lang="en" sz="2500">
                <a:solidFill>
                  <a:schemeClr val="dk1"/>
                </a:solidFill>
                <a:latin typeface="Poppins SemiBold"/>
                <a:ea typeface="Poppins SemiBold"/>
                <a:cs typeface="Poppins SemiBold"/>
                <a:sym typeface="Poppins SemiBold"/>
              </a:rPr>
              <a:t>15</a:t>
            </a:r>
            <a:r>
              <a:rPr lang="en" sz="1500">
                <a:solidFill>
                  <a:schemeClr val="dk1"/>
                </a:solidFill>
                <a:latin typeface="Poppins SemiBold"/>
                <a:ea typeface="Poppins SemiBold"/>
                <a:cs typeface="Poppins SemiBold"/>
                <a:sym typeface="Poppins SemiBold"/>
              </a:rPr>
              <a:t>: starea în care s-a terminat de făcut</a:t>
            </a:r>
            <a:r>
              <a:rPr lang="en" sz="1600">
                <a:solidFill>
                  <a:schemeClr val="dk1"/>
                </a:solidFill>
                <a:latin typeface="Poppins SemiBold"/>
                <a:ea typeface="Poppins SemiBold"/>
                <a:cs typeface="Poppins SemiBold"/>
                <a:sym typeface="Poppins SemiBold"/>
              </a:rPr>
              <a:t> băutur</a:t>
            </a:r>
            <a:r>
              <a:rPr lang="en" sz="1500">
                <a:solidFill>
                  <a:schemeClr val="dk1"/>
                </a:solidFill>
                <a:latin typeface="Poppins SemiBold"/>
                <a:ea typeface="Poppins SemiBold"/>
                <a:cs typeface="Poppins SemiBold"/>
                <a:sym typeface="Poppins SemiBold"/>
              </a:rPr>
              <a:t>a</a:t>
            </a:r>
            <a:r>
              <a:rPr lang="en" sz="1600">
                <a:solidFill>
                  <a:schemeClr val="dk1"/>
                </a:solidFill>
                <a:latin typeface="Poppins SemiBold"/>
                <a:ea typeface="Poppins SemiBold"/>
                <a:cs typeface="Poppins SemiBold"/>
                <a:sym typeface="Poppins SemiBold"/>
              </a:rPr>
              <a:t> neacidulată de portocale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17. S</a:t>
            </a:r>
            <a:r>
              <a:rPr baseline="-25000" lang="en" sz="2500">
                <a:solidFill>
                  <a:schemeClr val="dk1"/>
                </a:solidFill>
                <a:latin typeface="Poppins SemiBold"/>
                <a:ea typeface="Poppins SemiBold"/>
                <a:cs typeface="Poppins SemiBold"/>
                <a:sym typeface="Poppins SemiBold"/>
              </a:rPr>
              <a:t>16</a:t>
            </a:r>
            <a:r>
              <a:rPr lang="en" sz="1500">
                <a:solidFill>
                  <a:schemeClr val="dk1"/>
                </a:solidFill>
                <a:latin typeface="Poppins SemiBold"/>
                <a:ea typeface="Poppins SemiBold"/>
                <a:cs typeface="Poppins SemiBold"/>
                <a:sym typeface="Poppins SemiBold"/>
              </a:rPr>
              <a:t>: starea în care aparatul ajunge </a:t>
            </a:r>
            <a:r>
              <a:rPr lang="en" sz="1600">
                <a:solidFill>
                  <a:schemeClr val="dk1"/>
                </a:solidFill>
                <a:latin typeface="Poppins SemiBold"/>
                <a:ea typeface="Poppins SemiBold"/>
                <a:cs typeface="Poppins SemiBold"/>
                <a:sym typeface="Poppins SemiBold"/>
              </a:rPr>
              <a:t>dacă utilizatorul dorește băutur</a:t>
            </a:r>
            <a:r>
              <a:rPr lang="en" sz="1500">
                <a:solidFill>
                  <a:schemeClr val="dk1"/>
                </a:solidFill>
                <a:latin typeface="Poppins SemiBold"/>
                <a:ea typeface="Poppins SemiBold"/>
                <a:cs typeface="Poppins SemiBold"/>
                <a:sym typeface="Poppins SemiBold"/>
              </a:rPr>
              <a:t>ă</a:t>
            </a:r>
            <a:r>
              <a:rPr lang="en" sz="1600">
                <a:solidFill>
                  <a:schemeClr val="dk1"/>
                </a:solidFill>
                <a:latin typeface="Poppins SemiBold"/>
                <a:ea typeface="Poppins SemiBold"/>
                <a:cs typeface="Poppins SemiBold"/>
                <a:sym typeface="Poppins SemiBold"/>
              </a:rPr>
              <a:t> neacidulată de mere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18. S</a:t>
            </a:r>
            <a:r>
              <a:rPr baseline="-25000" lang="en" sz="2500">
                <a:solidFill>
                  <a:schemeClr val="dk1"/>
                </a:solidFill>
                <a:latin typeface="Poppins SemiBold"/>
                <a:ea typeface="Poppins SemiBold"/>
                <a:cs typeface="Poppins SemiBold"/>
                <a:sym typeface="Poppins SemiBold"/>
              </a:rPr>
              <a:t>17</a:t>
            </a:r>
            <a:r>
              <a:rPr lang="en" sz="1500">
                <a:solidFill>
                  <a:schemeClr val="dk1"/>
                </a:solidFill>
                <a:latin typeface="Poppins SemiBold"/>
                <a:ea typeface="Poppins SemiBold"/>
                <a:cs typeface="Poppins SemiBold"/>
                <a:sym typeface="Poppins SemiBold"/>
              </a:rPr>
              <a:t>: starea în care s-a terminat de făcut</a:t>
            </a:r>
            <a:r>
              <a:rPr lang="en" sz="1600">
                <a:solidFill>
                  <a:schemeClr val="dk1"/>
                </a:solidFill>
                <a:latin typeface="Poppins SemiBold"/>
                <a:ea typeface="Poppins SemiBold"/>
                <a:cs typeface="Poppins SemiBold"/>
                <a:sym typeface="Poppins SemiBold"/>
              </a:rPr>
              <a:t> băutur</a:t>
            </a:r>
            <a:r>
              <a:rPr lang="en" sz="1500">
                <a:solidFill>
                  <a:schemeClr val="dk1"/>
                </a:solidFill>
                <a:latin typeface="Poppins SemiBold"/>
                <a:ea typeface="Poppins SemiBold"/>
                <a:cs typeface="Poppins SemiBold"/>
                <a:sym typeface="Poppins SemiBold"/>
              </a:rPr>
              <a:t>a</a:t>
            </a:r>
            <a:r>
              <a:rPr lang="en" sz="1600">
                <a:solidFill>
                  <a:schemeClr val="dk1"/>
                </a:solidFill>
                <a:latin typeface="Poppins SemiBold"/>
                <a:ea typeface="Poppins SemiBold"/>
                <a:cs typeface="Poppins SemiBold"/>
                <a:sym typeface="Poppins SemiBold"/>
              </a:rPr>
              <a:t> neacidulată de mere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19. S</a:t>
            </a:r>
            <a:r>
              <a:rPr baseline="-25000" lang="en" sz="2500">
                <a:solidFill>
                  <a:schemeClr val="dk1"/>
                </a:solidFill>
                <a:latin typeface="Poppins SemiBold"/>
                <a:ea typeface="Poppins SemiBold"/>
                <a:cs typeface="Poppins SemiBold"/>
                <a:sym typeface="Poppins SemiBold"/>
              </a:rPr>
              <a:t>18</a:t>
            </a:r>
            <a:r>
              <a:rPr lang="en" sz="1500">
                <a:solidFill>
                  <a:schemeClr val="dk1"/>
                </a:solidFill>
                <a:latin typeface="Poppins SemiBold"/>
                <a:ea typeface="Poppins SemiBold"/>
                <a:cs typeface="Poppins SemiBold"/>
                <a:sym typeface="Poppins SemiBold"/>
              </a:rPr>
              <a:t>: starea în care aparatul ajunge dacă utilizatorul nu vrea ghea</a:t>
            </a:r>
            <a:r>
              <a:rPr lang="en" sz="1600">
                <a:solidFill>
                  <a:schemeClr val="dk1"/>
                </a:solidFill>
                <a:latin typeface="Poppins SemiBold"/>
                <a:ea typeface="Poppins SemiBold"/>
                <a:cs typeface="Poppins SemiBold"/>
                <a:sym typeface="Poppins SemiBold"/>
              </a:rPr>
              <a:t>ță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None/>
            </a:pPr>
            <a:r>
              <a:t/>
            </a:r>
            <a:endParaRPr sz="1600">
              <a:solidFill>
                <a:schemeClr val="dk1"/>
              </a:solidFill>
              <a:latin typeface="Poppins SemiBold"/>
              <a:ea typeface="Poppins SemiBold"/>
              <a:cs typeface="Poppins SemiBold"/>
              <a:sym typeface="Poppi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30"/>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42" name="Google Shape;242;p30"/>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243" name="Google Shape;243;p30"/>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244" name="Google Shape;244;p30"/>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245" name="Google Shape;245;p30"/>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246" name="Google Shape;246;p30"/>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247" name="Google Shape;247;p30"/>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48" name="Google Shape;248;p30"/>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249" name="Google Shape;249;p30"/>
          <p:cNvSpPr txBox="1"/>
          <p:nvPr/>
        </p:nvSpPr>
        <p:spPr>
          <a:xfrm>
            <a:off x="565000" y="1328625"/>
            <a:ext cx="8134800" cy="5011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20. S</a:t>
            </a:r>
            <a:r>
              <a:rPr baseline="-25000" lang="en" sz="2500">
                <a:solidFill>
                  <a:schemeClr val="dk1"/>
                </a:solidFill>
                <a:latin typeface="Poppins SemiBold"/>
                <a:ea typeface="Poppins SemiBold"/>
                <a:cs typeface="Poppins SemiBold"/>
                <a:sym typeface="Poppins SemiBold"/>
              </a:rPr>
              <a:t>19</a:t>
            </a:r>
            <a:r>
              <a:rPr lang="en" sz="1500">
                <a:solidFill>
                  <a:schemeClr val="dk1"/>
                </a:solidFill>
                <a:latin typeface="Poppins SemiBold"/>
                <a:ea typeface="Poppins SemiBold"/>
                <a:cs typeface="Poppins SemiBold"/>
                <a:sym typeface="Poppins SemiBold"/>
              </a:rPr>
              <a:t>: starea în care se ajunge dacă utilizatorul vrea ghea</a:t>
            </a:r>
            <a:r>
              <a:rPr lang="en" sz="1600">
                <a:solidFill>
                  <a:schemeClr val="dk1"/>
                </a:solidFill>
                <a:latin typeface="Poppins SemiBold"/>
                <a:ea typeface="Poppins SemiBold"/>
                <a:cs typeface="Poppins SemiBold"/>
                <a:sym typeface="Poppins SemiBold"/>
              </a:rPr>
              <a:t>ță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21. S</a:t>
            </a:r>
            <a:r>
              <a:rPr baseline="-25000" lang="en" sz="2500">
                <a:solidFill>
                  <a:schemeClr val="dk1"/>
                </a:solidFill>
                <a:latin typeface="Poppins SemiBold"/>
                <a:ea typeface="Poppins SemiBold"/>
                <a:cs typeface="Poppins SemiBold"/>
                <a:sym typeface="Poppins SemiBold"/>
              </a:rPr>
              <a:t>20</a:t>
            </a:r>
            <a:r>
              <a:rPr lang="en" sz="1500">
                <a:solidFill>
                  <a:schemeClr val="dk1"/>
                </a:solidFill>
                <a:latin typeface="Poppins SemiBold"/>
                <a:ea typeface="Poppins SemiBold"/>
                <a:cs typeface="Poppins SemiBold"/>
                <a:sym typeface="Poppins SemiBold"/>
              </a:rPr>
              <a:t>: starea în care se ajunge dacă utilizatorul vrea light ice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22. S</a:t>
            </a:r>
            <a:r>
              <a:rPr baseline="-25000" lang="en" sz="2500">
                <a:solidFill>
                  <a:schemeClr val="dk1"/>
                </a:solidFill>
                <a:latin typeface="Poppins SemiBold"/>
                <a:ea typeface="Poppins SemiBold"/>
                <a:cs typeface="Poppins SemiBold"/>
                <a:sym typeface="Poppins SemiBold"/>
              </a:rPr>
              <a:t>21</a:t>
            </a:r>
            <a:r>
              <a:rPr lang="en" sz="1500">
                <a:solidFill>
                  <a:schemeClr val="dk1"/>
                </a:solidFill>
                <a:latin typeface="Poppins SemiBold"/>
                <a:ea typeface="Poppins SemiBold"/>
                <a:cs typeface="Poppins SemiBold"/>
                <a:sym typeface="Poppins SemiBold"/>
              </a:rPr>
              <a:t>: starea în care se ajunge dacă utilizatorul vrea full ice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23. S</a:t>
            </a:r>
            <a:r>
              <a:rPr baseline="-25000" lang="en" sz="2500">
                <a:solidFill>
                  <a:schemeClr val="dk1"/>
                </a:solidFill>
                <a:latin typeface="Poppins SemiBold"/>
                <a:ea typeface="Poppins SemiBold"/>
                <a:cs typeface="Poppins SemiBold"/>
                <a:sym typeface="Poppins SemiBold"/>
              </a:rPr>
              <a:t>22</a:t>
            </a:r>
            <a:r>
              <a:rPr lang="en" sz="1500">
                <a:solidFill>
                  <a:schemeClr val="dk1"/>
                </a:solidFill>
                <a:latin typeface="Poppins SemiBold"/>
                <a:ea typeface="Poppins SemiBold"/>
                <a:cs typeface="Poppins SemiBold"/>
                <a:sym typeface="Poppins SemiBold"/>
              </a:rPr>
              <a:t>: starea în care se ajunge după adăugarea light ice-ului</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24. S</a:t>
            </a:r>
            <a:r>
              <a:rPr baseline="-25000" lang="en" sz="2500">
                <a:solidFill>
                  <a:schemeClr val="dk1"/>
                </a:solidFill>
                <a:latin typeface="Poppins SemiBold"/>
                <a:ea typeface="Poppins SemiBold"/>
                <a:cs typeface="Poppins SemiBold"/>
                <a:sym typeface="Poppins SemiBold"/>
              </a:rPr>
              <a:t>23</a:t>
            </a:r>
            <a:r>
              <a:rPr lang="en" sz="1500">
                <a:solidFill>
                  <a:schemeClr val="dk1"/>
                </a:solidFill>
                <a:latin typeface="Poppins SemiBold"/>
                <a:ea typeface="Poppins SemiBold"/>
                <a:cs typeface="Poppins SemiBold"/>
                <a:sym typeface="Poppins SemiBold"/>
              </a:rPr>
              <a:t>: starea în care se ajunge după adăugarea full ice-ului</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25. S</a:t>
            </a:r>
            <a:r>
              <a:rPr baseline="-25000" lang="en" sz="2500">
                <a:solidFill>
                  <a:schemeClr val="dk1"/>
                </a:solidFill>
                <a:latin typeface="Poppins SemiBold"/>
                <a:ea typeface="Poppins SemiBold"/>
                <a:cs typeface="Poppins SemiBold"/>
                <a:sym typeface="Poppins SemiBold"/>
              </a:rPr>
              <a:t>24</a:t>
            </a:r>
            <a:r>
              <a:rPr lang="en" sz="1500">
                <a:solidFill>
                  <a:schemeClr val="dk1"/>
                </a:solidFill>
                <a:latin typeface="Poppins SemiBold"/>
                <a:ea typeface="Poppins SemiBold"/>
                <a:cs typeface="Poppins SemiBold"/>
                <a:sym typeface="Poppins SemiBold"/>
              </a:rPr>
              <a:t>: starea în care se așteaptă dacă se dorește gheață sau nu</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26. S</a:t>
            </a:r>
            <a:r>
              <a:rPr baseline="-25000" lang="en" sz="2500">
                <a:solidFill>
                  <a:schemeClr val="dk1"/>
                </a:solidFill>
                <a:latin typeface="Poppins SemiBold"/>
                <a:ea typeface="Poppins SemiBold"/>
                <a:cs typeface="Poppins SemiBold"/>
                <a:sym typeface="Poppins SemiBold"/>
              </a:rPr>
              <a:t>25</a:t>
            </a:r>
            <a:r>
              <a:rPr lang="en" sz="1500">
                <a:solidFill>
                  <a:schemeClr val="dk1"/>
                </a:solidFill>
                <a:latin typeface="Poppins SemiBold"/>
                <a:ea typeface="Poppins SemiBold"/>
                <a:cs typeface="Poppins SemiBold"/>
                <a:sym typeface="Poppins SemiBold"/>
              </a:rPr>
              <a:t>: starea de livrare a băuturii</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27. STOP = S</a:t>
            </a:r>
            <a:r>
              <a:rPr baseline="-25000" lang="en" sz="2500">
                <a:solidFill>
                  <a:schemeClr val="dk1"/>
                </a:solidFill>
                <a:latin typeface="Poppins SemiBold"/>
                <a:ea typeface="Poppins SemiBold"/>
                <a:cs typeface="Poppins SemiBold"/>
                <a:sym typeface="Poppins SemiBold"/>
              </a:rPr>
              <a:t>26</a:t>
            </a:r>
            <a:r>
              <a:rPr lang="en" sz="1500">
                <a:solidFill>
                  <a:schemeClr val="dk1"/>
                </a:solidFill>
                <a:latin typeface="Poppins SemiBold"/>
                <a:ea typeface="Poppins SemiBold"/>
                <a:cs typeface="Poppins SemiBold"/>
                <a:sym typeface="Poppins SemiBold"/>
              </a:rPr>
              <a:t>: starea în care se termină prepararea definitivă a băuturii</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latin typeface="Poppins SemiBold"/>
              <a:ea typeface="Poppins SemiBold"/>
              <a:cs typeface="Poppins SemiBold"/>
              <a:sym typeface="Poppins SemiBold"/>
            </a:endParaRPr>
          </a:p>
          <a:p>
            <a:pPr indent="0" lvl="0" marL="0" rtl="0" algn="just">
              <a:lnSpc>
                <a:spcPct val="140000"/>
              </a:lnSpc>
              <a:spcBef>
                <a:spcPts val="0"/>
              </a:spcBef>
              <a:spcAft>
                <a:spcPts val="0"/>
              </a:spcAft>
              <a:buClr>
                <a:schemeClr val="dk1"/>
              </a:buClr>
              <a:buSzPts val="1100"/>
              <a:buFont typeface="Arial"/>
              <a:buNone/>
            </a:pPr>
            <a:r>
              <a:t/>
            </a:r>
            <a:endParaRPr sz="1200">
              <a:solidFill>
                <a:schemeClr val="dk1"/>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600">
              <a:solidFill>
                <a:schemeClr val="dk1"/>
              </a:solidFill>
              <a:latin typeface="Poppins SemiBold"/>
              <a:ea typeface="Poppins SemiBold"/>
              <a:cs typeface="Poppins SemiBold"/>
              <a:sym typeface="Poppi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31"/>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55" name="Google Shape;255;p31"/>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256" name="Google Shape;256;p31"/>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257" name="Google Shape;257;p31"/>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258" name="Google Shape;258;p31"/>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259" name="Google Shape;259;p31"/>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260" name="Google Shape;260;p31"/>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61" name="Google Shape;261;p31"/>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262" name="Google Shape;262;p31"/>
          <p:cNvSpPr txBox="1"/>
          <p:nvPr/>
        </p:nvSpPr>
        <p:spPr>
          <a:xfrm>
            <a:off x="529800" y="1403225"/>
            <a:ext cx="8084400" cy="3867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1. Pahar: decizia în care aparatul verifică dacă are pahare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2. Băutură răcoritoare/Apă: decizia în care utilizatorul alege dacă vrea apă sau băutura răcoritoare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3. Neacidulată/Acidulată: decizia în care utilizatorul alege dacă vrea o băutură carbogazoasă sau necarbogazoasă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4. Fructată/cola: decizia în care utilizatorul alege dacă dorește o băutura carbogazoasă cu fructe sau tip cola</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5. Portocale/Măr: decizia în care utilizatorul alege suc natural de portocale sau de măr</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6. Gheață: decizia în care utilizatorul alege dacă vrea gheață sau nu în băutură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sz="1500">
                <a:solidFill>
                  <a:schemeClr val="dk1"/>
                </a:solidFill>
                <a:latin typeface="Poppins SemiBold"/>
                <a:ea typeface="Poppins SemiBold"/>
                <a:cs typeface="Poppins SemiBold"/>
                <a:sym typeface="Poppins SemiBold"/>
              </a:rPr>
              <a:t>7. Light/Full ice: decizia în care utilizatorul alege dacă vrea light ice sau full ice în băutură</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8. ?: decizia de a continua sau nu prepararea </a:t>
            </a:r>
            <a:endParaRPr sz="15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None/>
            </a:pPr>
            <a:r>
              <a:t/>
            </a:r>
            <a:endParaRPr sz="1500">
              <a:solidFill>
                <a:schemeClr val="dk1"/>
              </a:solidFill>
              <a:latin typeface="Poppins SemiBold"/>
              <a:ea typeface="Poppins SemiBold"/>
              <a:cs typeface="Poppins SemiBold"/>
              <a:sym typeface="Poppi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2"/>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268" name="Google Shape;268;p32"/>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269" name="Google Shape;269;p32"/>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270" name="Google Shape;270;p32"/>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271" name="Google Shape;271;p32"/>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272" name="Google Shape;272;p32"/>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273" name="Google Shape;273;p32"/>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DESCRIEREA</a:t>
            </a:r>
            <a:endParaRPr sz="700"/>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274" name="Google Shape;274;p32"/>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275" name="Google Shape;275;p32"/>
          <p:cNvSpPr txBox="1"/>
          <p:nvPr/>
        </p:nvSpPr>
        <p:spPr>
          <a:xfrm>
            <a:off x="656400" y="1272450"/>
            <a:ext cx="3915600" cy="446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1</a:t>
            </a:r>
            <a:r>
              <a:rPr lang="en">
                <a:solidFill>
                  <a:schemeClr val="dk1"/>
                </a:solidFill>
                <a:latin typeface="Poppins SemiBold"/>
                <a:ea typeface="Poppins SemiBold"/>
                <a:cs typeface="Poppins SemiBold"/>
                <a:sym typeface="Poppins SemiBold"/>
              </a:rPr>
              <a:t>: afișează mesajul „Adăugați vă rog pahare"</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2</a:t>
            </a:r>
            <a:r>
              <a:rPr lang="en">
                <a:solidFill>
                  <a:schemeClr val="dk1"/>
                </a:solidFill>
                <a:latin typeface="Poppins SemiBold"/>
                <a:ea typeface="Poppins SemiBold"/>
                <a:cs typeface="Poppins SemiBold"/>
                <a:sym typeface="Poppins SemiBold"/>
              </a:rPr>
              <a:t>: afișează mesajul „Preparăm bautura"</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3</a:t>
            </a:r>
            <a:r>
              <a:rPr lang="en">
                <a:solidFill>
                  <a:schemeClr val="dk1"/>
                </a:solidFill>
                <a:latin typeface="Poppins SemiBold"/>
                <a:ea typeface="Poppins SemiBold"/>
                <a:cs typeface="Poppins SemiBold"/>
                <a:sym typeface="Poppins SemiBold"/>
              </a:rPr>
              <a:t>: afișează mesajul „Apă 100% naturala"</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4</a:t>
            </a:r>
            <a:r>
              <a:rPr lang="en">
                <a:solidFill>
                  <a:schemeClr val="dk1"/>
                </a:solidFill>
                <a:latin typeface="Poppins SemiBold"/>
                <a:ea typeface="Poppins SemiBold"/>
                <a:cs typeface="Poppins SemiBold"/>
                <a:sym typeface="Poppins SemiBold"/>
              </a:rPr>
              <a:t>: afișează mesajul </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„Băutura carbogazoasă în curs de preparare”</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5</a:t>
            </a:r>
            <a:r>
              <a:rPr lang="en">
                <a:solidFill>
                  <a:schemeClr val="dk1"/>
                </a:solidFill>
                <a:latin typeface="Poppins SemiBold"/>
                <a:ea typeface="Poppins SemiBold"/>
                <a:cs typeface="Poppins SemiBold"/>
                <a:sym typeface="Poppins SemiBold"/>
              </a:rPr>
              <a:t>: afișează mesajul „Acum pregatim fructele"</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a:t>
            </a:r>
            <a:r>
              <a:rPr baseline="-25000" lang="en" sz="2400">
                <a:solidFill>
                  <a:schemeClr val="dk1"/>
                </a:solidFill>
                <a:latin typeface="Poppins SemiBold"/>
                <a:ea typeface="Poppins SemiBold"/>
                <a:cs typeface="Poppins SemiBold"/>
                <a:sym typeface="Poppins SemiBold"/>
              </a:rPr>
              <a:t>6</a:t>
            </a:r>
            <a:r>
              <a:rPr lang="en">
                <a:solidFill>
                  <a:schemeClr val="dk1"/>
                </a:solidFill>
                <a:latin typeface="Poppins SemiBold"/>
                <a:ea typeface="Poppins SemiBold"/>
                <a:cs typeface="Poppins SemiBold"/>
                <a:sym typeface="Poppins SemiBold"/>
              </a:rPr>
              <a:t>: afișează mesajul „Doar cola zero zahăr că este mai bine așa :)"</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t/>
            </a:r>
            <a:endParaRPr>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600">
              <a:solidFill>
                <a:schemeClr val="dk1"/>
              </a:solidFill>
              <a:latin typeface="Poppins SemiBold"/>
              <a:ea typeface="Poppins SemiBold"/>
              <a:cs typeface="Poppins SemiBold"/>
              <a:sym typeface="Poppins SemiBold"/>
            </a:endParaRPr>
          </a:p>
        </p:txBody>
      </p:sp>
      <p:sp>
        <p:nvSpPr>
          <p:cNvPr id="276" name="Google Shape;276;p32"/>
          <p:cNvSpPr txBox="1"/>
          <p:nvPr/>
        </p:nvSpPr>
        <p:spPr>
          <a:xfrm>
            <a:off x="4882325" y="1433325"/>
            <a:ext cx="3626700" cy="3407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I</a:t>
            </a:r>
            <a:r>
              <a:rPr baseline="-25000" lang="en" sz="2500">
                <a:solidFill>
                  <a:schemeClr val="dk1"/>
                </a:solidFill>
                <a:latin typeface="Poppins SemiBold"/>
                <a:ea typeface="Poppins SemiBold"/>
                <a:cs typeface="Poppins SemiBold"/>
                <a:sym typeface="Poppins SemiBold"/>
              </a:rPr>
              <a:t>7</a:t>
            </a:r>
            <a:r>
              <a:rPr lang="en" sz="1500">
                <a:solidFill>
                  <a:schemeClr val="dk1"/>
                </a:solidFill>
                <a:latin typeface="Poppins SemiBold"/>
                <a:ea typeface="Poppins SemiBold"/>
                <a:cs typeface="Poppins SemiBold"/>
                <a:sym typeface="Poppins SemiBold"/>
              </a:rPr>
              <a:t>: prepară suc de portocale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I</a:t>
            </a:r>
            <a:r>
              <a:rPr baseline="-25000" lang="en" sz="2500">
                <a:solidFill>
                  <a:schemeClr val="dk1"/>
                </a:solidFill>
                <a:latin typeface="Poppins SemiBold"/>
                <a:ea typeface="Poppins SemiBold"/>
                <a:cs typeface="Poppins SemiBold"/>
                <a:sym typeface="Poppins SemiBold"/>
              </a:rPr>
              <a:t>8</a:t>
            </a:r>
            <a:r>
              <a:rPr lang="en" sz="1500">
                <a:solidFill>
                  <a:schemeClr val="dk1"/>
                </a:solidFill>
                <a:latin typeface="Poppins SemiBold"/>
                <a:ea typeface="Poppins SemiBold"/>
                <a:cs typeface="Poppins SemiBold"/>
                <a:sym typeface="Poppins SemiBold"/>
              </a:rPr>
              <a:t>: prepară suc de mere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I</a:t>
            </a:r>
            <a:r>
              <a:rPr baseline="-25000" lang="en" sz="2500">
                <a:solidFill>
                  <a:schemeClr val="dk1"/>
                </a:solidFill>
                <a:latin typeface="Poppins SemiBold"/>
                <a:ea typeface="Poppins SemiBold"/>
                <a:cs typeface="Poppins SemiBold"/>
                <a:sym typeface="Poppins SemiBold"/>
              </a:rPr>
              <a:t>9</a:t>
            </a:r>
            <a:r>
              <a:rPr lang="en" sz="1500">
                <a:solidFill>
                  <a:schemeClr val="dk1"/>
                </a:solidFill>
                <a:latin typeface="Poppins SemiBold"/>
                <a:ea typeface="Poppins SemiBold"/>
                <a:cs typeface="Poppins SemiBold"/>
                <a:sym typeface="Poppins SemiBold"/>
              </a:rPr>
              <a:t>: adaugă light ice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I</a:t>
            </a:r>
            <a:r>
              <a:rPr baseline="-25000" lang="en" sz="2500">
                <a:solidFill>
                  <a:schemeClr val="dk1"/>
                </a:solidFill>
                <a:latin typeface="Poppins SemiBold"/>
                <a:ea typeface="Poppins SemiBold"/>
                <a:cs typeface="Poppins SemiBold"/>
                <a:sym typeface="Poppins SemiBold"/>
              </a:rPr>
              <a:t>10</a:t>
            </a:r>
            <a:r>
              <a:rPr lang="en" sz="1500">
                <a:solidFill>
                  <a:schemeClr val="dk1"/>
                </a:solidFill>
                <a:latin typeface="Poppins SemiBold"/>
                <a:ea typeface="Poppins SemiBold"/>
                <a:cs typeface="Poppins SemiBold"/>
                <a:sym typeface="Poppins SemiBold"/>
              </a:rPr>
              <a:t>: adaugă full ice</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latin typeface="Poppins SemiBold"/>
                <a:ea typeface="Poppins SemiBold"/>
                <a:cs typeface="Poppins SemiBold"/>
                <a:sym typeface="Poppins SemiBold"/>
              </a:rPr>
              <a:t>I</a:t>
            </a:r>
            <a:r>
              <a:rPr baseline="-25000" lang="en" sz="2500">
                <a:solidFill>
                  <a:schemeClr val="dk1"/>
                </a:solidFill>
                <a:latin typeface="Poppins SemiBold"/>
                <a:ea typeface="Poppins SemiBold"/>
                <a:cs typeface="Poppins SemiBold"/>
                <a:sym typeface="Poppins SemiBold"/>
              </a:rPr>
              <a:t>11</a:t>
            </a:r>
            <a:r>
              <a:rPr lang="en" sz="1500">
                <a:solidFill>
                  <a:schemeClr val="dk1"/>
                </a:solidFill>
                <a:latin typeface="Poppins SemiBold"/>
                <a:ea typeface="Poppins SemiBold"/>
                <a:cs typeface="Poppins SemiBold"/>
                <a:sym typeface="Poppins SemiBold"/>
              </a:rPr>
              <a:t>: afișează mesajul „Gata”</a:t>
            </a:r>
            <a:endParaRPr sz="1500">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latin typeface="Poppins SemiBold"/>
              <a:ea typeface="Poppins SemiBold"/>
              <a:cs typeface="Poppins SemiBold"/>
              <a:sym typeface="Poppins SemiBold"/>
            </a:endParaRPr>
          </a:p>
          <a:p>
            <a:pPr indent="0" lvl="0" marL="0" rtl="0" algn="ctr">
              <a:lnSpc>
                <a:spcPct val="115000"/>
              </a:lnSpc>
              <a:spcBef>
                <a:spcPts val="0"/>
              </a:spcBef>
              <a:spcAft>
                <a:spcPts val="0"/>
              </a:spcAft>
              <a:buClr>
                <a:schemeClr val="dk1"/>
              </a:buClr>
              <a:buSzPts val="1100"/>
              <a:buFont typeface="Arial"/>
              <a:buNone/>
            </a:pPr>
            <a:r>
              <a:t/>
            </a:r>
            <a:endParaRPr sz="1500">
              <a:solidFill>
                <a:schemeClr val="dk1"/>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600">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3"/>
          <p:cNvPicPr preferRelativeResize="0"/>
          <p:nvPr/>
        </p:nvPicPr>
        <p:blipFill rotWithShape="1">
          <a:blip r:embed="rId3">
            <a:alphaModFix amt="60000"/>
          </a:blip>
          <a:srcRect b="0" l="0" r="0" t="0"/>
          <a:stretch/>
        </p:blipFill>
        <p:spPr>
          <a:xfrm>
            <a:off x="-679081" y="899763"/>
            <a:ext cx="1792325" cy="1655457"/>
          </a:xfrm>
          <a:prstGeom prst="rect">
            <a:avLst/>
          </a:prstGeom>
          <a:noFill/>
          <a:ln>
            <a:noFill/>
          </a:ln>
        </p:spPr>
      </p:pic>
      <p:pic>
        <p:nvPicPr>
          <p:cNvPr id="282" name="Google Shape;282;p33"/>
          <p:cNvPicPr preferRelativeResize="0"/>
          <p:nvPr/>
        </p:nvPicPr>
        <p:blipFill rotWithShape="1">
          <a:blip r:embed="rId4">
            <a:alphaModFix amt="60000"/>
          </a:blip>
          <a:srcRect b="0" l="0" r="0" t="0"/>
          <a:stretch/>
        </p:blipFill>
        <p:spPr>
          <a:xfrm rot="7200000">
            <a:off x="-747323" y="800222"/>
            <a:ext cx="1832737" cy="1692782"/>
          </a:xfrm>
          <a:prstGeom prst="rect">
            <a:avLst/>
          </a:prstGeom>
          <a:noFill/>
          <a:ln>
            <a:noFill/>
          </a:ln>
        </p:spPr>
      </p:pic>
      <p:pic>
        <p:nvPicPr>
          <p:cNvPr id="283" name="Google Shape;283;p33"/>
          <p:cNvPicPr preferRelativeResize="0"/>
          <p:nvPr/>
        </p:nvPicPr>
        <p:blipFill rotWithShape="1">
          <a:blip r:embed="rId3">
            <a:alphaModFix amt="60000"/>
          </a:blip>
          <a:srcRect b="0" l="0" r="0" t="0"/>
          <a:stretch/>
        </p:blipFill>
        <p:spPr>
          <a:xfrm>
            <a:off x="6464305" y="-289946"/>
            <a:ext cx="656531" cy="606396"/>
          </a:xfrm>
          <a:prstGeom prst="rect">
            <a:avLst/>
          </a:prstGeom>
          <a:noFill/>
          <a:ln>
            <a:noFill/>
          </a:ln>
        </p:spPr>
      </p:pic>
      <p:pic>
        <p:nvPicPr>
          <p:cNvPr id="284" name="Google Shape;284;p33"/>
          <p:cNvPicPr preferRelativeResize="0"/>
          <p:nvPr/>
        </p:nvPicPr>
        <p:blipFill rotWithShape="1">
          <a:blip r:embed="rId4">
            <a:alphaModFix amt="60000"/>
          </a:blip>
          <a:srcRect b="0" l="0" r="0" t="0"/>
          <a:stretch/>
        </p:blipFill>
        <p:spPr>
          <a:xfrm rot="7200000">
            <a:off x="6439308" y="-326408"/>
            <a:ext cx="671334" cy="620068"/>
          </a:xfrm>
          <a:prstGeom prst="rect">
            <a:avLst/>
          </a:prstGeom>
          <a:noFill/>
          <a:ln>
            <a:noFill/>
          </a:ln>
        </p:spPr>
      </p:pic>
      <p:pic>
        <p:nvPicPr>
          <p:cNvPr id="285" name="Google Shape;285;p33"/>
          <p:cNvPicPr preferRelativeResize="0"/>
          <p:nvPr/>
        </p:nvPicPr>
        <p:blipFill rotWithShape="1">
          <a:blip r:embed="rId3">
            <a:alphaModFix amt="60000"/>
          </a:blip>
          <a:srcRect b="0" l="0" r="0" t="0"/>
          <a:stretch/>
        </p:blipFill>
        <p:spPr>
          <a:xfrm>
            <a:off x="3357197" y="4654785"/>
            <a:ext cx="2624355" cy="2423949"/>
          </a:xfrm>
          <a:prstGeom prst="rect">
            <a:avLst/>
          </a:prstGeom>
          <a:noFill/>
          <a:ln>
            <a:noFill/>
          </a:ln>
        </p:spPr>
      </p:pic>
      <p:pic>
        <p:nvPicPr>
          <p:cNvPr id="286" name="Google Shape;286;p33"/>
          <p:cNvPicPr preferRelativeResize="0"/>
          <p:nvPr/>
        </p:nvPicPr>
        <p:blipFill rotWithShape="1">
          <a:blip r:embed="rId4">
            <a:alphaModFix amt="60000"/>
          </a:blip>
          <a:srcRect b="0" l="0" r="0" t="0"/>
          <a:stretch/>
        </p:blipFill>
        <p:spPr>
          <a:xfrm rot="7200000">
            <a:off x="3257276" y="4509036"/>
            <a:ext cx="2683526" cy="2478602"/>
          </a:xfrm>
          <a:prstGeom prst="rect">
            <a:avLst/>
          </a:prstGeom>
          <a:noFill/>
          <a:ln>
            <a:noFill/>
          </a:ln>
        </p:spPr>
      </p:pic>
      <p:pic>
        <p:nvPicPr>
          <p:cNvPr id="287" name="Google Shape;287;p33"/>
          <p:cNvPicPr preferRelativeResize="0"/>
          <p:nvPr/>
        </p:nvPicPr>
        <p:blipFill rotWithShape="1">
          <a:blip r:embed="rId3">
            <a:alphaModFix amt="60000"/>
          </a:blip>
          <a:srcRect b="0" l="0" r="0" t="0"/>
          <a:stretch/>
        </p:blipFill>
        <p:spPr>
          <a:xfrm>
            <a:off x="3509383" y="-1578936"/>
            <a:ext cx="2680263" cy="2475589"/>
          </a:xfrm>
          <a:prstGeom prst="rect">
            <a:avLst/>
          </a:prstGeom>
          <a:noFill/>
          <a:ln>
            <a:noFill/>
          </a:ln>
        </p:spPr>
      </p:pic>
      <p:pic>
        <p:nvPicPr>
          <p:cNvPr id="288" name="Google Shape;288;p33"/>
          <p:cNvPicPr preferRelativeResize="0"/>
          <p:nvPr/>
        </p:nvPicPr>
        <p:blipFill rotWithShape="1">
          <a:blip r:embed="rId4">
            <a:alphaModFix amt="60000"/>
          </a:blip>
          <a:srcRect b="0" l="0" r="0" t="0"/>
          <a:stretch/>
        </p:blipFill>
        <p:spPr>
          <a:xfrm rot="7200000">
            <a:off x="3407333" y="-1727790"/>
            <a:ext cx="2740696" cy="2531406"/>
          </a:xfrm>
          <a:prstGeom prst="rect">
            <a:avLst/>
          </a:prstGeom>
          <a:noFill/>
          <a:ln>
            <a:noFill/>
          </a:ln>
        </p:spPr>
      </p:pic>
      <p:pic>
        <p:nvPicPr>
          <p:cNvPr id="289" name="Google Shape;289;p33"/>
          <p:cNvPicPr preferRelativeResize="0"/>
          <p:nvPr/>
        </p:nvPicPr>
        <p:blipFill rotWithShape="1">
          <a:blip r:embed="rId3">
            <a:alphaModFix amt="60000"/>
          </a:blip>
          <a:srcRect b="0" l="0" r="0" t="0"/>
          <a:stretch/>
        </p:blipFill>
        <p:spPr>
          <a:xfrm>
            <a:off x="836604" y="4909701"/>
            <a:ext cx="602584" cy="556568"/>
          </a:xfrm>
          <a:prstGeom prst="rect">
            <a:avLst/>
          </a:prstGeom>
          <a:noFill/>
          <a:ln>
            <a:noFill/>
          </a:ln>
        </p:spPr>
      </p:pic>
      <p:pic>
        <p:nvPicPr>
          <p:cNvPr id="290" name="Google Shape;290;p33"/>
          <p:cNvPicPr preferRelativeResize="0"/>
          <p:nvPr/>
        </p:nvPicPr>
        <p:blipFill rotWithShape="1">
          <a:blip r:embed="rId4">
            <a:alphaModFix amt="60000"/>
          </a:blip>
          <a:srcRect b="0" l="0" r="0" t="0"/>
          <a:stretch/>
        </p:blipFill>
        <p:spPr>
          <a:xfrm rot="7200000">
            <a:off x="813661" y="4876236"/>
            <a:ext cx="616170" cy="569118"/>
          </a:xfrm>
          <a:prstGeom prst="rect">
            <a:avLst/>
          </a:prstGeom>
          <a:noFill/>
          <a:ln>
            <a:noFill/>
          </a:ln>
        </p:spPr>
      </p:pic>
      <p:pic>
        <p:nvPicPr>
          <p:cNvPr id="291" name="Google Shape;291;p33"/>
          <p:cNvPicPr preferRelativeResize="0"/>
          <p:nvPr/>
        </p:nvPicPr>
        <p:blipFill rotWithShape="1">
          <a:blip r:embed="rId5">
            <a:alphaModFix/>
          </a:blip>
          <a:srcRect b="0" l="0" r="0" t="0"/>
          <a:stretch/>
        </p:blipFill>
        <p:spPr>
          <a:xfrm rot="1516344">
            <a:off x="7516831" y="88522"/>
            <a:ext cx="1136512" cy="994448"/>
          </a:xfrm>
          <a:prstGeom prst="rect">
            <a:avLst/>
          </a:prstGeom>
          <a:noFill/>
          <a:ln>
            <a:noFill/>
          </a:ln>
        </p:spPr>
      </p:pic>
      <p:pic>
        <p:nvPicPr>
          <p:cNvPr id="292" name="Google Shape;292;p33"/>
          <p:cNvPicPr preferRelativeResize="0"/>
          <p:nvPr/>
        </p:nvPicPr>
        <p:blipFill rotWithShape="1">
          <a:blip r:embed="rId6">
            <a:alphaModFix/>
          </a:blip>
          <a:srcRect b="0" l="0" r="0" t="0"/>
          <a:stretch/>
        </p:blipFill>
        <p:spPr>
          <a:xfrm>
            <a:off x="6338662" y="3349360"/>
            <a:ext cx="2760207" cy="1794134"/>
          </a:xfrm>
          <a:prstGeom prst="rect">
            <a:avLst/>
          </a:prstGeom>
          <a:noFill/>
          <a:ln>
            <a:noFill/>
          </a:ln>
        </p:spPr>
      </p:pic>
      <p:sp>
        <p:nvSpPr>
          <p:cNvPr id="293" name="Google Shape;293;p33"/>
          <p:cNvSpPr txBox="1"/>
          <p:nvPr/>
        </p:nvSpPr>
        <p:spPr>
          <a:xfrm rot="5400000">
            <a:off x="7197675" y="2417862"/>
            <a:ext cx="3534900" cy="3078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 sz="2000" u="none" cap="none" strike="noStrike">
                <a:solidFill>
                  <a:srgbClr val="000000"/>
                </a:solidFill>
                <a:latin typeface="Poppins ExtraBold"/>
                <a:ea typeface="Poppins ExtraBold"/>
                <a:cs typeface="Poppins ExtraBold"/>
                <a:sym typeface="Poppins ExtraBold"/>
              </a:rPr>
              <a:t>Organigram</a:t>
            </a:r>
            <a:r>
              <a:rPr lang="en" sz="2000">
                <a:latin typeface="Poppins ExtraBold"/>
                <a:ea typeface="Poppins ExtraBold"/>
                <a:cs typeface="Poppins ExtraBold"/>
                <a:sym typeface="Poppins ExtraBold"/>
              </a:rPr>
              <a:t>a</a:t>
            </a:r>
            <a:endParaRPr sz="2000"/>
          </a:p>
        </p:txBody>
      </p:sp>
      <p:pic>
        <p:nvPicPr>
          <p:cNvPr id="294" name="Google Shape;294;p33"/>
          <p:cNvPicPr preferRelativeResize="0"/>
          <p:nvPr/>
        </p:nvPicPr>
        <p:blipFill>
          <a:blip r:embed="rId7">
            <a:alphaModFix/>
          </a:blip>
          <a:stretch>
            <a:fillRect/>
          </a:stretch>
        </p:blipFill>
        <p:spPr>
          <a:xfrm>
            <a:off x="221000" y="-61350"/>
            <a:ext cx="7464099" cy="5315400"/>
          </a:xfrm>
          <a:prstGeom prst="rect">
            <a:avLst/>
          </a:prstGeom>
          <a:noFill/>
          <a:ln>
            <a:noFill/>
          </a:ln>
        </p:spPr>
      </p:pic>
      <p:sp>
        <p:nvSpPr>
          <p:cNvPr id="295" name="Google Shape;295;p33"/>
          <p:cNvSpPr txBox="1"/>
          <p:nvPr/>
        </p:nvSpPr>
        <p:spPr>
          <a:xfrm>
            <a:off x="2305125" y="213697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00110</a:t>
            </a:r>
            <a:endParaRPr sz="1000">
              <a:latin typeface="Calibri"/>
              <a:ea typeface="Calibri"/>
              <a:cs typeface="Calibri"/>
              <a:sym typeface="Calibri"/>
            </a:endParaRPr>
          </a:p>
        </p:txBody>
      </p:sp>
      <p:sp>
        <p:nvSpPr>
          <p:cNvPr id="296" name="Google Shape;296;p33"/>
          <p:cNvSpPr txBox="1"/>
          <p:nvPr/>
        </p:nvSpPr>
        <p:spPr>
          <a:xfrm>
            <a:off x="1722338" y="122637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00001</a:t>
            </a:r>
            <a:endParaRPr sz="1000">
              <a:latin typeface="Calibri"/>
              <a:ea typeface="Calibri"/>
              <a:cs typeface="Calibri"/>
              <a:sym typeface="Calibri"/>
            </a:endParaRPr>
          </a:p>
        </p:txBody>
      </p:sp>
      <p:sp>
        <p:nvSpPr>
          <p:cNvPr id="297" name="Google Shape;297;p33"/>
          <p:cNvSpPr txBox="1"/>
          <p:nvPr/>
        </p:nvSpPr>
        <p:spPr>
          <a:xfrm>
            <a:off x="1164850" y="22165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00010</a:t>
            </a:r>
            <a:endParaRPr sz="1000">
              <a:latin typeface="Calibri"/>
              <a:ea typeface="Calibri"/>
              <a:cs typeface="Calibri"/>
              <a:sym typeface="Calibri"/>
            </a:endParaRPr>
          </a:p>
        </p:txBody>
      </p:sp>
      <p:sp>
        <p:nvSpPr>
          <p:cNvPr id="298" name="Google Shape;298;p33"/>
          <p:cNvSpPr txBox="1"/>
          <p:nvPr/>
        </p:nvSpPr>
        <p:spPr>
          <a:xfrm>
            <a:off x="3869200" y="7672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01010</a:t>
            </a:r>
            <a:endParaRPr sz="1000">
              <a:latin typeface="Calibri"/>
              <a:ea typeface="Calibri"/>
              <a:cs typeface="Calibri"/>
              <a:sym typeface="Calibri"/>
            </a:endParaRPr>
          </a:p>
        </p:txBody>
      </p:sp>
      <p:sp>
        <p:nvSpPr>
          <p:cNvPr id="299" name="Google Shape;299;p33"/>
          <p:cNvSpPr txBox="1"/>
          <p:nvPr/>
        </p:nvSpPr>
        <p:spPr>
          <a:xfrm>
            <a:off x="1164850" y="31078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00111</a:t>
            </a:r>
            <a:endParaRPr sz="1000">
              <a:latin typeface="Calibri"/>
              <a:ea typeface="Calibri"/>
              <a:cs typeface="Calibri"/>
              <a:sym typeface="Calibri"/>
            </a:endParaRPr>
          </a:p>
        </p:txBody>
      </p:sp>
      <p:sp>
        <p:nvSpPr>
          <p:cNvPr id="300" name="Google Shape;300;p33"/>
          <p:cNvSpPr txBox="1"/>
          <p:nvPr/>
        </p:nvSpPr>
        <p:spPr>
          <a:xfrm>
            <a:off x="2305125" y="30518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00100</a:t>
            </a:r>
            <a:endParaRPr sz="1000">
              <a:latin typeface="Calibri"/>
              <a:ea typeface="Calibri"/>
              <a:cs typeface="Calibri"/>
              <a:sym typeface="Calibri"/>
            </a:endParaRPr>
          </a:p>
        </p:txBody>
      </p:sp>
      <p:sp>
        <p:nvSpPr>
          <p:cNvPr id="301" name="Google Shape;301;p33"/>
          <p:cNvSpPr txBox="1"/>
          <p:nvPr/>
        </p:nvSpPr>
        <p:spPr>
          <a:xfrm>
            <a:off x="5079575" y="7672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00101</a:t>
            </a:r>
            <a:endParaRPr sz="1000">
              <a:latin typeface="Calibri"/>
              <a:ea typeface="Calibri"/>
              <a:cs typeface="Calibri"/>
              <a:sym typeface="Calibri"/>
            </a:endParaRPr>
          </a:p>
        </p:txBody>
      </p:sp>
      <p:sp>
        <p:nvSpPr>
          <p:cNvPr id="302" name="Google Shape;302;p33"/>
          <p:cNvSpPr txBox="1"/>
          <p:nvPr/>
        </p:nvSpPr>
        <p:spPr>
          <a:xfrm>
            <a:off x="3869200" y="16937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01011</a:t>
            </a:r>
            <a:endParaRPr sz="1000">
              <a:latin typeface="Calibri"/>
              <a:ea typeface="Calibri"/>
              <a:cs typeface="Calibri"/>
              <a:sym typeface="Calibri"/>
            </a:endParaRPr>
          </a:p>
        </p:txBody>
      </p:sp>
      <p:sp>
        <p:nvSpPr>
          <p:cNvPr id="303" name="Google Shape;303;p33"/>
          <p:cNvSpPr txBox="1"/>
          <p:nvPr/>
        </p:nvSpPr>
        <p:spPr>
          <a:xfrm>
            <a:off x="5083375" y="16937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01000</a:t>
            </a:r>
            <a:endParaRPr sz="1000">
              <a:latin typeface="Calibri"/>
              <a:ea typeface="Calibri"/>
              <a:cs typeface="Calibri"/>
              <a:sym typeface="Calibri"/>
            </a:endParaRPr>
          </a:p>
        </p:txBody>
      </p:sp>
      <p:sp>
        <p:nvSpPr>
          <p:cNvPr id="304" name="Google Shape;304;p33"/>
          <p:cNvSpPr txBox="1"/>
          <p:nvPr/>
        </p:nvSpPr>
        <p:spPr>
          <a:xfrm>
            <a:off x="2854900" y="24927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01101</a:t>
            </a:r>
            <a:endParaRPr sz="1000">
              <a:latin typeface="Calibri"/>
              <a:ea typeface="Calibri"/>
              <a:cs typeface="Calibri"/>
              <a:sym typeface="Calibri"/>
            </a:endParaRPr>
          </a:p>
        </p:txBody>
      </p:sp>
      <p:sp>
        <p:nvSpPr>
          <p:cNvPr id="305" name="Google Shape;305;p33"/>
          <p:cNvSpPr txBox="1"/>
          <p:nvPr/>
        </p:nvSpPr>
        <p:spPr>
          <a:xfrm>
            <a:off x="3586150" y="28302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01100</a:t>
            </a:r>
            <a:endParaRPr sz="1000">
              <a:latin typeface="Calibri"/>
              <a:ea typeface="Calibri"/>
              <a:cs typeface="Calibri"/>
              <a:sym typeface="Calibri"/>
            </a:endParaRPr>
          </a:p>
        </p:txBody>
      </p:sp>
      <p:sp>
        <p:nvSpPr>
          <p:cNvPr id="306" name="Google Shape;306;p33"/>
          <p:cNvSpPr txBox="1"/>
          <p:nvPr/>
        </p:nvSpPr>
        <p:spPr>
          <a:xfrm>
            <a:off x="4302475" y="25552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01111</a:t>
            </a:r>
            <a:endParaRPr sz="1000">
              <a:latin typeface="Calibri"/>
              <a:ea typeface="Calibri"/>
              <a:cs typeface="Calibri"/>
              <a:sym typeface="Calibri"/>
            </a:endParaRPr>
          </a:p>
        </p:txBody>
      </p:sp>
      <p:sp>
        <p:nvSpPr>
          <p:cNvPr id="307" name="Google Shape;307;p33"/>
          <p:cNvSpPr txBox="1"/>
          <p:nvPr/>
        </p:nvSpPr>
        <p:spPr>
          <a:xfrm>
            <a:off x="5083375" y="2492738"/>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01001</a:t>
            </a:r>
            <a:endParaRPr sz="1000">
              <a:latin typeface="Calibri"/>
              <a:ea typeface="Calibri"/>
              <a:cs typeface="Calibri"/>
              <a:sym typeface="Calibri"/>
            </a:endParaRPr>
          </a:p>
        </p:txBody>
      </p:sp>
      <p:sp>
        <p:nvSpPr>
          <p:cNvPr id="308" name="Google Shape;308;p33"/>
          <p:cNvSpPr txBox="1"/>
          <p:nvPr/>
        </p:nvSpPr>
        <p:spPr>
          <a:xfrm>
            <a:off x="3509375" y="3513538"/>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01110</a:t>
            </a:r>
            <a:endParaRPr sz="1000">
              <a:latin typeface="Calibri"/>
              <a:ea typeface="Calibri"/>
              <a:cs typeface="Calibri"/>
              <a:sym typeface="Calibri"/>
            </a:endParaRPr>
          </a:p>
        </p:txBody>
      </p:sp>
      <p:sp>
        <p:nvSpPr>
          <p:cNvPr id="309" name="Google Shape;309;p33"/>
          <p:cNvSpPr txBox="1"/>
          <p:nvPr/>
        </p:nvSpPr>
        <p:spPr>
          <a:xfrm>
            <a:off x="4232138" y="36652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10000</a:t>
            </a:r>
            <a:endParaRPr sz="1000">
              <a:latin typeface="Calibri"/>
              <a:ea typeface="Calibri"/>
              <a:cs typeface="Calibri"/>
              <a:sym typeface="Calibri"/>
            </a:endParaRPr>
          </a:p>
        </p:txBody>
      </p:sp>
      <p:sp>
        <p:nvSpPr>
          <p:cNvPr id="310" name="Google Shape;310;p33"/>
          <p:cNvSpPr txBox="1"/>
          <p:nvPr/>
        </p:nvSpPr>
        <p:spPr>
          <a:xfrm>
            <a:off x="5036275" y="36652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10001</a:t>
            </a:r>
            <a:endParaRPr sz="1000">
              <a:latin typeface="Calibri"/>
              <a:ea typeface="Calibri"/>
              <a:cs typeface="Calibri"/>
              <a:sym typeface="Calibri"/>
            </a:endParaRPr>
          </a:p>
        </p:txBody>
      </p:sp>
      <p:sp>
        <p:nvSpPr>
          <p:cNvPr id="311" name="Google Shape;311;p33"/>
          <p:cNvSpPr txBox="1"/>
          <p:nvPr/>
        </p:nvSpPr>
        <p:spPr>
          <a:xfrm>
            <a:off x="3687775" y="45002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10010</a:t>
            </a:r>
            <a:endParaRPr sz="1000">
              <a:latin typeface="Calibri"/>
              <a:ea typeface="Calibri"/>
              <a:cs typeface="Calibri"/>
              <a:sym typeface="Calibri"/>
            </a:endParaRPr>
          </a:p>
        </p:txBody>
      </p:sp>
      <p:sp>
        <p:nvSpPr>
          <p:cNvPr id="312" name="Google Shape;312;p33"/>
          <p:cNvSpPr txBox="1"/>
          <p:nvPr/>
        </p:nvSpPr>
        <p:spPr>
          <a:xfrm>
            <a:off x="7254850" y="20324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11000</a:t>
            </a:r>
            <a:endParaRPr sz="1000">
              <a:latin typeface="Calibri"/>
              <a:ea typeface="Calibri"/>
              <a:cs typeface="Calibri"/>
              <a:sym typeface="Calibri"/>
            </a:endParaRPr>
          </a:p>
        </p:txBody>
      </p:sp>
      <p:sp>
        <p:nvSpPr>
          <p:cNvPr id="313" name="Google Shape;313;p33"/>
          <p:cNvSpPr txBox="1"/>
          <p:nvPr/>
        </p:nvSpPr>
        <p:spPr>
          <a:xfrm>
            <a:off x="5981550" y="32669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11111</a:t>
            </a:r>
            <a:endParaRPr sz="1000">
              <a:latin typeface="Calibri"/>
              <a:ea typeface="Calibri"/>
              <a:cs typeface="Calibri"/>
              <a:sym typeface="Calibri"/>
            </a:endParaRPr>
          </a:p>
        </p:txBody>
      </p:sp>
      <p:sp>
        <p:nvSpPr>
          <p:cNvPr id="314" name="Google Shape;314;p33"/>
          <p:cNvSpPr txBox="1"/>
          <p:nvPr/>
        </p:nvSpPr>
        <p:spPr>
          <a:xfrm>
            <a:off x="7254850" y="127797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10100</a:t>
            </a:r>
            <a:endParaRPr sz="1000">
              <a:latin typeface="Calibri"/>
              <a:ea typeface="Calibri"/>
              <a:cs typeface="Calibri"/>
              <a:sym typeface="Calibri"/>
            </a:endParaRPr>
          </a:p>
        </p:txBody>
      </p:sp>
      <p:sp>
        <p:nvSpPr>
          <p:cNvPr id="315" name="Google Shape;315;p33"/>
          <p:cNvSpPr txBox="1"/>
          <p:nvPr/>
        </p:nvSpPr>
        <p:spPr>
          <a:xfrm>
            <a:off x="6095025" y="16223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10111</a:t>
            </a:r>
            <a:endParaRPr sz="1000">
              <a:latin typeface="Calibri"/>
              <a:ea typeface="Calibri"/>
              <a:cs typeface="Calibri"/>
              <a:sym typeface="Calibri"/>
            </a:endParaRPr>
          </a:p>
        </p:txBody>
      </p:sp>
      <p:sp>
        <p:nvSpPr>
          <p:cNvPr id="316" name="Google Shape;316;p33"/>
          <p:cNvSpPr txBox="1"/>
          <p:nvPr/>
        </p:nvSpPr>
        <p:spPr>
          <a:xfrm>
            <a:off x="6340213" y="6729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10110</a:t>
            </a:r>
            <a:endParaRPr sz="1000">
              <a:latin typeface="Calibri"/>
              <a:ea typeface="Calibri"/>
              <a:cs typeface="Calibri"/>
              <a:sym typeface="Calibri"/>
            </a:endParaRPr>
          </a:p>
        </p:txBody>
      </p:sp>
      <p:sp>
        <p:nvSpPr>
          <p:cNvPr id="317" name="Google Shape;317;p33"/>
          <p:cNvSpPr txBox="1"/>
          <p:nvPr/>
        </p:nvSpPr>
        <p:spPr>
          <a:xfrm>
            <a:off x="7027700" y="1780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10011</a:t>
            </a:r>
            <a:endParaRPr sz="1000">
              <a:latin typeface="Calibri"/>
              <a:ea typeface="Calibri"/>
              <a:cs typeface="Calibri"/>
              <a:sym typeface="Calibri"/>
            </a:endParaRPr>
          </a:p>
        </p:txBody>
      </p:sp>
      <p:sp>
        <p:nvSpPr>
          <p:cNvPr id="318" name="Google Shape;318;p33"/>
          <p:cNvSpPr txBox="1"/>
          <p:nvPr/>
        </p:nvSpPr>
        <p:spPr>
          <a:xfrm>
            <a:off x="5770075" y="1780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10101</a:t>
            </a:r>
            <a:endParaRPr sz="1000">
              <a:latin typeface="Calibri"/>
              <a:ea typeface="Calibri"/>
              <a:cs typeface="Calibri"/>
              <a:sym typeface="Calibri"/>
            </a:endParaRPr>
          </a:p>
        </p:txBody>
      </p:sp>
      <p:sp>
        <p:nvSpPr>
          <p:cNvPr id="319" name="Google Shape;319;p33"/>
          <p:cNvSpPr txBox="1"/>
          <p:nvPr/>
        </p:nvSpPr>
        <p:spPr>
          <a:xfrm>
            <a:off x="2456150" y="93927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00011</a:t>
            </a:r>
            <a:endParaRPr sz="1000">
              <a:latin typeface="Calibri"/>
              <a:ea typeface="Calibri"/>
              <a:cs typeface="Calibri"/>
              <a:sym typeface="Calibri"/>
            </a:endParaRPr>
          </a:p>
        </p:txBody>
      </p:sp>
      <p:sp>
        <p:nvSpPr>
          <p:cNvPr id="320" name="Google Shape;320;p33"/>
          <p:cNvSpPr/>
          <p:nvPr/>
        </p:nvSpPr>
        <p:spPr>
          <a:xfrm>
            <a:off x="4846138" y="1793500"/>
            <a:ext cx="232200" cy="1392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1"/>
              </a:highlight>
            </a:endParaRPr>
          </a:p>
        </p:txBody>
      </p:sp>
      <p:sp>
        <p:nvSpPr>
          <p:cNvPr id="321" name="Google Shape;321;p33"/>
          <p:cNvSpPr txBox="1"/>
          <p:nvPr/>
        </p:nvSpPr>
        <p:spPr>
          <a:xfrm>
            <a:off x="4808337" y="1724638"/>
            <a:ext cx="3078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Calibri"/>
                <a:ea typeface="Calibri"/>
                <a:cs typeface="Calibri"/>
                <a:sym typeface="Calibri"/>
              </a:rPr>
              <a:t>S10</a:t>
            </a:r>
            <a:endParaRPr sz="300">
              <a:latin typeface="Calibri"/>
              <a:ea typeface="Calibri"/>
              <a:cs typeface="Calibri"/>
              <a:sym typeface="Calibri"/>
            </a:endParaRPr>
          </a:p>
        </p:txBody>
      </p:sp>
      <p:sp>
        <p:nvSpPr>
          <p:cNvPr id="322" name="Google Shape;322;p33"/>
          <p:cNvSpPr txBox="1"/>
          <p:nvPr/>
        </p:nvSpPr>
        <p:spPr>
          <a:xfrm>
            <a:off x="6889025" y="3190000"/>
            <a:ext cx="73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11001</a:t>
            </a:r>
            <a:endParaRPr sz="1000">
              <a:latin typeface="Calibri"/>
              <a:ea typeface="Calibri"/>
              <a:cs typeface="Calibri"/>
              <a:sym typeface="Calibri"/>
            </a:endParaRPr>
          </a:p>
          <a:p>
            <a:pPr indent="0" lvl="0" marL="0" rtl="0" algn="l">
              <a:spcBef>
                <a:spcPts val="0"/>
              </a:spcBef>
              <a:spcAft>
                <a:spcPts val="0"/>
              </a:spcAft>
              <a:buNone/>
            </a:pPr>
            <a:r>
              <a:t/>
            </a:r>
            <a:endParaRPr sz="1000">
              <a:latin typeface="Calibri"/>
              <a:ea typeface="Calibri"/>
              <a:cs typeface="Calibri"/>
              <a:sym typeface="Calibri"/>
            </a:endParaRPr>
          </a:p>
        </p:txBody>
      </p:sp>
      <p:sp>
        <p:nvSpPr>
          <p:cNvPr id="323" name="Google Shape;323;p33"/>
          <p:cNvSpPr txBox="1"/>
          <p:nvPr/>
        </p:nvSpPr>
        <p:spPr>
          <a:xfrm>
            <a:off x="1937525" y="518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D5318F"/>
                </a:solidFill>
                <a:latin typeface="Calibri"/>
                <a:ea typeface="Calibri"/>
                <a:cs typeface="Calibri"/>
                <a:sym typeface="Calibri"/>
              </a:rPr>
              <a:t>0</a:t>
            </a:r>
            <a:r>
              <a:rPr lang="en" sz="1000">
                <a:latin typeface="Calibri"/>
                <a:ea typeface="Calibri"/>
                <a:cs typeface="Calibri"/>
                <a:sym typeface="Calibri"/>
              </a:rPr>
              <a:t>00000</a:t>
            </a:r>
            <a:endParaRPr sz="1000">
              <a:latin typeface="Calibri"/>
              <a:ea typeface="Calibri"/>
              <a:cs typeface="Calibri"/>
              <a:sym typeface="Calibri"/>
            </a:endParaRPr>
          </a:p>
        </p:txBody>
      </p:sp>
      <p:sp>
        <p:nvSpPr>
          <p:cNvPr id="324" name="Google Shape;324;p33"/>
          <p:cNvSpPr txBox="1"/>
          <p:nvPr/>
        </p:nvSpPr>
        <p:spPr>
          <a:xfrm>
            <a:off x="1722338" y="6587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000</a:t>
            </a:r>
            <a:endParaRPr sz="1000">
              <a:solidFill>
                <a:schemeClr val="dk1"/>
              </a:solidFill>
              <a:latin typeface="Calibri"/>
              <a:ea typeface="Calibri"/>
              <a:cs typeface="Calibri"/>
              <a:sym typeface="Calibri"/>
            </a:endParaRPr>
          </a:p>
        </p:txBody>
      </p:sp>
      <p:sp>
        <p:nvSpPr>
          <p:cNvPr id="325" name="Google Shape;325;p33"/>
          <p:cNvSpPr txBox="1"/>
          <p:nvPr/>
        </p:nvSpPr>
        <p:spPr>
          <a:xfrm>
            <a:off x="1771513" y="162235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001</a:t>
            </a:r>
            <a:endParaRPr sz="1000">
              <a:solidFill>
                <a:schemeClr val="dk1"/>
              </a:solidFill>
              <a:latin typeface="Calibri"/>
              <a:ea typeface="Calibri"/>
              <a:cs typeface="Calibri"/>
              <a:sym typeface="Calibri"/>
            </a:endParaRPr>
          </a:p>
        </p:txBody>
      </p:sp>
      <p:sp>
        <p:nvSpPr>
          <p:cNvPr id="326" name="Google Shape;326;p33"/>
          <p:cNvSpPr txBox="1"/>
          <p:nvPr/>
        </p:nvSpPr>
        <p:spPr>
          <a:xfrm>
            <a:off x="4382313" y="518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011</a:t>
            </a:r>
            <a:endParaRPr sz="1000">
              <a:solidFill>
                <a:schemeClr val="dk1"/>
              </a:solidFill>
              <a:latin typeface="Calibri"/>
              <a:ea typeface="Calibri"/>
              <a:cs typeface="Calibri"/>
              <a:sym typeface="Calibri"/>
            </a:endParaRPr>
          </a:p>
        </p:txBody>
      </p:sp>
      <p:sp>
        <p:nvSpPr>
          <p:cNvPr id="327" name="Google Shape;327;p33"/>
          <p:cNvSpPr txBox="1"/>
          <p:nvPr/>
        </p:nvSpPr>
        <p:spPr>
          <a:xfrm>
            <a:off x="3744963" y="2124488"/>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010</a:t>
            </a:r>
            <a:endParaRPr sz="1000">
              <a:solidFill>
                <a:schemeClr val="dk1"/>
              </a:solidFill>
              <a:latin typeface="Calibri"/>
              <a:ea typeface="Calibri"/>
              <a:cs typeface="Calibri"/>
              <a:sym typeface="Calibri"/>
            </a:endParaRPr>
          </a:p>
        </p:txBody>
      </p:sp>
      <p:sp>
        <p:nvSpPr>
          <p:cNvPr id="328" name="Google Shape;328;p33"/>
          <p:cNvSpPr txBox="1"/>
          <p:nvPr/>
        </p:nvSpPr>
        <p:spPr>
          <a:xfrm>
            <a:off x="5036263" y="211157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101</a:t>
            </a:r>
            <a:endParaRPr sz="1000">
              <a:solidFill>
                <a:schemeClr val="dk1"/>
              </a:solidFill>
              <a:latin typeface="Calibri"/>
              <a:ea typeface="Calibri"/>
              <a:cs typeface="Calibri"/>
              <a:sym typeface="Calibri"/>
            </a:endParaRPr>
          </a:p>
        </p:txBody>
      </p:sp>
      <p:sp>
        <p:nvSpPr>
          <p:cNvPr id="329" name="Google Shape;329;p33"/>
          <p:cNvSpPr txBox="1"/>
          <p:nvPr/>
        </p:nvSpPr>
        <p:spPr>
          <a:xfrm>
            <a:off x="6592063" y="178025"/>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110</a:t>
            </a:r>
            <a:endParaRPr sz="1000">
              <a:solidFill>
                <a:schemeClr val="dk1"/>
              </a:solidFill>
              <a:latin typeface="Calibri"/>
              <a:ea typeface="Calibri"/>
              <a:cs typeface="Calibri"/>
              <a:sym typeface="Calibri"/>
            </a:endParaRPr>
          </a:p>
        </p:txBody>
      </p:sp>
      <p:sp>
        <p:nvSpPr>
          <p:cNvPr id="330" name="Google Shape;330;p33"/>
          <p:cNvSpPr txBox="1"/>
          <p:nvPr/>
        </p:nvSpPr>
        <p:spPr>
          <a:xfrm>
            <a:off x="7427588" y="874900"/>
            <a:ext cx="73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100</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4"/>
          <p:cNvPicPr preferRelativeResize="0"/>
          <p:nvPr/>
        </p:nvPicPr>
        <p:blipFill rotWithShape="1">
          <a:blip r:embed="rId3">
            <a:alphaModFix amt="60000"/>
          </a:blip>
          <a:srcRect b="0" l="0" r="0" t="0"/>
          <a:stretch/>
        </p:blipFill>
        <p:spPr>
          <a:xfrm rot="7200000">
            <a:off x="7152185" y="3163160"/>
            <a:ext cx="3162519" cy="2921017"/>
          </a:xfrm>
          <a:prstGeom prst="rect">
            <a:avLst/>
          </a:prstGeom>
          <a:noFill/>
          <a:ln>
            <a:noFill/>
          </a:ln>
        </p:spPr>
      </p:pic>
      <p:pic>
        <p:nvPicPr>
          <p:cNvPr id="336" name="Google Shape;336;p34"/>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337" name="Google Shape;337;p34"/>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338" name="Google Shape;338;p34"/>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339" name="Google Shape;339;p34"/>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340" name="Google Shape;340;p34"/>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341" name="Google Shape;341;p34"/>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lang="en" sz="2000">
                <a:solidFill>
                  <a:srgbClr val="042B60"/>
                </a:solidFill>
                <a:latin typeface="Poppins ExtraBold"/>
                <a:ea typeface="Poppins ExtraBold"/>
                <a:cs typeface="Poppins ExtraBold"/>
                <a:sym typeface="Poppins ExtraBold"/>
              </a:rPr>
              <a:t>EXPLICAREA</a:t>
            </a:r>
            <a:endParaRPr sz="2000">
              <a:solidFill>
                <a:srgbClr val="042B60"/>
              </a:solidFill>
              <a:latin typeface="Poppins ExtraBold"/>
              <a:ea typeface="Poppins ExtraBold"/>
              <a:cs typeface="Poppins ExtraBold"/>
              <a:sym typeface="Poppins ExtraBold"/>
            </a:endParaRPr>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342" name="Google Shape;342;p34"/>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343" name="Google Shape;343;p34"/>
          <p:cNvSpPr txBox="1"/>
          <p:nvPr/>
        </p:nvSpPr>
        <p:spPr>
          <a:xfrm>
            <a:off x="421450" y="1561650"/>
            <a:ext cx="8231400" cy="3417000"/>
          </a:xfrm>
          <a:prstGeom prst="rect">
            <a:avLst/>
          </a:prstGeom>
          <a:noFill/>
          <a:ln>
            <a:noFill/>
          </a:ln>
        </p:spPr>
        <p:txBody>
          <a:bodyPr anchorCtr="0" anchor="t" bIns="91425" lIns="91425" spcFirstLastPara="1" rIns="91425" wrap="square" tIns="91425">
            <a:spAutoFit/>
          </a:bodyPr>
          <a:lstStyle/>
          <a:p>
            <a:pPr indent="457200" lvl="0" marL="0" rtl="0" algn="just">
              <a:spcBef>
                <a:spcPts val="0"/>
              </a:spcBef>
              <a:spcAft>
                <a:spcPts val="0"/>
              </a:spcAft>
              <a:buNone/>
            </a:pPr>
            <a:r>
              <a:rPr lang="en">
                <a:latin typeface="Calibri"/>
                <a:ea typeface="Calibri"/>
                <a:cs typeface="Calibri"/>
                <a:sym typeface="Calibri"/>
              </a:rPr>
              <a:t>Aparatul pornește din starea START/S0 (000000) și trece în starea S1(000001) dacă mai are pahare pentru sucuri/apă, sau în starea S2(000011) dacă nu. După aceea, utilizatorul poate alege dacă dorește o băutură răcoritoare </a:t>
            </a:r>
            <a:r>
              <a:rPr i="1" lang="en">
                <a:latin typeface="Calibri"/>
                <a:ea typeface="Calibri"/>
                <a:cs typeface="Calibri"/>
                <a:sym typeface="Calibri"/>
              </a:rPr>
              <a:t>(ulterior aparatul va trece în starea S3(000110) în care se specifică că se pregătește băutura)</a:t>
            </a:r>
            <a:r>
              <a:rPr lang="en">
                <a:latin typeface="Calibri"/>
                <a:ea typeface="Calibri"/>
                <a:cs typeface="Calibri"/>
                <a:sym typeface="Calibri"/>
              </a:rPr>
              <a:t> sau dacă dorește apă </a:t>
            </a:r>
            <a:r>
              <a:rPr i="1" lang="en">
                <a:latin typeface="Calibri"/>
                <a:ea typeface="Calibri"/>
                <a:cs typeface="Calibri"/>
                <a:sym typeface="Calibri"/>
              </a:rPr>
              <a:t>(aparatul va trece în starea S5(000010) în care se va specifica că s-a ales apă, iar mai apoi se trece în starea S6(000111) unde se termină de servit apa).</a:t>
            </a:r>
            <a:endParaRPr i="1">
              <a:latin typeface="Calibri"/>
              <a:ea typeface="Calibri"/>
              <a:cs typeface="Calibri"/>
              <a:sym typeface="Calibri"/>
            </a:endParaRPr>
          </a:p>
          <a:p>
            <a:pPr indent="457200" lvl="0" marL="0" rtl="0" algn="just">
              <a:spcBef>
                <a:spcPts val="0"/>
              </a:spcBef>
              <a:spcAft>
                <a:spcPts val="0"/>
              </a:spcAft>
              <a:buNone/>
            </a:pPr>
            <a:r>
              <a:rPr lang="en">
                <a:latin typeface="Calibri"/>
                <a:ea typeface="Calibri"/>
                <a:cs typeface="Calibri"/>
                <a:sym typeface="Calibri"/>
              </a:rPr>
              <a:t>Din starea S3 se trece în starea S4(000100), unde se alege tipul băuturii răcoritoare (neacidulată/acidulată). Pentru varianta acidulată aparatul va ajunge în starea S7(001010) (se prepară băutura), și mai apoi în starea S8(001011), unde se alege tipul băuturii acidulate. Dacă se optează pentru cola, atunci aparatul trece în starea S12(001100) care specifică că există doar cola de tip zero zahăr, după care se pregătește cola (S13(001110)). Dacă se optează pentru sucul acidulat de fructe, se ajunge în starea S11(001101), unde acesta se prepară. Pentru varianta neacidulată, </a:t>
            </a:r>
            <a:r>
              <a:rPr lang="en">
                <a:solidFill>
                  <a:schemeClr val="dk1"/>
                </a:solidFill>
                <a:latin typeface="Calibri"/>
                <a:ea typeface="Calibri"/>
                <a:cs typeface="Calibri"/>
                <a:sym typeface="Calibri"/>
              </a:rPr>
              <a:t>aparatul va ajunge în starea S9(001010) (se pregătesc fructele), și mai apoi în starea S10(001000), unde se alege tipul băuturii neacidulate.</a:t>
            </a:r>
            <a:r>
              <a:rPr lang="en">
                <a:latin typeface="Calibri"/>
                <a:ea typeface="Calibri"/>
                <a:cs typeface="Calibri"/>
                <a:sym typeface="Calibri"/>
              </a:rPr>
              <a:t> S</a:t>
            </a:r>
            <a:r>
              <a:rPr lang="en">
                <a:latin typeface="Calibri"/>
                <a:ea typeface="Calibri"/>
                <a:cs typeface="Calibri"/>
                <a:sym typeface="Calibri"/>
              </a:rPr>
              <a:t>e merge în starea S14(001111) în cazul băuturii cu portocale, după care se trece în starea S15(010000) (se prepară sucul de portocale). Analog pentru varianta cu mere (starea S16(001001), apoi starea S17(010001)).</a:t>
            </a:r>
            <a:endParaRPr>
              <a:latin typeface="Calibri"/>
              <a:ea typeface="Calibri"/>
              <a:cs typeface="Calibri"/>
              <a:sym typeface="Calibri"/>
            </a:endParaRPr>
          </a:p>
          <a:p>
            <a:pPr indent="457200" lvl="0" marL="0" rtl="0" algn="just">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35"/>
          <p:cNvPicPr preferRelativeResize="0"/>
          <p:nvPr/>
        </p:nvPicPr>
        <p:blipFill rotWithShape="1">
          <a:blip r:embed="rId3">
            <a:alphaModFix amt="60000"/>
          </a:blip>
          <a:srcRect b="0" l="0" r="0" t="0"/>
          <a:stretch/>
        </p:blipFill>
        <p:spPr>
          <a:xfrm rot="7200000">
            <a:off x="6923585" y="3163160"/>
            <a:ext cx="3162519" cy="2921017"/>
          </a:xfrm>
          <a:prstGeom prst="rect">
            <a:avLst/>
          </a:prstGeom>
          <a:noFill/>
          <a:ln>
            <a:noFill/>
          </a:ln>
        </p:spPr>
      </p:pic>
      <p:pic>
        <p:nvPicPr>
          <p:cNvPr id="349" name="Google Shape;349;p35"/>
          <p:cNvPicPr preferRelativeResize="0"/>
          <p:nvPr/>
        </p:nvPicPr>
        <p:blipFill rotWithShape="1">
          <a:blip r:embed="rId4">
            <a:alphaModFix amt="60000"/>
          </a:blip>
          <a:srcRect b="0" l="0" r="0" t="0"/>
          <a:stretch/>
        </p:blipFill>
        <p:spPr>
          <a:xfrm>
            <a:off x="6591058" y="3291731"/>
            <a:ext cx="3092785" cy="2856609"/>
          </a:xfrm>
          <a:prstGeom prst="rect">
            <a:avLst/>
          </a:prstGeom>
          <a:noFill/>
          <a:ln>
            <a:noFill/>
          </a:ln>
        </p:spPr>
      </p:pic>
      <p:pic>
        <p:nvPicPr>
          <p:cNvPr id="350" name="Google Shape;350;p35"/>
          <p:cNvPicPr preferRelativeResize="0"/>
          <p:nvPr/>
        </p:nvPicPr>
        <p:blipFill rotWithShape="1">
          <a:blip r:embed="rId3">
            <a:alphaModFix amt="60000"/>
          </a:blip>
          <a:srcRect b="0" l="0" r="0" t="0"/>
          <a:stretch/>
        </p:blipFill>
        <p:spPr>
          <a:xfrm rot="7200000">
            <a:off x="2199485" y="-1460509"/>
            <a:ext cx="3162519" cy="2921017"/>
          </a:xfrm>
          <a:prstGeom prst="rect">
            <a:avLst/>
          </a:prstGeom>
          <a:noFill/>
          <a:ln>
            <a:noFill/>
          </a:ln>
        </p:spPr>
      </p:pic>
      <p:pic>
        <p:nvPicPr>
          <p:cNvPr id="351" name="Google Shape;351;p35"/>
          <p:cNvPicPr preferRelativeResize="0"/>
          <p:nvPr/>
        </p:nvPicPr>
        <p:blipFill rotWithShape="1">
          <a:blip r:embed="rId4">
            <a:alphaModFix amt="60000"/>
          </a:blip>
          <a:srcRect b="0" l="0" r="0" t="0"/>
          <a:stretch/>
        </p:blipFill>
        <p:spPr>
          <a:xfrm>
            <a:off x="1866957" y="-1331938"/>
            <a:ext cx="3092785" cy="2856609"/>
          </a:xfrm>
          <a:prstGeom prst="rect">
            <a:avLst/>
          </a:prstGeom>
          <a:noFill/>
          <a:ln>
            <a:noFill/>
          </a:ln>
        </p:spPr>
      </p:pic>
      <p:pic>
        <p:nvPicPr>
          <p:cNvPr id="352" name="Google Shape;352;p35"/>
          <p:cNvPicPr preferRelativeResize="0"/>
          <p:nvPr/>
        </p:nvPicPr>
        <p:blipFill rotWithShape="1">
          <a:blip r:embed="rId5">
            <a:alphaModFix/>
          </a:blip>
          <a:srcRect b="0" l="0" r="0" t="0"/>
          <a:stretch/>
        </p:blipFill>
        <p:spPr>
          <a:xfrm rot="-1340946">
            <a:off x="7850557" y="217313"/>
            <a:ext cx="921342" cy="1443700"/>
          </a:xfrm>
          <a:prstGeom prst="rect">
            <a:avLst/>
          </a:prstGeom>
          <a:noFill/>
          <a:ln>
            <a:noFill/>
          </a:ln>
        </p:spPr>
      </p:pic>
      <p:pic>
        <p:nvPicPr>
          <p:cNvPr id="353" name="Google Shape;353;p35"/>
          <p:cNvPicPr preferRelativeResize="0"/>
          <p:nvPr/>
        </p:nvPicPr>
        <p:blipFill rotWithShape="1">
          <a:blip r:embed="rId6">
            <a:alphaModFix/>
          </a:blip>
          <a:srcRect b="0" l="0" r="0" t="0"/>
          <a:stretch/>
        </p:blipFill>
        <p:spPr>
          <a:xfrm>
            <a:off x="111051" y="3291730"/>
            <a:ext cx="453955" cy="1713037"/>
          </a:xfrm>
          <a:prstGeom prst="rect">
            <a:avLst/>
          </a:prstGeom>
          <a:noFill/>
          <a:ln>
            <a:noFill/>
          </a:ln>
        </p:spPr>
      </p:pic>
      <p:sp>
        <p:nvSpPr>
          <p:cNvPr id="354" name="Google Shape;354;p35"/>
          <p:cNvSpPr txBox="1"/>
          <p:nvPr/>
        </p:nvSpPr>
        <p:spPr>
          <a:xfrm>
            <a:off x="2142382" y="260596"/>
            <a:ext cx="2817300" cy="738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lang="en" sz="2000">
                <a:solidFill>
                  <a:srgbClr val="042B60"/>
                </a:solidFill>
                <a:latin typeface="Poppins ExtraBold"/>
                <a:ea typeface="Poppins ExtraBold"/>
                <a:cs typeface="Poppins ExtraBold"/>
                <a:sym typeface="Poppins ExtraBold"/>
              </a:rPr>
              <a:t>EXPLICAREA</a:t>
            </a:r>
            <a:endParaRPr sz="2000">
              <a:solidFill>
                <a:srgbClr val="042B60"/>
              </a:solidFill>
              <a:latin typeface="Poppins ExtraBold"/>
              <a:ea typeface="Poppins ExtraBold"/>
              <a:cs typeface="Poppins ExtraBold"/>
              <a:sym typeface="Poppins ExtraBold"/>
            </a:endParaRPr>
          </a:p>
          <a:p>
            <a:pPr indent="0" lvl="0" marL="0" marR="0" rtl="0" algn="ctr">
              <a:lnSpc>
                <a:spcPct val="140004"/>
              </a:lnSpc>
              <a:spcBef>
                <a:spcPts val="0"/>
              </a:spcBef>
              <a:spcAft>
                <a:spcPts val="0"/>
              </a:spcAft>
              <a:buNone/>
            </a:pPr>
            <a:r>
              <a:rPr b="0" i="0" lang="en" sz="2000" u="none" cap="none" strike="noStrike">
                <a:solidFill>
                  <a:srgbClr val="042B60"/>
                </a:solidFill>
                <a:latin typeface="Poppins ExtraBold"/>
                <a:ea typeface="Poppins ExtraBold"/>
                <a:cs typeface="Poppins ExtraBold"/>
                <a:sym typeface="Poppins ExtraBold"/>
              </a:rPr>
              <a:t>FUNC</a:t>
            </a:r>
            <a:r>
              <a:rPr lang="en" sz="2000">
                <a:solidFill>
                  <a:srgbClr val="042B60"/>
                </a:solidFill>
                <a:latin typeface="Poppins ExtraBold"/>
                <a:ea typeface="Poppins ExtraBold"/>
                <a:cs typeface="Poppins ExtraBold"/>
                <a:sym typeface="Poppins ExtraBold"/>
              </a:rPr>
              <a:t>Ț</a:t>
            </a:r>
            <a:r>
              <a:rPr b="0" i="0" lang="en" sz="2000" u="none" cap="none" strike="noStrike">
                <a:solidFill>
                  <a:srgbClr val="042B60"/>
                </a:solidFill>
                <a:latin typeface="Poppins ExtraBold"/>
                <a:ea typeface="Poppins ExtraBold"/>
                <a:cs typeface="Poppins ExtraBold"/>
                <a:sym typeface="Poppins ExtraBold"/>
              </a:rPr>
              <a:t>IONALIT</a:t>
            </a:r>
            <a:r>
              <a:rPr lang="en" sz="2000">
                <a:solidFill>
                  <a:srgbClr val="042B60"/>
                </a:solidFill>
                <a:latin typeface="Poppins ExtraBold"/>
                <a:ea typeface="Poppins ExtraBold"/>
                <a:cs typeface="Poppins ExtraBold"/>
                <a:sym typeface="Poppins ExtraBold"/>
              </a:rPr>
              <a:t>ĂȚ</a:t>
            </a:r>
            <a:r>
              <a:rPr b="0" i="0" lang="en" sz="2000" u="none" cap="none" strike="noStrike">
                <a:solidFill>
                  <a:srgbClr val="042B60"/>
                </a:solidFill>
                <a:latin typeface="Poppins ExtraBold"/>
                <a:ea typeface="Poppins ExtraBold"/>
                <a:cs typeface="Poppins ExtraBold"/>
                <a:sym typeface="Poppins ExtraBold"/>
              </a:rPr>
              <a:t>II</a:t>
            </a:r>
            <a:endParaRPr sz="700"/>
          </a:p>
        </p:txBody>
      </p:sp>
      <p:pic>
        <p:nvPicPr>
          <p:cNvPr id="355" name="Google Shape;355;p35"/>
          <p:cNvPicPr preferRelativeResize="0"/>
          <p:nvPr/>
        </p:nvPicPr>
        <p:blipFill rotWithShape="1">
          <a:blip r:embed="rId7">
            <a:alphaModFix/>
          </a:blip>
          <a:srcRect b="0" l="0" r="0" t="0"/>
          <a:stretch/>
        </p:blipFill>
        <p:spPr>
          <a:xfrm>
            <a:off x="2004632" y="-107555"/>
            <a:ext cx="3092786" cy="1701032"/>
          </a:xfrm>
          <a:prstGeom prst="rect">
            <a:avLst/>
          </a:prstGeom>
          <a:noFill/>
          <a:ln>
            <a:noFill/>
          </a:ln>
        </p:spPr>
      </p:pic>
      <p:sp>
        <p:nvSpPr>
          <p:cNvPr id="356" name="Google Shape;356;p35"/>
          <p:cNvSpPr txBox="1"/>
          <p:nvPr/>
        </p:nvSpPr>
        <p:spPr>
          <a:xfrm>
            <a:off x="421450" y="1637850"/>
            <a:ext cx="8231400" cy="1693200"/>
          </a:xfrm>
          <a:prstGeom prst="rect">
            <a:avLst/>
          </a:prstGeom>
          <a:noFill/>
          <a:ln>
            <a:noFill/>
          </a:ln>
        </p:spPr>
        <p:txBody>
          <a:bodyPr anchorCtr="0" anchor="t" bIns="91425" lIns="91425" spcFirstLastPara="1" rIns="91425" wrap="square" tIns="91425">
            <a:spAutoFit/>
          </a:bodyPr>
          <a:lstStyle/>
          <a:p>
            <a:pPr indent="457200" lvl="0" marL="0" rtl="0" algn="just">
              <a:spcBef>
                <a:spcPts val="0"/>
              </a:spcBef>
              <a:spcAft>
                <a:spcPts val="0"/>
              </a:spcAft>
              <a:buNone/>
            </a:pPr>
            <a:r>
              <a:rPr lang="en">
                <a:latin typeface="Calibri"/>
                <a:ea typeface="Calibri"/>
                <a:cs typeface="Calibri"/>
                <a:sym typeface="Calibri"/>
              </a:rPr>
              <a:t>După cele 4 variante de mai devreme, acum aparatul merge în starea S24(010010), unde se așteaptă de la utilizator dacă se vrea gheață. În caz afirmativ, se trece în starea S19(010011), altfel în starea S18(010101). Din starea S19 se merge în S20(010110) pentru gheață mai puțină sau S21(010100) pentru gheață mai multă.</a:t>
            </a:r>
            <a:endParaRPr>
              <a:latin typeface="Calibri"/>
              <a:ea typeface="Calibri"/>
              <a:cs typeface="Calibri"/>
              <a:sym typeface="Calibri"/>
            </a:endParaRPr>
          </a:p>
          <a:p>
            <a:pPr indent="457200" lvl="0" marL="0" rtl="0" algn="just">
              <a:spcBef>
                <a:spcPts val="0"/>
              </a:spcBef>
              <a:spcAft>
                <a:spcPts val="0"/>
              </a:spcAft>
              <a:buNone/>
            </a:pPr>
            <a:r>
              <a:rPr lang="en">
                <a:latin typeface="Calibri"/>
                <a:ea typeface="Calibri"/>
                <a:cs typeface="Calibri"/>
                <a:sym typeface="Calibri"/>
              </a:rPr>
              <a:t>În S22, respectiv S23 se adaugă cantitatea de gheață dorită.</a:t>
            </a:r>
            <a:endParaRPr>
              <a:latin typeface="Calibri"/>
              <a:ea typeface="Calibri"/>
              <a:cs typeface="Calibri"/>
              <a:sym typeface="Calibri"/>
            </a:endParaRPr>
          </a:p>
          <a:p>
            <a:pPr indent="457200" lvl="0" marL="0" rtl="0" algn="just">
              <a:spcBef>
                <a:spcPts val="0"/>
              </a:spcBef>
              <a:spcAft>
                <a:spcPts val="0"/>
              </a:spcAft>
              <a:buNone/>
            </a:pPr>
            <a:r>
              <a:rPr lang="en">
                <a:latin typeface="Calibri"/>
                <a:ea typeface="Calibri"/>
                <a:cs typeface="Calibri"/>
                <a:sym typeface="Calibri"/>
              </a:rPr>
              <a:t>La final, după alegerea apei sau a tuturor variantelor de suc, aparatul ajunge în starea S25(01111), unde se livrează băutura. După ce aceasta este ridicată de către client, se tece la starea de END/S26 (011001).</a:t>
            </a:r>
            <a:endParaRPr>
              <a:latin typeface="Calibri"/>
              <a:ea typeface="Calibri"/>
              <a:cs typeface="Calibri"/>
              <a:sym typeface="Calibri"/>
            </a:endParaRPr>
          </a:p>
          <a:p>
            <a:pPr indent="457200" lvl="0" marL="0" rtl="0" algn="just">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36"/>
          <p:cNvPicPr preferRelativeResize="0"/>
          <p:nvPr/>
        </p:nvPicPr>
        <p:blipFill rotWithShape="1">
          <a:blip r:embed="rId3">
            <a:alphaModFix amt="60000"/>
          </a:blip>
          <a:srcRect b="0" l="0" r="0" t="0"/>
          <a:stretch/>
        </p:blipFill>
        <p:spPr>
          <a:xfrm rot="8955689">
            <a:off x="6982360" y="663510"/>
            <a:ext cx="1341333" cy="1238903"/>
          </a:xfrm>
          <a:prstGeom prst="rect">
            <a:avLst/>
          </a:prstGeom>
          <a:noFill/>
          <a:ln>
            <a:noFill/>
          </a:ln>
        </p:spPr>
      </p:pic>
      <p:pic>
        <p:nvPicPr>
          <p:cNvPr id="362" name="Google Shape;362;p36"/>
          <p:cNvPicPr preferRelativeResize="0"/>
          <p:nvPr/>
        </p:nvPicPr>
        <p:blipFill rotWithShape="1">
          <a:blip r:embed="rId4">
            <a:alphaModFix amt="60000"/>
          </a:blip>
          <a:srcRect b="0" l="0" r="0" t="0"/>
          <a:stretch/>
        </p:blipFill>
        <p:spPr>
          <a:xfrm rot="-5444310">
            <a:off x="6999259" y="574992"/>
            <a:ext cx="1371576" cy="1266837"/>
          </a:xfrm>
          <a:prstGeom prst="rect">
            <a:avLst/>
          </a:prstGeom>
          <a:noFill/>
          <a:ln>
            <a:noFill/>
          </a:ln>
        </p:spPr>
      </p:pic>
      <p:pic>
        <p:nvPicPr>
          <p:cNvPr id="363" name="Google Shape;363;p36"/>
          <p:cNvPicPr preferRelativeResize="0"/>
          <p:nvPr/>
        </p:nvPicPr>
        <p:blipFill rotWithShape="1">
          <a:blip r:embed="rId5">
            <a:alphaModFix amt="60000"/>
          </a:blip>
          <a:srcRect b="0" l="0" r="0" t="0"/>
          <a:stretch/>
        </p:blipFill>
        <p:spPr>
          <a:xfrm rot="7200000">
            <a:off x="7275945" y="1998505"/>
            <a:ext cx="2612790" cy="2413267"/>
          </a:xfrm>
          <a:prstGeom prst="rect">
            <a:avLst/>
          </a:prstGeom>
          <a:noFill/>
          <a:ln>
            <a:noFill/>
          </a:ln>
        </p:spPr>
      </p:pic>
      <p:pic>
        <p:nvPicPr>
          <p:cNvPr id="364" name="Google Shape;364;p36"/>
          <p:cNvPicPr preferRelativeResize="0"/>
          <p:nvPr/>
        </p:nvPicPr>
        <p:blipFill rotWithShape="1">
          <a:blip r:embed="rId4">
            <a:alphaModFix amt="60000"/>
          </a:blip>
          <a:srcRect b="0" l="0" r="0" t="0"/>
          <a:stretch/>
        </p:blipFill>
        <p:spPr>
          <a:xfrm>
            <a:off x="7527332" y="1753721"/>
            <a:ext cx="2555178" cy="2360056"/>
          </a:xfrm>
          <a:prstGeom prst="rect">
            <a:avLst/>
          </a:prstGeom>
          <a:noFill/>
          <a:ln>
            <a:noFill/>
          </a:ln>
        </p:spPr>
      </p:pic>
      <p:pic>
        <p:nvPicPr>
          <p:cNvPr id="365" name="Google Shape;365;p36"/>
          <p:cNvPicPr preferRelativeResize="0"/>
          <p:nvPr/>
        </p:nvPicPr>
        <p:blipFill rotWithShape="1">
          <a:blip r:embed="rId3">
            <a:alphaModFix amt="60000"/>
          </a:blip>
          <a:srcRect b="0" l="0" r="0" t="0"/>
          <a:stretch/>
        </p:blipFill>
        <p:spPr>
          <a:xfrm rot="8955689">
            <a:off x="8560277" y="778725"/>
            <a:ext cx="489287" cy="451923"/>
          </a:xfrm>
          <a:prstGeom prst="rect">
            <a:avLst/>
          </a:prstGeom>
          <a:noFill/>
          <a:ln>
            <a:noFill/>
          </a:ln>
        </p:spPr>
      </p:pic>
      <p:pic>
        <p:nvPicPr>
          <p:cNvPr id="366" name="Google Shape;366;p36"/>
          <p:cNvPicPr preferRelativeResize="0"/>
          <p:nvPr/>
        </p:nvPicPr>
        <p:blipFill rotWithShape="1">
          <a:blip r:embed="rId4">
            <a:alphaModFix amt="60000"/>
          </a:blip>
          <a:srcRect b="0" l="0" r="0" t="0"/>
          <a:stretch/>
        </p:blipFill>
        <p:spPr>
          <a:xfrm rot="-5444310">
            <a:off x="8566441" y="746435"/>
            <a:ext cx="500319" cy="462113"/>
          </a:xfrm>
          <a:prstGeom prst="rect">
            <a:avLst/>
          </a:prstGeom>
          <a:noFill/>
          <a:ln>
            <a:noFill/>
          </a:ln>
        </p:spPr>
      </p:pic>
      <p:pic>
        <p:nvPicPr>
          <p:cNvPr id="367" name="Google Shape;367;p36"/>
          <p:cNvPicPr preferRelativeResize="0"/>
          <p:nvPr/>
        </p:nvPicPr>
        <p:blipFill rotWithShape="1">
          <a:blip r:embed="rId6">
            <a:alphaModFix/>
          </a:blip>
          <a:srcRect b="0" l="0" r="0" t="0"/>
          <a:stretch/>
        </p:blipFill>
        <p:spPr>
          <a:xfrm>
            <a:off x="7589050" y="3029603"/>
            <a:ext cx="1476404" cy="2008712"/>
          </a:xfrm>
          <a:prstGeom prst="rect">
            <a:avLst/>
          </a:prstGeom>
          <a:noFill/>
          <a:ln>
            <a:noFill/>
          </a:ln>
        </p:spPr>
      </p:pic>
      <p:sp>
        <p:nvSpPr>
          <p:cNvPr id="368" name="Google Shape;368;p36"/>
          <p:cNvSpPr txBox="1"/>
          <p:nvPr/>
        </p:nvSpPr>
        <p:spPr>
          <a:xfrm>
            <a:off x="301718" y="417223"/>
            <a:ext cx="6233100" cy="338700"/>
          </a:xfrm>
          <a:prstGeom prst="rect">
            <a:avLst/>
          </a:prstGeom>
          <a:noFill/>
          <a:ln>
            <a:noFill/>
          </a:ln>
        </p:spPr>
        <p:txBody>
          <a:bodyPr anchorCtr="0" anchor="t" bIns="0" lIns="0" spcFirstLastPara="1" rIns="0" wrap="square" tIns="0">
            <a:spAutoFit/>
          </a:bodyPr>
          <a:lstStyle/>
          <a:p>
            <a:pPr indent="0" lvl="0" marL="0" marR="0" rtl="0" algn="ctr">
              <a:lnSpc>
                <a:spcPct val="128993"/>
              </a:lnSpc>
              <a:spcBef>
                <a:spcPts val="0"/>
              </a:spcBef>
              <a:spcAft>
                <a:spcPts val="0"/>
              </a:spcAft>
              <a:buNone/>
            </a:pPr>
            <a:r>
              <a:rPr b="0" i="0" lang="en" sz="2200" u="none" cap="none" strike="noStrike">
                <a:solidFill>
                  <a:srgbClr val="042B60"/>
                </a:solidFill>
                <a:latin typeface="Poppins ExtraBold"/>
                <a:ea typeface="Poppins ExtraBold"/>
                <a:cs typeface="Poppins ExtraBold"/>
                <a:sym typeface="Poppins ExtraBold"/>
              </a:rPr>
              <a:t>CALCULUL LUNGIMII MICROINSTRUC</a:t>
            </a:r>
            <a:r>
              <a:rPr lang="en" sz="2200">
                <a:solidFill>
                  <a:srgbClr val="042B60"/>
                </a:solidFill>
                <a:latin typeface="Poppins ExtraBold"/>
                <a:ea typeface="Poppins ExtraBold"/>
                <a:cs typeface="Poppins ExtraBold"/>
                <a:sym typeface="Poppins ExtraBold"/>
              </a:rPr>
              <a:t>Ț</a:t>
            </a:r>
            <a:r>
              <a:rPr b="0" i="0" lang="en" sz="2200" u="none" cap="none" strike="noStrike">
                <a:solidFill>
                  <a:srgbClr val="042B60"/>
                </a:solidFill>
                <a:latin typeface="Poppins ExtraBold"/>
                <a:ea typeface="Poppins ExtraBold"/>
                <a:cs typeface="Poppins ExtraBold"/>
                <a:sym typeface="Poppins ExtraBold"/>
              </a:rPr>
              <a:t>IUNII</a:t>
            </a:r>
            <a:endParaRPr sz="700"/>
          </a:p>
        </p:txBody>
      </p:sp>
      <p:sp>
        <p:nvSpPr>
          <p:cNvPr id="369" name="Google Shape;369;p36"/>
          <p:cNvSpPr/>
          <p:nvPr/>
        </p:nvSpPr>
        <p:spPr>
          <a:xfrm>
            <a:off x="496579" y="1669725"/>
            <a:ext cx="6541800" cy="2748600"/>
          </a:xfrm>
          <a:prstGeom prst="roundRect">
            <a:avLst>
              <a:gd fmla="val 11109" name="adj"/>
            </a:avLst>
          </a:prstGeom>
          <a:solidFill>
            <a:srgbClr val="000000"/>
          </a:solid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70" name="Google Shape;370;p36"/>
          <p:cNvSpPr/>
          <p:nvPr/>
        </p:nvSpPr>
        <p:spPr>
          <a:xfrm>
            <a:off x="301729" y="1365175"/>
            <a:ext cx="6541800" cy="2748600"/>
          </a:xfrm>
          <a:prstGeom prst="roundRect">
            <a:avLst>
              <a:gd fmla="val 11109" name="adj"/>
            </a:avLst>
          </a:prstGeom>
          <a:solidFill>
            <a:schemeClr val="accent6"/>
          </a:solid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a:solidFill>
                <a:srgbClr val="FFFFFF"/>
              </a:solidFill>
            </a:endParaRPr>
          </a:p>
          <a:p>
            <a:pPr indent="0" lvl="0" marL="0" marR="0" rtl="0" algn="ctr">
              <a:lnSpc>
                <a:spcPct val="100000"/>
              </a:lnSpc>
              <a:spcBef>
                <a:spcPts val="0"/>
              </a:spcBef>
              <a:spcAft>
                <a:spcPts val="0"/>
              </a:spcAft>
              <a:buNone/>
            </a:pPr>
            <a:r>
              <a:rPr b="1" lang="en">
                <a:solidFill>
                  <a:srgbClr val="FFFFFF"/>
                </a:solidFill>
              </a:rPr>
              <a:t>Cele 11 output-uri se codifică pe 11 biți. Intrările sunt în număr de 8, deci se codifică pe 3 biți, iar cele 27 de stări sunt codificate pe 5 biți. Așadar lungimea microinstrucțiunii este 12.</a:t>
            </a:r>
            <a:endParaRPr b="1">
              <a:solidFill>
                <a:srgbClr val="FFFFFF"/>
              </a:solidFill>
            </a:endParaRPr>
          </a:p>
          <a:p>
            <a:pPr indent="0" lvl="0" marL="0" marR="0" rtl="0" algn="ctr">
              <a:lnSpc>
                <a:spcPct val="100000"/>
              </a:lnSpc>
              <a:spcBef>
                <a:spcPts val="0"/>
              </a:spcBef>
              <a:spcAft>
                <a:spcPts val="0"/>
              </a:spcAft>
              <a:buNone/>
            </a:pPr>
            <a:r>
              <a:t/>
            </a:r>
            <a:endParaRPr>
              <a:solidFill>
                <a:srgbClr val="FFFFFF"/>
              </a:solidFill>
              <a:latin typeface="Lato Black"/>
              <a:ea typeface="Lato Black"/>
              <a:cs typeface="Lato Black"/>
              <a:sym typeface="Lato Black"/>
            </a:endParaRPr>
          </a:p>
          <a:p>
            <a:pPr indent="0" lvl="0" marL="0" marR="0" rtl="0" algn="ctr">
              <a:lnSpc>
                <a:spcPct val="100000"/>
              </a:lnSpc>
              <a:spcBef>
                <a:spcPts val="0"/>
              </a:spcBef>
              <a:spcAft>
                <a:spcPts val="0"/>
              </a:spcAft>
              <a:buNone/>
            </a:pPr>
            <a:r>
              <a:rPr b="1" lang="en">
                <a:solidFill>
                  <a:srgbClr val="FFFFFF"/>
                </a:solidFill>
                <a:latin typeface="Cambria Math"/>
                <a:ea typeface="Cambria Math"/>
                <a:cs typeface="Cambria Math"/>
                <a:sym typeface="Cambria Math"/>
              </a:rPr>
              <a:t>L</a:t>
            </a:r>
            <a:r>
              <a:rPr b="1" baseline="-25000" lang="en">
                <a:solidFill>
                  <a:srgbClr val="FFFFFF"/>
                </a:solidFill>
                <a:latin typeface="Cambria Math"/>
                <a:ea typeface="Cambria Math"/>
                <a:cs typeface="Cambria Math"/>
                <a:sym typeface="Cambria Math"/>
              </a:rPr>
              <a:t>μTip0</a:t>
            </a:r>
            <a:r>
              <a:rPr b="1" lang="en">
                <a:solidFill>
                  <a:srgbClr val="FFFFFF"/>
                </a:solidFill>
                <a:latin typeface="Cambria Math"/>
                <a:ea typeface="Cambria Math"/>
                <a:cs typeface="Cambria Math"/>
                <a:sym typeface="Cambria Math"/>
              </a:rPr>
              <a:t>= 1 + n</a:t>
            </a:r>
            <a:r>
              <a:rPr b="1" baseline="-25000" lang="en">
                <a:solidFill>
                  <a:srgbClr val="FFFFFF"/>
                </a:solidFill>
                <a:latin typeface="Cambria Math"/>
                <a:ea typeface="Cambria Math"/>
                <a:cs typeface="Cambria Math"/>
                <a:sym typeface="Cambria Math"/>
              </a:rPr>
              <a:t>ci</a:t>
            </a:r>
            <a:r>
              <a:rPr b="1" lang="en">
                <a:solidFill>
                  <a:srgbClr val="FFFFFF"/>
                </a:solidFill>
                <a:latin typeface="Cambria Math"/>
                <a:ea typeface="Cambria Math"/>
                <a:cs typeface="Cambria Math"/>
                <a:sym typeface="Cambria Math"/>
              </a:rPr>
              <a:t>+ </a:t>
            </a:r>
            <a:r>
              <a:rPr b="1" lang="en">
                <a:solidFill>
                  <a:srgbClr val="FFFFFF"/>
                </a:solidFill>
                <a:latin typeface="Cambria Math"/>
                <a:ea typeface="Cambria Math"/>
                <a:cs typeface="Cambria Math"/>
                <a:sym typeface="Cambria Math"/>
              </a:rPr>
              <a:t>n</a:t>
            </a:r>
            <a:r>
              <a:rPr b="1" baseline="-25000" lang="en">
                <a:solidFill>
                  <a:srgbClr val="FFFFFF"/>
                </a:solidFill>
                <a:latin typeface="Cambria Math"/>
                <a:ea typeface="Cambria Math"/>
                <a:cs typeface="Cambria Math"/>
                <a:sym typeface="Cambria Math"/>
              </a:rPr>
              <a:t>ADR0</a:t>
            </a:r>
            <a:r>
              <a:rPr b="1" lang="en">
                <a:solidFill>
                  <a:srgbClr val="FFFFFF"/>
                </a:solidFill>
                <a:latin typeface="Cambria Math"/>
                <a:ea typeface="Cambria Math"/>
                <a:cs typeface="Cambria Math"/>
                <a:sym typeface="Cambria Math"/>
              </a:rPr>
              <a:t>= 1 + 3 + 5 = 9</a:t>
            </a:r>
            <a:endParaRPr b="1">
              <a:solidFill>
                <a:srgbClr val="FFFFFF"/>
              </a:solidFill>
              <a:latin typeface="Cambria Math"/>
              <a:ea typeface="Cambria Math"/>
              <a:cs typeface="Cambria Math"/>
              <a:sym typeface="Cambria Math"/>
            </a:endParaRPr>
          </a:p>
          <a:p>
            <a:pPr indent="0" lvl="0" marL="0" marR="0" rtl="0" algn="ctr">
              <a:lnSpc>
                <a:spcPct val="100000"/>
              </a:lnSpc>
              <a:spcBef>
                <a:spcPts val="0"/>
              </a:spcBef>
              <a:spcAft>
                <a:spcPts val="0"/>
              </a:spcAft>
              <a:buNone/>
            </a:pPr>
            <a:r>
              <a:t/>
            </a:r>
            <a:endParaRPr b="1">
              <a:solidFill>
                <a:srgbClr val="FFFFFF"/>
              </a:solidFill>
              <a:latin typeface="Cambria Math"/>
              <a:ea typeface="Cambria Math"/>
              <a:cs typeface="Cambria Math"/>
              <a:sym typeface="Cambria Math"/>
            </a:endParaRPr>
          </a:p>
          <a:p>
            <a:pPr indent="0" lvl="0" marL="0" rtl="0" algn="ctr">
              <a:spcBef>
                <a:spcPts val="0"/>
              </a:spcBef>
              <a:spcAft>
                <a:spcPts val="0"/>
              </a:spcAft>
              <a:buNone/>
            </a:pPr>
            <a:r>
              <a:rPr b="1" lang="en">
                <a:solidFill>
                  <a:schemeClr val="lt1"/>
                </a:solidFill>
                <a:latin typeface="Cambria Math"/>
                <a:ea typeface="Cambria Math"/>
                <a:cs typeface="Cambria Math"/>
                <a:sym typeface="Cambria Math"/>
              </a:rPr>
              <a:t>L</a:t>
            </a:r>
            <a:r>
              <a:rPr b="1" baseline="-25000" lang="en">
                <a:solidFill>
                  <a:schemeClr val="lt1"/>
                </a:solidFill>
                <a:latin typeface="Cambria Math"/>
                <a:ea typeface="Cambria Math"/>
                <a:cs typeface="Cambria Math"/>
                <a:sym typeface="Cambria Math"/>
              </a:rPr>
              <a:t>μTip1</a:t>
            </a:r>
            <a:r>
              <a:rPr b="1" lang="en">
                <a:solidFill>
                  <a:schemeClr val="lt1"/>
                </a:solidFill>
                <a:latin typeface="Cambria Math"/>
                <a:ea typeface="Cambria Math"/>
                <a:cs typeface="Cambria Math"/>
                <a:sym typeface="Cambria Math"/>
              </a:rPr>
              <a:t>= 1 + n</a:t>
            </a:r>
            <a:r>
              <a:rPr b="1" baseline="-25000" lang="en">
                <a:solidFill>
                  <a:schemeClr val="lt1"/>
                </a:solidFill>
                <a:latin typeface="Cambria Math"/>
                <a:ea typeface="Cambria Math"/>
                <a:cs typeface="Cambria Math"/>
                <a:sym typeface="Cambria Math"/>
              </a:rPr>
              <a:t>OUT</a:t>
            </a:r>
            <a:r>
              <a:rPr b="1" lang="en">
                <a:solidFill>
                  <a:schemeClr val="lt1"/>
                </a:solidFill>
                <a:latin typeface="Cambria Math"/>
                <a:ea typeface="Cambria Math"/>
                <a:cs typeface="Cambria Math"/>
                <a:sym typeface="Cambria Math"/>
              </a:rPr>
              <a:t>= 1 + 11 = 12</a:t>
            </a:r>
            <a:endParaRPr b="1">
              <a:solidFill>
                <a:schemeClr val="lt1"/>
              </a:solidFill>
              <a:latin typeface="Cambria Math"/>
              <a:ea typeface="Cambria Math"/>
              <a:cs typeface="Cambria Math"/>
              <a:sym typeface="Cambria Math"/>
            </a:endParaRPr>
          </a:p>
          <a:p>
            <a:pPr indent="0" lvl="0" marL="0" rtl="0" algn="ctr">
              <a:spcBef>
                <a:spcPts val="0"/>
              </a:spcBef>
              <a:spcAft>
                <a:spcPts val="0"/>
              </a:spcAft>
              <a:buNone/>
            </a:pPr>
            <a:r>
              <a:t/>
            </a:r>
            <a:endParaRPr b="1">
              <a:solidFill>
                <a:schemeClr val="lt1"/>
              </a:solidFill>
              <a:latin typeface="Cambria Math"/>
              <a:ea typeface="Cambria Math"/>
              <a:cs typeface="Cambria Math"/>
              <a:sym typeface="Cambria Math"/>
            </a:endParaRPr>
          </a:p>
          <a:p>
            <a:pPr indent="0" lvl="0" marL="0" rtl="0" algn="ctr">
              <a:lnSpc>
                <a:spcPct val="75000"/>
              </a:lnSpc>
              <a:spcBef>
                <a:spcPts val="0"/>
              </a:spcBef>
              <a:spcAft>
                <a:spcPts val="0"/>
              </a:spcAft>
              <a:buNone/>
            </a:pPr>
            <a:r>
              <a:rPr b="1" lang="en">
                <a:solidFill>
                  <a:schemeClr val="lt1"/>
                </a:solidFill>
                <a:latin typeface="Cambria Math"/>
                <a:ea typeface="Cambria Math"/>
                <a:cs typeface="Cambria Math"/>
                <a:sym typeface="Cambria Math"/>
              </a:rPr>
              <a:t>L</a:t>
            </a:r>
            <a:r>
              <a:rPr b="1" baseline="-25000" lang="en">
                <a:solidFill>
                  <a:schemeClr val="lt1"/>
                </a:solidFill>
                <a:latin typeface="Cambria Math"/>
                <a:ea typeface="Cambria Math"/>
                <a:cs typeface="Cambria Math"/>
                <a:sym typeface="Cambria Math"/>
              </a:rPr>
              <a:t>μi</a:t>
            </a:r>
            <a:r>
              <a:rPr b="1" lang="en">
                <a:solidFill>
                  <a:schemeClr val="lt1"/>
                </a:solidFill>
                <a:latin typeface="Cambria Math"/>
                <a:ea typeface="Cambria Math"/>
                <a:cs typeface="Cambria Math"/>
                <a:sym typeface="Cambria Math"/>
              </a:rPr>
              <a:t>= 1 + max(n</a:t>
            </a:r>
            <a:r>
              <a:rPr b="1" baseline="-25000" lang="en">
                <a:solidFill>
                  <a:schemeClr val="lt1"/>
                </a:solidFill>
                <a:latin typeface="Cambria Math"/>
                <a:ea typeface="Cambria Math"/>
                <a:cs typeface="Cambria Math"/>
                <a:sym typeface="Cambria Math"/>
              </a:rPr>
              <a:t>ci </a:t>
            </a:r>
            <a:r>
              <a:rPr b="1" lang="en">
                <a:solidFill>
                  <a:schemeClr val="lt1"/>
                </a:solidFill>
                <a:latin typeface="Cambria Math"/>
                <a:ea typeface="Cambria Math"/>
                <a:cs typeface="Cambria Math"/>
                <a:sym typeface="Cambria Math"/>
              </a:rPr>
              <a:t>+ n</a:t>
            </a:r>
            <a:r>
              <a:rPr b="1" baseline="-25000" lang="en">
                <a:solidFill>
                  <a:schemeClr val="lt1"/>
                </a:solidFill>
                <a:latin typeface="Cambria Math"/>
                <a:ea typeface="Cambria Math"/>
                <a:cs typeface="Cambria Math"/>
                <a:sym typeface="Cambria Math"/>
              </a:rPr>
              <a:t>ADR0 </a:t>
            </a:r>
            <a:r>
              <a:rPr b="1" lang="en">
                <a:solidFill>
                  <a:schemeClr val="lt1"/>
                </a:solidFill>
                <a:latin typeface="Cambria Math"/>
                <a:ea typeface="Cambria Math"/>
                <a:cs typeface="Cambria Math"/>
                <a:sym typeface="Cambria Math"/>
              </a:rPr>
              <a:t>, n</a:t>
            </a:r>
            <a:r>
              <a:rPr b="1" baseline="-25000" lang="en">
                <a:solidFill>
                  <a:schemeClr val="lt1"/>
                </a:solidFill>
                <a:latin typeface="Cambria Math"/>
                <a:ea typeface="Cambria Math"/>
                <a:cs typeface="Cambria Math"/>
                <a:sym typeface="Cambria Math"/>
              </a:rPr>
              <a:t>OUT</a:t>
            </a:r>
            <a:r>
              <a:rPr b="1" lang="en">
                <a:solidFill>
                  <a:schemeClr val="lt1"/>
                </a:solidFill>
                <a:latin typeface="Cambria Math"/>
                <a:ea typeface="Cambria Math"/>
                <a:cs typeface="Cambria Math"/>
                <a:sym typeface="Cambria Math"/>
              </a:rPr>
              <a:t>)= 1 + max(8, 11) = 12</a:t>
            </a:r>
            <a:endParaRPr b="1">
              <a:solidFill>
                <a:schemeClr val="lt1"/>
              </a:solidFill>
              <a:latin typeface="Cambria Math"/>
              <a:ea typeface="Cambria Math"/>
              <a:cs typeface="Cambria Math"/>
              <a:sym typeface="Cambria Math"/>
            </a:endParaRPr>
          </a:p>
          <a:p>
            <a:pPr indent="0" lvl="0" marL="0" rtl="0" algn="l">
              <a:lnSpc>
                <a:spcPct val="75000"/>
              </a:lnSpc>
              <a:spcBef>
                <a:spcPts val="0"/>
              </a:spcBef>
              <a:spcAft>
                <a:spcPts val="0"/>
              </a:spcAft>
              <a:buNone/>
            </a:pPr>
            <a:r>
              <a:t/>
            </a:r>
            <a:endParaRPr b="1">
              <a:solidFill>
                <a:schemeClr val="lt1"/>
              </a:solidFill>
              <a:latin typeface="Cambria Math"/>
              <a:ea typeface="Cambria Math"/>
              <a:cs typeface="Cambria Math"/>
              <a:sym typeface="Cambria Math"/>
            </a:endParaRPr>
          </a:p>
          <a:p>
            <a:pPr indent="0" lvl="0" marL="0" rtl="0" algn="l">
              <a:lnSpc>
                <a:spcPct val="75000"/>
              </a:lnSpc>
              <a:spcBef>
                <a:spcPts val="0"/>
              </a:spcBef>
              <a:spcAft>
                <a:spcPts val="0"/>
              </a:spcAft>
              <a:buNone/>
            </a:pPr>
            <a:r>
              <a:rPr b="1" lang="en">
                <a:solidFill>
                  <a:schemeClr val="lt1"/>
                </a:solidFill>
                <a:latin typeface="Cambria Math"/>
                <a:ea typeface="Cambria Math"/>
                <a:cs typeface="Cambria Math"/>
                <a:sym typeface="Cambria Math"/>
              </a:rPr>
              <a:t>			Sau direct L</a:t>
            </a:r>
            <a:r>
              <a:rPr b="1" baseline="-25000" lang="en">
                <a:solidFill>
                  <a:schemeClr val="lt1"/>
                </a:solidFill>
                <a:latin typeface="Cambria Math"/>
                <a:ea typeface="Cambria Math"/>
                <a:cs typeface="Cambria Math"/>
                <a:sym typeface="Cambria Math"/>
              </a:rPr>
              <a:t>μi</a:t>
            </a:r>
            <a:r>
              <a:rPr b="1" lang="en">
                <a:solidFill>
                  <a:schemeClr val="lt1"/>
                </a:solidFill>
                <a:latin typeface="Cambria Math"/>
                <a:ea typeface="Cambria Math"/>
                <a:cs typeface="Cambria Math"/>
                <a:sym typeface="Cambria Math"/>
              </a:rPr>
              <a:t>= max(L</a:t>
            </a:r>
            <a:r>
              <a:rPr b="1" baseline="-25000" lang="en">
                <a:solidFill>
                  <a:schemeClr val="lt1"/>
                </a:solidFill>
                <a:latin typeface="Cambria Math"/>
                <a:ea typeface="Cambria Math"/>
                <a:cs typeface="Cambria Math"/>
                <a:sym typeface="Cambria Math"/>
              </a:rPr>
              <a:t>μTip0 </a:t>
            </a:r>
            <a:r>
              <a:rPr b="1" lang="en">
                <a:solidFill>
                  <a:schemeClr val="lt1"/>
                </a:solidFill>
                <a:latin typeface="Cambria Math"/>
                <a:ea typeface="Cambria Math"/>
                <a:cs typeface="Cambria Math"/>
                <a:sym typeface="Cambria Math"/>
              </a:rPr>
              <a:t>, L</a:t>
            </a:r>
            <a:r>
              <a:rPr b="1" baseline="-25000" lang="en">
                <a:solidFill>
                  <a:schemeClr val="lt1"/>
                </a:solidFill>
                <a:latin typeface="Cambria Math"/>
                <a:ea typeface="Cambria Math"/>
                <a:cs typeface="Cambria Math"/>
                <a:sym typeface="Cambria Math"/>
              </a:rPr>
              <a:t>μTip1</a:t>
            </a:r>
            <a:r>
              <a:rPr b="1" lang="en">
                <a:solidFill>
                  <a:schemeClr val="lt1"/>
                </a:solidFill>
                <a:latin typeface="Cambria Math"/>
                <a:ea typeface="Cambria Math"/>
                <a:cs typeface="Cambria Math"/>
                <a:sym typeface="Cambria Math"/>
              </a:rPr>
              <a:t>)= 12</a:t>
            </a:r>
            <a:endParaRPr b="1">
              <a:solidFill>
                <a:schemeClr val="lt1"/>
              </a:solidFill>
              <a:latin typeface="Cambria Math"/>
              <a:ea typeface="Cambria Math"/>
              <a:cs typeface="Cambria Math"/>
              <a:sym typeface="Cambria Math"/>
            </a:endParaRPr>
          </a:p>
          <a:p>
            <a:pPr indent="0" lvl="0" marL="0" rtl="0" algn="ctr">
              <a:spcBef>
                <a:spcPts val="0"/>
              </a:spcBef>
              <a:spcAft>
                <a:spcPts val="0"/>
              </a:spcAft>
              <a:buClr>
                <a:schemeClr val="dk1"/>
              </a:buClr>
              <a:buFont typeface="Arial"/>
              <a:buNone/>
            </a:pPr>
            <a:r>
              <a:t/>
            </a:r>
            <a:endParaRPr b="1">
              <a:solidFill>
                <a:schemeClr val="lt1"/>
              </a:solidFill>
              <a:latin typeface="Cambria Math"/>
              <a:ea typeface="Cambria Math"/>
              <a:cs typeface="Cambria Math"/>
              <a:sym typeface="Cambria Math"/>
            </a:endParaRPr>
          </a:p>
          <a:p>
            <a:pPr indent="0" lvl="0" marL="0" marR="0" rtl="0" algn="ctr">
              <a:lnSpc>
                <a:spcPct val="100000"/>
              </a:lnSpc>
              <a:spcBef>
                <a:spcPts val="0"/>
              </a:spcBef>
              <a:spcAft>
                <a:spcPts val="0"/>
              </a:spcAft>
              <a:buNone/>
            </a:pPr>
            <a:r>
              <a:t/>
            </a:r>
            <a:endParaRPr b="1">
              <a:solidFill>
                <a:srgbClr val="FFFFFF"/>
              </a:solidFill>
              <a:latin typeface="Cambria Math"/>
              <a:ea typeface="Cambria Math"/>
              <a:cs typeface="Cambria Math"/>
              <a:sym typeface="Cambria Math"/>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37"/>
          <p:cNvPicPr preferRelativeResize="0"/>
          <p:nvPr/>
        </p:nvPicPr>
        <p:blipFill rotWithShape="1">
          <a:blip r:embed="rId3">
            <a:alphaModFix amt="60000"/>
          </a:blip>
          <a:srcRect b="0" l="0" r="0" t="0"/>
          <a:stretch/>
        </p:blipFill>
        <p:spPr>
          <a:xfrm rot="8955689">
            <a:off x="6982360" y="663510"/>
            <a:ext cx="1341333" cy="1238903"/>
          </a:xfrm>
          <a:prstGeom prst="rect">
            <a:avLst/>
          </a:prstGeom>
          <a:noFill/>
          <a:ln>
            <a:noFill/>
          </a:ln>
        </p:spPr>
      </p:pic>
      <p:pic>
        <p:nvPicPr>
          <p:cNvPr id="376" name="Google Shape;376;p37"/>
          <p:cNvPicPr preferRelativeResize="0"/>
          <p:nvPr/>
        </p:nvPicPr>
        <p:blipFill rotWithShape="1">
          <a:blip r:embed="rId4">
            <a:alphaModFix amt="60000"/>
          </a:blip>
          <a:srcRect b="0" l="0" r="0" t="0"/>
          <a:stretch/>
        </p:blipFill>
        <p:spPr>
          <a:xfrm rot="-5444310">
            <a:off x="6999259" y="574992"/>
            <a:ext cx="1371576" cy="1266837"/>
          </a:xfrm>
          <a:prstGeom prst="rect">
            <a:avLst/>
          </a:prstGeom>
          <a:noFill/>
          <a:ln>
            <a:noFill/>
          </a:ln>
        </p:spPr>
      </p:pic>
      <p:pic>
        <p:nvPicPr>
          <p:cNvPr id="377" name="Google Shape;377;p37"/>
          <p:cNvPicPr preferRelativeResize="0"/>
          <p:nvPr/>
        </p:nvPicPr>
        <p:blipFill rotWithShape="1">
          <a:blip r:embed="rId5">
            <a:alphaModFix amt="60000"/>
          </a:blip>
          <a:srcRect b="0" l="0" r="0" t="0"/>
          <a:stretch/>
        </p:blipFill>
        <p:spPr>
          <a:xfrm rot="7200000">
            <a:off x="7275945" y="1998505"/>
            <a:ext cx="2612790" cy="2413267"/>
          </a:xfrm>
          <a:prstGeom prst="rect">
            <a:avLst/>
          </a:prstGeom>
          <a:noFill/>
          <a:ln>
            <a:noFill/>
          </a:ln>
        </p:spPr>
      </p:pic>
      <p:pic>
        <p:nvPicPr>
          <p:cNvPr id="378" name="Google Shape;378;p37"/>
          <p:cNvPicPr preferRelativeResize="0"/>
          <p:nvPr/>
        </p:nvPicPr>
        <p:blipFill rotWithShape="1">
          <a:blip r:embed="rId4">
            <a:alphaModFix amt="60000"/>
          </a:blip>
          <a:srcRect b="0" l="0" r="0" t="0"/>
          <a:stretch/>
        </p:blipFill>
        <p:spPr>
          <a:xfrm>
            <a:off x="7527332" y="1753721"/>
            <a:ext cx="2555178" cy="2360056"/>
          </a:xfrm>
          <a:prstGeom prst="rect">
            <a:avLst/>
          </a:prstGeom>
          <a:noFill/>
          <a:ln>
            <a:noFill/>
          </a:ln>
        </p:spPr>
      </p:pic>
      <p:pic>
        <p:nvPicPr>
          <p:cNvPr id="379" name="Google Shape;379;p37"/>
          <p:cNvPicPr preferRelativeResize="0"/>
          <p:nvPr/>
        </p:nvPicPr>
        <p:blipFill rotWithShape="1">
          <a:blip r:embed="rId3">
            <a:alphaModFix amt="60000"/>
          </a:blip>
          <a:srcRect b="0" l="0" r="0" t="0"/>
          <a:stretch/>
        </p:blipFill>
        <p:spPr>
          <a:xfrm rot="8955689">
            <a:off x="8560277" y="778725"/>
            <a:ext cx="489287" cy="451923"/>
          </a:xfrm>
          <a:prstGeom prst="rect">
            <a:avLst/>
          </a:prstGeom>
          <a:noFill/>
          <a:ln>
            <a:noFill/>
          </a:ln>
        </p:spPr>
      </p:pic>
      <p:pic>
        <p:nvPicPr>
          <p:cNvPr id="380" name="Google Shape;380;p37"/>
          <p:cNvPicPr preferRelativeResize="0"/>
          <p:nvPr/>
        </p:nvPicPr>
        <p:blipFill rotWithShape="1">
          <a:blip r:embed="rId4">
            <a:alphaModFix amt="60000"/>
          </a:blip>
          <a:srcRect b="0" l="0" r="0" t="0"/>
          <a:stretch/>
        </p:blipFill>
        <p:spPr>
          <a:xfrm rot="-5444310">
            <a:off x="8566441" y="746435"/>
            <a:ext cx="500319" cy="462113"/>
          </a:xfrm>
          <a:prstGeom prst="rect">
            <a:avLst/>
          </a:prstGeom>
          <a:noFill/>
          <a:ln>
            <a:noFill/>
          </a:ln>
        </p:spPr>
      </p:pic>
      <p:pic>
        <p:nvPicPr>
          <p:cNvPr id="381" name="Google Shape;381;p37"/>
          <p:cNvPicPr preferRelativeResize="0"/>
          <p:nvPr/>
        </p:nvPicPr>
        <p:blipFill rotWithShape="1">
          <a:blip r:embed="rId6">
            <a:alphaModFix/>
          </a:blip>
          <a:srcRect b="0" l="0" r="0" t="0"/>
          <a:stretch/>
        </p:blipFill>
        <p:spPr>
          <a:xfrm>
            <a:off x="7589050" y="3029603"/>
            <a:ext cx="1476404" cy="2008712"/>
          </a:xfrm>
          <a:prstGeom prst="rect">
            <a:avLst/>
          </a:prstGeom>
          <a:noFill/>
          <a:ln>
            <a:noFill/>
          </a:ln>
        </p:spPr>
      </p:pic>
      <p:sp>
        <p:nvSpPr>
          <p:cNvPr id="382" name="Google Shape;382;p37"/>
          <p:cNvSpPr txBox="1"/>
          <p:nvPr/>
        </p:nvSpPr>
        <p:spPr>
          <a:xfrm>
            <a:off x="243868" y="187423"/>
            <a:ext cx="6233100" cy="775500"/>
          </a:xfrm>
          <a:prstGeom prst="rect">
            <a:avLst/>
          </a:prstGeom>
          <a:noFill/>
          <a:ln>
            <a:noFill/>
          </a:ln>
        </p:spPr>
        <p:txBody>
          <a:bodyPr anchorCtr="0" anchor="t" bIns="0" lIns="0" spcFirstLastPara="1" rIns="0" wrap="square" tIns="0">
            <a:spAutoFit/>
          </a:bodyPr>
          <a:lstStyle/>
          <a:p>
            <a:pPr indent="0" lvl="0" marL="0" marR="0" rtl="0" algn="ctr">
              <a:lnSpc>
                <a:spcPct val="128994"/>
              </a:lnSpc>
              <a:spcBef>
                <a:spcPts val="0"/>
              </a:spcBef>
              <a:spcAft>
                <a:spcPts val="0"/>
              </a:spcAft>
              <a:buNone/>
            </a:pPr>
            <a:r>
              <a:rPr b="0" i="0" lang="en" sz="2200" u="none" cap="none" strike="noStrike">
                <a:solidFill>
                  <a:srgbClr val="042B60"/>
                </a:solidFill>
                <a:latin typeface="Poppins ExtraBold"/>
                <a:ea typeface="Poppins ExtraBold"/>
                <a:cs typeface="Poppins ExtraBold"/>
                <a:sym typeface="Poppins ExtraBold"/>
              </a:rPr>
              <a:t>CALCULUL LUNGIMII MICROINSTRUC</a:t>
            </a:r>
            <a:r>
              <a:rPr lang="en" sz="2200">
                <a:solidFill>
                  <a:srgbClr val="042B60"/>
                </a:solidFill>
                <a:latin typeface="Poppins ExtraBold"/>
                <a:ea typeface="Poppins ExtraBold"/>
                <a:cs typeface="Poppins ExtraBold"/>
                <a:sym typeface="Poppins ExtraBold"/>
              </a:rPr>
              <a:t>Ț</a:t>
            </a:r>
            <a:r>
              <a:rPr b="0" i="0" lang="en" sz="2200" u="none" cap="none" strike="noStrike">
                <a:solidFill>
                  <a:srgbClr val="042B60"/>
                </a:solidFill>
                <a:latin typeface="Poppins ExtraBold"/>
                <a:ea typeface="Poppins ExtraBold"/>
                <a:cs typeface="Poppins ExtraBold"/>
                <a:sym typeface="Poppins ExtraBold"/>
              </a:rPr>
              <a:t>IUNII</a:t>
            </a:r>
            <a:endParaRPr b="0" i="0" sz="2200" u="none" cap="none" strike="noStrike">
              <a:solidFill>
                <a:srgbClr val="042B60"/>
              </a:solidFill>
              <a:latin typeface="Poppins ExtraBold"/>
              <a:ea typeface="Poppins ExtraBold"/>
              <a:cs typeface="Poppins ExtraBold"/>
              <a:sym typeface="Poppins ExtraBold"/>
            </a:endParaRPr>
          </a:p>
          <a:p>
            <a:pPr indent="0" lvl="0" marL="0" marR="0" rtl="0" algn="ctr">
              <a:lnSpc>
                <a:spcPct val="128993"/>
              </a:lnSpc>
              <a:spcBef>
                <a:spcPts val="0"/>
              </a:spcBef>
              <a:spcAft>
                <a:spcPts val="0"/>
              </a:spcAft>
              <a:buNone/>
            </a:pPr>
            <a:r>
              <a:rPr lang="en" sz="2200">
                <a:solidFill>
                  <a:srgbClr val="042B60"/>
                </a:solidFill>
                <a:latin typeface="Poppins ExtraBold"/>
                <a:ea typeface="Poppins ExtraBold"/>
                <a:cs typeface="Poppins ExtraBold"/>
                <a:sym typeface="Poppins ExtraBold"/>
              </a:rPr>
              <a:t>ÎN FUNCȚIE DE MEMORIA ALEASĂ</a:t>
            </a:r>
            <a:endParaRPr sz="2200">
              <a:solidFill>
                <a:srgbClr val="042B60"/>
              </a:solidFill>
              <a:latin typeface="Poppins ExtraBold"/>
              <a:ea typeface="Poppins ExtraBold"/>
              <a:cs typeface="Poppins ExtraBold"/>
              <a:sym typeface="Poppins ExtraBold"/>
            </a:endParaRPr>
          </a:p>
        </p:txBody>
      </p:sp>
      <p:sp>
        <p:nvSpPr>
          <p:cNvPr id="383" name="Google Shape;383;p37"/>
          <p:cNvSpPr/>
          <p:nvPr/>
        </p:nvSpPr>
        <p:spPr>
          <a:xfrm>
            <a:off x="496579" y="1669725"/>
            <a:ext cx="6541800" cy="2748600"/>
          </a:xfrm>
          <a:prstGeom prst="roundRect">
            <a:avLst>
              <a:gd fmla="val 11109" name="adj"/>
            </a:avLst>
          </a:prstGeom>
          <a:solidFill>
            <a:srgbClr val="000000"/>
          </a:solid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84" name="Google Shape;384;p37"/>
          <p:cNvSpPr/>
          <p:nvPr/>
        </p:nvSpPr>
        <p:spPr>
          <a:xfrm>
            <a:off x="301729" y="1365175"/>
            <a:ext cx="6541800" cy="2748600"/>
          </a:xfrm>
          <a:prstGeom prst="roundRect">
            <a:avLst>
              <a:gd fmla="val 11109" name="adj"/>
            </a:avLst>
          </a:prstGeom>
          <a:solidFill>
            <a:schemeClr val="accent6"/>
          </a:solid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solidFill>
                <a:schemeClr val="lt1"/>
              </a:solidFill>
              <a:latin typeface="Cambria Math"/>
              <a:ea typeface="Cambria Math"/>
              <a:cs typeface="Cambria Math"/>
              <a:sym typeface="Cambria Math"/>
            </a:endParaRPr>
          </a:p>
          <a:p>
            <a:pPr indent="0" lvl="0" marL="0" marR="0" rtl="0" algn="ctr">
              <a:lnSpc>
                <a:spcPct val="100000"/>
              </a:lnSpc>
              <a:spcBef>
                <a:spcPts val="0"/>
              </a:spcBef>
              <a:spcAft>
                <a:spcPts val="0"/>
              </a:spcAft>
              <a:buNone/>
            </a:pPr>
            <a:r>
              <a:t/>
            </a:r>
            <a:endParaRPr b="1">
              <a:solidFill>
                <a:srgbClr val="FFFFFF"/>
              </a:solidFill>
              <a:latin typeface="Cambria Math"/>
              <a:ea typeface="Cambria Math"/>
              <a:cs typeface="Cambria Math"/>
              <a:sym typeface="Cambria Math"/>
            </a:endParaRPr>
          </a:p>
        </p:txBody>
      </p:sp>
      <p:sp>
        <p:nvSpPr>
          <p:cNvPr id="385" name="Google Shape;385;p37"/>
          <p:cNvSpPr/>
          <p:nvPr/>
        </p:nvSpPr>
        <p:spPr>
          <a:xfrm>
            <a:off x="301729" y="1365175"/>
            <a:ext cx="6541800" cy="2748600"/>
          </a:xfrm>
          <a:prstGeom prst="roundRect">
            <a:avLst>
              <a:gd fmla="val 11109" name="adj"/>
            </a:avLst>
          </a:prstGeom>
          <a:solidFill>
            <a:schemeClr val="accent6"/>
          </a:solid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sz="1800">
              <a:solidFill>
                <a:srgbClr val="FFFFFF"/>
              </a:solidFill>
            </a:endParaRPr>
          </a:p>
          <a:p>
            <a:pPr indent="0" lvl="0" marL="0" marR="0" rtl="0" algn="ctr">
              <a:lnSpc>
                <a:spcPct val="100000"/>
              </a:lnSpc>
              <a:spcBef>
                <a:spcPts val="0"/>
              </a:spcBef>
              <a:spcAft>
                <a:spcPts val="0"/>
              </a:spcAft>
              <a:buNone/>
            </a:pPr>
            <a:r>
              <a:rPr b="1" lang="en" sz="1800">
                <a:solidFill>
                  <a:srgbClr val="FFFFFF"/>
                </a:solidFill>
              </a:rPr>
              <a:t>Dacă se ține cont de memoria aleasă (64x4), pot adresa maxim 64 de stări cu un RA de 6 biți, deci 6 biți pentru stări:</a:t>
            </a:r>
            <a:endParaRPr b="1" sz="1800">
              <a:solidFill>
                <a:schemeClr val="lt1"/>
              </a:solidFill>
              <a:latin typeface="Cambria Math"/>
              <a:ea typeface="Cambria Math"/>
              <a:cs typeface="Cambria Math"/>
              <a:sym typeface="Cambria Math"/>
            </a:endParaRPr>
          </a:p>
          <a:p>
            <a:pPr indent="0" lvl="0" marL="0" rtl="0" algn="ctr">
              <a:spcBef>
                <a:spcPts val="0"/>
              </a:spcBef>
              <a:spcAft>
                <a:spcPts val="0"/>
              </a:spcAft>
              <a:buNone/>
            </a:pPr>
            <a:r>
              <a:t/>
            </a:r>
            <a:endParaRPr b="1" sz="1800">
              <a:solidFill>
                <a:schemeClr val="lt1"/>
              </a:solidFill>
              <a:latin typeface="Cambria Math"/>
              <a:ea typeface="Cambria Math"/>
              <a:cs typeface="Cambria Math"/>
              <a:sym typeface="Cambria Math"/>
            </a:endParaRPr>
          </a:p>
          <a:p>
            <a:pPr indent="0" lvl="0" marL="0" rtl="0" algn="ctr">
              <a:spcBef>
                <a:spcPts val="0"/>
              </a:spcBef>
              <a:spcAft>
                <a:spcPts val="0"/>
              </a:spcAft>
              <a:buNone/>
            </a:pPr>
            <a:r>
              <a:rPr b="1" lang="en" sz="1800">
                <a:solidFill>
                  <a:schemeClr val="lt1"/>
                </a:solidFill>
                <a:latin typeface="Cambria Math"/>
                <a:ea typeface="Cambria Math"/>
                <a:cs typeface="Cambria Math"/>
                <a:sym typeface="Cambria Math"/>
              </a:rPr>
              <a:t>L</a:t>
            </a:r>
            <a:r>
              <a:rPr b="1" baseline="-25000" lang="en" sz="1800">
                <a:solidFill>
                  <a:schemeClr val="lt1"/>
                </a:solidFill>
                <a:latin typeface="Cambria Math"/>
                <a:ea typeface="Cambria Math"/>
                <a:cs typeface="Cambria Math"/>
                <a:sym typeface="Cambria Math"/>
              </a:rPr>
              <a:t>μi</a:t>
            </a:r>
            <a:r>
              <a:rPr b="1" lang="en" sz="1800">
                <a:solidFill>
                  <a:schemeClr val="lt1"/>
                </a:solidFill>
                <a:latin typeface="Cambria Math"/>
                <a:ea typeface="Cambria Math"/>
                <a:cs typeface="Cambria Math"/>
                <a:sym typeface="Cambria Math"/>
              </a:rPr>
              <a:t>= 1 + max(n</a:t>
            </a:r>
            <a:r>
              <a:rPr b="1" baseline="-25000" lang="en" sz="1800">
                <a:solidFill>
                  <a:schemeClr val="lt1"/>
                </a:solidFill>
                <a:latin typeface="Cambria Math"/>
                <a:ea typeface="Cambria Math"/>
                <a:cs typeface="Cambria Math"/>
                <a:sym typeface="Cambria Math"/>
              </a:rPr>
              <a:t>ci</a:t>
            </a:r>
            <a:r>
              <a:rPr b="1" lang="en" sz="1800">
                <a:solidFill>
                  <a:schemeClr val="lt1"/>
                </a:solidFill>
                <a:latin typeface="Cambria Math"/>
                <a:ea typeface="Cambria Math"/>
                <a:cs typeface="Cambria Math"/>
                <a:sym typeface="Cambria Math"/>
              </a:rPr>
              <a:t>+n</a:t>
            </a:r>
            <a:r>
              <a:rPr b="1" baseline="-25000" lang="en" sz="1800">
                <a:solidFill>
                  <a:schemeClr val="lt1"/>
                </a:solidFill>
                <a:latin typeface="Cambria Math"/>
                <a:ea typeface="Cambria Math"/>
                <a:cs typeface="Cambria Math"/>
                <a:sym typeface="Cambria Math"/>
              </a:rPr>
              <a:t>ADR0 </a:t>
            </a:r>
            <a:r>
              <a:rPr b="1" lang="en" sz="1800">
                <a:solidFill>
                  <a:schemeClr val="lt1"/>
                </a:solidFill>
                <a:latin typeface="Cambria Math"/>
                <a:ea typeface="Cambria Math"/>
                <a:cs typeface="Cambria Math"/>
                <a:sym typeface="Cambria Math"/>
              </a:rPr>
              <a:t>, n</a:t>
            </a:r>
            <a:r>
              <a:rPr b="1" baseline="-25000" lang="en" sz="1800">
                <a:solidFill>
                  <a:schemeClr val="lt1"/>
                </a:solidFill>
                <a:latin typeface="Cambria Math"/>
                <a:ea typeface="Cambria Math"/>
                <a:cs typeface="Cambria Math"/>
                <a:sym typeface="Cambria Math"/>
              </a:rPr>
              <a:t>OUT</a:t>
            </a:r>
            <a:r>
              <a:rPr b="1" lang="en" sz="1800">
                <a:solidFill>
                  <a:schemeClr val="lt1"/>
                </a:solidFill>
                <a:latin typeface="Cambria Math"/>
                <a:ea typeface="Cambria Math"/>
                <a:cs typeface="Cambria Math"/>
                <a:sym typeface="Cambria Math"/>
              </a:rPr>
              <a:t>)= 1 + max(3 + 6, 11) = 12</a:t>
            </a:r>
            <a:endParaRPr b="1" sz="1800">
              <a:solidFill>
                <a:schemeClr val="lt1"/>
              </a:solidFill>
              <a:latin typeface="Cambria Math"/>
              <a:ea typeface="Cambria Math"/>
              <a:cs typeface="Cambria Math"/>
              <a:sym typeface="Cambria Math"/>
            </a:endParaRPr>
          </a:p>
          <a:p>
            <a:pPr indent="0" lvl="0" marL="0" rtl="0" algn="ctr">
              <a:spcBef>
                <a:spcPts val="0"/>
              </a:spcBef>
              <a:spcAft>
                <a:spcPts val="0"/>
              </a:spcAft>
              <a:buClr>
                <a:schemeClr val="dk1"/>
              </a:buClr>
              <a:buFont typeface="Arial"/>
              <a:buNone/>
            </a:pPr>
            <a:r>
              <a:t/>
            </a:r>
            <a:endParaRPr b="1">
              <a:solidFill>
                <a:schemeClr val="lt1"/>
              </a:solidFill>
              <a:latin typeface="Cambria Math"/>
              <a:ea typeface="Cambria Math"/>
              <a:cs typeface="Cambria Math"/>
              <a:sym typeface="Cambria Math"/>
            </a:endParaRPr>
          </a:p>
          <a:p>
            <a:pPr indent="0" lvl="0" marL="0" marR="0" rtl="0" algn="ctr">
              <a:lnSpc>
                <a:spcPct val="100000"/>
              </a:lnSpc>
              <a:spcBef>
                <a:spcPts val="0"/>
              </a:spcBef>
              <a:spcAft>
                <a:spcPts val="0"/>
              </a:spcAft>
              <a:buNone/>
            </a:pPr>
            <a:r>
              <a:t/>
            </a:r>
            <a:endParaRPr b="1">
              <a:solidFill>
                <a:srgbClr val="FFFFFF"/>
              </a:solidFill>
              <a:latin typeface="Cambria Math"/>
              <a:ea typeface="Cambria Math"/>
              <a:cs typeface="Cambria Math"/>
              <a:sym typeface="Cambria Math"/>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cxnSp>
        <p:nvCxnSpPr>
          <p:cNvPr id="390" name="Google Shape;390;p38"/>
          <p:cNvCxnSpPr/>
          <p:nvPr/>
        </p:nvCxnSpPr>
        <p:spPr>
          <a:xfrm>
            <a:off x="5785468" y="3695581"/>
            <a:ext cx="9000" cy="377400"/>
          </a:xfrm>
          <a:prstGeom prst="straightConnector1">
            <a:avLst/>
          </a:prstGeom>
          <a:noFill/>
          <a:ln cap="flat" cmpd="sng" w="38100">
            <a:solidFill>
              <a:srgbClr val="8064A2"/>
            </a:solidFill>
            <a:prstDash val="solid"/>
            <a:round/>
            <a:headEnd len="sm" w="sm" type="none"/>
            <a:tailEnd len="sm" w="sm" type="none"/>
          </a:ln>
        </p:spPr>
      </p:cxnSp>
      <p:pic>
        <p:nvPicPr>
          <p:cNvPr id="391" name="Google Shape;391;p38"/>
          <p:cNvPicPr preferRelativeResize="0"/>
          <p:nvPr/>
        </p:nvPicPr>
        <p:blipFill rotWithShape="1">
          <a:blip r:embed="rId3">
            <a:alphaModFix amt="60000"/>
          </a:blip>
          <a:srcRect b="0" l="0" r="0" t="0"/>
          <a:stretch/>
        </p:blipFill>
        <p:spPr>
          <a:xfrm>
            <a:off x="-679081" y="899763"/>
            <a:ext cx="1792325" cy="1655457"/>
          </a:xfrm>
          <a:prstGeom prst="rect">
            <a:avLst/>
          </a:prstGeom>
          <a:noFill/>
          <a:ln>
            <a:noFill/>
          </a:ln>
        </p:spPr>
      </p:pic>
      <p:pic>
        <p:nvPicPr>
          <p:cNvPr id="392" name="Google Shape;392;p38"/>
          <p:cNvPicPr preferRelativeResize="0"/>
          <p:nvPr/>
        </p:nvPicPr>
        <p:blipFill rotWithShape="1">
          <a:blip r:embed="rId4">
            <a:alphaModFix amt="60000"/>
          </a:blip>
          <a:srcRect b="0" l="0" r="0" t="0"/>
          <a:stretch/>
        </p:blipFill>
        <p:spPr>
          <a:xfrm rot="7200000">
            <a:off x="-747323" y="800222"/>
            <a:ext cx="1832737" cy="1692782"/>
          </a:xfrm>
          <a:prstGeom prst="rect">
            <a:avLst/>
          </a:prstGeom>
          <a:noFill/>
          <a:ln>
            <a:noFill/>
          </a:ln>
        </p:spPr>
      </p:pic>
      <p:pic>
        <p:nvPicPr>
          <p:cNvPr id="393" name="Google Shape;393;p38"/>
          <p:cNvPicPr preferRelativeResize="0"/>
          <p:nvPr/>
        </p:nvPicPr>
        <p:blipFill rotWithShape="1">
          <a:blip r:embed="rId3">
            <a:alphaModFix amt="60000"/>
          </a:blip>
          <a:srcRect b="0" l="0" r="0" t="0"/>
          <a:stretch/>
        </p:blipFill>
        <p:spPr>
          <a:xfrm>
            <a:off x="6464305" y="-289946"/>
            <a:ext cx="656531" cy="606396"/>
          </a:xfrm>
          <a:prstGeom prst="rect">
            <a:avLst/>
          </a:prstGeom>
          <a:noFill/>
          <a:ln>
            <a:noFill/>
          </a:ln>
        </p:spPr>
      </p:pic>
      <p:pic>
        <p:nvPicPr>
          <p:cNvPr id="394" name="Google Shape;394;p38"/>
          <p:cNvPicPr preferRelativeResize="0"/>
          <p:nvPr/>
        </p:nvPicPr>
        <p:blipFill rotWithShape="1">
          <a:blip r:embed="rId4">
            <a:alphaModFix amt="60000"/>
          </a:blip>
          <a:srcRect b="0" l="0" r="0" t="0"/>
          <a:stretch/>
        </p:blipFill>
        <p:spPr>
          <a:xfrm rot="7200000">
            <a:off x="6439308" y="-326408"/>
            <a:ext cx="671334" cy="620068"/>
          </a:xfrm>
          <a:prstGeom prst="rect">
            <a:avLst/>
          </a:prstGeom>
          <a:noFill/>
          <a:ln>
            <a:noFill/>
          </a:ln>
        </p:spPr>
      </p:pic>
      <p:pic>
        <p:nvPicPr>
          <p:cNvPr id="395" name="Google Shape;395;p38"/>
          <p:cNvPicPr preferRelativeResize="0"/>
          <p:nvPr/>
        </p:nvPicPr>
        <p:blipFill rotWithShape="1">
          <a:blip r:embed="rId3">
            <a:alphaModFix amt="60000"/>
          </a:blip>
          <a:srcRect b="0" l="0" r="0" t="0"/>
          <a:stretch/>
        </p:blipFill>
        <p:spPr>
          <a:xfrm>
            <a:off x="3357197" y="4654785"/>
            <a:ext cx="2624355" cy="2423949"/>
          </a:xfrm>
          <a:prstGeom prst="rect">
            <a:avLst/>
          </a:prstGeom>
          <a:noFill/>
          <a:ln>
            <a:noFill/>
          </a:ln>
        </p:spPr>
      </p:pic>
      <p:pic>
        <p:nvPicPr>
          <p:cNvPr id="396" name="Google Shape;396;p38"/>
          <p:cNvPicPr preferRelativeResize="0"/>
          <p:nvPr/>
        </p:nvPicPr>
        <p:blipFill rotWithShape="1">
          <a:blip r:embed="rId4">
            <a:alphaModFix amt="60000"/>
          </a:blip>
          <a:srcRect b="0" l="0" r="0" t="0"/>
          <a:stretch/>
        </p:blipFill>
        <p:spPr>
          <a:xfrm rot="7200000">
            <a:off x="3257276" y="4509036"/>
            <a:ext cx="2683526" cy="2478602"/>
          </a:xfrm>
          <a:prstGeom prst="rect">
            <a:avLst/>
          </a:prstGeom>
          <a:noFill/>
          <a:ln>
            <a:noFill/>
          </a:ln>
        </p:spPr>
      </p:pic>
      <p:pic>
        <p:nvPicPr>
          <p:cNvPr id="397" name="Google Shape;397;p38"/>
          <p:cNvPicPr preferRelativeResize="0"/>
          <p:nvPr/>
        </p:nvPicPr>
        <p:blipFill rotWithShape="1">
          <a:blip r:embed="rId3">
            <a:alphaModFix amt="60000"/>
          </a:blip>
          <a:srcRect b="0" l="0" r="0" t="0"/>
          <a:stretch/>
        </p:blipFill>
        <p:spPr>
          <a:xfrm>
            <a:off x="3509383" y="-1578936"/>
            <a:ext cx="2680263" cy="2475589"/>
          </a:xfrm>
          <a:prstGeom prst="rect">
            <a:avLst/>
          </a:prstGeom>
          <a:noFill/>
          <a:ln>
            <a:noFill/>
          </a:ln>
        </p:spPr>
      </p:pic>
      <p:pic>
        <p:nvPicPr>
          <p:cNvPr id="398" name="Google Shape;398;p38"/>
          <p:cNvPicPr preferRelativeResize="0"/>
          <p:nvPr/>
        </p:nvPicPr>
        <p:blipFill rotWithShape="1">
          <a:blip r:embed="rId4">
            <a:alphaModFix amt="60000"/>
          </a:blip>
          <a:srcRect b="0" l="0" r="0" t="0"/>
          <a:stretch/>
        </p:blipFill>
        <p:spPr>
          <a:xfrm rot="7200000">
            <a:off x="3407333" y="-1727790"/>
            <a:ext cx="2740696" cy="2531406"/>
          </a:xfrm>
          <a:prstGeom prst="rect">
            <a:avLst/>
          </a:prstGeom>
          <a:noFill/>
          <a:ln>
            <a:noFill/>
          </a:ln>
        </p:spPr>
      </p:pic>
      <p:pic>
        <p:nvPicPr>
          <p:cNvPr id="399" name="Google Shape;399;p38"/>
          <p:cNvPicPr preferRelativeResize="0"/>
          <p:nvPr/>
        </p:nvPicPr>
        <p:blipFill rotWithShape="1">
          <a:blip r:embed="rId3">
            <a:alphaModFix amt="60000"/>
          </a:blip>
          <a:srcRect b="0" l="0" r="0" t="0"/>
          <a:stretch/>
        </p:blipFill>
        <p:spPr>
          <a:xfrm>
            <a:off x="836604" y="4909701"/>
            <a:ext cx="602584" cy="556568"/>
          </a:xfrm>
          <a:prstGeom prst="rect">
            <a:avLst/>
          </a:prstGeom>
          <a:noFill/>
          <a:ln>
            <a:noFill/>
          </a:ln>
        </p:spPr>
      </p:pic>
      <p:pic>
        <p:nvPicPr>
          <p:cNvPr id="400" name="Google Shape;400;p38"/>
          <p:cNvPicPr preferRelativeResize="0"/>
          <p:nvPr/>
        </p:nvPicPr>
        <p:blipFill rotWithShape="1">
          <a:blip r:embed="rId4">
            <a:alphaModFix amt="60000"/>
          </a:blip>
          <a:srcRect b="0" l="0" r="0" t="0"/>
          <a:stretch/>
        </p:blipFill>
        <p:spPr>
          <a:xfrm rot="7200000">
            <a:off x="813661" y="4876236"/>
            <a:ext cx="616170" cy="569118"/>
          </a:xfrm>
          <a:prstGeom prst="rect">
            <a:avLst/>
          </a:prstGeom>
          <a:noFill/>
          <a:ln>
            <a:noFill/>
          </a:ln>
        </p:spPr>
      </p:pic>
      <p:pic>
        <p:nvPicPr>
          <p:cNvPr id="401" name="Google Shape;401;p38"/>
          <p:cNvPicPr preferRelativeResize="0"/>
          <p:nvPr/>
        </p:nvPicPr>
        <p:blipFill rotWithShape="1">
          <a:blip r:embed="rId5">
            <a:alphaModFix/>
          </a:blip>
          <a:srcRect b="0" l="0" r="0" t="0"/>
          <a:stretch/>
        </p:blipFill>
        <p:spPr>
          <a:xfrm rot="1516343">
            <a:off x="7974030" y="1307722"/>
            <a:ext cx="1136512" cy="994447"/>
          </a:xfrm>
          <a:prstGeom prst="rect">
            <a:avLst/>
          </a:prstGeom>
          <a:noFill/>
          <a:ln>
            <a:noFill/>
          </a:ln>
        </p:spPr>
      </p:pic>
      <p:pic>
        <p:nvPicPr>
          <p:cNvPr id="402" name="Google Shape;402;p38"/>
          <p:cNvPicPr preferRelativeResize="0"/>
          <p:nvPr/>
        </p:nvPicPr>
        <p:blipFill rotWithShape="1">
          <a:blip r:embed="rId6">
            <a:alphaModFix/>
          </a:blip>
          <a:srcRect b="0" l="0" r="0" t="0"/>
          <a:stretch/>
        </p:blipFill>
        <p:spPr>
          <a:xfrm>
            <a:off x="6464305" y="3160678"/>
            <a:ext cx="3304946" cy="2148215"/>
          </a:xfrm>
          <a:prstGeom prst="rect">
            <a:avLst/>
          </a:prstGeom>
          <a:noFill/>
          <a:ln>
            <a:noFill/>
          </a:ln>
        </p:spPr>
      </p:pic>
      <p:sp>
        <p:nvSpPr>
          <p:cNvPr id="403" name="Google Shape;403;p38"/>
          <p:cNvSpPr txBox="1"/>
          <p:nvPr/>
        </p:nvSpPr>
        <p:spPr>
          <a:xfrm>
            <a:off x="-58851" y="1550"/>
            <a:ext cx="80430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Schema unit</a:t>
            </a:r>
            <a:r>
              <a:rPr lang="en" sz="2500">
                <a:latin typeface="Poppins ExtraBold"/>
                <a:ea typeface="Poppins ExtraBold"/>
                <a:cs typeface="Poppins ExtraBold"/>
                <a:sym typeface="Poppins ExtraBold"/>
              </a:rPr>
              <a:t>ăț</a:t>
            </a:r>
            <a:r>
              <a:rPr b="0" i="0" lang="en" sz="2500" u="none" cap="none" strike="noStrike">
                <a:solidFill>
                  <a:srgbClr val="000000"/>
                </a:solidFill>
                <a:latin typeface="Poppins ExtraBold"/>
                <a:ea typeface="Poppins ExtraBold"/>
                <a:cs typeface="Poppins ExtraBold"/>
                <a:sym typeface="Poppins ExtraBold"/>
              </a:rPr>
              <a:t>ii de comand</a:t>
            </a:r>
            <a:r>
              <a:rPr lang="en" sz="2500">
                <a:latin typeface="Poppins ExtraBold"/>
                <a:ea typeface="Poppins ExtraBold"/>
                <a:cs typeface="Poppins ExtraBold"/>
                <a:sym typeface="Poppins ExtraBold"/>
              </a:rPr>
              <a:t>ă </a:t>
            </a:r>
            <a:r>
              <a:rPr b="0" i="0" lang="en" sz="2500" u="none" cap="none" strike="noStrike">
                <a:solidFill>
                  <a:srgbClr val="000000"/>
                </a:solidFill>
                <a:latin typeface="Poppins ExtraBold"/>
                <a:ea typeface="Poppins ExtraBold"/>
                <a:cs typeface="Poppins ExtraBold"/>
                <a:sym typeface="Poppins ExtraBold"/>
              </a:rPr>
              <a:t>microprogramate</a:t>
            </a:r>
            <a:endParaRPr sz="700"/>
          </a:p>
        </p:txBody>
      </p:sp>
      <p:cxnSp>
        <p:nvCxnSpPr>
          <p:cNvPr id="404" name="Google Shape;404;p38"/>
          <p:cNvCxnSpPr/>
          <p:nvPr/>
        </p:nvCxnSpPr>
        <p:spPr>
          <a:xfrm rot="10800000">
            <a:off x="4450947" y="1160823"/>
            <a:ext cx="2583300" cy="22500"/>
          </a:xfrm>
          <a:prstGeom prst="straightConnector1">
            <a:avLst/>
          </a:prstGeom>
          <a:noFill/>
          <a:ln cap="flat" cmpd="sng" w="38100">
            <a:solidFill>
              <a:srgbClr val="8064A2"/>
            </a:solidFill>
            <a:prstDash val="solid"/>
            <a:round/>
            <a:headEnd len="sm" w="sm" type="none"/>
            <a:tailEnd len="med" w="med" type="triangle"/>
          </a:ln>
          <a:effectLst>
            <a:outerShdw blurRad="40000" rotWithShape="0" dir="5400000" dist="23000">
              <a:srgbClr val="000000">
                <a:alpha val="34900"/>
              </a:srgbClr>
            </a:outerShdw>
          </a:effectLst>
        </p:spPr>
      </p:cxnSp>
      <p:cxnSp>
        <p:nvCxnSpPr>
          <p:cNvPr id="405" name="Google Shape;405;p38"/>
          <p:cNvCxnSpPr/>
          <p:nvPr/>
        </p:nvCxnSpPr>
        <p:spPr>
          <a:xfrm rot="10800000">
            <a:off x="7023624" y="1172180"/>
            <a:ext cx="34800" cy="2084100"/>
          </a:xfrm>
          <a:prstGeom prst="straightConnector1">
            <a:avLst/>
          </a:prstGeom>
          <a:noFill/>
          <a:ln cap="flat" cmpd="sng" w="38100">
            <a:solidFill>
              <a:srgbClr val="8064A2"/>
            </a:solidFill>
            <a:prstDash val="solid"/>
            <a:round/>
            <a:headEnd len="sm" w="sm" type="none"/>
            <a:tailEnd len="sm" w="sm" type="none"/>
          </a:ln>
          <a:effectLst>
            <a:outerShdw blurRad="40000" rotWithShape="0" dir="5400000" dist="23000">
              <a:srgbClr val="000000">
                <a:alpha val="34900"/>
              </a:srgbClr>
            </a:outerShdw>
          </a:effectLst>
        </p:spPr>
      </p:cxnSp>
      <p:cxnSp>
        <p:nvCxnSpPr>
          <p:cNvPr id="406" name="Google Shape;406;p38"/>
          <p:cNvCxnSpPr>
            <a:stCxn id="407" idx="3"/>
          </p:cNvCxnSpPr>
          <p:nvPr/>
        </p:nvCxnSpPr>
        <p:spPr>
          <a:xfrm>
            <a:off x="6134070" y="3235968"/>
            <a:ext cx="944100" cy="20400"/>
          </a:xfrm>
          <a:prstGeom prst="straightConnector1">
            <a:avLst/>
          </a:prstGeom>
          <a:noFill/>
          <a:ln cap="flat" cmpd="sng" w="38100">
            <a:solidFill>
              <a:srgbClr val="8064A2"/>
            </a:solidFill>
            <a:prstDash val="solid"/>
            <a:round/>
            <a:headEnd len="sm" w="sm" type="none"/>
            <a:tailEnd len="sm" w="sm" type="none"/>
          </a:ln>
          <a:effectLst>
            <a:outerShdw blurRad="40000" rotWithShape="0" dir="5400000" dist="23000">
              <a:srgbClr val="000000">
                <a:alpha val="34900"/>
              </a:srgbClr>
            </a:outerShdw>
          </a:effectLst>
        </p:spPr>
      </p:cxnSp>
      <p:cxnSp>
        <p:nvCxnSpPr>
          <p:cNvPr id="408" name="Google Shape;408;p38"/>
          <p:cNvCxnSpPr/>
          <p:nvPr/>
        </p:nvCxnSpPr>
        <p:spPr>
          <a:xfrm>
            <a:off x="4716018" y="3420881"/>
            <a:ext cx="873300" cy="0"/>
          </a:xfrm>
          <a:prstGeom prst="straightConnector1">
            <a:avLst/>
          </a:prstGeom>
          <a:noFill/>
          <a:ln cap="flat" cmpd="sng" w="38100">
            <a:solidFill>
              <a:srgbClr val="8064A2"/>
            </a:solidFill>
            <a:prstDash val="solid"/>
            <a:round/>
            <a:headEnd len="sm" w="sm" type="none"/>
            <a:tailEnd len="sm" w="sm" type="none"/>
          </a:ln>
        </p:spPr>
      </p:cxnSp>
      <p:cxnSp>
        <p:nvCxnSpPr>
          <p:cNvPr id="409" name="Google Shape;409;p38"/>
          <p:cNvCxnSpPr/>
          <p:nvPr/>
        </p:nvCxnSpPr>
        <p:spPr>
          <a:xfrm rot="-5400000">
            <a:off x="4576631" y="3256347"/>
            <a:ext cx="322200" cy="0"/>
          </a:xfrm>
          <a:prstGeom prst="straightConnector1">
            <a:avLst/>
          </a:prstGeom>
          <a:noFill/>
          <a:ln cap="flat" cmpd="sng" w="38100">
            <a:solidFill>
              <a:srgbClr val="8064A2"/>
            </a:solidFill>
            <a:prstDash val="solid"/>
            <a:round/>
            <a:headEnd len="sm" w="sm" type="none"/>
            <a:tailEnd len="sm" w="sm" type="none"/>
          </a:ln>
        </p:spPr>
      </p:cxnSp>
      <p:cxnSp>
        <p:nvCxnSpPr>
          <p:cNvPr id="410" name="Google Shape;410;p38"/>
          <p:cNvCxnSpPr/>
          <p:nvPr/>
        </p:nvCxnSpPr>
        <p:spPr>
          <a:xfrm>
            <a:off x="4773168" y="3066551"/>
            <a:ext cx="669900" cy="0"/>
          </a:xfrm>
          <a:prstGeom prst="straightConnector1">
            <a:avLst/>
          </a:prstGeom>
          <a:noFill/>
          <a:ln cap="flat" cmpd="sng" w="38100">
            <a:solidFill>
              <a:srgbClr val="8064A2"/>
            </a:solidFill>
            <a:prstDash val="solid"/>
            <a:round/>
            <a:headEnd len="sm" w="sm" type="none"/>
            <a:tailEnd len="sm" w="sm" type="none"/>
          </a:ln>
        </p:spPr>
      </p:cxnSp>
      <p:cxnSp>
        <p:nvCxnSpPr>
          <p:cNvPr id="411" name="Google Shape;411;p38"/>
          <p:cNvCxnSpPr/>
          <p:nvPr/>
        </p:nvCxnSpPr>
        <p:spPr>
          <a:xfrm>
            <a:off x="4450834" y="3069590"/>
            <a:ext cx="322200" cy="0"/>
          </a:xfrm>
          <a:prstGeom prst="straightConnector1">
            <a:avLst/>
          </a:prstGeom>
          <a:noFill/>
          <a:ln cap="flat" cmpd="sng" w="38100">
            <a:solidFill>
              <a:srgbClr val="8064A2"/>
            </a:solidFill>
            <a:prstDash val="solid"/>
            <a:round/>
            <a:headEnd len="sm" w="sm" type="none"/>
            <a:tailEnd len="sm" w="sm" type="none"/>
          </a:ln>
        </p:spPr>
      </p:cxnSp>
      <p:cxnSp>
        <p:nvCxnSpPr>
          <p:cNvPr id="412" name="Google Shape;412;p38"/>
          <p:cNvCxnSpPr/>
          <p:nvPr/>
        </p:nvCxnSpPr>
        <p:spPr>
          <a:xfrm>
            <a:off x="3262114" y="2917190"/>
            <a:ext cx="788700" cy="0"/>
          </a:xfrm>
          <a:prstGeom prst="straightConnector1">
            <a:avLst/>
          </a:prstGeom>
          <a:noFill/>
          <a:ln cap="flat" cmpd="sng" w="38100">
            <a:solidFill>
              <a:srgbClr val="8064A2"/>
            </a:solidFill>
            <a:prstDash val="solid"/>
            <a:round/>
            <a:headEnd len="sm" w="sm" type="none"/>
            <a:tailEnd len="sm" w="sm" type="none"/>
          </a:ln>
        </p:spPr>
      </p:cxnSp>
      <p:cxnSp>
        <p:nvCxnSpPr>
          <p:cNvPr id="413" name="Google Shape;413;p38"/>
          <p:cNvCxnSpPr/>
          <p:nvPr/>
        </p:nvCxnSpPr>
        <p:spPr>
          <a:xfrm rot="10800000">
            <a:off x="3274814" y="1825240"/>
            <a:ext cx="0" cy="1098300"/>
          </a:xfrm>
          <a:prstGeom prst="straightConnector1">
            <a:avLst/>
          </a:prstGeom>
          <a:noFill/>
          <a:ln cap="flat" cmpd="sng" w="25400">
            <a:solidFill>
              <a:srgbClr val="8064A2"/>
            </a:solidFill>
            <a:prstDash val="solid"/>
            <a:round/>
            <a:headEnd len="sm" w="sm" type="none"/>
            <a:tailEnd len="sm" w="sm" type="none"/>
          </a:ln>
        </p:spPr>
      </p:cxnSp>
      <p:cxnSp>
        <p:nvCxnSpPr>
          <p:cNvPr id="414" name="Google Shape;414;p38"/>
          <p:cNvCxnSpPr/>
          <p:nvPr/>
        </p:nvCxnSpPr>
        <p:spPr>
          <a:xfrm>
            <a:off x="3267194" y="3196590"/>
            <a:ext cx="788700" cy="0"/>
          </a:xfrm>
          <a:prstGeom prst="straightConnector1">
            <a:avLst/>
          </a:prstGeom>
          <a:noFill/>
          <a:ln cap="flat" cmpd="sng" w="38100">
            <a:solidFill>
              <a:srgbClr val="8064A2"/>
            </a:solidFill>
            <a:prstDash val="solid"/>
            <a:round/>
            <a:headEnd len="sm" w="sm" type="none"/>
            <a:tailEnd len="sm" w="sm" type="none"/>
          </a:ln>
        </p:spPr>
      </p:cxnSp>
      <p:graphicFrame>
        <p:nvGraphicFramePr>
          <p:cNvPr id="415" name="Google Shape;415;p38"/>
          <p:cNvGraphicFramePr/>
          <p:nvPr/>
        </p:nvGraphicFramePr>
        <p:xfrm>
          <a:off x="111800" y="517800"/>
          <a:ext cx="3000000" cy="3000000"/>
        </p:xfrm>
        <a:graphic>
          <a:graphicData uri="http://schemas.openxmlformats.org/drawingml/2006/table">
            <a:tbl>
              <a:tblPr>
                <a:noFill/>
                <a:tableStyleId>{411E2A45-7145-4A88-83E2-4ED5196782D4}</a:tableStyleId>
              </a:tblPr>
              <a:tblGrid>
                <a:gridCol w="701175"/>
                <a:gridCol w="1701025"/>
                <a:gridCol w="190930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FF"/>
                          </a:solidFill>
                          <a:latin typeface="Lato Black"/>
                          <a:ea typeface="Lato Black"/>
                          <a:cs typeface="Lato Black"/>
                          <a:sym typeface="Lato Black"/>
                        </a:rPr>
                        <a:t>TIP 1</a:t>
                      </a:r>
                      <a:endParaRPr sz="1400" u="none" cap="none" strike="noStrike">
                        <a:solidFill>
                          <a:srgbClr val="FFFFFF"/>
                        </a:solidFill>
                        <a:latin typeface="Lato Black"/>
                        <a:ea typeface="Lato Black"/>
                        <a:cs typeface="Lato Black"/>
                        <a:sym typeface="Lato Black"/>
                      </a:endParaRPr>
                    </a:p>
                  </a:txBody>
                  <a:tcPr marT="91425" marB="91425" marR="91425" marL="91425">
                    <a:solidFill>
                      <a:srgbClr val="A64D79"/>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rgbClr val="FFFFFF"/>
                          </a:solidFill>
                        </a:rPr>
                        <a:t>SEMNALE DE IE</a:t>
                      </a:r>
                      <a:r>
                        <a:rPr b="1" lang="en">
                          <a:solidFill>
                            <a:srgbClr val="FFFFFF"/>
                          </a:solidFill>
                        </a:rPr>
                        <a:t>Ș</a:t>
                      </a:r>
                      <a:r>
                        <a:rPr b="1" lang="en" sz="1400" u="none" cap="none" strike="noStrike">
                          <a:solidFill>
                            <a:srgbClr val="FFFFFF"/>
                          </a:solidFill>
                        </a:rPr>
                        <a:t>IRE</a:t>
                      </a:r>
                      <a:endParaRPr b="1" sz="1400" u="none" cap="none" strike="noStrike">
                        <a:solidFill>
                          <a:srgbClr val="FFFFFF"/>
                        </a:solidFill>
                      </a:endParaRPr>
                    </a:p>
                  </a:txBody>
                  <a:tcPr marT="91425" marB="91425" marR="91425" marL="91425">
                    <a:solidFill>
                      <a:srgbClr val="A64D79"/>
                    </a:solidFill>
                  </a:tcPr>
                </a:tc>
                <a:tc hMerge="1"/>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FF"/>
                          </a:solidFill>
                          <a:latin typeface="Lato Black"/>
                          <a:ea typeface="Lato Black"/>
                          <a:cs typeface="Lato Black"/>
                          <a:sym typeface="Lato Black"/>
                        </a:rPr>
                        <a:t>TIP 0</a:t>
                      </a:r>
                      <a:endParaRPr sz="1400" u="none" cap="none" strike="noStrike">
                        <a:solidFill>
                          <a:srgbClr val="FFFFFF"/>
                        </a:solidFill>
                        <a:latin typeface="Lato Black"/>
                        <a:ea typeface="Lato Black"/>
                        <a:cs typeface="Lato Black"/>
                        <a:sym typeface="Lato Black"/>
                      </a:endParaRPr>
                    </a:p>
                  </a:txBody>
                  <a:tcPr marT="91425" marB="91425" marR="91425" marL="91425">
                    <a:solidFill>
                      <a:srgbClr val="A64D7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FF"/>
                          </a:solidFill>
                          <a:latin typeface="Lato Black"/>
                          <a:ea typeface="Lato Black"/>
                          <a:cs typeface="Lato Black"/>
                          <a:sym typeface="Lato Black"/>
                        </a:rPr>
                        <a:t>INPCODE</a:t>
                      </a:r>
                      <a:endParaRPr sz="1400" u="none" cap="none" strike="noStrike">
                        <a:solidFill>
                          <a:srgbClr val="FFFFFF"/>
                        </a:solidFill>
                        <a:latin typeface="Lato Black"/>
                        <a:ea typeface="Lato Black"/>
                        <a:cs typeface="Lato Black"/>
                        <a:sym typeface="Lato Black"/>
                      </a:endParaRPr>
                    </a:p>
                  </a:txBody>
                  <a:tcPr marT="91425" marB="91425" marR="91425" marL="91425">
                    <a:solidFill>
                      <a:srgbClr val="A64D7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FF"/>
                          </a:solidFill>
                          <a:latin typeface="Lato Black"/>
                          <a:ea typeface="Lato Black"/>
                          <a:cs typeface="Lato Black"/>
                          <a:sym typeface="Lato Black"/>
                        </a:rPr>
                        <a:t>ADR0</a:t>
                      </a:r>
                      <a:endParaRPr sz="1400" u="none" cap="none" strike="noStrike">
                        <a:solidFill>
                          <a:srgbClr val="FFFFFF"/>
                        </a:solidFill>
                        <a:latin typeface="Lato Black"/>
                        <a:ea typeface="Lato Black"/>
                        <a:cs typeface="Lato Black"/>
                        <a:sym typeface="Lato Black"/>
                      </a:endParaRPr>
                    </a:p>
                  </a:txBody>
                  <a:tcPr marT="91425" marB="91425" marR="91425" marL="91425">
                    <a:solidFill>
                      <a:srgbClr val="A64D79"/>
                    </a:solidFill>
                  </a:tcPr>
                </a:tc>
              </a:tr>
            </a:tbl>
          </a:graphicData>
        </a:graphic>
      </p:graphicFrame>
      <p:sp>
        <p:nvSpPr>
          <p:cNvPr id="416" name="Google Shape;416;p38"/>
          <p:cNvSpPr/>
          <p:nvPr/>
        </p:nvSpPr>
        <p:spPr>
          <a:xfrm>
            <a:off x="1120825" y="2195250"/>
            <a:ext cx="1579500" cy="2701800"/>
          </a:xfrm>
          <a:prstGeom prst="rect">
            <a:avLst/>
          </a:prstGeom>
          <a:solidFill>
            <a:srgbClr val="C27BA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Lato Black"/>
                <a:ea typeface="Lato Black"/>
                <a:cs typeface="Lato Black"/>
                <a:sym typeface="Lato Black"/>
              </a:rPr>
              <a:t>MUX</a:t>
            </a:r>
            <a:endParaRPr sz="2000">
              <a:solidFill>
                <a:srgbClr val="FFFFFF"/>
              </a:solidFill>
              <a:latin typeface="Lato Black"/>
              <a:ea typeface="Lato Black"/>
              <a:cs typeface="Lato Black"/>
              <a:sym typeface="Lato Black"/>
            </a:endParaRPr>
          </a:p>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Lato Black"/>
                <a:ea typeface="Lato Black"/>
                <a:cs typeface="Lato Black"/>
                <a:sym typeface="Lato Black"/>
              </a:rPr>
              <a:t>8 : 1</a:t>
            </a:r>
            <a:endParaRPr sz="2000">
              <a:solidFill>
                <a:srgbClr val="FFFFFF"/>
              </a:solidFill>
              <a:latin typeface="Lato Black"/>
              <a:ea typeface="Lato Black"/>
              <a:cs typeface="Lato Black"/>
              <a:sym typeface="Lato Black"/>
            </a:endParaRPr>
          </a:p>
        </p:txBody>
      </p:sp>
      <p:sp>
        <p:nvSpPr>
          <p:cNvPr id="417" name="Google Shape;417;p38"/>
          <p:cNvSpPr/>
          <p:nvPr/>
        </p:nvSpPr>
        <p:spPr>
          <a:xfrm>
            <a:off x="5748250" y="433305"/>
            <a:ext cx="1329900" cy="556500"/>
          </a:xfrm>
          <a:prstGeom prst="roundRect">
            <a:avLst>
              <a:gd fmla="val 16667" name="adj"/>
            </a:avLst>
          </a:prstGeom>
          <a:solidFill>
            <a:srgbClr val="EA9999"/>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Lato Black"/>
                <a:ea typeface="Lato Black"/>
                <a:cs typeface="Lato Black"/>
                <a:sym typeface="Lato Black"/>
              </a:rPr>
              <a:t>MASCA</a:t>
            </a:r>
            <a:endParaRPr b="0" i="0" sz="1400" u="none" cap="none" strike="noStrike">
              <a:solidFill>
                <a:srgbClr val="FFFFFF"/>
              </a:solidFill>
              <a:latin typeface="Lato Black"/>
              <a:ea typeface="Lato Black"/>
              <a:cs typeface="Lato Black"/>
              <a:sym typeface="Lato Black"/>
            </a:endParaRPr>
          </a:p>
        </p:txBody>
      </p:sp>
      <p:cxnSp>
        <p:nvCxnSpPr>
          <p:cNvPr id="418" name="Google Shape;418;p38"/>
          <p:cNvCxnSpPr/>
          <p:nvPr/>
        </p:nvCxnSpPr>
        <p:spPr>
          <a:xfrm>
            <a:off x="4501116" y="723014"/>
            <a:ext cx="1190700" cy="0"/>
          </a:xfrm>
          <a:prstGeom prst="straightConnector1">
            <a:avLst/>
          </a:prstGeom>
          <a:noFill/>
          <a:ln cap="flat" cmpd="sng" w="38100">
            <a:solidFill>
              <a:srgbClr val="8064A2"/>
            </a:solidFill>
            <a:prstDash val="solid"/>
            <a:round/>
            <a:headEnd len="sm" w="sm" type="none"/>
            <a:tailEnd len="med" w="med" type="triangle"/>
          </a:ln>
          <a:effectLst>
            <a:outerShdw blurRad="40000" rotWithShape="0" dir="5400000" dist="23000">
              <a:srgbClr val="000000">
                <a:alpha val="34900"/>
              </a:srgbClr>
            </a:outerShdw>
          </a:effectLst>
        </p:spPr>
      </p:cxnSp>
      <p:sp>
        <p:nvSpPr>
          <p:cNvPr id="419" name="Google Shape;419;p38"/>
          <p:cNvSpPr/>
          <p:nvPr/>
        </p:nvSpPr>
        <p:spPr>
          <a:xfrm>
            <a:off x="3757989" y="2776368"/>
            <a:ext cx="744087" cy="579255"/>
          </a:xfrm>
          <a:custGeom>
            <a:rect b="b" l="l" r="r" t="t"/>
            <a:pathLst>
              <a:path extrusionOk="0" h="1077684" w="947882">
                <a:moveTo>
                  <a:pt x="20200" y="0"/>
                </a:moveTo>
                <a:lnTo>
                  <a:pt x="484041" y="0"/>
                </a:lnTo>
                <a:cubicBezTo>
                  <a:pt x="740213" y="0"/>
                  <a:pt x="947882" y="241248"/>
                  <a:pt x="947882" y="538842"/>
                </a:cubicBezTo>
                <a:cubicBezTo>
                  <a:pt x="947882" y="836436"/>
                  <a:pt x="740213" y="1077684"/>
                  <a:pt x="484041" y="1077684"/>
                </a:cubicBezTo>
                <a:lnTo>
                  <a:pt x="20200" y="1077684"/>
                </a:lnTo>
                <a:cubicBezTo>
                  <a:pt x="-46659" y="1053220"/>
                  <a:pt x="71532" y="995279"/>
                  <a:pt x="99216" y="941787"/>
                </a:cubicBezTo>
                <a:cubicBezTo>
                  <a:pt x="126900" y="888295"/>
                  <a:pt x="163186" y="828422"/>
                  <a:pt x="186302" y="756729"/>
                </a:cubicBezTo>
                <a:cubicBezTo>
                  <a:pt x="209418" y="685036"/>
                  <a:pt x="235850" y="557557"/>
                  <a:pt x="239524" y="500743"/>
                </a:cubicBezTo>
                <a:cubicBezTo>
                  <a:pt x="243198" y="443929"/>
                  <a:pt x="233247" y="447565"/>
                  <a:pt x="228274" y="415844"/>
                </a:cubicBezTo>
                <a:cubicBezTo>
                  <a:pt x="223301" y="384123"/>
                  <a:pt x="211343" y="339057"/>
                  <a:pt x="205696" y="307995"/>
                </a:cubicBezTo>
                <a:cubicBezTo>
                  <a:pt x="194520" y="263187"/>
                  <a:pt x="188069" y="260318"/>
                  <a:pt x="174462" y="229475"/>
                </a:cubicBezTo>
                <a:cubicBezTo>
                  <a:pt x="160855" y="198632"/>
                  <a:pt x="132490" y="164007"/>
                  <a:pt x="110102" y="125358"/>
                </a:cubicBezTo>
                <a:lnTo>
                  <a:pt x="20200" y="0"/>
                </a:lnTo>
                <a:close/>
              </a:path>
            </a:pathLst>
          </a:custGeom>
          <a:solidFill>
            <a:srgbClr val="953734"/>
          </a:solidFill>
          <a:ln cap="flat" cmpd="sng" w="9525">
            <a:solidFill>
              <a:srgbClr val="F2DAD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420" name="Google Shape;420;p38"/>
          <p:cNvCxnSpPr/>
          <p:nvPr/>
        </p:nvCxnSpPr>
        <p:spPr>
          <a:xfrm>
            <a:off x="2706040" y="3546150"/>
            <a:ext cx="595800" cy="0"/>
          </a:xfrm>
          <a:prstGeom prst="straightConnector1">
            <a:avLst/>
          </a:prstGeom>
          <a:noFill/>
          <a:ln cap="flat" cmpd="sng" w="38100">
            <a:solidFill>
              <a:srgbClr val="8064A2"/>
            </a:solidFill>
            <a:prstDash val="solid"/>
            <a:round/>
            <a:headEnd len="sm" w="sm" type="none"/>
            <a:tailEnd len="sm" w="sm" type="none"/>
          </a:ln>
          <a:effectLst>
            <a:outerShdw blurRad="40000" rotWithShape="0" dir="5400000" dist="23000">
              <a:srgbClr val="000000">
                <a:alpha val="34900"/>
              </a:srgbClr>
            </a:outerShdw>
          </a:effectLst>
        </p:spPr>
      </p:cxnSp>
      <p:cxnSp>
        <p:nvCxnSpPr>
          <p:cNvPr id="421" name="Google Shape;421;p38"/>
          <p:cNvCxnSpPr/>
          <p:nvPr/>
        </p:nvCxnSpPr>
        <p:spPr>
          <a:xfrm rot="10800000">
            <a:off x="3281696" y="3183905"/>
            <a:ext cx="0" cy="368400"/>
          </a:xfrm>
          <a:prstGeom prst="straightConnector1">
            <a:avLst/>
          </a:prstGeom>
          <a:noFill/>
          <a:ln cap="flat" cmpd="sng" w="38100">
            <a:solidFill>
              <a:srgbClr val="8064A2"/>
            </a:solidFill>
            <a:prstDash val="solid"/>
            <a:round/>
            <a:headEnd len="sm" w="sm" type="none"/>
            <a:tailEnd len="sm" w="sm" type="none"/>
          </a:ln>
        </p:spPr>
      </p:cxnSp>
      <p:cxnSp>
        <p:nvCxnSpPr>
          <p:cNvPr id="422" name="Google Shape;422;p38"/>
          <p:cNvCxnSpPr/>
          <p:nvPr/>
        </p:nvCxnSpPr>
        <p:spPr>
          <a:xfrm rot="10800000">
            <a:off x="467833" y="1304238"/>
            <a:ext cx="0" cy="448500"/>
          </a:xfrm>
          <a:prstGeom prst="straightConnector1">
            <a:avLst/>
          </a:prstGeom>
          <a:noFill/>
          <a:ln cap="flat" cmpd="sng" w="38100">
            <a:solidFill>
              <a:srgbClr val="8064A2"/>
            </a:solidFill>
            <a:prstDash val="solid"/>
            <a:round/>
            <a:headEnd len="sm" w="sm" type="none"/>
            <a:tailEnd len="sm" w="sm" type="none"/>
          </a:ln>
        </p:spPr>
      </p:cxnSp>
      <p:cxnSp>
        <p:nvCxnSpPr>
          <p:cNvPr id="423" name="Google Shape;423;p38"/>
          <p:cNvCxnSpPr/>
          <p:nvPr/>
        </p:nvCxnSpPr>
        <p:spPr>
          <a:xfrm>
            <a:off x="449580" y="1752738"/>
            <a:ext cx="5979900" cy="35100"/>
          </a:xfrm>
          <a:prstGeom prst="straightConnector1">
            <a:avLst/>
          </a:prstGeom>
          <a:noFill/>
          <a:ln cap="flat" cmpd="sng" w="38100">
            <a:solidFill>
              <a:srgbClr val="8064A2"/>
            </a:solidFill>
            <a:prstDash val="solid"/>
            <a:round/>
            <a:headEnd len="sm" w="sm" type="none"/>
            <a:tailEnd len="sm" w="sm" type="none"/>
          </a:ln>
          <a:effectLst>
            <a:outerShdw blurRad="40000" rotWithShape="0" dir="5400000" dist="23000">
              <a:srgbClr val="000000">
                <a:alpha val="34900"/>
              </a:srgbClr>
            </a:outerShdw>
          </a:effectLst>
        </p:spPr>
      </p:cxnSp>
      <p:cxnSp>
        <p:nvCxnSpPr>
          <p:cNvPr id="424" name="Google Shape;424;p38"/>
          <p:cNvCxnSpPr>
            <a:endCxn id="417" idx="2"/>
          </p:cNvCxnSpPr>
          <p:nvPr/>
        </p:nvCxnSpPr>
        <p:spPr>
          <a:xfrm rot="10800000">
            <a:off x="6413200" y="989805"/>
            <a:ext cx="0" cy="800400"/>
          </a:xfrm>
          <a:prstGeom prst="straightConnector1">
            <a:avLst/>
          </a:prstGeom>
          <a:noFill/>
          <a:ln cap="flat" cmpd="sng" w="38100">
            <a:solidFill>
              <a:srgbClr val="8064A2"/>
            </a:solidFill>
            <a:prstDash val="solid"/>
            <a:round/>
            <a:headEnd len="sm" w="sm" type="none"/>
            <a:tailEnd len="med" w="med" type="triangle"/>
          </a:ln>
        </p:spPr>
      </p:cxnSp>
      <p:sp>
        <p:nvSpPr>
          <p:cNvPr id="425" name="Google Shape;425;p38"/>
          <p:cNvSpPr/>
          <p:nvPr/>
        </p:nvSpPr>
        <p:spPr>
          <a:xfrm rot="5400000">
            <a:off x="1332100" y="1576038"/>
            <a:ext cx="779400" cy="353400"/>
          </a:xfrm>
          <a:prstGeom prst="rightArrow">
            <a:avLst>
              <a:gd fmla="val 50000" name="adj1"/>
              <a:gd fmla="val 50000" name="adj2"/>
            </a:avLst>
          </a:prstGeom>
          <a:solidFill>
            <a:srgbClr val="D5A6BD"/>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8"/>
          <p:cNvSpPr/>
          <p:nvPr/>
        </p:nvSpPr>
        <p:spPr>
          <a:xfrm>
            <a:off x="3234690" y="1745118"/>
            <a:ext cx="80100" cy="80100"/>
          </a:xfrm>
          <a:prstGeom prst="ellipse">
            <a:avLst/>
          </a:prstGeom>
          <a:solidFill>
            <a:srgbClr val="8064A2"/>
          </a:solidFill>
          <a:ln cap="flat" cmpd="sng" w="38100">
            <a:solidFill>
              <a:srgbClr val="FFFFFF"/>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27" name="Google Shape;427;p38"/>
          <p:cNvSpPr/>
          <p:nvPr/>
        </p:nvSpPr>
        <p:spPr>
          <a:xfrm>
            <a:off x="7092326" y="583970"/>
            <a:ext cx="846600" cy="278400"/>
          </a:xfrm>
          <a:prstGeom prst="rightArrow">
            <a:avLst>
              <a:gd fmla="val 50000" name="adj1"/>
              <a:gd fmla="val 50000" name="adj2"/>
            </a:avLst>
          </a:prstGeom>
          <a:solidFill>
            <a:srgbClr val="C0504D"/>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28" name="Google Shape;428;p38"/>
          <p:cNvSpPr txBox="1"/>
          <p:nvPr/>
        </p:nvSpPr>
        <p:spPr>
          <a:xfrm>
            <a:off x="7141942" y="784251"/>
            <a:ext cx="650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Lato Black"/>
                <a:ea typeface="Lato Black"/>
                <a:cs typeface="Lato Black"/>
                <a:sym typeface="Lato Black"/>
              </a:rPr>
              <a:t>OUT</a:t>
            </a:r>
            <a:endParaRPr b="0" i="0" sz="1400" u="none" cap="none" strike="noStrike">
              <a:solidFill>
                <a:srgbClr val="000000"/>
              </a:solidFill>
              <a:latin typeface="Lato Black"/>
              <a:ea typeface="Lato Black"/>
              <a:cs typeface="Lato Black"/>
              <a:sym typeface="Lato Black"/>
            </a:endParaRPr>
          </a:p>
        </p:txBody>
      </p:sp>
      <p:sp>
        <p:nvSpPr>
          <p:cNvPr id="429" name="Google Shape;429;p38"/>
          <p:cNvSpPr/>
          <p:nvPr/>
        </p:nvSpPr>
        <p:spPr>
          <a:xfrm>
            <a:off x="4697730" y="3031374"/>
            <a:ext cx="80100" cy="80100"/>
          </a:xfrm>
          <a:prstGeom prst="ellipse">
            <a:avLst/>
          </a:prstGeom>
          <a:solidFill>
            <a:srgbClr val="8064A2"/>
          </a:solidFill>
          <a:ln cap="flat" cmpd="sng" w="38100">
            <a:solidFill>
              <a:srgbClr val="FFFFFF"/>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07" name="Google Shape;407;p38"/>
          <p:cNvSpPr/>
          <p:nvPr/>
        </p:nvSpPr>
        <p:spPr>
          <a:xfrm>
            <a:off x="5436870" y="2776368"/>
            <a:ext cx="697200" cy="919200"/>
          </a:xfrm>
          <a:prstGeom prst="rect">
            <a:avLst/>
          </a:prstGeom>
          <a:solidFill>
            <a:srgbClr val="D5318F"/>
          </a:solidFill>
          <a:ln cap="flat" cmpd="sng" w="25400">
            <a:solidFill>
              <a:srgbClr val="5D48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r>
              <a:rPr b="0" i="0" lang="en" sz="1400" u="none" cap="none" strike="noStrike">
                <a:solidFill>
                  <a:srgbClr val="FFFFFF"/>
                </a:solidFill>
                <a:latin typeface="Lato Black"/>
                <a:ea typeface="Lato Black"/>
                <a:cs typeface="Lato Black"/>
                <a:sym typeface="Lato Black"/>
              </a:rPr>
              <a:t>NUM</a:t>
            </a:r>
            <a:endParaRPr b="0" i="0" sz="1400" u="none" cap="none" strike="noStrike">
              <a:solidFill>
                <a:srgbClr val="FFFFFF"/>
              </a:solidFill>
              <a:latin typeface="Lato Black"/>
              <a:ea typeface="Lato Black"/>
              <a:cs typeface="Lato Black"/>
              <a:sym typeface="Lato Black"/>
            </a:endParaRPr>
          </a:p>
        </p:txBody>
      </p:sp>
      <p:sp>
        <p:nvSpPr>
          <p:cNvPr id="430" name="Google Shape;430;p38"/>
          <p:cNvSpPr txBox="1"/>
          <p:nvPr/>
        </p:nvSpPr>
        <p:spPr>
          <a:xfrm>
            <a:off x="5372100" y="2952750"/>
            <a:ext cx="3885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rgbClr val="FFFFFF"/>
                </a:solidFill>
                <a:latin typeface="Lato Black"/>
                <a:ea typeface="Lato Black"/>
                <a:cs typeface="Lato Black"/>
                <a:sym typeface="Lato Black"/>
              </a:rPr>
              <a:t>UP</a:t>
            </a:r>
            <a:endParaRPr b="0" i="0" sz="900" u="none" cap="none" strike="noStrike">
              <a:solidFill>
                <a:srgbClr val="FFFFFF"/>
              </a:solidFill>
              <a:latin typeface="Lato Black"/>
              <a:ea typeface="Lato Black"/>
              <a:cs typeface="Lato Black"/>
              <a:sym typeface="Lato Black"/>
            </a:endParaRPr>
          </a:p>
        </p:txBody>
      </p:sp>
      <p:sp>
        <p:nvSpPr>
          <p:cNvPr id="431" name="Google Shape;431;p38"/>
          <p:cNvSpPr txBox="1"/>
          <p:nvPr/>
        </p:nvSpPr>
        <p:spPr>
          <a:xfrm>
            <a:off x="5364480" y="3307080"/>
            <a:ext cx="3885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rgbClr val="FFFFFF"/>
                </a:solidFill>
                <a:latin typeface="Lato Black"/>
                <a:ea typeface="Lato Black"/>
                <a:cs typeface="Lato Black"/>
                <a:sym typeface="Lato Black"/>
              </a:rPr>
              <a:t>LD</a:t>
            </a:r>
            <a:endParaRPr b="0" i="0" sz="900" u="none" cap="none" strike="noStrike">
              <a:solidFill>
                <a:srgbClr val="FFFFFF"/>
              </a:solidFill>
              <a:latin typeface="Lato Black"/>
              <a:ea typeface="Lato Black"/>
              <a:cs typeface="Lato Black"/>
              <a:sym typeface="Lato Black"/>
            </a:endParaRPr>
          </a:p>
        </p:txBody>
      </p:sp>
      <p:sp>
        <p:nvSpPr>
          <p:cNvPr id="432" name="Google Shape;432;p38"/>
          <p:cNvSpPr txBox="1"/>
          <p:nvPr/>
        </p:nvSpPr>
        <p:spPr>
          <a:xfrm>
            <a:off x="5534136" y="3989418"/>
            <a:ext cx="697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Lato Black"/>
                <a:ea typeface="Lato Black"/>
                <a:cs typeface="Lato Black"/>
                <a:sym typeface="Lato Black"/>
              </a:rPr>
              <a:t>CEAS</a:t>
            </a:r>
            <a:endParaRPr sz="1000">
              <a:solidFill>
                <a:schemeClr val="dk1"/>
              </a:solidFill>
              <a:latin typeface="Lato Black"/>
              <a:ea typeface="Lato Black"/>
              <a:cs typeface="Lato Black"/>
              <a:sym typeface="Lato Black"/>
            </a:endParaRPr>
          </a:p>
        </p:txBody>
      </p:sp>
      <p:sp>
        <p:nvSpPr>
          <p:cNvPr id="433" name="Google Shape;433;p38"/>
          <p:cNvSpPr/>
          <p:nvPr/>
        </p:nvSpPr>
        <p:spPr>
          <a:xfrm>
            <a:off x="519300" y="224106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8"/>
          <p:cNvSpPr txBox="1"/>
          <p:nvPr/>
        </p:nvSpPr>
        <p:spPr>
          <a:xfrm>
            <a:off x="423325" y="1981288"/>
            <a:ext cx="65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Pahar</a:t>
            </a:r>
            <a:endParaRPr>
              <a:latin typeface="Calibri"/>
              <a:ea typeface="Calibri"/>
              <a:cs typeface="Calibri"/>
              <a:sym typeface="Calibri"/>
            </a:endParaRPr>
          </a:p>
        </p:txBody>
      </p:sp>
      <p:sp>
        <p:nvSpPr>
          <p:cNvPr id="435" name="Google Shape;435;p38"/>
          <p:cNvSpPr txBox="1"/>
          <p:nvPr/>
        </p:nvSpPr>
        <p:spPr>
          <a:xfrm>
            <a:off x="369625" y="3996900"/>
            <a:ext cx="78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Gheață</a:t>
            </a:r>
            <a:endParaRPr>
              <a:latin typeface="Calibri"/>
              <a:ea typeface="Calibri"/>
              <a:cs typeface="Calibri"/>
              <a:sym typeface="Calibri"/>
            </a:endParaRPr>
          </a:p>
        </p:txBody>
      </p:sp>
      <p:sp>
        <p:nvSpPr>
          <p:cNvPr id="436" name="Google Shape;436;p38"/>
          <p:cNvSpPr txBox="1"/>
          <p:nvPr/>
        </p:nvSpPr>
        <p:spPr>
          <a:xfrm>
            <a:off x="110950" y="2674575"/>
            <a:ext cx="107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Fruct./cola</a:t>
            </a:r>
            <a:endParaRPr>
              <a:latin typeface="Calibri"/>
              <a:ea typeface="Calibri"/>
              <a:cs typeface="Calibri"/>
              <a:sym typeface="Calibri"/>
            </a:endParaRPr>
          </a:p>
        </p:txBody>
      </p:sp>
      <p:sp>
        <p:nvSpPr>
          <p:cNvPr id="437" name="Google Shape;437;p38"/>
          <p:cNvSpPr txBox="1"/>
          <p:nvPr/>
        </p:nvSpPr>
        <p:spPr>
          <a:xfrm>
            <a:off x="-45275" y="2323263"/>
            <a:ext cx="128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Băut. răc./apă</a:t>
            </a:r>
            <a:endParaRPr>
              <a:latin typeface="Calibri"/>
              <a:ea typeface="Calibri"/>
              <a:cs typeface="Calibri"/>
              <a:sym typeface="Calibri"/>
            </a:endParaRPr>
          </a:p>
        </p:txBody>
      </p:sp>
      <p:sp>
        <p:nvSpPr>
          <p:cNvPr id="438" name="Google Shape;438;p38"/>
          <p:cNvSpPr txBox="1"/>
          <p:nvPr/>
        </p:nvSpPr>
        <p:spPr>
          <a:xfrm>
            <a:off x="9075" y="3335375"/>
            <a:ext cx="1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Light/Full ice</a:t>
            </a:r>
            <a:endParaRPr>
              <a:latin typeface="Calibri"/>
              <a:ea typeface="Calibri"/>
              <a:cs typeface="Calibri"/>
              <a:sym typeface="Calibri"/>
            </a:endParaRPr>
          </a:p>
        </p:txBody>
      </p:sp>
      <p:sp>
        <p:nvSpPr>
          <p:cNvPr id="439" name="Google Shape;439;p38"/>
          <p:cNvSpPr txBox="1"/>
          <p:nvPr/>
        </p:nvSpPr>
        <p:spPr>
          <a:xfrm>
            <a:off x="209750" y="3635313"/>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Port./măr</a:t>
            </a:r>
            <a:endParaRPr>
              <a:latin typeface="Calibri"/>
              <a:ea typeface="Calibri"/>
              <a:cs typeface="Calibri"/>
              <a:sym typeface="Calibri"/>
            </a:endParaRPr>
          </a:p>
        </p:txBody>
      </p:sp>
      <p:sp>
        <p:nvSpPr>
          <p:cNvPr id="440" name="Google Shape;440;p38"/>
          <p:cNvSpPr txBox="1"/>
          <p:nvPr/>
        </p:nvSpPr>
        <p:spPr>
          <a:xfrm>
            <a:off x="219500" y="3027063"/>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Neac./ac.</a:t>
            </a:r>
            <a:endParaRPr>
              <a:latin typeface="Calibri"/>
              <a:ea typeface="Calibri"/>
              <a:cs typeface="Calibri"/>
              <a:sym typeface="Calibri"/>
            </a:endParaRPr>
          </a:p>
        </p:txBody>
      </p:sp>
      <p:sp>
        <p:nvSpPr>
          <p:cNvPr id="441" name="Google Shape;441;p38"/>
          <p:cNvSpPr txBox="1"/>
          <p:nvPr/>
        </p:nvSpPr>
        <p:spPr>
          <a:xfrm>
            <a:off x="411925" y="4311088"/>
            <a:ext cx="94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    *(0)</a:t>
            </a:r>
            <a:endParaRPr>
              <a:latin typeface="Calibri"/>
              <a:ea typeface="Calibri"/>
              <a:cs typeface="Calibri"/>
              <a:sym typeface="Calibri"/>
            </a:endParaRPr>
          </a:p>
        </p:txBody>
      </p:sp>
      <p:sp>
        <p:nvSpPr>
          <p:cNvPr id="442" name="Google Shape;442;p38"/>
          <p:cNvSpPr/>
          <p:nvPr/>
        </p:nvSpPr>
        <p:spPr>
          <a:xfrm>
            <a:off x="519300" y="2547864"/>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8"/>
          <p:cNvSpPr/>
          <p:nvPr/>
        </p:nvSpPr>
        <p:spPr>
          <a:xfrm>
            <a:off x="512066" y="2926863"/>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8"/>
          <p:cNvSpPr/>
          <p:nvPr/>
        </p:nvSpPr>
        <p:spPr>
          <a:xfrm>
            <a:off x="504816" y="3258900"/>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8"/>
          <p:cNvSpPr/>
          <p:nvPr/>
        </p:nvSpPr>
        <p:spPr>
          <a:xfrm>
            <a:off x="512066" y="3590960"/>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8"/>
          <p:cNvSpPr/>
          <p:nvPr/>
        </p:nvSpPr>
        <p:spPr>
          <a:xfrm>
            <a:off x="504832" y="3902994"/>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8"/>
          <p:cNvSpPr/>
          <p:nvPr/>
        </p:nvSpPr>
        <p:spPr>
          <a:xfrm>
            <a:off x="512066" y="4214546"/>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8"/>
          <p:cNvSpPr/>
          <p:nvPr/>
        </p:nvSpPr>
        <p:spPr>
          <a:xfrm>
            <a:off x="512066" y="4519828"/>
            <a:ext cx="595800" cy="200400"/>
          </a:xfrm>
          <a:prstGeom prst="rightArrow">
            <a:avLst>
              <a:gd fmla="val 2006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p39"/>
          <p:cNvPicPr preferRelativeResize="0"/>
          <p:nvPr/>
        </p:nvPicPr>
        <p:blipFill>
          <a:blip r:embed="rId3">
            <a:alphaModFix/>
          </a:blip>
          <a:stretch>
            <a:fillRect/>
          </a:stretch>
        </p:blipFill>
        <p:spPr>
          <a:xfrm>
            <a:off x="880288" y="842300"/>
            <a:ext cx="7794774" cy="3741138"/>
          </a:xfrm>
          <a:prstGeom prst="rect">
            <a:avLst/>
          </a:prstGeom>
          <a:noFill/>
          <a:ln>
            <a:noFill/>
          </a:ln>
        </p:spPr>
      </p:pic>
      <p:pic>
        <p:nvPicPr>
          <p:cNvPr id="454" name="Google Shape;454;p39"/>
          <p:cNvPicPr preferRelativeResize="0"/>
          <p:nvPr/>
        </p:nvPicPr>
        <p:blipFill rotWithShape="1">
          <a:blip r:embed="rId4">
            <a:alphaModFix amt="60000"/>
          </a:blip>
          <a:srcRect b="0" l="0" r="0" t="0"/>
          <a:stretch/>
        </p:blipFill>
        <p:spPr>
          <a:xfrm>
            <a:off x="-679081" y="899763"/>
            <a:ext cx="1792325" cy="1655457"/>
          </a:xfrm>
          <a:prstGeom prst="rect">
            <a:avLst/>
          </a:prstGeom>
          <a:noFill/>
          <a:ln>
            <a:noFill/>
          </a:ln>
        </p:spPr>
      </p:pic>
      <p:pic>
        <p:nvPicPr>
          <p:cNvPr id="455" name="Google Shape;455;p39"/>
          <p:cNvPicPr preferRelativeResize="0"/>
          <p:nvPr/>
        </p:nvPicPr>
        <p:blipFill rotWithShape="1">
          <a:blip r:embed="rId5">
            <a:alphaModFix amt="60000"/>
          </a:blip>
          <a:srcRect b="0" l="0" r="0" t="0"/>
          <a:stretch/>
        </p:blipFill>
        <p:spPr>
          <a:xfrm rot="7200001">
            <a:off x="-747323" y="800223"/>
            <a:ext cx="1832737" cy="1692782"/>
          </a:xfrm>
          <a:prstGeom prst="rect">
            <a:avLst/>
          </a:prstGeom>
          <a:noFill/>
          <a:ln>
            <a:noFill/>
          </a:ln>
        </p:spPr>
      </p:pic>
      <p:pic>
        <p:nvPicPr>
          <p:cNvPr id="456" name="Google Shape;456;p39"/>
          <p:cNvPicPr preferRelativeResize="0"/>
          <p:nvPr/>
        </p:nvPicPr>
        <p:blipFill rotWithShape="1">
          <a:blip r:embed="rId4">
            <a:alphaModFix amt="60000"/>
          </a:blip>
          <a:srcRect b="0" l="0" r="0" t="0"/>
          <a:stretch/>
        </p:blipFill>
        <p:spPr>
          <a:xfrm>
            <a:off x="6464305" y="-289946"/>
            <a:ext cx="656531" cy="606396"/>
          </a:xfrm>
          <a:prstGeom prst="rect">
            <a:avLst/>
          </a:prstGeom>
          <a:noFill/>
          <a:ln>
            <a:noFill/>
          </a:ln>
        </p:spPr>
      </p:pic>
      <p:pic>
        <p:nvPicPr>
          <p:cNvPr id="457" name="Google Shape;457;p39"/>
          <p:cNvPicPr preferRelativeResize="0"/>
          <p:nvPr/>
        </p:nvPicPr>
        <p:blipFill rotWithShape="1">
          <a:blip r:embed="rId5">
            <a:alphaModFix amt="60000"/>
          </a:blip>
          <a:srcRect b="0" l="0" r="0" t="0"/>
          <a:stretch/>
        </p:blipFill>
        <p:spPr>
          <a:xfrm rot="7199999">
            <a:off x="6439308" y="-326408"/>
            <a:ext cx="671334" cy="620068"/>
          </a:xfrm>
          <a:prstGeom prst="rect">
            <a:avLst/>
          </a:prstGeom>
          <a:noFill/>
          <a:ln>
            <a:noFill/>
          </a:ln>
        </p:spPr>
      </p:pic>
      <p:pic>
        <p:nvPicPr>
          <p:cNvPr id="458" name="Google Shape;458;p39"/>
          <p:cNvPicPr preferRelativeResize="0"/>
          <p:nvPr/>
        </p:nvPicPr>
        <p:blipFill rotWithShape="1">
          <a:blip r:embed="rId4">
            <a:alphaModFix amt="60000"/>
          </a:blip>
          <a:srcRect b="0" l="0" r="0" t="0"/>
          <a:stretch/>
        </p:blipFill>
        <p:spPr>
          <a:xfrm>
            <a:off x="3357197" y="4654785"/>
            <a:ext cx="2624355" cy="2423949"/>
          </a:xfrm>
          <a:prstGeom prst="rect">
            <a:avLst/>
          </a:prstGeom>
          <a:noFill/>
          <a:ln>
            <a:noFill/>
          </a:ln>
        </p:spPr>
      </p:pic>
      <p:pic>
        <p:nvPicPr>
          <p:cNvPr id="459" name="Google Shape;459;p39"/>
          <p:cNvPicPr preferRelativeResize="0"/>
          <p:nvPr/>
        </p:nvPicPr>
        <p:blipFill rotWithShape="1">
          <a:blip r:embed="rId5">
            <a:alphaModFix amt="60000"/>
          </a:blip>
          <a:srcRect b="0" l="0" r="0" t="0"/>
          <a:stretch/>
        </p:blipFill>
        <p:spPr>
          <a:xfrm rot="7200000">
            <a:off x="3257276" y="4509035"/>
            <a:ext cx="2683526" cy="2478602"/>
          </a:xfrm>
          <a:prstGeom prst="rect">
            <a:avLst/>
          </a:prstGeom>
          <a:noFill/>
          <a:ln>
            <a:noFill/>
          </a:ln>
        </p:spPr>
      </p:pic>
      <p:pic>
        <p:nvPicPr>
          <p:cNvPr id="460" name="Google Shape;460;p39"/>
          <p:cNvPicPr preferRelativeResize="0"/>
          <p:nvPr/>
        </p:nvPicPr>
        <p:blipFill rotWithShape="1">
          <a:blip r:embed="rId4">
            <a:alphaModFix amt="60000"/>
          </a:blip>
          <a:srcRect b="0" l="0" r="0" t="0"/>
          <a:stretch/>
        </p:blipFill>
        <p:spPr>
          <a:xfrm>
            <a:off x="3509383" y="-1578936"/>
            <a:ext cx="2680263" cy="2475589"/>
          </a:xfrm>
          <a:prstGeom prst="rect">
            <a:avLst/>
          </a:prstGeom>
          <a:noFill/>
          <a:ln>
            <a:noFill/>
          </a:ln>
        </p:spPr>
      </p:pic>
      <p:pic>
        <p:nvPicPr>
          <p:cNvPr id="461" name="Google Shape;461;p39"/>
          <p:cNvPicPr preferRelativeResize="0"/>
          <p:nvPr/>
        </p:nvPicPr>
        <p:blipFill rotWithShape="1">
          <a:blip r:embed="rId5">
            <a:alphaModFix amt="60000"/>
          </a:blip>
          <a:srcRect b="0" l="0" r="0" t="0"/>
          <a:stretch/>
        </p:blipFill>
        <p:spPr>
          <a:xfrm rot="7200000">
            <a:off x="3407333" y="-1727790"/>
            <a:ext cx="2740696" cy="2531406"/>
          </a:xfrm>
          <a:prstGeom prst="rect">
            <a:avLst/>
          </a:prstGeom>
          <a:noFill/>
          <a:ln>
            <a:noFill/>
          </a:ln>
        </p:spPr>
      </p:pic>
      <p:pic>
        <p:nvPicPr>
          <p:cNvPr id="462" name="Google Shape;462;p39"/>
          <p:cNvPicPr preferRelativeResize="0"/>
          <p:nvPr/>
        </p:nvPicPr>
        <p:blipFill rotWithShape="1">
          <a:blip r:embed="rId4">
            <a:alphaModFix amt="60000"/>
          </a:blip>
          <a:srcRect b="0" l="0" r="0" t="0"/>
          <a:stretch/>
        </p:blipFill>
        <p:spPr>
          <a:xfrm>
            <a:off x="836604" y="4909701"/>
            <a:ext cx="602584" cy="556568"/>
          </a:xfrm>
          <a:prstGeom prst="rect">
            <a:avLst/>
          </a:prstGeom>
          <a:noFill/>
          <a:ln>
            <a:noFill/>
          </a:ln>
        </p:spPr>
      </p:pic>
      <p:pic>
        <p:nvPicPr>
          <p:cNvPr id="463" name="Google Shape;463;p39"/>
          <p:cNvPicPr preferRelativeResize="0"/>
          <p:nvPr/>
        </p:nvPicPr>
        <p:blipFill rotWithShape="1">
          <a:blip r:embed="rId5">
            <a:alphaModFix amt="60000"/>
          </a:blip>
          <a:srcRect b="0" l="0" r="0" t="0"/>
          <a:stretch/>
        </p:blipFill>
        <p:spPr>
          <a:xfrm rot="7199999">
            <a:off x="813660" y="4876235"/>
            <a:ext cx="616171" cy="569118"/>
          </a:xfrm>
          <a:prstGeom prst="rect">
            <a:avLst/>
          </a:prstGeom>
          <a:noFill/>
          <a:ln>
            <a:noFill/>
          </a:ln>
        </p:spPr>
      </p:pic>
      <p:pic>
        <p:nvPicPr>
          <p:cNvPr id="464" name="Google Shape;464;p39"/>
          <p:cNvPicPr preferRelativeResize="0"/>
          <p:nvPr/>
        </p:nvPicPr>
        <p:blipFill rotWithShape="1">
          <a:blip r:embed="rId6">
            <a:alphaModFix/>
          </a:blip>
          <a:srcRect b="0" l="0" r="0" t="0"/>
          <a:stretch/>
        </p:blipFill>
        <p:spPr>
          <a:xfrm rot="1516343">
            <a:off x="7516830" y="88522"/>
            <a:ext cx="1136512" cy="994447"/>
          </a:xfrm>
          <a:prstGeom prst="rect">
            <a:avLst/>
          </a:prstGeom>
          <a:noFill/>
          <a:ln>
            <a:noFill/>
          </a:ln>
        </p:spPr>
      </p:pic>
      <p:sp>
        <p:nvSpPr>
          <p:cNvPr id="465" name="Google Shape;465;p39"/>
          <p:cNvSpPr txBox="1"/>
          <p:nvPr/>
        </p:nvSpPr>
        <p:spPr>
          <a:xfrm>
            <a:off x="8" y="131150"/>
            <a:ext cx="71193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Memoria de microprogram</a:t>
            </a:r>
            <a:endParaRPr sz="700"/>
          </a:p>
        </p:txBody>
      </p:sp>
      <p:pic>
        <p:nvPicPr>
          <p:cNvPr id="466" name="Google Shape;466;p39"/>
          <p:cNvPicPr preferRelativeResize="0"/>
          <p:nvPr/>
        </p:nvPicPr>
        <p:blipFill rotWithShape="1">
          <a:blip r:embed="rId4">
            <a:alphaModFix amt="60000"/>
          </a:blip>
          <a:srcRect b="0" l="0" r="0" t="0"/>
          <a:stretch/>
        </p:blipFill>
        <p:spPr>
          <a:xfrm>
            <a:off x="7326629" y="4909701"/>
            <a:ext cx="602584" cy="556568"/>
          </a:xfrm>
          <a:prstGeom prst="rect">
            <a:avLst/>
          </a:prstGeom>
          <a:noFill/>
          <a:ln>
            <a:noFill/>
          </a:ln>
        </p:spPr>
      </p:pic>
      <p:pic>
        <p:nvPicPr>
          <p:cNvPr id="467" name="Google Shape;467;p39"/>
          <p:cNvPicPr preferRelativeResize="0"/>
          <p:nvPr/>
        </p:nvPicPr>
        <p:blipFill rotWithShape="1">
          <a:blip r:embed="rId5">
            <a:alphaModFix amt="60000"/>
          </a:blip>
          <a:srcRect b="0" l="0" r="0" t="0"/>
          <a:stretch/>
        </p:blipFill>
        <p:spPr>
          <a:xfrm rot="7199999">
            <a:off x="7303685" y="4876235"/>
            <a:ext cx="616171" cy="5691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p40"/>
          <p:cNvPicPr preferRelativeResize="0"/>
          <p:nvPr/>
        </p:nvPicPr>
        <p:blipFill rotWithShape="1">
          <a:blip r:embed="rId3">
            <a:alphaModFix amt="60000"/>
          </a:blip>
          <a:srcRect b="0" l="0" r="0" t="0"/>
          <a:stretch/>
        </p:blipFill>
        <p:spPr>
          <a:xfrm>
            <a:off x="981330" y="-968124"/>
            <a:ext cx="1623547" cy="1499567"/>
          </a:xfrm>
          <a:prstGeom prst="rect">
            <a:avLst/>
          </a:prstGeom>
          <a:noFill/>
          <a:ln>
            <a:noFill/>
          </a:ln>
        </p:spPr>
      </p:pic>
      <p:pic>
        <p:nvPicPr>
          <p:cNvPr id="473" name="Google Shape;473;p40"/>
          <p:cNvPicPr preferRelativeResize="0"/>
          <p:nvPr/>
        </p:nvPicPr>
        <p:blipFill rotWithShape="1">
          <a:blip r:embed="rId4">
            <a:alphaModFix amt="60000"/>
          </a:blip>
          <a:srcRect b="0" l="0" r="0" t="0"/>
          <a:stretch/>
        </p:blipFill>
        <p:spPr>
          <a:xfrm rot="7200000">
            <a:off x="883593" y="-927281"/>
            <a:ext cx="1660154" cy="1533379"/>
          </a:xfrm>
          <a:prstGeom prst="rect">
            <a:avLst/>
          </a:prstGeom>
          <a:noFill/>
          <a:ln>
            <a:noFill/>
          </a:ln>
        </p:spPr>
      </p:pic>
      <p:pic>
        <p:nvPicPr>
          <p:cNvPr id="474" name="Google Shape;474;p40"/>
          <p:cNvPicPr preferRelativeResize="0"/>
          <p:nvPr/>
        </p:nvPicPr>
        <p:blipFill rotWithShape="1">
          <a:blip r:embed="rId3">
            <a:alphaModFix amt="60000"/>
          </a:blip>
          <a:srcRect b="0" l="0" r="0" t="0"/>
          <a:stretch/>
        </p:blipFill>
        <p:spPr>
          <a:xfrm>
            <a:off x="565149" y="4175540"/>
            <a:ext cx="3013232" cy="2783132"/>
          </a:xfrm>
          <a:prstGeom prst="rect">
            <a:avLst/>
          </a:prstGeom>
          <a:noFill/>
          <a:ln>
            <a:noFill/>
          </a:ln>
        </p:spPr>
      </p:pic>
      <p:pic>
        <p:nvPicPr>
          <p:cNvPr id="475" name="Google Shape;475;p40"/>
          <p:cNvPicPr preferRelativeResize="0"/>
          <p:nvPr/>
        </p:nvPicPr>
        <p:blipFill rotWithShape="1">
          <a:blip r:embed="rId4">
            <a:alphaModFix amt="60000"/>
          </a:blip>
          <a:srcRect b="0" l="0" r="0" t="0"/>
          <a:stretch/>
        </p:blipFill>
        <p:spPr>
          <a:xfrm rot="7200000">
            <a:off x="360480" y="4600452"/>
            <a:ext cx="3081172" cy="2845883"/>
          </a:xfrm>
          <a:prstGeom prst="rect">
            <a:avLst/>
          </a:prstGeom>
          <a:noFill/>
          <a:ln>
            <a:noFill/>
          </a:ln>
        </p:spPr>
      </p:pic>
      <p:pic>
        <p:nvPicPr>
          <p:cNvPr id="476" name="Google Shape;476;p40"/>
          <p:cNvPicPr preferRelativeResize="0"/>
          <p:nvPr/>
        </p:nvPicPr>
        <p:blipFill rotWithShape="1">
          <a:blip r:embed="rId3">
            <a:alphaModFix amt="60000"/>
          </a:blip>
          <a:srcRect b="0" l="0" r="0" t="0"/>
          <a:stretch/>
        </p:blipFill>
        <p:spPr>
          <a:xfrm>
            <a:off x="-905087" y="2684820"/>
            <a:ext cx="1099158" cy="1015222"/>
          </a:xfrm>
          <a:prstGeom prst="rect">
            <a:avLst/>
          </a:prstGeom>
          <a:noFill/>
          <a:ln>
            <a:noFill/>
          </a:ln>
        </p:spPr>
      </p:pic>
      <p:pic>
        <p:nvPicPr>
          <p:cNvPr id="477" name="Google Shape;477;p40"/>
          <p:cNvPicPr preferRelativeResize="0"/>
          <p:nvPr/>
        </p:nvPicPr>
        <p:blipFill rotWithShape="1">
          <a:blip r:embed="rId4">
            <a:alphaModFix amt="60000"/>
          </a:blip>
          <a:srcRect b="0" l="0" r="0" t="0"/>
          <a:stretch/>
        </p:blipFill>
        <p:spPr>
          <a:xfrm rot="7200000">
            <a:off x="-971256" y="2712471"/>
            <a:ext cx="1123941" cy="1038113"/>
          </a:xfrm>
          <a:prstGeom prst="rect">
            <a:avLst/>
          </a:prstGeom>
          <a:noFill/>
          <a:ln>
            <a:noFill/>
          </a:ln>
        </p:spPr>
      </p:pic>
      <p:pic>
        <p:nvPicPr>
          <p:cNvPr id="478" name="Google Shape;478;p40"/>
          <p:cNvPicPr preferRelativeResize="0"/>
          <p:nvPr/>
        </p:nvPicPr>
        <p:blipFill rotWithShape="1">
          <a:blip r:embed="rId5">
            <a:alphaModFix/>
          </a:blip>
          <a:srcRect b="0" l="0" r="0" t="0"/>
          <a:stretch/>
        </p:blipFill>
        <p:spPr>
          <a:xfrm rot="-1020155">
            <a:off x="8195413" y="73749"/>
            <a:ext cx="658684" cy="1032127"/>
          </a:xfrm>
          <a:prstGeom prst="rect">
            <a:avLst/>
          </a:prstGeom>
          <a:noFill/>
          <a:ln>
            <a:noFill/>
          </a:ln>
        </p:spPr>
      </p:pic>
      <p:pic>
        <p:nvPicPr>
          <p:cNvPr id="479" name="Google Shape;479;p40"/>
          <p:cNvPicPr preferRelativeResize="0"/>
          <p:nvPr/>
        </p:nvPicPr>
        <p:blipFill rotWithShape="1">
          <a:blip r:embed="rId6">
            <a:alphaModFix/>
          </a:blip>
          <a:srcRect b="0" l="0" r="0" t="0"/>
          <a:stretch/>
        </p:blipFill>
        <p:spPr>
          <a:xfrm rot="-1191691">
            <a:off x="-374080" y="-314803"/>
            <a:ext cx="1411133" cy="1326465"/>
          </a:xfrm>
          <a:prstGeom prst="rect">
            <a:avLst/>
          </a:prstGeom>
          <a:noFill/>
          <a:ln>
            <a:noFill/>
          </a:ln>
        </p:spPr>
      </p:pic>
      <p:sp>
        <p:nvSpPr>
          <p:cNvPr id="480" name="Google Shape;480;p40"/>
          <p:cNvSpPr txBox="1"/>
          <p:nvPr/>
        </p:nvSpPr>
        <p:spPr>
          <a:xfrm>
            <a:off x="1901066" y="63500"/>
            <a:ext cx="6827700" cy="450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Componente digitale folosite</a:t>
            </a:r>
            <a:endParaRPr sz="700"/>
          </a:p>
        </p:txBody>
      </p:sp>
      <p:pic>
        <p:nvPicPr>
          <p:cNvPr id="481" name="Google Shape;481;p40"/>
          <p:cNvPicPr preferRelativeResize="0"/>
          <p:nvPr/>
        </p:nvPicPr>
        <p:blipFill>
          <a:blip r:embed="rId7">
            <a:alphaModFix/>
          </a:blip>
          <a:stretch>
            <a:fillRect/>
          </a:stretch>
        </p:blipFill>
        <p:spPr>
          <a:xfrm>
            <a:off x="321226" y="480400"/>
            <a:ext cx="2388139" cy="2204425"/>
          </a:xfrm>
          <a:prstGeom prst="rect">
            <a:avLst/>
          </a:prstGeom>
          <a:noFill/>
          <a:ln>
            <a:noFill/>
          </a:ln>
        </p:spPr>
      </p:pic>
      <p:pic>
        <p:nvPicPr>
          <p:cNvPr id="482" name="Google Shape;482;p40"/>
          <p:cNvPicPr preferRelativeResize="0"/>
          <p:nvPr/>
        </p:nvPicPr>
        <p:blipFill>
          <a:blip r:embed="rId7">
            <a:alphaModFix/>
          </a:blip>
          <a:stretch>
            <a:fillRect/>
          </a:stretch>
        </p:blipFill>
        <p:spPr>
          <a:xfrm>
            <a:off x="2875376" y="487650"/>
            <a:ext cx="2388139" cy="2204425"/>
          </a:xfrm>
          <a:prstGeom prst="rect">
            <a:avLst/>
          </a:prstGeom>
          <a:noFill/>
          <a:ln>
            <a:noFill/>
          </a:ln>
        </p:spPr>
      </p:pic>
      <p:pic>
        <p:nvPicPr>
          <p:cNvPr id="483" name="Google Shape;483;p40"/>
          <p:cNvPicPr preferRelativeResize="0"/>
          <p:nvPr/>
        </p:nvPicPr>
        <p:blipFill>
          <a:blip r:embed="rId7">
            <a:alphaModFix/>
          </a:blip>
          <a:stretch>
            <a:fillRect/>
          </a:stretch>
        </p:blipFill>
        <p:spPr>
          <a:xfrm>
            <a:off x="5346226" y="499700"/>
            <a:ext cx="2388139" cy="2204425"/>
          </a:xfrm>
          <a:prstGeom prst="rect">
            <a:avLst/>
          </a:prstGeom>
          <a:noFill/>
          <a:ln>
            <a:noFill/>
          </a:ln>
        </p:spPr>
      </p:pic>
      <p:sp>
        <p:nvSpPr>
          <p:cNvPr id="484" name="Google Shape;484;p40"/>
          <p:cNvSpPr txBox="1"/>
          <p:nvPr/>
        </p:nvSpPr>
        <p:spPr>
          <a:xfrm>
            <a:off x="3646025" y="3523050"/>
            <a:ext cx="5150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Așa cum am menționat anterior, deoarece memorii 16x4 nu ofereau suficient spațiu pentru automat, iar pentru memorii peste 256x4  rămân multe adrese nefolosite, vom folosi 3 memorii concatenate 64x4 CAT22C10 (Data Sheet </a:t>
            </a:r>
            <a:r>
              <a:rPr lang="en" u="sng">
                <a:solidFill>
                  <a:schemeClr val="hlink"/>
                </a:solidFill>
                <a:hlinkClick r:id="rId8"/>
              </a:rPr>
              <a:t>aici</a:t>
            </a:r>
            <a:r>
              <a:rPr lang="en"/>
              <a:t>).</a:t>
            </a:r>
            <a:endParaRPr/>
          </a:p>
        </p:txBody>
      </p:sp>
      <p:sp>
        <p:nvSpPr>
          <p:cNvPr id="485" name="Google Shape;485;p40"/>
          <p:cNvSpPr txBox="1"/>
          <p:nvPr/>
        </p:nvSpPr>
        <p:spPr>
          <a:xfrm>
            <a:off x="1374500" y="2683400"/>
            <a:ext cx="6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M1</a:t>
            </a:r>
            <a:endParaRPr>
              <a:latin typeface="Calibri"/>
              <a:ea typeface="Calibri"/>
              <a:cs typeface="Calibri"/>
              <a:sym typeface="Calibri"/>
            </a:endParaRPr>
          </a:p>
        </p:txBody>
      </p:sp>
      <p:sp>
        <p:nvSpPr>
          <p:cNvPr id="486" name="Google Shape;486;p40"/>
          <p:cNvSpPr txBox="1"/>
          <p:nvPr/>
        </p:nvSpPr>
        <p:spPr>
          <a:xfrm>
            <a:off x="3889100" y="2716675"/>
            <a:ext cx="6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M2</a:t>
            </a:r>
            <a:endParaRPr>
              <a:latin typeface="Calibri"/>
              <a:ea typeface="Calibri"/>
              <a:cs typeface="Calibri"/>
              <a:sym typeface="Calibri"/>
            </a:endParaRPr>
          </a:p>
        </p:txBody>
      </p:sp>
      <p:sp>
        <p:nvSpPr>
          <p:cNvPr id="487" name="Google Shape;487;p40"/>
          <p:cNvSpPr txBox="1"/>
          <p:nvPr/>
        </p:nvSpPr>
        <p:spPr>
          <a:xfrm>
            <a:off x="6388750" y="2716675"/>
            <a:ext cx="6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M3</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41"/>
          <p:cNvPicPr preferRelativeResize="0"/>
          <p:nvPr/>
        </p:nvPicPr>
        <p:blipFill rotWithShape="1">
          <a:blip r:embed="rId3">
            <a:alphaModFix amt="60000"/>
          </a:blip>
          <a:srcRect b="0" l="0" r="0" t="0"/>
          <a:stretch/>
        </p:blipFill>
        <p:spPr>
          <a:xfrm>
            <a:off x="981330" y="-968124"/>
            <a:ext cx="1623547" cy="1499567"/>
          </a:xfrm>
          <a:prstGeom prst="rect">
            <a:avLst/>
          </a:prstGeom>
          <a:noFill/>
          <a:ln>
            <a:noFill/>
          </a:ln>
        </p:spPr>
      </p:pic>
      <p:pic>
        <p:nvPicPr>
          <p:cNvPr id="493" name="Google Shape;493;p41"/>
          <p:cNvPicPr preferRelativeResize="0"/>
          <p:nvPr/>
        </p:nvPicPr>
        <p:blipFill rotWithShape="1">
          <a:blip r:embed="rId4">
            <a:alphaModFix amt="60000"/>
          </a:blip>
          <a:srcRect b="0" l="0" r="0" t="0"/>
          <a:stretch/>
        </p:blipFill>
        <p:spPr>
          <a:xfrm rot="7200000">
            <a:off x="883593" y="-927281"/>
            <a:ext cx="1660154" cy="1533379"/>
          </a:xfrm>
          <a:prstGeom prst="rect">
            <a:avLst/>
          </a:prstGeom>
          <a:noFill/>
          <a:ln>
            <a:noFill/>
          </a:ln>
        </p:spPr>
      </p:pic>
      <p:pic>
        <p:nvPicPr>
          <p:cNvPr id="494" name="Google Shape;494;p41"/>
          <p:cNvPicPr preferRelativeResize="0"/>
          <p:nvPr/>
        </p:nvPicPr>
        <p:blipFill rotWithShape="1">
          <a:blip r:embed="rId3">
            <a:alphaModFix amt="60000"/>
          </a:blip>
          <a:srcRect b="0" l="0" r="0" t="0"/>
          <a:stretch/>
        </p:blipFill>
        <p:spPr>
          <a:xfrm>
            <a:off x="565149" y="4785140"/>
            <a:ext cx="3013232" cy="2783132"/>
          </a:xfrm>
          <a:prstGeom prst="rect">
            <a:avLst/>
          </a:prstGeom>
          <a:noFill/>
          <a:ln>
            <a:noFill/>
          </a:ln>
        </p:spPr>
      </p:pic>
      <p:pic>
        <p:nvPicPr>
          <p:cNvPr id="495" name="Google Shape;495;p41"/>
          <p:cNvPicPr preferRelativeResize="0"/>
          <p:nvPr/>
        </p:nvPicPr>
        <p:blipFill rotWithShape="1">
          <a:blip r:embed="rId4">
            <a:alphaModFix amt="60000"/>
          </a:blip>
          <a:srcRect b="0" l="0" r="0" t="0"/>
          <a:stretch/>
        </p:blipFill>
        <p:spPr>
          <a:xfrm rot="7200000">
            <a:off x="360480" y="5210052"/>
            <a:ext cx="3081172" cy="2845883"/>
          </a:xfrm>
          <a:prstGeom prst="rect">
            <a:avLst/>
          </a:prstGeom>
          <a:noFill/>
          <a:ln>
            <a:noFill/>
          </a:ln>
        </p:spPr>
      </p:pic>
      <p:pic>
        <p:nvPicPr>
          <p:cNvPr id="496" name="Google Shape;496;p41"/>
          <p:cNvPicPr preferRelativeResize="0"/>
          <p:nvPr/>
        </p:nvPicPr>
        <p:blipFill rotWithShape="1">
          <a:blip r:embed="rId3">
            <a:alphaModFix amt="60000"/>
          </a:blip>
          <a:srcRect b="0" l="0" r="0" t="0"/>
          <a:stretch/>
        </p:blipFill>
        <p:spPr>
          <a:xfrm>
            <a:off x="-905087" y="2684820"/>
            <a:ext cx="1099158" cy="1015222"/>
          </a:xfrm>
          <a:prstGeom prst="rect">
            <a:avLst/>
          </a:prstGeom>
          <a:noFill/>
          <a:ln>
            <a:noFill/>
          </a:ln>
        </p:spPr>
      </p:pic>
      <p:pic>
        <p:nvPicPr>
          <p:cNvPr id="497" name="Google Shape;497;p41"/>
          <p:cNvPicPr preferRelativeResize="0"/>
          <p:nvPr/>
        </p:nvPicPr>
        <p:blipFill rotWithShape="1">
          <a:blip r:embed="rId4">
            <a:alphaModFix amt="60000"/>
          </a:blip>
          <a:srcRect b="0" l="0" r="0" t="0"/>
          <a:stretch/>
        </p:blipFill>
        <p:spPr>
          <a:xfrm rot="7200000">
            <a:off x="-971256" y="2712471"/>
            <a:ext cx="1123941" cy="1038113"/>
          </a:xfrm>
          <a:prstGeom prst="rect">
            <a:avLst/>
          </a:prstGeom>
          <a:noFill/>
          <a:ln>
            <a:noFill/>
          </a:ln>
        </p:spPr>
      </p:pic>
      <p:pic>
        <p:nvPicPr>
          <p:cNvPr id="498" name="Google Shape;498;p41"/>
          <p:cNvPicPr preferRelativeResize="0"/>
          <p:nvPr/>
        </p:nvPicPr>
        <p:blipFill rotWithShape="1">
          <a:blip r:embed="rId5">
            <a:alphaModFix/>
          </a:blip>
          <a:srcRect b="0" l="0" r="0" t="0"/>
          <a:stretch/>
        </p:blipFill>
        <p:spPr>
          <a:xfrm rot="-1020155">
            <a:off x="8195413" y="73749"/>
            <a:ext cx="658684" cy="1032127"/>
          </a:xfrm>
          <a:prstGeom prst="rect">
            <a:avLst/>
          </a:prstGeom>
          <a:noFill/>
          <a:ln>
            <a:noFill/>
          </a:ln>
        </p:spPr>
      </p:pic>
      <p:pic>
        <p:nvPicPr>
          <p:cNvPr id="499" name="Google Shape;499;p41"/>
          <p:cNvPicPr preferRelativeResize="0"/>
          <p:nvPr/>
        </p:nvPicPr>
        <p:blipFill rotWithShape="1">
          <a:blip r:embed="rId6">
            <a:alphaModFix/>
          </a:blip>
          <a:srcRect b="0" l="0" r="0" t="0"/>
          <a:stretch/>
        </p:blipFill>
        <p:spPr>
          <a:xfrm rot="-1191691">
            <a:off x="-374080" y="-314803"/>
            <a:ext cx="1411133" cy="1326465"/>
          </a:xfrm>
          <a:prstGeom prst="rect">
            <a:avLst/>
          </a:prstGeom>
          <a:noFill/>
          <a:ln>
            <a:noFill/>
          </a:ln>
        </p:spPr>
      </p:pic>
      <p:sp>
        <p:nvSpPr>
          <p:cNvPr id="500" name="Google Shape;500;p41"/>
          <p:cNvSpPr txBox="1"/>
          <p:nvPr/>
        </p:nvSpPr>
        <p:spPr>
          <a:xfrm>
            <a:off x="1901066" y="63500"/>
            <a:ext cx="68277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Componente digitale folosite</a:t>
            </a:r>
            <a:endParaRPr sz="700"/>
          </a:p>
        </p:txBody>
      </p:sp>
      <p:sp>
        <p:nvSpPr>
          <p:cNvPr id="501" name="Google Shape;501;p41"/>
          <p:cNvSpPr txBox="1"/>
          <p:nvPr/>
        </p:nvSpPr>
        <p:spPr>
          <a:xfrm>
            <a:off x="351200" y="3770100"/>
            <a:ext cx="3392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Pentru cele 8 intrări putem folosi un multiplexor 8:1 54150 (Data Sheet </a:t>
            </a:r>
            <a:r>
              <a:rPr lang="en" u="sng">
                <a:solidFill>
                  <a:schemeClr val="hlink"/>
                </a:solidFill>
                <a:hlinkClick r:id="rId7"/>
              </a:rPr>
              <a:t>aici</a:t>
            </a:r>
            <a:r>
              <a:rPr lang="en"/>
              <a:t>).</a:t>
            </a:r>
            <a:endParaRPr/>
          </a:p>
        </p:txBody>
      </p:sp>
      <p:pic>
        <p:nvPicPr>
          <p:cNvPr id="502" name="Google Shape;502;p41"/>
          <p:cNvPicPr preferRelativeResize="0"/>
          <p:nvPr/>
        </p:nvPicPr>
        <p:blipFill>
          <a:blip r:embed="rId8">
            <a:alphaModFix/>
          </a:blip>
          <a:stretch>
            <a:fillRect/>
          </a:stretch>
        </p:blipFill>
        <p:spPr>
          <a:xfrm>
            <a:off x="232281" y="600800"/>
            <a:ext cx="3520148" cy="2769850"/>
          </a:xfrm>
          <a:prstGeom prst="rect">
            <a:avLst/>
          </a:prstGeom>
          <a:noFill/>
          <a:ln>
            <a:noFill/>
          </a:ln>
        </p:spPr>
      </p:pic>
      <p:sp>
        <p:nvSpPr>
          <p:cNvPr id="503" name="Google Shape;503;p41"/>
          <p:cNvSpPr txBox="1"/>
          <p:nvPr/>
        </p:nvSpPr>
        <p:spPr>
          <a:xfrm>
            <a:off x="390650" y="3367275"/>
            <a:ext cx="331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Black"/>
                <a:ea typeface="Lato Black"/>
                <a:cs typeface="Lato Black"/>
                <a:sym typeface="Lato Black"/>
              </a:rPr>
              <a:t>MUX 8:1</a:t>
            </a:r>
            <a:endParaRPr>
              <a:latin typeface="Lato Black"/>
              <a:ea typeface="Lato Black"/>
              <a:cs typeface="Lato Black"/>
              <a:sym typeface="Lato Black"/>
            </a:endParaRPr>
          </a:p>
        </p:txBody>
      </p:sp>
      <p:pic>
        <p:nvPicPr>
          <p:cNvPr id="504" name="Google Shape;504;p41"/>
          <p:cNvPicPr preferRelativeResize="0"/>
          <p:nvPr/>
        </p:nvPicPr>
        <p:blipFill>
          <a:blip r:embed="rId9">
            <a:alphaModFix/>
          </a:blip>
          <a:stretch>
            <a:fillRect/>
          </a:stretch>
        </p:blipFill>
        <p:spPr>
          <a:xfrm>
            <a:off x="3796825" y="753200"/>
            <a:ext cx="2799299" cy="2133725"/>
          </a:xfrm>
          <a:prstGeom prst="rect">
            <a:avLst/>
          </a:prstGeom>
          <a:noFill/>
          <a:ln>
            <a:noFill/>
          </a:ln>
        </p:spPr>
      </p:pic>
      <p:pic>
        <p:nvPicPr>
          <p:cNvPr id="505" name="Google Shape;505;p41"/>
          <p:cNvPicPr preferRelativeResize="0"/>
          <p:nvPr/>
        </p:nvPicPr>
        <p:blipFill>
          <a:blip r:embed="rId9">
            <a:alphaModFix/>
          </a:blip>
          <a:stretch>
            <a:fillRect/>
          </a:stretch>
        </p:blipFill>
        <p:spPr>
          <a:xfrm>
            <a:off x="6191300" y="786000"/>
            <a:ext cx="2799299" cy="2133725"/>
          </a:xfrm>
          <a:prstGeom prst="rect">
            <a:avLst/>
          </a:prstGeom>
          <a:noFill/>
          <a:ln>
            <a:noFill/>
          </a:ln>
        </p:spPr>
      </p:pic>
      <p:sp>
        <p:nvSpPr>
          <p:cNvPr id="506" name="Google Shape;506;p41"/>
          <p:cNvSpPr txBox="1"/>
          <p:nvPr/>
        </p:nvSpPr>
        <p:spPr>
          <a:xfrm>
            <a:off x="4543075" y="3174850"/>
            <a:ext cx="3819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Am folosit două numărătoare universale SN54192 (Data Sheet </a:t>
            </a:r>
            <a:r>
              <a:rPr lang="en" u="sng">
                <a:solidFill>
                  <a:schemeClr val="hlink"/>
                </a:solidFill>
                <a:hlinkClick r:id="rId10"/>
              </a:rPr>
              <a:t>aici</a:t>
            </a:r>
            <a:r>
              <a:rPr lang="en"/>
              <a:t>) pe 4 biți pentru a putea numără pe 6 biți, iar pin-ul de </a:t>
            </a:r>
            <a:r>
              <a:rPr i="1" lang="en"/>
              <a:t>carry </a:t>
            </a:r>
            <a:r>
              <a:rPr lang="en"/>
              <a:t>al numărătorului cu biți mai puțini semnificativi se conectează la pin-ul de </a:t>
            </a:r>
            <a:r>
              <a:rPr i="1" lang="en"/>
              <a:t>up </a:t>
            </a:r>
            <a:r>
              <a:rPr lang="en"/>
              <a:t>al celuilalt numărător.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cxnSp>
        <p:nvCxnSpPr>
          <p:cNvPr id="511" name="Google Shape;511;p42"/>
          <p:cNvCxnSpPr/>
          <p:nvPr/>
        </p:nvCxnSpPr>
        <p:spPr>
          <a:xfrm flipH="1" rot="10800000">
            <a:off x="4395868" y="3155934"/>
            <a:ext cx="497700" cy="4500"/>
          </a:xfrm>
          <a:prstGeom prst="straightConnector1">
            <a:avLst/>
          </a:prstGeom>
          <a:noFill/>
          <a:ln cap="flat" cmpd="sng" w="38100">
            <a:solidFill>
              <a:srgbClr val="8064A2"/>
            </a:solidFill>
            <a:prstDash val="solid"/>
            <a:round/>
            <a:headEnd len="sm" w="sm" type="none"/>
            <a:tailEnd len="sm" w="sm" type="none"/>
          </a:ln>
        </p:spPr>
      </p:cxnSp>
      <p:cxnSp>
        <p:nvCxnSpPr>
          <p:cNvPr id="512" name="Google Shape;512;p42"/>
          <p:cNvCxnSpPr/>
          <p:nvPr/>
        </p:nvCxnSpPr>
        <p:spPr>
          <a:xfrm flipH="1" rot="10800000">
            <a:off x="4410337" y="3682100"/>
            <a:ext cx="497700" cy="4500"/>
          </a:xfrm>
          <a:prstGeom prst="straightConnector1">
            <a:avLst/>
          </a:prstGeom>
          <a:noFill/>
          <a:ln cap="flat" cmpd="sng" w="38100">
            <a:solidFill>
              <a:srgbClr val="8064A2"/>
            </a:solidFill>
            <a:prstDash val="solid"/>
            <a:round/>
            <a:headEnd len="sm" w="sm" type="none"/>
            <a:tailEnd len="sm" w="sm" type="none"/>
          </a:ln>
        </p:spPr>
      </p:cxnSp>
      <p:cxnSp>
        <p:nvCxnSpPr>
          <p:cNvPr id="513" name="Google Shape;513;p42"/>
          <p:cNvCxnSpPr/>
          <p:nvPr/>
        </p:nvCxnSpPr>
        <p:spPr>
          <a:xfrm flipH="1" rot="10800000">
            <a:off x="3213332" y="4705660"/>
            <a:ext cx="1547100" cy="3300"/>
          </a:xfrm>
          <a:prstGeom prst="straightConnector1">
            <a:avLst/>
          </a:prstGeom>
          <a:noFill/>
          <a:ln cap="flat" cmpd="sng" w="38100">
            <a:solidFill>
              <a:srgbClr val="8064A2"/>
            </a:solidFill>
            <a:prstDash val="solid"/>
            <a:round/>
            <a:headEnd len="sm" w="sm" type="none"/>
            <a:tailEnd len="sm" w="sm" type="none"/>
          </a:ln>
        </p:spPr>
      </p:cxnSp>
      <p:cxnSp>
        <p:nvCxnSpPr>
          <p:cNvPr id="514" name="Google Shape;514;p42"/>
          <p:cNvCxnSpPr/>
          <p:nvPr/>
        </p:nvCxnSpPr>
        <p:spPr>
          <a:xfrm>
            <a:off x="5212223" y="4546487"/>
            <a:ext cx="788700" cy="0"/>
          </a:xfrm>
          <a:prstGeom prst="straightConnector1">
            <a:avLst/>
          </a:prstGeom>
          <a:noFill/>
          <a:ln cap="flat" cmpd="sng" w="38100">
            <a:solidFill>
              <a:srgbClr val="8064A2"/>
            </a:solidFill>
            <a:prstDash val="solid"/>
            <a:round/>
            <a:headEnd len="sm" w="sm" type="none"/>
            <a:tailEnd len="sm" w="sm" type="none"/>
          </a:ln>
        </p:spPr>
      </p:cxnSp>
      <p:cxnSp>
        <p:nvCxnSpPr>
          <p:cNvPr id="515" name="Google Shape;515;p42"/>
          <p:cNvCxnSpPr/>
          <p:nvPr/>
        </p:nvCxnSpPr>
        <p:spPr>
          <a:xfrm>
            <a:off x="5204989" y="3512482"/>
            <a:ext cx="788700" cy="0"/>
          </a:xfrm>
          <a:prstGeom prst="straightConnector1">
            <a:avLst/>
          </a:prstGeom>
          <a:noFill/>
          <a:ln cap="flat" cmpd="sng" w="38100">
            <a:solidFill>
              <a:srgbClr val="8064A2"/>
            </a:solidFill>
            <a:prstDash val="solid"/>
            <a:round/>
            <a:headEnd len="sm" w="sm" type="none"/>
            <a:tailEnd len="sm" w="sm" type="none"/>
          </a:ln>
        </p:spPr>
      </p:cxnSp>
      <p:cxnSp>
        <p:nvCxnSpPr>
          <p:cNvPr id="516" name="Google Shape;516;p42"/>
          <p:cNvCxnSpPr/>
          <p:nvPr/>
        </p:nvCxnSpPr>
        <p:spPr>
          <a:xfrm>
            <a:off x="5219457" y="3000785"/>
            <a:ext cx="788700" cy="0"/>
          </a:xfrm>
          <a:prstGeom prst="straightConnector1">
            <a:avLst/>
          </a:prstGeom>
          <a:noFill/>
          <a:ln cap="flat" cmpd="sng" w="38100">
            <a:solidFill>
              <a:srgbClr val="8064A2"/>
            </a:solidFill>
            <a:prstDash val="solid"/>
            <a:round/>
            <a:headEnd len="sm" w="sm" type="none"/>
            <a:tailEnd len="sm" w="sm" type="none"/>
          </a:ln>
        </p:spPr>
      </p:cxnSp>
      <p:pic>
        <p:nvPicPr>
          <p:cNvPr id="517" name="Google Shape;517;p42"/>
          <p:cNvPicPr preferRelativeResize="0"/>
          <p:nvPr/>
        </p:nvPicPr>
        <p:blipFill rotWithShape="1">
          <a:blip r:embed="rId3">
            <a:alphaModFix amt="60000"/>
          </a:blip>
          <a:srcRect b="0" l="0" r="0" t="0"/>
          <a:stretch/>
        </p:blipFill>
        <p:spPr>
          <a:xfrm>
            <a:off x="981330" y="-968124"/>
            <a:ext cx="1623547" cy="1499567"/>
          </a:xfrm>
          <a:prstGeom prst="rect">
            <a:avLst/>
          </a:prstGeom>
          <a:noFill/>
          <a:ln>
            <a:noFill/>
          </a:ln>
        </p:spPr>
      </p:pic>
      <p:pic>
        <p:nvPicPr>
          <p:cNvPr id="518" name="Google Shape;518;p42"/>
          <p:cNvPicPr preferRelativeResize="0"/>
          <p:nvPr/>
        </p:nvPicPr>
        <p:blipFill rotWithShape="1">
          <a:blip r:embed="rId4">
            <a:alphaModFix amt="60000"/>
          </a:blip>
          <a:srcRect b="0" l="0" r="0" t="0"/>
          <a:stretch/>
        </p:blipFill>
        <p:spPr>
          <a:xfrm rot="7200000">
            <a:off x="883593" y="-927281"/>
            <a:ext cx="1660154" cy="1533379"/>
          </a:xfrm>
          <a:prstGeom prst="rect">
            <a:avLst/>
          </a:prstGeom>
          <a:noFill/>
          <a:ln>
            <a:noFill/>
          </a:ln>
        </p:spPr>
      </p:pic>
      <p:pic>
        <p:nvPicPr>
          <p:cNvPr id="519" name="Google Shape;519;p42"/>
          <p:cNvPicPr preferRelativeResize="0"/>
          <p:nvPr/>
        </p:nvPicPr>
        <p:blipFill rotWithShape="1">
          <a:blip r:embed="rId3">
            <a:alphaModFix amt="60000"/>
          </a:blip>
          <a:srcRect b="0" l="0" r="0" t="0"/>
          <a:stretch/>
        </p:blipFill>
        <p:spPr>
          <a:xfrm>
            <a:off x="-120651" y="4785140"/>
            <a:ext cx="3013232" cy="2783132"/>
          </a:xfrm>
          <a:prstGeom prst="rect">
            <a:avLst/>
          </a:prstGeom>
          <a:noFill/>
          <a:ln>
            <a:noFill/>
          </a:ln>
        </p:spPr>
      </p:pic>
      <p:pic>
        <p:nvPicPr>
          <p:cNvPr id="520" name="Google Shape;520;p42"/>
          <p:cNvPicPr preferRelativeResize="0"/>
          <p:nvPr/>
        </p:nvPicPr>
        <p:blipFill rotWithShape="1">
          <a:blip r:embed="rId4">
            <a:alphaModFix amt="60000"/>
          </a:blip>
          <a:srcRect b="0" l="0" r="0" t="0"/>
          <a:stretch/>
        </p:blipFill>
        <p:spPr>
          <a:xfrm rot="7200000">
            <a:off x="360480" y="5210052"/>
            <a:ext cx="3081172" cy="2845883"/>
          </a:xfrm>
          <a:prstGeom prst="rect">
            <a:avLst/>
          </a:prstGeom>
          <a:noFill/>
          <a:ln>
            <a:noFill/>
          </a:ln>
        </p:spPr>
      </p:pic>
      <p:pic>
        <p:nvPicPr>
          <p:cNvPr id="521" name="Google Shape;521;p42"/>
          <p:cNvPicPr preferRelativeResize="0"/>
          <p:nvPr/>
        </p:nvPicPr>
        <p:blipFill rotWithShape="1">
          <a:blip r:embed="rId3">
            <a:alphaModFix amt="60000"/>
          </a:blip>
          <a:srcRect b="0" l="0" r="0" t="0"/>
          <a:stretch/>
        </p:blipFill>
        <p:spPr>
          <a:xfrm>
            <a:off x="-905087" y="2684820"/>
            <a:ext cx="1099158" cy="1015222"/>
          </a:xfrm>
          <a:prstGeom prst="rect">
            <a:avLst/>
          </a:prstGeom>
          <a:noFill/>
          <a:ln>
            <a:noFill/>
          </a:ln>
        </p:spPr>
      </p:pic>
      <p:pic>
        <p:nvPicPr>
          <p:cNvPr id="522" name="Google Shape;522;p42"/>
          <p:cNvPicPr preferRelativeResize="0"/>
          <p:nvPr/>
        </p:nvPicPr>
        <p:blipFill rotWithShape="1">
          <a:blip r:embed="rId4">
            <a:alphaModFix amt="60000"/>
          </a:blip>
          <a:srcRect b="0" l="0" r="0" t="0"/>
          <a:stretch/>
        </p:blipFill>
        <p:spPr>
          <a:xfrm rot="7200000">
            <a:off x="-971256" y="2712471"/>
            <a:ext cx="1123941" cy="1038113"/>
          </a:xfrm>
          <a:prstGeom prst="rect">
            <a:avLst/>
          </a:prstGeom>
          <a:noFill/>
          <a:ln>
            <a:noFill/>
          </a:ln>
        </p:spPr>
      </p:pic>
      <p:pic>
        <p:nvPicPr>
          <p:cNvPr id="523" name="Google Shape;523;p42"/>
          <p:cNvPicPr preferRelativeResize="0"/>
          <p:nvPr/>
        </p:nvPicPr>
        <p:blipFill rotWithShape="1">
          <a:blip r:embed="rId5">
            <a:alphaModFix/>
          </a:blip>
          <a:srcRect b="0" l="0" r="0" t="0"/>
          <a:stretch/>
        </p:blipFill>
        <p:spPr>
          <a:xfrm rot="-1191691">
            <a:off x="-374080" y="-314803"/>
            <a:ext cx="1411133" cy="1326465"/>
          </a:xfrm>
          <a:prstGeom prst="rect">
            <a:avLst/>
          </a:prstGeom>
          <a:noFill/>
          <a:ln>
            <a:noFill/>
          </a:ln>
        </p:spPr>
      </p:pic>
      <p:sp>
        <p:nvSpPr>
          <p:cNvPr id="524" name="Google Shape;524;p42"/>
          <p:cNvSpPr txBox="1"/>
          <p:nvPr/>
        </p:nvSpPr>
        <p:spPr>
          <a:xfrm>
            <a:off x="1901066" y="63500"/>
            <a:ext cx="68277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Componente digitale folosite</a:t>
            </a:r>
            <a:endParaRPr sz="700"/>
          </a:p>
        </p:txBody>
      </p:sp>
      <p:pic>
        <p:nvPicPr>
          <p:cNvPr id="525" name="Google Shape;525;p42"/>
          <p:cNvPicPr preferRelativeResize="0"/>
          <p:nvPr/>
        </p:nvPicPr>
        <p:blipFill>
          <a:blip r:embed="rId6">
            <a:alphaModFix/>
          </a:blip>
          <a:stretch>
            <a:fillRect/>
          </a:stretch>
        </p:blipFill>
        <p:spPr>
          <a:xfrm>
            <a:off x="-63275" y="466250"/>
            <a:ext cx="3057091" cy="2204425"/>
          </a:xfrm>
          <a:prstGeom prst="rect">
            <a:avLst/>
          </a:prstGeom>
          <a:noFill/>
          <a:ln>
            <a:noFill/>
          </a:ln>
        </p:spPr>
      </p:pic>
      <p:pic>
        <p:nvPicPr>
          <p:cNvPr id="526" name="Google Shape;526;p42"/>
          <p:cNvPicPr preferRelativeResize="0"/>
          <p:nvPr/>
        </p:nvPicPr>
        <p:blipFill>
          <a:blip r:embed="rId6">
            <a:alphaModFix/>
          </a:blip>
          <a:stretch>
            <a:fillRect/>
          </a:stretch>
        </p:blipFill>
        <p:spPr>
          <a:xfrm>
            <a:off x="3060925" y="466250"/>
            <a:ext cx="3057091" cy="2204425"/>
          </a:xfrm>
          <a:prstGeom prst="rect">
            <a:avLst/>
          </a:prstGeom>
          <a:noFill/>
          <a:ln>
            <a:noFill/>
          </a:ln>
        </p:spPr>
      </p:pic>
      <p:pic>
        <p:nvPicPr>
          <p:cNvPr id="527" name="Google Shape;527;p42"/>
          <p:cNvPicPr preferRelativeResize="0"/>
          <p:nvPr/>
        </p:nvPicPr>
        <p:blipFill>
          <a:blip r:embed="rId6">
            <a:alphaModFix/>
          </a:blip>
          <a:stretch>
            <a:fillRect/>
          </a:stretch>
        </p:blipFill>
        <p:spPr>
          <a:xfrm>
            <a:off x="6185125" y="466250"/>
            <a:ext cx="3057091" cy="2204425"/>
          </a:xfrm>
          <a:prstGeom prst="rect">
            <a:avLst/>
          </a:prstGeom>
          <a:noFill/>
          <a:ln>
            <a:noFill/>
          </a:ln>
        </p:spPr>
      </p:pic>
      <p:sp>
        <p:nvSpPr>
          <p:cNvPr id="528" name="Google Shape;528;p42"/>
          <p:cNvSpPr txBox="1"/>
          <p:nvPr/>
        </p:nvSpPr>
        <p:spPr>
          <a:xfrm>
            <a:off x="194075" y="2776800"/>
            <a:ext cx="25986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Calibri"/>
                <a:ea typeface="Calibri"/>
                <a:cs typeface="Calibri"/>
                <a:sym typeface="Calibri"/>
              </a:rPr>
              <a:t>Pentru a implementa masca </a:t>
            </a:r>
            <a:r>
              <a:rPr lang="en">
                <a:latin typeface="Calibri"/>
                <a:ea typeface="Calibri"/>
                <a:cs typeface="Calibri"/>
                <a:sym typeface="Calibri"/>
              </a:rPr>
              <a:t>ținem</a:t>
            </a:r>
            <a:r>
              <a:rPr lang="en">
                <a:latin typeface="Calibri"/>
                <a:ea typeface="Calibri"/>
                <a:cs typeface="Calibri"/>
                <a:sym typeface="Calibri"/>
              </a:rPr>
              <a:t> cont de numărul de ieșiri. Pentru cele 11 ieșiri ale automatului este nevoie de 11 porți AND. Astfel, folosim 3 chip-uri de porți AND de tip 7408 (Data Sheet </a:t>
            </a:r>
            <a:r>
              <a:rPr lang="en" u="sng">
                <a:solidFill>
                  <a:schemeClr val="hlink"/>
                </a:solidFill>
                <a:latin typeface="Calibri"/>
                <a:ea typeface="Calibri"/>
                <a:cs typeface="Calibri"/>
                <a:sym typeface="Calibri"/>
                <a:hlinkClick r:id="rId7"/>
              </a:rPr>
              <a:t>aici</a:t>
            </a:r>
            <a:r>
              <a:rPr lang="en">
                <a:latin typeface="Calibri"/>
                <a:ea typeface="Calibri"/>
                <a:cs typeface="Calibri"/>
                <a:sym typeface="Calibri"/>
              </a:rPr>
              <a:t>).</a:t>
            </a:r>
            <a:endParaRPr>
              <a:latin typeface="Calibri"/>
              <a:ea typeface="Calibri"/>
              <a:cs typeface="Calibri"/>
              <a:sym typeface="Calibri"/>
            </a:endParaRPr>
          </a:p>
        </p:txBody>
      </p:sp>
      <p:sp>
        <p:nvSpPr>
          <p:cNvPr id="529" name="Google Shape;529;p42"/>
          <p:cNvSpPr/>
          <p:nvPr/>
        </p:nvSpPr>
        <p:spPr>
          <a:xfrm>
            <a:off x="4689200" y="2776800"/>
            <a:ext cx="549900" cy="480900"/>
          </a:xfrm>
          <a:prstGeom prst="flowChartDelay">
            <a:avLst/>
          </a:prstGeom>
          <a:solidFill>
            <a:srgbClr val="C0504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2"/>
          <p:cNvSpPr/>
          <p:nvPr/>
        </p:nvSpPr>
        <p:spPr>
          <a:xfrm>
            <a:off x="4689200" y="3295725"/>
            <a:ext cx="549900" cy="480900"/>
          </a:xfrm>
          <a:prstGeom prst="flowChartDelay">
            <a:avLst/>
          </a:prstGeom>
          <a:solidFill>
            <a:srgbClr val="C0504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2"/>
          <p:cNvSpPr/>
          <p:nvPr/>
        </p:nvSpPr>
        <p:spPr>
          <a:xfrm>
            <a:off x="4689200" y="4304250"/>
            <a:ext cx="549900" cy="480900"/>
          </a:xfrm>
          <a:prstGeom prst="flowChartDelay">
            <a:avLst/>
          </a:prstGeom>
          <a:solidFill>
            <a:srgbClr val="C0504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2"/>
          <p:cNvSpPr txBox="1"/>
          <p:nvPr/>
        </p:nvSpPr>
        <p:spPr>
          <a:xfrm>
            <a:off x="4783250" y="3714500"/>
            <a:ext cx="17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alibri"/>
                <a:ea typeface="Calibri"/>
                <a:cs typeface="Calibri"/>
                <a:sym typeface="Calibri"/>
              </a:rPr>
              <a:t>..</a:t>
            </a:r>
            <a:endParaRPr sz="800">
              <a:latin typeface="Calibri"/>
              <a:ea typeface="Calibri"/>
              <a:cs typeface="Calibri"/>
              <a:sym typeface="Calibri"/>
            </a:endParaRPr>
          </a:p>
          <a:p>
            <a:pPr indent="0" lvl="0" marL="0" rtl="0" algn="l">
              <a:spcBef>
                <a:spcPts val="0"/>
              </a:spcBef>
              <a:spcAft>
                <a:spcPts val="0"/>
              </a:spcAft>
              <a:buNone/>
            </a:pPr>
            <a:r>
              <a:rPr lang="en" sz="800">
                <a:latin typeface="Calibri"/>
                <a:ea typeface="Calibri"/>
                <a:cs typeface="Calibri"/>
                <a:sym typeface="Calibri"/>
              </a:rPr>
              <a:t>.</a:t>
            </a:r>
            <a:endParaRPr sz="800">
              <a:latin typeface="Calibri"/>
              <a:ea typeface="Calibri"/>
              <a:cs typeface="Calibri"/>
              <a:sym typeface="Calibri"/>
            </a:endParaRPr>
          </a:p>
        </p:txBody>
      </p:sp>
      <p:sp>
        <p:nvSpPr>
          <p:cNvPr id="533" name="Google Shape;533;p42"/>
          <p:cNvSpPr txBox="1"/>
          <p:nvPr/>
        </p:nvSpPr>
        <p:spPr>
          <a:xfrm>
            <a:off x="5434325" y="2651075"/>
            <a:ext cx="36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Black"/>
                <a:ea typeface="Lato Black"/>
                <a:cs typeface="Lato Black"/>
                <a:sym typeface="Lato Black"/>
              </a:rPr>
              <a:t>I1</a:t>
            </a:r>
            <a:endParaRPr>
              <a:latin typeface="Lato Black"/>
              <a:ea typeface="Lato Black"/>
              <a:cs typeface="Lato Black"/>
              <a:sym typeface="Lato Black"/>
            </a:endParaRPr>
          </a:p>
        </p:txBody>
      </p:sp>
      <p:sp>
        <p:nvSpPr>
          <p:cNvPr id="534" name="Google Shape;534;p42"/>
          <p:cNvSpPr txBox="1"/>
          <p:nvPr/>
        </p:nvSpPr>
        <p:spPr>
          <a:xfrm>
            <a:off x="5434325" y="3184475"/>
            <a:ext cx="36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Black"/>
                <a:ea typeface="Lato Black"/>
                <a:cs typeface="Lato Black"/>
                <a:sym typeface="Lato Black"/>
              </a:rPr>
              <a:t>I2</a:t>
            </a:r>
            <a:endParaRPr>
              <a:latin typeface="Lato Black"/>
              <a:ea typeface="Lato Black"/>
              <a:cs typeface="Lato Black"/>
              <a:sym typeface="Lato Black"/>
            </a:endParaRPr>
          </a:p>
        </p:txBody>
      </p:sp>
      <p:sp>
        <p:nvSpPr>
          <p:cNvPr id="535" name="Google Shape;535;p42"/>
          <p:cNvSpPr txBox="1"/>
          <p:nvPr/>
        </p:nvSpPr>
        <p:spPr>
          <a:xfrm>
            <a:off x="5434325" y="4175075"/>
            <a:ext cx="57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Black"/>
                <a:ea typeface="Lato Black"/>
                <a:cs typeface="Lato Black"/>
                <a:sym typeface="Lato Black"/>
              </a:rPr>
              <a:t>I11</a:t>
            </a:r>
            <a:endParaRPr>
              <a:latin typeface="Lato Black"/>
              <a:ea typeface="Lato Black"/>
              <a:cs typeface="Lato Black"/>
              <a:sym typeface="Lato Black"/>
            </a:endParaRPr>
          </a:p>
        </p:txBody>
      </p:sp>
      <p:cxnSp>
        <p:nvCxnSpPr>
          <p:cNvPr id="536" name="Google Shape;536;p42"/>
          <p:cNvCxnSpPr/>
          <p:nvPr/>
        </p:nvCxnSpPr>
        <p:spPr>
          <a:xfrm rot="5400000">
            <a:off x="4015682" y="4316110"/>
            <a:ext cx="788700" cy="0"/>
          </a:xfrm>
          <a:prstGeom prst="straightConnector1">
            <a:avLst/>
          </a:prstGeom>
          <a:noFill/>
          <a:ln cap="flat" cmpd="sng" w="38100">
            <a:solidFill>
              <a:srgbClr val="8064A2"/>
            </a:solidFill>
            <a:prstDash val="solid"/>
            <a:round/>
            <a:headEnd len="sm" w="sm" type="none"/>
            <a:tailEnd len="sm" w="sm" type="none"/>
          </a:ln>
        </p:spPr>
      </p:cxnSp>
      <p:cxnSp>
        <p:nvCxnSpPr>
          <p:cNvPr id="537" name="Google Shape;537;p42"/>
          <p:cNvCxnSpPr/>
          <p:nvPr/>
        </p:nvCxnSpPr>
        <p:spPr>
          <a:xfrm>
            <a:off x="4407050" y="3154100"/>
            <a:ext cx="3000" cy="870600"/>
          </a:xfrm>
          <a:prstGeom prst="straightConnector1">
            <a:avLst/>
          </a:prstGeom>
          <a:noFill/>
          <a:ln cap="flat" cmpd="sng" w="38100">
            <a:solidFill>
              <a:srgbClr val="8064A2"/>
            </a:solidFill>
            <a:prstDash val="solid"/>
            <a:round/>
            <a:headEnd len="sm" w="sm" type="none"/>
            <a:tailEnd len="sm" w="sm" type="none"/>
          </a:ln>
        </p:spPr>
      </p:cxnSp>
      <p:sp>
        <p:nvSpPr>
          <p:cNvPr id="538" name="Google Shape;538;p42"/>
          <p:cNvSpPr txBox="1"/>
          <p:nvPr/>
        </p:nvSpPr>
        <p:spPr>
          <a:xfrm>
            <a:off x="2665558" y="4514137"/>
            <a:ext cx="8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Black"/>
                <a:ea typeface="Lato Black"/>
                <a:cs typeface="Lato Black"/>
                <a:sym typeface="Lato Black"/>
              </a:rPr>
              <a:t>Tip 0</a:t>
            </a:r>
            <a:endParaRPr>
              <a:latin typeface="Lato Black"/>
              <a:ea typeface="Lato Black"/>
              <a:cs typeface="Lato Black"/>
              <a:sym typeface="Lato Black"/>
            </a:endParaRPr>
          </a:p>
        </p:txBody>
      </p:sp>
      <p:sp>
        <p:nvSpPr>
          <p:cNvPr id="539" name="Google Shape;539;p42"/>
          <p:cNvSpPr/>
          <p:nvPr/>
        </p:nvSpPr>
        <p:spPr>
          <a:xfrm>
            <a:off x="2862325" y="3429000"/>
            <a:ext cx="947700" cy="271200"/>
          </a:xfrm>
          <a:prstGeom prst="rightArrow">
            <a:avLst>
              <a:gd fmla="val 50000" name="adj1"/>
              <a:gd fmla="val 50000" name="adj2"/>
            </a:avLst>
          </a:prstGeom>
          <a:solidFill>
            <a:srgbClr val="A64D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2"/>
          <p:cNvSpPr txBox="1"/>
          <p:nvPr/>
        </p:nvSpPr>
        <p:spPr>
          <a:xfrm>
            <a:off x="2725350" y="3074525"/>
            <a:ext cx="131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Biți de ieșire</a:t>
            </a:r>
            <a:endParaRPr b="1"/>
          </a:p>
        </p:txBody>
      </p:sp>
      <p:pic>
        <p:nvPicPr>
          <p:cNvPr id="541" name="Google Shape;541;p42"/>
          <p:cNvPicPr preferRelativeResize="0"/>
          <p:nvPr/>
        </p:nvPicPr>
        <p:blipFill>
          <a:blip r:embed="rId8">
            <a:alphaModFix/>
          </a:blip>
          <a:stretch>
            <a:fillRect/>
          </a:stretch>
        </p:blipFill>
        <p:spPr>
          <a:xfrm>
            <a:off x="6448550" y="2790125"/>
            <a:ext cx="2565075" cy="1428025"/>
          </a:xfrm>
          <a:prstGeom prst="rect">
            <a:avLst/>
          </a:prstGeom>
          <a:noFill/>
          <a:ln>
            <a:noFill/>
          </a:ln>
        </p:spPr>
      </p:pic>
      <p:sp>
        <p:nvSpPr>
          <p:cNvPr id="542" name="Google Shape;542;p42"/>
          <p:cNvSpPr txBox="1"/>
          <p:nvPr/>
        </p:nvSpPr>
        <p:spPr>
          <a:xfrm>
            <a:off x="6720550" y="4275400"/>
            <a:ext cx="222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Chip cu porți NOT 7404 (Data Sheet </a:t>
            </a:r>
            <a:r>
              <a:rPr lang="en" u="sng">
                <a:solidFill>
                  <a:schemeClr val="hlink"/>
                </a:solidFill>
                <a:latin typeface="Calibri"/>
                <a:ea typeface="Calibri"/>
                <a:cs typeface="Calibri"/>
                <a:sym typeface="Calibri"/>
                <a:hlinkClick r:id="rId9"/>
              </a:rPr>
              <a:t>aici</a:t>
            </a:r>
            <a:r>
              <a:rPr lang="en">
                <a:latin typeface="Calibri"/>
                <a:ea typeface="Calibri"/>
                <a:cs typeface="Calibri"/>
                <a:sym typeface="Calibri"/>
              </a:rPr>
              <a:t>).</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43"/>
          <p:cNvPicPr preferRelativeResize="0"/>
          <p:nvPr/>
        </p:nvPicPr>
        <p:blipFill rotWithShape="1">
          <a:blip r:embed="rId3">
            <a:alphaModFix amt="60000"/>
          </a:blip>
          <a:srcRect b="0" l="0" r="0" t="0"/>
          <a:stretch/>
        </p:blipFill>
        <p:spPr>
          <a:xfrm>
            <a:off x="981330" y="-968124"/>
            <a:ext cx="1623548" cy="1499568"/>
          </a:xfrm>
          <a:prstGeom prst="rect">
            <a:avLst/>
          </a:prstGeom>
          <a:noFill/>
          <a:ln>
            <a:noFill/>
          </a:ln>
        </p:spPr>
      </p:pic>
      <p:pic>
        <p:nvPicPr>
          <p:cNvPr id="548" name="Google Shape;548;p43"/>
          <p:cNvPicPr preferRelativeResize="0"/>
          <p:nvPr/>
        </p:nvPicPr>
        <p:blipFill rotWithShape="1">
          <a:blip r:embed="rId4">
            <a:alphaModFix amt="60000"/>
          </a:blip>
          <a:srcRect b="0" l="0" r="0" t="0"/>
          <a:stretch/>
        </p:blipFill>
        <p:spPr>
          <a:xfrm rot="7200000">
            <a:off x="883593" y="-927280"/>
            <a:ext cx="1660154" cy="1533379"/>
          </a:xfrm>
          <a:prstGeom prst="rect">
            <a:avLst/>
          </a:prstGeom>
          <a:noFill/>
          <a:ln>
            <a:noFill/>
          </a:ln>
        </p:spPr>
      </p:pic>
      <p:pic>
        <p:nvPicPr>
          <p:cNvPr id="549" name="Google Shape;549;p43"/>
          <p:cNvPicPr preferRelativeResize="0"/>
          <p:nvPr/>
        </p:nvPicPr>
        <p:blipFill rotWithShape="1">
          <a:blip r:embed="rId3">
            <a:alphaModFix amt="60000"/>
          </a:blip>
          <a:srcRect b="0" l="0" r="0" t="0"/>
          <a:stretch/>
        </p:blipFill>
        <p:spPr>
          <a:xfrm>
            <a:off x="565149" y="4632740"/>
            <a:ext cx="3013232" cy="2783132"/>
          </a:xfrm>
          <a:prstGeom prst="rect">
            <a:avLst/>
          </a:prstGeom>
          <a:noFill/>
          <a:ln>
            <a:noFill/>
          </a:ln>
        </p:spPr>
      </p:pic>
      <p:pic>
        <p:nvPicPr>
          <p:cNvPr id="550" name="Google Shape;550;p43"/>
          <p:cNvPicPr preferRelativeResize="0"/>
          <p:nvPr/>
        </p:nvPicPr>
        <p:blipFill rotWithShape="1">
          <a:blip r:embed="rId4">
            <a:alphaModFix amt="60000"/>
          </a:blip>
          <a:srcRect b="0" l="0" r="0" t="0"/>
          <a:stretch/>
        </p:blipFill>
        <p:spPr>
          <a:xfrm rot="7200000">
            <a:off x="360480" y="5057652"/>
            <a:ext cx="3081172" cy="2845883"/>
          </a:xfrm>
          <a:prstGeom prst="rect">
            <a:avLst/>
          </a:prstGeom>
          <a:noFill/>
          <a:ln>
            <a:noFill/>
          </a:ln>
        </p:spPr>
      </p:pic>
      <p:pic>
        <p:nvPicPr>
          <p:cNvPr id="551" name="Google Shape;551;p43"/>
          <p:cNvPicPr preferRelativeResize="0"/>
          <p:nvPr/>
        </p:nvPicPr>
        <p:blipFill rotWithShape="1">
          <a:blip r:embed="rId3">
            <a:alphaModFix amt="60000"/>
          </a:blip>
          <a:srcRect b="0" l="0" r="0" t="0"/>
          <a:stretch/>
        </p:blipFill>
        <p:spPr>
          <a:xfrm>
            <a:off x="-905087" y="2684820"/>
            <a:ext cx="1099158" cy="1015222"/>
          </a:xfrm>
          <a:prstGeom prst="rect">
            <a:avLst/>
          </a:prstGeom>
          <a:noFill/>
          <a:ln>
            <a:noFill/>
          </a:ln>
        </p:spPr>
      </p:pic>
      <p:pic>
        <p:nvPicPr>
          <p:cNvPr id="552" name="Google Shape;552;p43"/>
          <p:cNvPicPr preferRelativeResize="0"/>
          <p:nvPr/>
        </p:nvPicPr>
        <p:blipFill rotWithShape="1">
          <a:blip r:embed="rId4">
            <a:alphaModFix amt="60000"/>
          </a:blip>
          <a:srcRect b="0" l="0" r="0" t="0"/>
          <a:stretch/>
        </p:blipFill>
        <p:spPr>
          <a:xfrm rot="7200000">
            <a:off x="-971256" y="2712471"/>
            <a:ext cx="1123941" cy="1038113"/>
          </a:xfrm>
          <a:prstGeom prst="rect">
            <a:avLst/>
          </a:prstGeom>
          <a:noFill/>
          <a:ln>
            <a:noFill/>
          </a:ln>
        </p:spPr>
      </p:pic>
      <p:pic>
        <p:nvPicPr>
          <p:cNvPr id="553" name="Google Shape;553;p43"/>
          <p:cNvPicPr preferRelativeResize="0"/>
          <p:nvPr/>
        </p:nvPicPr>
        <p:blipFill rotWithShape="1">
          <a:blip r:embed="rId5">
            <a:alphaModFix/>
          </a:blip>
          <a:srcRect b="0" l="0" r="0" t="0"/>
          <a:stretch/>
        </p:blipFill>
        <p:spPr>
          <a:xfrm rot="-1020155">
            <a:off x="8424013" y="-78651"/>
            <a:ext cx="658684" cy="1032127"/>
          </a:xfrm>
          <a:prstGeom prst="rect">
            <a:avLst/>
          </a:prstGeom>
          <a:noFill/>
          <a:ln>
            <a:noFill/>
          </a:ln>
        </p:spPr>
      </p:pic>
      <p:pic>
        <p:nvPicPr>
          <p:cNvPr id="554" name="Google Shape;554;p43"/>
          <p:cNvPicPr preferRelativeResize="0"/>
          <p:nvPr/>
        </p:nvPicPr>
        <p:blipFill rotWithShape="1">
          <a:blip r:embed="rId6">
            <a:alphaModFix/>
          </a:blip>
          <a:srcRect b="0" l="0" r="0" t="0"/>
          <a:stretch/>
        </p:blipFill>
        <p:spPr>
          <a:xfrm rot="-1191691">
            <a:off x="-295455" y="-188928"/>
            <a:ext cx="1411133" cy="1326465"/>
          </a:xfrm>
          <a:prstGeom prst="rect">
            <a:avLst/>
          </a:prstGeom>
          <a:noFill/>
          <a:ln>
            <a:noFill/>
          </a:ln>
        </p:spPr>
      </p:pic>
      <p:sp>
        <p:nvSpPr>
          <p:cNvPr id="555" name="Google Shape;555;p43"/>
          <p:cNvSpPr txBox="1"/>
          <p:nvPr/>
        </p:nvSpPr>
        <p:spPr>
          <a:xfrm>
            <a:off x="1901066" y="63500"/>
            <a:ext cx="68277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Conexiun</a:t>
            </a:r>
            <a:r>
              <a:rPr lang="en" sz="2500">
                <a:latin typeface="Poppins ExtraBold"/>
                <a:ea typeface="Poppins ExtraBold"/>
                <a:cs typeface="Poppins ExtraBold"/>
                <a:sym typeface="Poppins ExtraBold"/>
              </a:rPr>
              <a:t>ile</a:t>
            </a:r>
            <a:r>
              <a:rPr b="0" i="0" lang="en" sz="2500" u="none" cap="none" strike="noStrike">
                <a:solidFill>
                  <a:srgbClr val="000000"/>
                </a:solidFill>
                <a:latin typeface="Poppins ExtraBold"/>
                <a:ea typeface="Poppins ExtraBold"/>
                <a:cs typeface="Poppins ExtraBold"/>
                <a:sym typeface="Poppins ExtraBold"/>
              </a:rPr>
              <a:t> dintre pini</a:t>
            </a:r>
            <a:endParaRPr sz="700"/>
          </a:p>
        </p:txBody>
      </p:sp>
      <p:sp>
        <p:nvSpPr>
          <p:cNvPr id="556" name="Google Shape;556;p43"/>
          <p:cNvSpPr/>
          <p:nvPr/>
        </p:nvSpPr>
        <p:spPr>
          <a:xfrm>
            <a:off x="629375" y="694325"/>
            <a:ext cx="2532000" cy="38922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latin typeface="Poppins SemiBold"/>
                <a:ea typeface="Poppins SemiBold"/>
                <a:cs typeface="Poppins SemiBold"/>
                <a:sym typeface="Poppins SemiBold"/>
              </a:rPr>
              <a:t>Conexiunile la multiplexor</a:t>
            </a:r>
            <a:endParaRPr sz="1200">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În multiplexor se conectează intrările automatului, iar </a:t>
            </a:r>
            <a:r>
              <a:rPr lang="en" sz="1200">
                <a:latin typeface="Poppins SemiBold"/>
                <a:ea typeface="Poppins SemiBold"/>
                <a:cs typeface="Poppins SemiBold"/>
                <a:sym typeface="Poppins SemiBold"/>
              </a:rPr>
              <a:t>variabilele</a:t>
            </a:r>
            <a:r>
              <a:rPr lang="en" sz="1200">
                <a:latin typeface="Poppins SemiBold"/>
                <a:ea typeface="Poppins SemiBold"/>
                <a:cs typeface="Poppins SemiBold"/>
                <a:sym typeface="Poppins SemiBold"/>
              </a:rPr>
              <a:t> de selecție sunt conectate la memorie.</a:t>
            </a:r>
            <a:endParaRPr sz="1200">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E0 - GND</a:t>
            </a:r>
            <a:endParaRPr sz="1200">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E1-E8 - la intrările coresp.</a:t>
            </a:r>
            <a:endParaRPr sz="1200">
              <a:latin typeface="Poppins SemiBold"/>
              <a:ea typeface="Poppins SemiBold"/>
              <a:cs typeface="Poppins SemiBold"/>
              <a:sym typeface="Poppins SemiBold"/>
            </a:endParaRPr>
          </a:p>
          <a:p>
            <a:pPr indent="0" lvl="0" marL="0" rtl="0" algn="just">
              <a:spcBef>
                <a:spcPts val="0"/>
              </a:spcBef>
              <a:spcAft>
                <a:spcPts val="0"/>
              </a:spcAft>
              <a:buClr>
                <a:schemeClr val="dk1"/>
              </a:buClr>
              <a:buSzPts val="1100"/>
              <a:buFont typeface="Arial"/>
              <a:buNone/>
            </a:pPr>
            <a:r>
              <a:rPr lang="en" sz="1200">
                <a:solidFill>
                  <a:schemeClr val="dk1"/>
                </a:solidFill>
                <a:latin typeface="Poppins SemiBold"/>
                <a:ea typeface="Poppins SemiBold"/>
                <a:cs typeface="Poppins SemiBold"/>
                <a:sym typeface="Poppins SemiBold"/>
              </a:rPr>
              <a:t>A - I/O</a:t>
            </a:r>
            <a:r>
              <a:rPr baseline="-25000" lang="en" sz="1200">
                <a:solidFill>
                  <a:schemeClr val="dk1"/>
                </a:solidFill>
                <a:latin typeface="Poppins SemiBold"/>
                <a:ea typeface="Poppins SemiBold"/>
                <a:cs typeface="Poppins SemiBold"/>
                <a:sym typeface="Poppins SemiBold"/>
              </a:rPr>
              <a:t>0</a:t>
            </a:r>
            <a:endParaRPr baseline="-25000" sz="12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Clr>
                <a:schemeClr val="dk1"/>
              </a:buClr>
              <a:buSzPts val="1100"/>
              <a:buFont typeface="Arial"/>
              <a:buNone/>
            </a:pPr>
            <a:r>
              <a:rPr lang="en" sz="1200">
                <a:solidFill>
                  <a:schemeClr val="dk1"/>
                </a:solidFill>
                <a:latin typeface="Poppins SemiBold"/>
                <a:ea typeface="Poppins SemiBold"/>
                <a:cs typeface="Poppins SemiBold"/>
                <a:sym typeface="Poppins SemiBold"/>
              </a:rPr>
              <a:t>B - I/O</a:t>
            </a:r>
            <a:r>
              <a:rPr baseline="-25000" lang="en" sz="1200">
                <a:solidFill>
                  <a:schemeClr val="dk1"/>
                </a:solidFill>
                <a:latin typeface="Poppins SemiBold"/>
                <a:ea typeface="Poppins SemiBold"/>
                <a:cs typeface="Poppins SemiBold"/>
                <a:sym typeface="Poppins SemiBold"/>
              </a:rPr>
              <a:t>1</a:t>
            </a:r>
            <a:endParaRPr baseline="-25000" sz="12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None/>
            </a:pPr>
            <a:r>
              <a:rPr lang="en" sz="1200">
                <a:solidFill>
                  <a:schemeClr val="dk1"/>
                </a:solidFill>
                <a:latin typeface="Poppins SemiBold"/>
                <a:ea typeface="Poppins SemiBold"/>
                <a:cs typeface="Poppins SemiBold"/>
                <a:sym typeface="Poppins SemiBold"/>
              </a:rPr>
              <a:t>C - I/O</a:t>
            </a:r>
            <a:r>
              <a:rPr baseline="-25000" lang="en" sz="1200">
                <a:solidFill>
                  <a:schemeClr val="dk1"/>
                </a:solidFill>
                <a:latin typeface="Poppins SemiBold"/>
                <a:ea typeface="Poppins SemiBold"/>
                <a:cs typeface="Poppins SemiBold"/>
                <a:sym typeface="Poppins SemiBold"/>
              </a:rPr>
              <a:t>2</a:t>
            </a:r>
            <a:endParaRPr baseline="-25000" sz="12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Clr>
                <a:schemeClr val="dk1"/>
              </a:buClr>
              <a:buSzPts val="1100"/>
              <a:buFont typeface="Arial"/>
              <a:buNone/>
            </a:pPr>
            <a:r>
              <a:rPr lang="en" sz="1200">
                <a:solidFill>
                  <a:schemeClr val="dk1"/>
                </a:solidFill>
                <a:latin typeface="Poppins SemiBold"/>
                <a:ea typeface="Poppins SemiBold"/>
                <a:cs typeface="Poppins SemiBold"/>
                <a:sym typeface="Poppins SemiBold"/>
              </a:rPr>
              <a:t>D - GND</a:t>
            </a:r>
            <a:endParaRPr sz="1200">
              <a:solidFill>
                <a:schemeClr val="dk1"/>
              </a:solidFill>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E9-E15 - GND</a:t>
            </a:r>
            <a:endParaRPr sz="1200">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VCC - la GND prin NOT</a:t>
            </a:r>
            <a:endParaRPr sz="1200">
              <a:latin typeface="Poppins SemiBold"/>
              <a:ea typeface="Poppins SemiBold"/>
              <a:cs typeface="Poppins SemiBold"/>
              <a:sym typeface="Poppins SemiBold"/>
            </a:endParaRPr>
          </a:p>
          <a:p>
            <a:pPr indent="0" lvl="0" marL="0" rtl="0" algn="just">
              <a:spcBef>
                <a:spcPts val="0"/>
              </a:spcBef>
              <a:spcAft>
                <a:spcPts val="0"/>
              </a:spcAft>
              <a:buNone/>
            </a:pPr>
            <a:r>
              <a:rPr lang="en" sz="1200">
                <a:latin typeface="Poppins SemiBold"/>
                <a:ea typeface="Poppins SemiBold"/>
                <a:cs typeface="Poppins SemiBold"/>
                <a:sym typeface="Poppins SemiBold"/>
              </a:rPr>
              <a:t>STROBE - la GND prin NOT</a:t>
            </a:r>
            <a:endParaRPr sz="1200">
              <a:latin typeface="Poppins SemiBold"/>
              <a:ea typeface="Poppins SemiBold"/>
              <a:cs typeface="Poppins SemiBold"/>
              <a:sym typeface="Poppins SemiBold"/>
            </a:endParaRPr>
          </a:p>
          <a:p>
            <a:pPr indent="0" lvl="0" marL="0" rtl="0" algn="l">
              <a:spcBef>
                <a:spcPts val="0"/>
              </a:spcBef>
              <a:spcAft>
                <a:spcPts val="0"/>
              </a:spcAft>
              <a:buNone/>
            </a:pPr>
            <a:r>
              <a:t/>
            </a:r>
            <a:endParaRPr>
              <a:latin typeface="Lato"/>
              <a:ea typeface="Lato"/>
              <a:cs typeface="Lato"/>
              <a:sym typeface="Lato"/>
            </a:endParaRPr>
          </a:p>
        </p:txBody>
      </p:sp>
      <p:sp>
        <p:nvSpPr>
          <p:cNvPr id="557" name="Google Shape;557;p43"/>
          <p:cNvSpPr/>
          <p:nvPr/>
        </p:nvSpPr>
        <p:spPr>
          <a:xfrm>
            <a:off x="3256175" y="694325"/>
            <a:ext cx="2532000" cy="38922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Pin-ul I/</a:t>
            </a:r>
            <a:r>
              <a:rPr lang="en">
                <a:solidFill>
                  <a:schemeClr val="dk1"/>
                </a:solidFill>
                <a:latin typeface="Poppins SemiBold"/>
                <a:ea typeface="Poppins SemiBold"/>
                <a:cs typeface="Poppins SemiBold"/>
                <a:sym typeface="Poppins SemiBold"/>
              </a:rPr>
              <a:t>O</a:t>
            </a:r>
            <a:r>
              <a:rPr baseline="-25000" lang="en">
                <a:solidFill>
                  <a:schemeClr val="dk1"/>
                </a:solidFill>
                <a:latin typeface="Poppins SemiBold"/>
                <a:ea typeface="Poppins SemiBold"/>
                <a:cs typeface="Poppins SemiBold"/>
                <a:sym typeface="Poppins SemiBold"/>
              </a:rPr>
              <a:t>3</a:t>
            </a:r>
            <a:r>
              <a:rPr lang="en">
                <a:solidFill>
                  <a:schemeClr val="dk1"/>
                </a:solidFill>
                <a:latin typeface="Poppins SemiBold"/>
                <a:ea typeface="Poppins SemiBold"/>
                <a:cs typeface="Poppins SemiBold"/>
                <a:sym typeface="Poppins SemiBold"/>
              </a:rPr>
              <a:t> al chip-ului M1 se conectează la  pin-ul 1 al chip-ului OR.</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Pin-ul W (MUX) se inversează printr-o poartă NOT iar apoi se conectează la pin-ul 2 din chip-ul OR.</a:t>
            </a:r>
            <a:endParaRPr>
              <a:latin typeface="Poppins SemiBold"/>
              <a:ea typeface="Poppins SemiBold"/>
              <a:cs typeface="Poppins SemiBold"/>
              <a:sym typeface="Poppins SemiBold"/>
            </a:endParaRPr>
          </a:p>
        </p:txBody>
      </p:sp>
      <p:sp>
        <p:nvSpPr>
          <p:cNvPr id="558" name="Google Shape;558;p43"/>
          <p:cNvSpPr/>
          <p:nvPr/>
        </p:nvSpPr>
        <p:spPr>
          <a:xfrm>
            <a:off x="5963375" y="694325"/>
            <a:ext cx="2927100" cy="38922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Pin-ul 3 din chip-ul OR se conectează la pin-ul LOAD al ambelor numărătoare și la pin-ul UP al numărătorului N2 (conform explicației din slide-ului cu numărătoare).</a:t>
            </a:r>
            <a:endParaRPr>
              <a:latin typeface="Poppins SemiBold"/>
              <a:ea typeface="Poppins SemiBold"/>
              <a:cs typeface="Poppins SemiBold"/>
              <a:sym typeface="Poppins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44"/>
          <p:cNvPicPr preferRelativeResize="0"/>
          <p:nvPr/>
        </p:nvPicPr>
        <p:blipFill rotWithShape="1">
          <a:blip r:embed="rId3">
            <a:alphaModFix amt="60000"/>
          </a:blip>
          <a:srcRect b="0" l="0" r="0" t="0"/>
          <a:stretch/>
        </p:blipFill>
        <p:spPr>
          <a:xfrm>
            <a:off x="981330" y="-968124"/>
            <a:ext cx="1623547" cy="1499567"/>
          </a:xfrm>
          <a:prstGeom prst="rect">
            <a:avLst/>
          </a:prstGeom>
          <a:noFill/>
          <a:ln>
            <a:noFill/>
          </a:ln>
        </p:spPr>
      </p:pic>
      <p:pic>
        <p:nvPicPr>
          <p:cNvPr id="564" name="Google Shape;564;p44"/>
          <p:cNvPicPr preferRelativeResize="0"/>
          <p:nvPr/>
        </p:nvPicPr>
        <p:blipFill rotWithShape="1">
          <a:blip r:embed="rId4">
            <a:alphaModFix amt="60000"/>
          </a:blip>
          <a:srcRect b="0" l="0" r="0" t="0"/>
          <a:stretch/>
        </p:blipFill>
        <p:spPr>
          <a:xfrm rot="7200000">
            <a:off x="883593" y="-927281"/>
            <a:ext cx="1660154" cy="1533379"/>
          </a:xfrm>
          <a:prstGeom prst="rect">
            <a:avLst/>
          </a:prstGeom>
          <a:noFill/>
          <a:ln>
            <a:noFill/>
          </a:ln>
        </p:spPr>
      </p:pic>
      <p:pic>
        <p:nvPicPr>
          <p:cNvPr id="565" name="Google Shape;565;p44"/>
          <p:cNvPicPr preferRelativeResize="0"/>
          <p:nvPr/>
        </p:nvPicPr>
        <p:blipFill rotWithShape="1">
          <a:blip r:embed="rId3">
            <a:alphaModFix amt="60000"/>
          </a:blip>
          <a:srcRect b="0" l="0" r="0" t="0"/>
          <a:stretch/>
        </p:blipFill>
        <p:spPr>
          <a:xfrm>
            <a:off x="565149" y="4632740"/>
            <a:ext cx="3013232" cy="2783132"/>
          </a:xfrm>
          <a:prstGeom prst="rect">
            <a:avLst/>
          </a:prstGeom>
          <a:noFill/>
          <a:ln>
            <a:noFill/>
          </a:ln>
        </p:spPr>
      </p:pic>
      <p:pic>
        <p:nvPicPr>
          <p:cNvPr id="566" name="Google Shape;566;p44"/>
          <p:cNvPicPr preferRelativeResize="0"/>
          <p:nvPr/>
        </p:nvPicPr>
        <p:blipFill rotWithShape="1">
          <a:blip r:embed="rId4">
            <a:alphaModFix amt="60000"/>
          </a:blip>
          <a:srcRect b="0" l="0" r="0" t="0"/>
          <a:stretch/>
        </p:blipFill>
        <p:spPr>
          <a:xfrm rot="7200000">
            <a:off x="360480" y="5057652"/>
            <a:ext cx="3081172" cy="2845883"/>
          </a:xfrm>
          <a:prstGeom prst="rect">
            <a:avLst/>
          </a:prstGeom>
          <a:noFill/>
          <a:ln>
            <a:noFill/>
          </a:ln>
        </p:spPr>
      </p:pic>
      <p:pic>
        <p:nvPicPr>
          <p:cNvPr id="567" name="Google Shape;567;p44"/>
          <p:cNvPicPr preferRelativeResize="0"/>
          <p:nvPr/>
        </p:nvPicPr>
        <p:blipFill rotWithShape="1">
          <a:blip r:embed="rId3">
            <a:alphaModFix amt="60000"/>
          </a:blip>
          <a:srcRect b="0" l="0" r="0" t="0"/>
          <a:stretch/>
        </p:blipFill>
        <p:spPr>
          <a:xfrm>
            <a:off x="-905087" y="2684820"/>
            <a:ext cx="1099158" cy="1015222"/>
          </a:xfrm>
          <a:prstGeom prst="rect">
            <a:avLst/>
          </a:prstGeom>
          <a:noFill/>
          <a:ln>
            <a:noFill/>
          </a:ln>
        </p:spPr>
      </p:pic>
      <p:pic>
        <p:nvPicPr>
          <p:cNvPr id="568" name="Google Shape;568;p44"/>
          <p:cNvPicPr preferRelativeResize="0"/>
          <p:nvPr/>
        </p:nvPicPr>
        <p:blipFill rotWithShape="1">
          <a:blip r:embed="rId4">
            <a:alphaModFix amt="60000"/>
          </a:blip>
          <a:srcRect b="0" l="0" r="0" t="0"/>
          <a:stretch/>
        </p:blipFill>
        <p:spPr>
          <a:xfrm rot="7200000">
            <a:off x="-971256" y="2712471"/>
            <a:ext cx="1123941" cy="1038113"/>
          </a:xfrm>
          <a:prstGeom prst="rect">
            <a:avLst/>
          </a:prstGeom>
          <a:noFill/>
          <a:ln>
            <a:noFill/>
          </a:ln>
        </p:spPr>
      </p:pic>
      <p:pic>
        <p:nvPicPr>
          <p:cNvPr id="569" name="Google Shape;569;p44"/>
          <p:cNvPicPr preferRelativeResize="0"/>
          <p:nvPr/>
        </p:nvPicPr>
        <p:blipFill rotWithShape="1">
          <a:blip r:embed="rId5">
            <a:alphaModFix/>
          </a:blip>
          <a:srcRect b="0" l="0" r="0" t="0"/>
          <a:stretch/>
        </p:blipFill>
        <p:spPr>
          <a:xfrm rot="-1191691">
            <a:off x="-295455" y="-188928"/>
            <a:ext cx="1411133" cy="1326465"/>
          </a:xfrm>
          <a:prstGeom prst="rect">
            <a:avLst/>
          </a:prstGeom>
          <a:noFill/>
          <a:ln>
            <a:noFill/>
          </a:ln>
        </p:spPr>
      </p:pic>
      <p:sp>
        <p:nvSpPr>
          <p:cNvPr id="570" name="Google Shape;570;p44"/>
          <p:cNvSpPr txBox="1"/>
          <p:nvPr/>
        </p:nvSpPr>
        <p:spPr>
          <a:xfrm>
            <a:off x="1901066" y="63500"/>
            <a:ext cx="68277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2500" u="none" cap="none" strike="noStrike">
                <a:solidFill>
                  <a:srgbClr val="000000"/>
                </a:solidFill>
                <a:latin typeface="Poppins ExtraBold"/>
                <a:ea typeface="Poppins ExtraBold"/>
                <a:cs typeface="Poppins ExtraBold"/>
                <a:sym typeface="Poppins ExtraBold"/>
              </a:rPr>
              <a:t>Conexiun</a:t>
            </a:r>
            <a:r>
              <a:rPr lang="en" sz="2500">
                <a:latin typeface="Poppins ExtraBold"/>
                <a:ea typeface="Poppins ExtraBold"/>
                <a:cs typeface="Poppins ExtraBold"/>
                <a:sym typeface="Poppins ExtraBold"/>
              </a:rPr>
              <a:t>ile</a:t>
            </a:r>
            <a:r>
              <a:rPr b="0" i="0" lang="en" sz="2500" u="none" cap="none" strike="noStrike">
                <a:solidFill>
                  <a:srgbClr val="000000"/>
                </a:solidFill>
                <a:latin typeface="Poppins ExtraBold"/>
                <a:ea typeface="Poppins ExtraBold"/>
                <a:cs typeface="Poppins ExtraBold"/>
                <a:sym typeface="Poppins ExtraBold"/>
              </a:rPr>
              <a:t> dintre pini</a:t>
            </a:r>
            <a:endParaRPr sz="700"/>
          </a:p>
        </p:txBody>
      </p:sp>
      <p:sp>
        <p:nvSpPr>
          <p:cNvPr id="571" name="Google Shape;571;p44"/>
          <p:cNvSpPr/>
          <p:nvPr/>
        </p:nvSpPr>
        <p:spPr>
          <a:xfrm>
            <a:off x="629375" y="694325"/>
            <a:ext cx="2532000" cy="38922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Intrările numărătoarelor</a:t>
            </a:r>
            <a:endParaRPr>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CO (N2) → UP (N1)</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3</a:t>
            </a:r>
            <a:r>
              <a:rPr lang="en">
                <a:solidFill>
                  <a:schemeClr val="dk1"/>
                </a:solidFill>
                <a:latin typeface="Poppins SemiBold"/>
                <a:ea typeface="Poppins SemiBold"/>
                <a:cs typeface="Poppins SemiBold"/>
                <a:sym typeface="Poppins SemiBold"/>
              </a:rPr>
              <a:t> (M2) → D (N1)</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2</a:t>
            </a:r>
            <a:r>
              <a:rPr lang="en">
                <a:solidFill>
                  <a:schemeClr val="dk1"/>
                </a:solidFill>
                <a:latin typeface="Poppins SemiBold"/>
                <a:ea typeface="Poppins SemiBold"/>
                <a:cs typeface="Poppins SemiBold"/>
                <a:sym typeface="Poppins SemiBold"/>
              </a:rPr>
              <a:t> (M2) → C (N1)</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1</a:t>
            </a:r>
            <a:r>
              <a:rPr lang="en">
                <a:solidFill>
                  <a:schemeClr val="dk1"/>
                </a:solidFill>
                <a:latin typeface="Poppins SemiBold"/>
                <a:ea typeface="Poppins SemiBold"/>
                <a:cs typeface="Poppins SemiBold"/>
                <a:sym typeface="Poppins SemiBold"/>
              </a:rPr>
              <a:t> (M2) → B (N1)</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0</a:t>
            </a:r>
            <a:r>
              <a:rPr lang="en">
                <a:solidFill>
                  <a:schemeClr val="dk1"/>
                </a:solidFill>
                <a:latin typeface="Poppins SemiBold"/>
                <a:ea typeface="Poppins SemiBold"/>
                <a:cs typeface="Poppins SemiBold"/>
                <a:sym typeface="Poppins SemiBold"/>
              </a:rPr>
              <a:t> (M2) → A (N1)</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3</a:t>
            </a:r>
            <a:r>
              <a:rPr lang="en">
                <a:solidFill>
                  <a:schemeClr val="dk1"/>
                </a:solidFill>
                <a:latin typeface="Poppins SemiBold"/>
                <a:ea typeface="Poppins SemiBold"/>
                <a:cs typeface="Poppins SemiBold"/>
                <a:sym typeface="Poppins SemiBold"/>
              </a:rPr>
              <a:t> (M3) → D (N2)</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2</a:t>
            </a:r>
            <a:r>
              <a:rPr lang="en">
                <a:solidFill>
                  <a:schemeClr val="dk1"/>
                </a:solidFill>
                <a:latin typeface="Poppins SemiBold"/>
                <a:ea typeface="Poppins SemiBold"/>
                <a:cs typeface="Poppins SemiBold"/>
                <a:sym typeface="Poppins SemiBold"/>
              </a:rPr>
              <a:t> (M3) → C (N2)</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1</a:t>
            </a:r>
            <a:r>
              <a:rPr lang="en">
                <a:solidFill>
                  <a:schemeClr val="dk1"/>
                </a:solidFill>
                <a:latin typeface="Poppins SemiBold"/>
                <a:ea typeface="Poppins SemiBold"/>
                <a:cs typeface="Poppins SemiBold"/>
                <a:sym typeface="Poppins SemiBold"/>
              </a:rPr>
              <a:t> (M3) → B (N2)</a:t>
            </a:r>
            <a:endParaRPr>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oppins SemiBold"/>
                <a:ea typeface="Poppins SemiBold"/>
                <a:cs typeface="Poppins SemiBold"/>
                <a:sym typeface="Poppins SemiBold"/>
              </a:rPr>
              <a:t>I/O</a:t>
            </a:r>
            <a:r>
              <a:rPr baseline="-25000" lang="en">
                <a:solidFill>
                  <a:schemeClr val="dk1"/>
                </a:solidFill>
                <a:latin typeface="Poppins SemiBold"/>
                <a:ea typeface="Poppins SemiBold"/>
                <a:cs typeface="Poppins SemiBold"/>
                <a:sym typeface="Poppins SemiBold"/>
              </a:rPr>
              <a:t>0</a:t>
            </a:r>
            <a:r>
              <a:rPr lang="en">
                <a:solidFill>
                  <a:schemeClr val="dk1"/>
                </a:solidFill>
                <a:latin typeface="Poppins SemiBold"/>
                <a:ea typeface="Poppins SemiBold"/>
                <a:cs typeface="Poppins SemiBold"/>
                <a:sym typeface="Poppins SemiBold"/>
              </a:rPr>
              <a:t> (M3) → A (N2)</a:t>
            </a:r>
            <a:endParaRPr>
              <a:solidFill>
                <a:schemeClr val="dk1"/>
              </a:solidFill>
              <a:latin typeface="Poppins SemiBold"/>
              <a:ea typeface="Poppins SemiBold"/>
              <a:cs typeface="Poppins SemiBold"/>
              <a:sym typeface="Poppins SemiBold"/>
            </a:endParaRPr>
          </a:p>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72" name="Google Shape;572;p44"/>
          <p:cNvSpPr/>
          <p:nvPr/>
        </p:nvSpPr>
        <p:spPr>
          <a:xfrm>
            <a:off x="3296375" y="694325"/>
            <a:ext cx="2532000" cy="38922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a:latin typeface="Poppins SemiBold"/>
                <a:ea typeface="Poppins SemiBold"/>
                <a:cs typeface="Poppins SemiBold"/>
                <a:sym typeface="Poppins SemiBold"/>
              </a:rPr>
              <a:t>Intrările în memorie provin din ieșirile numărătoarelor astfel:</a:t>
            </a:r>
            <a:endParaRPr>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QD (N1) → GND</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QC (N1) → GND</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QB (N1) → A5</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QA (N1) → A4</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QD (N2) → A3</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QC (N2) → A2</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QB (N2) → A1</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QA (N2) → A0</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t/>
            </a:r>
            <a:endParaRPr>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t/>
            </a:r>
            <a:endParaRPr>
              <a:latin typeface="Poppins SemiBold"/>
              <a:ea typeface="Poppins SemiBold"/>
              <a:cs typeface="Poppins SemiBold"/>
              <a:sym typeface="Poppins SemiBold"/>
            </a:endParaRPr>
          </a:p>
        </p:txBody>
      </p:sp>
      <p:sp>
        <p:nvSpPr>
          <p:cNvPr id="573" name="Google Shape;573;p44"/>
          <p:cNvSpPr/>
          <p:nvPr/>
        </p:nvSpPr>
        <p:spPr>
          <a:xfrm>
            <a:off x="5963375" y="477450"/>
            <a:ext cx="2797200" cy="4499700"/>
          </a:xfrm>
          <a:prstGeom prst="roundRect">
            <a:avLst>
              <a:gd fmla="val 8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n">
                <a:latin typeface="Poppins SemiBold"/>
                <a:ea typeface="Poppins SemiBold"/>
                <a:cs typeface="Poppins SemiBold"/>
                <a:sym typeface="Poppins SemiBold"/>
              </a:rPr>
              <a:t>În</a:t>
            </a:r>
            <a:r>
              <a:rPr lang="en">
                <a:latin typeface="Poppins SemiBold"/>
                <a:ea typeface="Poppins SemiBold"/>
                <a:cs typeface="Poppins SemiBold"/>
                <a:sym typeface="Poppins SemiBold"/>
              </a:rPr>
              <a:t> mască intră, pentru fiecare poartă AND folosită, Tip 0 și semnalul de ieșire corespunzător, iar ieșirile automatului sunt chiar ieșirile </a:t>
            </a:r>
            <a:r>
              <a:rPr lang="en">
                <a:latin typeface="Poppins SemiBold"/>
                <a:ea typeface="Poppins SemiBold"/>
                <a:cs typeface="Poppins SemiBold"/>
                <a:sym typeface="Poppins SemiBold"/>
              </a:rPr>
              <a:t>porților</a:t>
            </a:r>
            <a:r>
              <a:rPr lang="en">
                <a:latin typeface="Poppins SemiBold"/>
                <a:ea typeface="Poppins SemiBold"/>
                <a:cs typeface="Poppins SemiBold"/>
                <a:sym typeface="Poppins SemiBold"/>
              </a:rPr>
              <a:t> AND, astfel:</a:t>
            </a:r>
            <a:endParaRPr>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3 (chip AND 1) → I1</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6 (chip AND1) → I2</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11 (chip AND1) → I3</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8 (chip AND 1) → I4</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3 (chip AND 2) → I5</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6 (chip AND 2) → I6</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11 (chip AND 2) → I7</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8 (chip AND 2) → I8</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3 (chip AND 3) → I9</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6 (chip AND 3) → I10</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rPr lang="en">
                <a:solidFill>
                  <a:schemeClr val="dk1"/>
                </a:solidFill>
                <a:latin typeface="Poppins SemiBold"/>
                <a:ea typeface="Poppins SemiBold"/>
                <a:cs typeface="Poppins SemiBold"/>
                <a:sym typeface="Poppins SemiBold"/>
              </a:rPr>
              <a:t>PIN 11 (chip AND 3) → I11</a:t>
            </a:r>
            <a:endParaRPr>
              <a:solidFill>
                <a:schemeClr val="dk1"/>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None/>
            </a:pPr>
            <a:r>
              <a:t/>
            </a:r>
            <a:endParaRPr>
              <a:latin typeface="Poppins SemiBold"/>
              <a:ea typeface="Poppins SemiBold"/>
              <a:cs typeface="Poppins SemiBold"/>
              <a:sym typeface="Poppins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45"/>
          <p:cNvPicPr preferRelativeResize="0"/>
          <p:nvPr/>
        </p:nvPicPr>
        <p:blipFill>
          <a:blip r:embed="rId3">
            <a:alphaModFix/>
          </a:blip>
          <a:stretch>
            <a:fillRect/>
          </a:stretch>
        </p:blipFill>
        <p:spPr>
          <a:xfrm>
            <a:off x="152400" y="152400"/>
            <a:ext cx="8602138" cy="4838702"/>
          </a:xfrm>
          <a:prstGeom prst="rect">
            <a:avLst/>
          </a:prstGeom>
          <a:noFill/>
          <a:ln>
            <a:noFill/>
          </a:ln>
        </p:spPr>
      </p:pic>
      <p:sp>
        <p:nvSpPr>
          <p:cNvPr id="579" name="Google Shape;579;p45"/>
          <p:cNvSpPr txBox="1"/>
          <p:nvPr/>
        </p:nvSpPr>
        <p:spPr>
          <a:xfrm>
            <a:off x="7400550" y="3692800"/>
            <a:ext cx="528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Lato Black"/>
                <a:ea typeface="Lato Black"/>
                <a:cs typeface="Lato Black"/>
                <a:sym typeface="Lato Black"/>
              </a:rPr>
              <a:t>N2</a:t>
            </a:r>
            <a:endParaRPr sz="1100">
              <a:latin typeface="Lato Black"/>
              <a:ea typeface="Lato Black"/>
              <a:cs typeface="Lato Black"/>
              <a:sym typeface="Lato Black"/>
            </a:endParaRPr>
          </a:p>
        </p:txBody>
      </p:sp>
      <p:sp>
        <p:nvSpPr>
          <p:cNvPr id="580" name="Google Shape;580;p45"/>
          <p:cNvSpPr txBox="1"/>
          <p:nvPr/>
        </p:nvSpPr>
        <p:spPr>
          <a:xfrm>
            <a:off x="5715450" y="4235825"/>
            <a:ext cx="528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Lato Black"/>
                <a:ea typeface="Lato Black"/>
                <a:cs typeface="Lato Black"/>
                <a:sym typeface="Lato Black"/>
              </a:rPr>
              <a:t>N1</a:t>
            </a:r>
            <a:endParaRPr sz="1100">
              <a:latin typeface="Lato Black"/>
              <a:ea typeface="Lato Black"/>
              <a:cs typeface="Lato Black"/>
              <a:sym typeface="Lato Blac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pic>
        <p:nvPicPr>
          <p:cNvPr id="585" name="Google Shape;585;p46"/>
          <p:cNvPicPr preferRelativeResize="0"/>
          <p:nvPr/>
        </p:nvPicPr>
        <p:blipFill rotWithShape="1">
          <a:blip r:embed="rId3">
            <a:alphaModFix amt="69000"/>
          </a:blip>
          <a:srcRect b="0" l="0" r="0" t="0"/>
          <a:stretch/>
        </p:blipFill>
        <p:spPr>
          <a:xfrm>
            <a:off x="3567348" y="200721"/>
            <a:ext cx="5081362" cy="4942779"/>
          </a:xfrm>
          <a:prstGeom prst="rect">
            <a:avLst/>
          </a:prstGeom>
          <a:noFill/>
          <a:ln>
            <a:noFill/>
          </a:ln>
        </p:spPr>
      </p:pic>
      <p:pic>
        <p:nvPicPr>
          <p:cNvPr id="586" name="Google Shape;586;p46"/>
          <p:cNvPicPr preferRelativeResize="0"/>
          <p:nvPr/>
        </p:nvPicPr>
        <p:blipFill rotWithShape="1">
          <a:blip r:embed="rId4">
            <a:alphaModFix amt="69000"/>
          </a:blip>
          <a:srcRect b="0" l="0" r="0" t="0"/>
          <a:stretch/>
        </p:blipFill>
        <p:spPr>
          <a:xfrm>
            <a:off x="3742385" y="-55400"/>
            <a:ext cx="5401616" cy="5254299"/>
          </a:xfrm>
          <a:prstGeom prst="rect">
            <a:avLst/>
          </a:prstGeom>
          <a:noFill/>
          <a:ln>
            <a:noFill/>
          </a:ln>
        </p:spPr>
      </p:pic>
      <p:pic>
        <p:nvPicPr>
          <p:cNvPr id="587" name="Google Shape;587;p46"/>
          <p:cNvPicPr preferRelativeResize="0"/>
          <p:nvPr/>
        </p:nvPicPr>
        <p:blipFill rotWithShape="1">
          <a:blip r:embed="rId5">
            <a:alphaModFix/>
          </a:blip>
          <a:srcRect b="6859" l="0" r="-8956" t="-14213"/>
          <a:stretch/>
        </p:blipFill>
        <p:spPr>
          <a:xfrm>
            <a:off x="5332875" y="1118501"/>
            <a:ext cx="2518324" cy="2481176"/>
          </a:xfrm>
          <a:prstGeom prst="rect">
            <a:avLst/>
          </a:prstGeom>
          <a:noFill/>
          <a:ln>
            <a:noFill/>
          </a:ln>
        </p:spPr>
      </p:pic>
      <p:sp>
        <p:nvSpPr>
          <p:cNvPr id="588" name="Google Shape;588;p46"/>
          <p:cNvSpPr txBox="1"/>
          <p:nvPr/>
        </p:nvSpPr>
        <p:spPr>
          <a:xfrm>
            <a:off x="-147275" y="2010450"/>
            <a:ext cx="4369500" cy="987000"/>
          </a:xfrm>
          <a:prstGeom prst="rect">
            <a:avLst/>
          </a:prstGeom>
          <a:noFill/>
          <a:ln>
            <a:noFill/>
          </a:ln>
        </p:spPr>
        <p:txBody>
          <a:bodyPr anchorCtr="0" anchor="t" bIns="0" lIns="0" spcFirstLastPara="1" rIns="0" wrap="square" tIns="0">
            <a:spAutoFit/>
          </a:bodyPr>
          <a:lstStyle/>
          <a:p>
            <a:pPr indent="0" lvl="0" marL="0" marR="0" rtl="0" algn="ctr">
              <a:lnSpc>
                <a:spcPct val="128985"/>
              </a:lnSpc>
              <a:spcBef>
                <a:spcPts val="0"/>
              </a:spcBef>
              <a:spcAft>
                <a:spcPts val="0"/>
              </a:spcAft>
              <a:buNone/>
            </a:pPr>
            <a:r>
              <a:rPr i="0" lang="en" sz="2800" u="none" cap="none" strike="noStrike">
                <a:solidFill>
                  <a:srgbClr val="042B60"/>
                </a:solidFill>
                <a:latin typeface="Poppins ExtraBold"/>
                <a:ea typeface="Poppins ExtraBold"/>
                <a:cs typeface="Poppins ExtraBold"/>
                <a:sym typeface="Poppins ExtraBold"/>
              </a:rPr>
              <a:t>Our </a:t>
            </a:r>
            <a:endParaRPr sz="700">
              <a:latin typeface="Poppins ExtraBold"/>
              <a:ea typeface="Poppins ExtraBold"/>
              <a:cs typeface="Poppins ExtraBold"/>
              <a:sym typeface="Poppins ExtraBold"/>
            </a:endParaRPr>
          </a:p>
          <a:p>
            <a:pPr indent="0" lvl="0" marL="0" marR="0" rtl="0" algn="ctr">
              <a:lnSpc>
                <a:spcPct val="128985"/>
              </a:lnSpc>
              <a:spcBef>
                <a:spcPts val="0"/>
              </a:spcBef>
              <a:spcAft>
                <a:spcPts val="0"/>
              </a:spcAft>
              <a:buNone/>
            </a:pPr>
            <a:r>
              <a:rPr i="0" lang="en" sz="2800" u="none" cap="none" strike="noStrike">
                <a:solidFill>
                  <a:srgbClr val="042B60"/>
                </a:solidFill>
                <a:latin typeface="Poppins ExtraBold"/>
                <a:ea typeface="Poppins ExtraBold"/>
                <a:cs typeface="Poppins ExtraBold"/>
                <a:sym typeface="Poppins ExtraBold"/>
              </a:rPr>
              <a:t>team</a:t>
            </a:r>
            <a:endParaRPr sz="700">
              <a:latin typeface="Poppins ExtraBold"/>
              <a:ea typeface="Poppins ExtraBold"/>
              <a:cs typeface="Poppins ExtraBold"/>
              <a:sym typeface="Poppins ExtraBold"/>
            </a:endParaRPr>
          </a:p>
        </p:txBody>
      </p:sp>
      <p:pic>
        <p:nvPicPr>
          <p:cNvPr id="589" name="Google Shape;589;p46"/>
          <p:cNvPicPr preferRelativeResize="0"/>
          <p:nvPr/>
        </p:nvPicPr>
        <p:blipFill rotWithShape="1">
          <a:blip r:embed="rId6">
            <a:alphaModFix/>
          </a:blip>
          <a:srcRect b="0" l="0" r="0" t="0"/>
          <a:stretch/>
        </p:blipFill>
        <p:spPr>
          <a:xfrm>
            <a:off x="3859650" y="200725"/>
            <a:ext cx="1824600" cy="1761300"/>
          </a:xfrm>
          <a:prstGeom prst="flowChartConnector">
            <a:avLst/>
          </a:prstGeom>
          <a:noFill/>
          <a:ln>
            <a:noFill/>
          </a:ln>
        </p:spPr>
      </p:pic>
      <p:pic>
        <p:nvPicPr>
          <p:cNvPr id="590" name="Google Shape;590;p46"/>
          <p:cNvPicPr preferRelativeResize="0"/>
          <p:nvPr/>
        </p:nvPicPr>
        <p:blipFill>
          <a:blip r:embed="rId7">
            <a:alphaModFix/>
          </a:blip>
          <a:stretch>
            <a:fillRect/>
          </a:stretch>
        </p:blipFill>
        <p:spPr>
          <a:xfrm>
            <a:off x="5501638" y="1728313"/>
            <a:ext cx="1883100" cy="1887600"/>
          </a:xfrm>
          <a:prstGeom prst="ellipse">
            <a:avLst/>
          </a:prstGeom>
          <a:noFill/>
          <a:ln>
            <a:noFill/>
          </a:ln>
        </p:spPr>
      </p:pic>
      <p:pic>
        <p:nvPicPr>
          <p:cNvPr id="591" name="Google Shape;591;p46"/>
          <p:cNvPicPr preferRelativeResize="0"/>
          <p:nvPr/>
        </p:nvPicPr>
        <p:blipFill rotWithShape="1">
          <a:blip r:embed="rId8">
            <a:alphaModFix/>
          </a:blip>
          <a:srcRect b="0" l="17649" r="13753" t="4342"/>
          <a:stretch/>
        </p:blipFill>
        <p:spPr>
          <a:xfrm>
            <a:off x="3859650" y="3274450"/>
            <a:ext cx="1824600" cy="1761300"/>
          </a:xfrm>
          <a:prstGeom prst="ellipse">
            <a:avLst/>
          </a:prstGeom>
          <a:noFill/>
          <a:ln>
            <a:noFill/>
          </a:ln>
        </p:spPr>
      </p:pic>
      <p:pic>
        <p:nvPicPr>
          <p:cNvPr id="592" name="Google Shape;592;p46"/>
          <p:cNvPicPr preferRelativeResize="0"/>
          <p:nvPr/>
        </p:nvPicPr>
        <p:blipFill>
          <a:blip r:embed="rId9">
            <a:alphaModFix/>
          </a:blip>
          <a:stretch>
            <a:fillRect/>
          </a:stretch>
        </p:blipFill>
        <p:spPr>
          <a:xfrm>
            <a:off x="6969563" y="3205650"/>
            <a:ext cx="1761300" cy="1761300"/>
          </a:xfrm>
          <a:prstGeom prst="ellipse">
            <a:avLst/>
          </a:prstGeom>
          <a:noFill/>
          <a:ln>
            <a:noFill/>
          </a:ln>
        </p:spPr>
      </p:pic>
      <p:pic>
        <p:nvPicPr>
          <p:cNvPr id="593" name="Google Shape;593;p46"/>
          <p:cNvPicPr preferRelativeResize="0"/>
          <p:nvPr/>
        </p:nvPicPr>
        <p:blipFill rotWithShape="1">
          <a:blip r:embed="rId10">
            <a:alphaModFix/>
          </a:blip>
          <a:srcRect b="29695" l="19616" r="24464" t="29425"/>
          <a:stretch/>
        </p:blipFill>
        <p:spPr>
          <a:xfrm>
            <a:off x="7027775" y="251425"/>
            <a:ext cx="1703100" cy="1659900"/>
          </a:xfrm>
          <a:prstGeom prst="ellipse">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47"/>
          <p:cNvPicPr preferRelativeResize="0"/>
          <p:nvPr/>
        </p:nvPicPr>
        <p:blipFill rotWithShape="1">
          <a:blip r:embed="rId3">
            <a:alphaModFix amt="60000"/>
          </a:blip>
          <a:srcRect b="0" l="0" r="0" t="0"/>
          <a:stretch/>
        </p:blipFill>
        <p:spPr>
          <a:xfrm>
            <a:off x="2350076" y="576019"/>
            <a:ext cx="1623548" cy="1499568"/>
          </a:xfrm>
          <a:prstGeom prst="rect">
            <a:avLst/>
          </a:prstGeom>
          <a:noFill/>
          <a:ln>
            <a:noFill/>
          </a:ln>
        </p:spPr>
      </p:pic>
      <p:pic>
        <p:nvPicPr>
          <p:cNvPr id="599" name="Google Shape;599;p47"/>
          <p:cNvPicPr preferRelativeResize="0"/>
          <p:nvPr/>
        </p:nvPicPr>
        <p:blipFill rotWithShape="1">
          <a:blip r:embed="rId4">
            <a:alphaModFix amt="60000"/>
          </a:blip>
          <a:srcRect b="0" l="0" r="0" t="0"/>
          <a:stretch/>
        </p:blipFill>
        <p:spPr>
          <a:xfrm rot="7200000">
            <a:off x="2252338" y="616863"/>
            <a:ext cx="1660154" cy="1533379"/>
          </a:xfrm>
          <a:prstGeom prst="rect">
            <a:avLst/>
          </a:prstGeom>
          <a:noFill/>
          <a:ln>
            <a:noFill/>
          </a:ln>
        </p:spPr>
      </p:pic>
      <p:pic>
        <p:nvPicPr>
          <p:cNvPr id="600" name="Google Shape;600;p47"/>
          <p:cNvPicPr preferRelativeResize="0"/>
          <p:nvPr/>
        </p:nvPicPr>
        <p:blipFill rotWithShape="1">
          <a:blip r:embed="rId3">
            <a:alphaModFix amt="60000"/>
          </a:blip>
          <a:srcRect b="0" l="0" r="0" t="0"/>
          <a:stretch/>
        </p:blipFill>
        <p:spPr>
          <a:xfrm rot="7200000">
            <a:off x="-750876" y="1859921"/>
            <a:ext cx="3162518" cy="2921017"/>
          </a:xfrm>
          <a:prstGeom prst="rect">
            <a:avLst/>
          </a:prstGeom>
          <a:noFill/>
          <a:ln>
            <a:noFill/>
          </a:ln>
        </p:spPr>
      </p:pic>
      <p:pic>
        <p:nvPicPr>
          <p:cNvPr id="601" name="Google Shape;601;p47"/>
          <p:cNvPicPr preferRelativeResize="0"/>
          <p:nvPr/>
        </p:nvPicPr>
        <p:blipFill rotWithShape="1">
          <a:blip r:embed="rId4">
            <a:alphaModFix amt="60000"/>
          </a:blip>
          <a:srcRect b="0" l="0" r="0" t="0"/>
          <a:stretch/>
        </p:blipFill>
        <p:spPr>
          <a:xfrm>
            <a:off x="-287673" y="1576667"/>
            <a:ext cx="3092786" cy="2856609"/>
          </a:xfrm>
          <a:prstGeom prst="rect">
            <a:avLst/>
          </a:prstGeom>
          <a:noFill/>
          <a:ln>
            <a:noFill/>
          </a:ln>
        </p:spPr>
      </p:pic>
      <p:pic>
        <p:nvPicPr>
          <p:cNvPr id="602" name="Google Shape;602;p47"/>
          <p:cNvPicPr preferRelativeResize="0"/>
          <p:nvPr/>
        </p:nvPicPr>
        <p:blipFill rotWithShape="1">
          <a:blip r:embed="rId3">
            <a:alphaModFix amt="60000"/>
          </a:blip>
          <a:srcRect b="0" l="0" r="0" t="0"/>
          <a:stretch/>
        </p:blipFill>
        <p:spPr>
          <a:xfrm>
            <a:off x="1495203" y="629172"/>
            <a:ext cx="592233" cy="547008"/>
          </a:xfrm>
          <a:prstGeom prst="rect">
            <a:avLst/>
          </a:prstGeom>
          <a:noFill/>
          <a:ln>
            <a:noFill/>
          </a:ln>
        </p:spPr>
      </p:pic>
      <p:pic>
        <p:nvPicPr>
          <p:cNvPr id="603" name="Google Shape;603;p47"/>
          <p:cNvPicPr preferRelativeResize="0"/>
          <p:nvPr/>
        </p:nvPicPr>
        <p:blipFill rotWithShape="1">
          <a:blip r:embed="rId4">
            <a:alphaModFix amt="60000"/>
          </a:blip>
          <a:srcRect b="0" l="0" r="0" t="0"/>
          <a:stretch/>
        </p:blipFill>
        <p:spPr>
          <a:xfrm rot="7200000">
            <a:off x="1459551" y="644071"/>
            <a:ext cx="605586" cy="559341"/>
          </a:xfrm>
          <a:prstGeom prst="rect">
            <a:avLst/>
          </a:prstGeom>
          <a:noFill/>
          <a:ln>
            <a:noFill/>
          </a:ln>
        </p:spPr>
      </p:pic>
      <p:sp>
        <p:nvSpPr>
          <p:cNvPr id="604" name="Google Shape;604;p47"/>
          <p:cNvSpPr txBox="1"/>
          <p:nvPr/>
        </p:nvSpPr>
        <p:spPr>
          <a:xfrm>
            <a:off x="4271105" y="274287"/>
            <a:ext cx="4199400" cy="431100"/>
          </a:xfrm>
          <a:prstGeom prst="rect">
            <a:avLst/>
          </a:prstGeom>
          <a:noFill/>
          <a:ln>
            <a:noFill/>
          </a:ln>
        </p:spPr>
        <p:txBody>
          <a:bodyPr anchorCtr="0" anchor="t" bIns="0" lIns="0" spcFirstLastPara="1" rIns="0" wrap="square" tIns="0">
            <a:spAutoFit/>
          </a:bodyPr>
          <a:lstStyle/>
          <a:p>
            <a:pPr indent="0" lvl="0" marL="0" marR="0" rtl="0" algn="ctr">
              <a:lnSpc>
                <a:spcPct val="129004"/>
              </a:lnSpc>
              <a:spcBef>
                <a:spcPts val="0"/>
              </a:spcBef>
              <a:spcAft>
                <a:spcPts val="0"/>
              </a:spcAft>
              <a:buNone/>
            </a:pPr>
            <a:r>
              <a:rPr b="1" lang="en" sz="2800">
                <a:solidFill>
                  <a:srgbClr val="042B60"/>
                </a:solidFill>
                <a:latin typeface="Poppins"/>
                <a:ea typeface="Poppins"/>
                <a:cs typeface="Poppins"/>
                <a:sym typeface="Poppins"/>
              </a:rPr>
              <a:t>ORGANIZAREA ECHIPEI</a:t>
            </a:r>
            <a:endParaRPr b="1" sz="2500">
              <a:latin typeface="Poppins"/>
              <a:ea typeface="Poppins"/>
              <a:cs typeface="Poppins"/>
              <a:sym typeface="Poppins"/>
            </a:endParaRPr>
          </a:p>
        </p:txBody>
      </p:sp>
      <p:pic>
        <p:nvPicPr>
          <p:cNvPr id="605" name="Google Shape;605;p47"/>
          <p:cNvPicPr preferRelativeResize="0"/>
          <p:nvPr/>
        </p:nvPicPr>
        <p:blipFill>
          <a:blip r:embed="rId5">
            <a:alphaModFix/>
          </a:blip>
          <a:stretch>
            <a:fillRect/>
          </a:stretch>
        </p:blipFill>
        <p:spPr>
          <a:xfrm>
            <a:off x="180975" y="1323975"/>
            <a:ext cx="8782050" cy="2495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