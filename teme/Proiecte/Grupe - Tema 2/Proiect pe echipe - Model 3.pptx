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23" r:id="rId4"/>
  </p:sldMasterIdLst>
  <p:notesMasterIdLst>
    <p:notesMasterId r:id="rId25"/>
  </p:notesMasterIdLst>
  <p:sldIdLst>
    <p:sldId id="346" r:id="rId5"/>
    <p:sldId id="349" r:id="rId6"/>
    <p:sldId id="257" r:id="rId7"/>
    <p:sldId id="260" r:id="rId8"/>
    <p:sldId id="344" r:id="rId9"/>
    <p:sldId id="261" r:id="rId10"/>
    <p:sldId id="34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351" r:id="rId20"/>
    <p:sldId id="275" r:id="rId21"/>
    <p:sldId id="347" r:id="rId22"/>
    <p:sldId id="350" r:id="rId23"/>
    <p:sldId id="348" r:id="rId24"/>
  </p:sldIdLst>
  <p:sldSz cx="9144000" cy="5143500" type="screen16x9"/>
  <p:notesSz cx="6858000" cy="9144000"/>
  <p:embeddedFontLst>
    <p:embeddedFont>
      <p:font typeface="Aptos" panose="020B0004020202020204" pitchFamily="34" charset="0"/>
      <p:regular r:id="rId26"/>
      <p:bold r:id="rId27"/>
      <p:italic r:id="rId28"/>
      <p:boldItalic r:id="rId29"/>
    </p:embeddedFont>
    <p:embeddedFont>
      <p:font typeface="Aptos Display" panose="020B0004020202020204" pitchFamily="34" charset="0"/>
      <p:regular r:id="rId30"/>
      <p:bold r:id="rId31"/>
      <p:italic r:id="rId32"/>
      <p:boldItalic r:id="rId33"/>
    </p:embeddedFont>
    <p:embeddedFont>
      <p:font typeface="Aptos Narrow" panose="020B000402020202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oncert One" pitchFamily="2" charset="0"/>
      <p:regular r:id="rId39"/>
    </p:embeddedFont>
    <p:embeddedFont>
      <p:font typeface="Roboto Condensed Light" panose="02000000000000000000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6">
          <p15:clr>
            <a:srgbClr val="9AA0A6"/>
          </p15:clr>
        </p15:guide>
        <p15:guide id="2" orient="horz" pos="339">
          <p15:clr>
            <a:srgbClr val="9AA0A6"/>
          </p15:clr>
        </p15:guide>
        <p15:guide id="3" pos="5308">
          <p15:clr>
            <a:srgbClr val="9AA0A6"/>
          </p15:clr>
        </p15:guide>
        <p15:guide id="4" orient="horz" pos="2901">
          <p15:clr>
            <a:srgbClr val="9AA0A6"/>
          </p15:clr>
        </p15:guide>
        <p15:guide id="5" orient="horz" pos="560">
          <p15:clr>
            <a:srgbClr val="9AA0A6"/>
          </p15:clr>
        </p15:guide>
        <p15:guide id="6" pos="405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596FCD-382D-4236-AA6B-840CECC47ACC}">
  <a:tblStyle styleId="{85596FCD-382D-4236-AA6B-840CECC47A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12"/>
      </p:cViewPr>
      <p:guideLst>
        <p:guide pos="456"/>
        <p:guide orient="horz" pos="339"/>
        <p:guide pos="5308"/>
        <p:guide orient="horz" pos="2901"/>
        <p:guide orient="horz" pos="560"/>
        <p:guide pos="40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font" Target="fonts/font1.fntdata" /><Relationship Id="rId39" Type="http://schemas.openxmlformats.org/officeDocument/2006/relationships/font" Target="fonts/font14.fntdata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34" Type="http://schemas.openxmlformats.org/officeDocument/2006/relationships/font" Target="fonts/font9.fntdata" /><Relationship Id="rId42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notesMaster" Target="notesMasters/notesMaster1.xml" /><Relationship Id="rId33" Type="http://schemas.openxmlformats.org/officeDocument/2006/relationships/font" Target="fonts/font8.fntdata" /><Relationship Id="rId38" Type="http://schemas.openxmlformats.org/officeDocument/2006/relationships/font" Target="fonts/font13.fntdata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font" Target="fonts/font4.fntdata" /><Relationship Id="rId41" Type="http://schemas.openxmlformats.org/officeDocument/2006/relationships/font" Target="fonts/font16.fntdata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font" Target="fonts/font7.fntdata" /><Relationship Id="rId37" Type="http://schemas.openxmlformats.org/officeDocument/2006/relationships/font" Target="fonts/font12.fntdata" /><Relationship Id="rId40" Type="http://schemas.openxmlformats.org/officeDocument/2006/relationships/font" Target="fonts/font15.fntdata" /><Relationship Id="rId45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font" Target="fonts/font3.fntdata" /><Relationship Id="rId36" Type="http://schemas.openxmlformats.org/officeDocument/2006/relationships/font" Target="fonts/font11.fntdata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font" Target="fonts/font6.fntdata" /><Relationship Id="rId44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font" Target="fonts/font2.fntdata" /><Relationship Id="rId30" Type="http://schemas.openxmlformats.org/officeDocument/2006/relationships/font" Target="fonts/font5.fntdata" /><Relationship Id="rId35" Type="http://schemas.openxmlformats.org/officeDocument/2006/relationships/font" Target="fonts/font10.fntdata" /><Relationship Id="rId43" Type="http://schemas.openxmlformats.org/officeDocument/2006/relationships/viewProps" Target="viewProps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6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1266 134 24575,'-1'-2'0,"1"0"0,0-1 0,-1 1 0,0 1 0,0-2 0,0 1 0,1 1 0,-1-1 0,0 0 0,0 0 0,-1 1 0,1-1 0,0 0 0,-1 0 0,1 1 0,-1 0 0,0-1 0,1 0 0,-1 1 0,-3-1 0,-47-24 0,30 17 0,-3 0 0,0 0 0,0 2 0,-1 0 0,0 3 0,-35-4 0,-4-1 0,23 5 0,0 1 0,-67 5 0,23 0 0,21-2 0,-69 0 0,53 13 0,60-11 0,0 1 0,0 0 0,-20 9 0,36-11 0,0 0 0,-1 2 0,1-1 0,0 0 0,0 1 0,0 0 0,1 0 0,-1 1 0,1-1 0,0 1 0,-1-1 0,2 2 0,-1-1 0,1 0 0,-1 1 0,-4 6 0,-36 54 0,16-21 0,14-27 0,3 2 0,0-1 0,-10 22 0,14-25 0,1-1 0,0 1 0,2 1 0,-1-1 0,2 1 0,0 0 0,1-1 0,-1 23 0,4 9 0,-2-14 0,2-2 0,1 1 0,1-1 0,11 46 0,-10-64 0,-1 0 0,2 0 0,0-1 0,1 2 0,0-2 0,0-1 0,2 1 0,-1-1 0,2 0 0,15 17 0,12 11 0,-22-24 0,0 0 0,21 16 0,15 11 0,-24-20 0,0-1 0,29 16 0,32 7 0,-12-9 0,-58-26 0,1-1 0,0-1 0,1 0 0,28 5 0,24 8 0,-60-16 0,2-2 0,-1 1 0,18 1 0,5 0 0,102 7 0,-82-6 0,-1-3 0,56-4 0,-12 0 0,-81 0 0,0 0 0,0-1 0,1-1 0,-1 0 0,-1-1 0,1-1 0,20-11 0,-22 10 0,0-1 0,-1 0 0,0-1 0,0-1 0,0 0 0,-1 0 0,-1-2 0,-1 0 0,12-14 0,-7 6 0,-1 0 0,-1 0 0,-1-1 0,15-35 0,-22 43 0,-1-1 0,1 0 0,-2 0 0,0 0 0,-1-1 0,-1 1 0,1-30 0,-1-41 0,-4-75 0,-22 77 0,21 71 0,-1-1 0,-1 1 0,0-1 0,0 1 0,-1 1 0,0-1 0,-1 1 0,-1 0 0,0 0 0,0 1 0,-15-13 0,15 13 0,-10-11 0,0 1 0,-2 0 0,0 2 0,-38-28 0,46 39 0,-2 1 0,1 1 0,-1 0 0,0 0 0,0 1 0,0 1 0,-29-4 0,-34-8 0,64 12 0,0 1 0,1 1 0,-1 0 0,-17 0 0,16 2 0,0-2 0,0 0 0,-19-4 0,5 0 2,2 3 0,-1 0-1,0 1 1,-37 4 0,-5-1-1376,59-2-5452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7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24575,'-12'94'0,"10"70"0,5 156 0,24-139 0,-10-85 0,-14-26-1365,-3-61-5461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24575,'-7'111'0,"1"-58"0,3-9 0,-4 88 0,5-65 0,4 64 0,0-121-1365,0-2-5461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8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812 0 24575,'-2'4'0,"0"0"0,0 0 0,0 0 0,-1-1 0,1 1 0,-1-1 0,-1 1 0,-3 3 0,-1 3 0,-16 20 0,-1 0 0,-42 37 0,-156 160 0,204-207 0,-13 20 0,0 1 0,3 2 0,-36 69 0,-120 214 0,169-299 0,2-7 0,1 1 0,-17 39 0,29-60-20,1 0-1,0 0 1,0 1 0,0-1-1,0 0 1,-1 1 0,1-1-1,0 0 1,0 0-1,0 1 1,0-1 0,0 0-1,0 1 1,0-1 0,0 0-1,0 1 1,0-1-1,0 0 1,0 0 0,0 1-1,0-1 1,0 0 0,0 1-1,0-1 1,0 0-1,0 0 1,0 0 0,1 0-1,-1 0 1,0 1 0,0-1-1,0 0 1,0 0-1,1 1 1,-1-1 0,0 0-1,0 0 1,1 1-1,-1-1 1,0 0 0,0 0-1,1 0 1,-1 0 0,0 0-1,0 1 1,0-1-1,0 0 1,0 0 0,1 0-1,-1 0 1,0 0 0,1 0-1,-1 0 1,0 0-1,1 0 1,-1 0 0,0 0-1,1 0 1,-1 0 0,0 0-1,0-1 1,1 1-1,-1 0 1,0 0 0,1 0-1,-1-1 1,6-1-6806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24575,'11'166'0,"17"-12"0,-12-78 0,-11-50 0,42 185 0,43 82 0,2 9 0,-74-244-1365,-15-51-5461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49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24575,'22'-1'0,"1"2"0,-1 0 0,0 1 0,42 11 0,-48-10 0,0 1 0,0-3 0,17 2 0,33 5 0,23 6-251,95 3-1,-69-8 117,9 4-52,260 17-889,-29-17 1453,392 8 1001,-685-21-2597,-46 0-5607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5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50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8:51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24575,'1'0'0,"0"1"0,0 0 0,-1-1 0,1 1 0,-1-1 0,1 1 0,-1-1 0,1 1 0,0-1 0,-1 1 0,1 0 0,-1 0 0,1 0 0,-1 0 0,1 0 0,-1-1 0,1 0 0,-1 1 0,0 0 0,0 0 0,0 0 0,0 0 0,0 0 0,0 0 0,0-1 0,0 3 0,1 29 0,-1-28 0,0 14 0,1-2 0,0 1 0,2 0 0,-1 0 0,2 0 0,5 15 0,-5-23 0,0 0 0,1-1 0,-1 1 0,1 0 0,1-1 0,0 0 0,0-1 0,0 1 0,1-1 0,0-1 0,16 11 0,0-1 0,0-2 0,43 19 0,-20-14 0,0-2 0,1-2 0,95 19 0,-97-22 0,11 2 0,8-7 0,118 8 0,-173-16 0,1 1 0,0-2 0,-1 1 0,0-1 0,1 0 0,-2-1 0,2 0 0,-1-1 0,-1 1 0,0-2 0,13-7 0,1-5 0,0 0 0,30-31 0,-34 30 0,-10 11 0,0 0 0,-1-1 0,0 0 0,-1 0 0,0 0 0,0-1 0,0 0 0,-2-1 0,1 2 0,-1-2 0,-1 0 0,6-19 0,4-7-1365,-9 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39:08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87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957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416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174a1250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174a1250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174a1250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174a1250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294d699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294d699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174a1250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174a1250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74DC4B88-CEF9-698B-948A-49C377CC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174a12507_0_61:notes">
            <a:extLst>
              <a:ext uri="{FF2B5EF4-FFF2-40B4-BE49-F238E27FC236}">
                <a16:creationId xmlns:a16="http://schemas.microsoft.com/office/drawing/2014/main" id="{E0D454CD-2678-FB3E-EBE4-C80819174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174a12507_0_61:notes">
            <a:extLst>
              <a:ext uri="{FF2B5EF4-FFF2-40B4-BE49-F238E27FC236}">
                <a16:creationId xmlns:a16="http://schemas.microsoft.com/office/drawing/2014/main" id="{FF6671F3-D42E-C112-2C82-B22B507B5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915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df1f335c3_3_15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df1f335c3_3_15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532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462E-67DB-C774-AA93-925CC51FD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26277-2E55-C9A8-C6A6-CD9E89120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45FD5-0D21-FEEE-B17B-C313614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FFDB-E9B2-3F14-232D-E6AF0ED0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8DECE-846F-EA1C-5658-9D3AC1E4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563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CE7D-78EB-03F1-370A-E791A2CE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16DE-CD82-D4C5-E4DB-4534FCB3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29F51-85AD-444E-9646-23ACF666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27E5-6056-84F3-73E4-EDE686656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5EF4A-BE63-431E-E950-43533C2A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350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A0FD-8E4A-F885-778F-6AA52DA5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8C263-C2D7-8121-E0A0-0C0DF86F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93E61-87BC-E293-FD54-4C257ABD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B40DE-7EDA-3AB3-C0B0-658057E3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4177-45C8-F83F-875D-FE1D6651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73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DF9F-0CA6-8FA1-1A3F-1818BEF8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432B-BA70-7298-57AD-9CC1AB58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3E969-5544-778A-E7F2-6248E3A29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794D1-9206-E7A3-2761-81529924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BCA33-9BF1-E605-DEE1-B2319CE1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E9594-85DC-0052-3936-46B9C297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743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4AFE-B74F-B1F8-0D8D-F6CCAE80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B35F2-9023-808C-6036-EA8A764DA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D74E5-7484-7285-736A-A6F5012F4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2A396-3D19-882A-7BFE-EE7CB3D62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2C52-76A8-6EAE-DAA9-466DB7422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2EEC2-15C6-86D5-B949-D8AE83D1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B31B4-4A48-E69D-B330-1B476444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9BAE4-2261-05DD-DE7E-3B039D70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3771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C075-F944-1168-B71C-8ADAD316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E3CA9-393B-8310-00D0-6DA69AC6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FE9DA-95A1-EAF2-2569-AB83D90F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9AFCF-F581-51E9-BEBC-C7EC8EDB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6182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76B67-DF50-7B92-DBA5-F8B30920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BA6A5-5E59-E968-D730-9A3F822A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D1AE-7BBD-4F44-A96E-AC496EA3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8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883F-2D3D-4E17-3279-B0D34C99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82D8-EB41-745C-8891-76DF7094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32537-1256-1606-B25F-A353CE0AD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07F9C-DE1C-1254-2531-87D8BB87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87A56-F038-E12C-4635-3D05BDCB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B79F1-87AE-8437-CC77-7FBF3AD4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205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A004-074C-75EC-9D54-7DEF092B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224ED-6F06-69CA-E40A-E718C29D7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38B55-73B4-BE77-0AC3-FDE1F58CB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3BFF6-0934-73BA-AF38-451F3AC2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0E7AB-FAF7-8FC5-E189-801A9C44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FDC88-8C40-13EE-70EE-964F568D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10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46B3-3B76-9F94-E0D0-BD38A4F7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8734A-E804-6A0F-CE61-351A4B918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9A5B8-4B9E-A4E8-0A92-21D30A46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8727-2BF1-474B-6BDA-CA3199A7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7F0E-B1BD-EA3A-F026-7F333A1C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028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51EF7-1621-82AA-17C3-371738960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2646E-8847-65F5-201D-2B846127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8872-EDBA-7A2C-A22B-0D359E1A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7F364-7055-248E-3255-1272A124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0B574-A4FC-527F-75FE-1FBDB50D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4344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9950" y="1017725"/>
            <a:ext cx="7704000" cy="3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399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297400" y="1345200"/>
            <a:ext cx="4549200" cy="69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1266700" y="2116525"/>
            <a:ext cx="6610500" cy="10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652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481263" y="1679100"/>
            <a:ext cx="2907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0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755138" y="1679100"/>
            <a:ext cx="2907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0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481263" y="2140800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755138" y="2140800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2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8908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486200" y="2080300"/>
            <a:ext cx="1699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ubTitle" idx="1"/>
          </p:nvPr>
        </p:nvSpPr>
        <p:spPr>
          <a:xfrm>
            <a:off x="1167950" y="2485825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title" idx="2"/>
          </p:nvPr>
        </p:nvSpPr>
        <p:spPr>
          <a:xfrm>
            <a:off x="3874499" y="2073875"/>
            <a:ext cx="1699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ubTitle" idx="3"/>
          </p:nvPr>
        </p:nvSpPr>
        <p:spPr>
          <a:xfrm>
            <a:off x="3556200" y="2478652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title" idx="4"/>
          </p:nvPr>
        </p:nvSpPr>
        <p:spPr>
          <a:xfrm>
            <a:off x="6262750" y="2080300"/>
            <a:ext cx="1699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ubTitle" idx="5"/>
          </p:nvPr>
        </p:nvSpPr>
        <p:spPr>
          <a:xfrm>
            <a:off x="5944450" y="2485825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318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1432950" y="1621505"/>
            <a:ext cx="2163300" cy="43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ubTitle" idx="1"/>
          </p:nvPr>
        </p:nvSpPr>
        <p:spPr>
          <a:xfrm>
            <a:off x="1077450" y="2000100"/>
            <a:ext cx="2874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title" idx="2"/>
          </p:nvPr>
        </p:nvSpPr>
        <p:spPr>
          <a:xfrm>
            <a:off x="5535025" y="1621505"/>
            <a:ext cx="2163300" cy="43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3"/>
          </p:nvPr>
        </p:nvSpPr>
        <p:spPr>
          <a:xfrm>
            <a:off x="5179601" y="2000100"/>
            <a:ext cx="2874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title" idx="4"/>
          </p:nvPr>
        </p:nvSpPr>
        <p:spPr>
          <a:xfrm>
            <a:off x="1432950" y="2765631"/>
            <a:ext cx="2163300" cy="43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ubTitle" idx="5"/>
          </p:nvPr>
        </p:nvSpPr>
        <p:spPr>
          <a:xfrm>
            <a:off x="1077450" y="3144237"/>
            <a:ext cx="2874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title" idx="6"/>
          </p:nvPr>
        </p:nvSpPr>
        <p:spPr>
          <a:xfrm>
            <a:off x="5542652" y="2765631"/>
            <a:ext cx="2148300" cy="43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ubTitle" idx="7"/>
          </p:nvPr>
        </p:nvSpPr>
        <p:spPr>
          <a:xfrm>
            <a:off x="5179601" y="3144237"/>
            <a:ext cx="2874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0581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2698800" y="445025"/>
            <a:ext cx="374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1775025" y="1297475"/>
            <a:ext cx="2682000" cy="23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2"/>
          </p:nvPr>
        </p:nvSpPr>
        <p:spPr>
          <a:xfrm>
            <a:off x="4686983" y="1297475"/>
            <a:ext cx="2682000" cy="23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2545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719975" y="13951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subTitle" idx="1"/>
          </p:nvPr>
        </p:nvSpPr>
        <p:spPr>
          <a:xfrm>
            <a:off x="719975" y="18292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title" idx="2"/>
          </p:nvPr>
        </p:nvSpPr>
        <p:spPr>
          <a:xfrm>
            <a:off x="3419244" y="13951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subTitle" idx="3"/>
          </p:nvPr>
        </p:nvSpPr>
        <p:spPr>
          <a:xfrm>
            <a:off x="3419244" y="18292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title" idx="4"/>
          </p:nvPr>
        </p:nvSpPr>
        <p:spPr>
          <a:xfrm>
            <a:off x="719975" y="25237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subTitle" idx="5"/>
          </p:nvPr>
        </p:nvSpPr>
        <p:spPr>
          <a:xfrm>
            <a:off x="719975" y="29578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title" idx="6"/>
          </p:nvPr>
        </p:nvSpPr>
        <p:spPr>
          <a:xfrm>
            <a:off x="3419244" y="25237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subTitle" idx="7"/>
          </p:nvPr>
        </p:nvSpPr>
        <p:spPr>
          <a:xfrm>
            <a:off x="3419244" y="29578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title" idx="8"/>
          </p:nvPr>
        </p:nvSpPr>
        <p:spPr>
          <a:xfrm>
            <a:off x="6118520" y="13951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ubTitle" idx="9"/>
          </p:nvPr>
        </p:nvSpPr>
        <p:spPr>
          <a:xfrm>
            <a:off x="6118520" y="18292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 idx="13"/>
          </p:nvPr>
        </p:nvSpPr>
        <p:spPr>
          <a:xfrm>
            <a:off x="6118520" y="25237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subTitle" idx="14"/>
          </p:nvPr>
        </p:nvSpPr>
        <p:spPr>
          <a:xfrm>
            <a:off x="6118520" y="29578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3638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720000" y="1161825"/>
            <a:ext cx="4208400" cy="27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just" rtl="0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>
                <a:solidFill>
                  <a:srgbClr val="434343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084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131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8623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864000" y="423900"/>
            <a:ext cx="7416000" cy="6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368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1579075" y="445025"/>
            <a:ext cx="5985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6052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1290500" y="445025"/>
            <a:ext cx="6563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715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329925" y="2727750"/>
            <a:ext cx="35664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329925" y="1223850"/>
            <a:ext cx="3911100" cy="13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6834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subTitle" idx="1"/>
          </p:nvPr>
        </p:nvSpPr>
        <p:spPr>
          <a:xfrm>
            <a:off x="1290750" y="1907700"/>
            <a:ext cx="2907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0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subTitle" idx="2"/>
          </p:nvPr>
        </p:nvSpPr>
        <p:spPr>
          <a:xfrm>
            <a:off x="4945625" y="1907700"/>
            <a:ext cx="2907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000">
                <a:solidFill>
                  <a:schemeClr val="accent3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oncert One"/>
              <a:buNone/>
              <a:defRPr sz="2500">
                <a:latin typeface="Concert One"/>
                <a:ea typeface="Concert One"/>
                <a:cs typeface="Concert One"/>
                <a:sym typeface="Concert One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ubTitle" idx="3"/>
          </p:nvPr>
        </p:nvSpPr>
        <p:spPr>
          <a:xfrm>
            <a:off x="1290750" y="2293200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ubTitle" idx="4"/>
          </p:nvPr>
        </p:nvSpPr>
        <p:spPr>
          <a:xfrm>
            <a:off x="4945625" y="2293200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81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271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412ED-8EDF-A8A8-0F9F-93F5A959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DFFEF-7381-C18C-9B52-5E9C2CB99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529E5-12F9-8BC8-B558-B54545EB5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634D2-86E1-470D-92F4-AFA6A02AAEF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321A-3BBA-169E-C2EC-3B440071A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C45FA-11E1-5B4E-0175-301C37351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98D73-73B7-4991-9B09-C983B55EC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6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7" r:id="rId23"/>
    <p:sldLayoutId id="2147483848" r:id="rId24"/>
    <p:sldLayoutId id="2147483849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0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0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13" Type="http://schemas.openxmlformats.org/officeDocument/2006/relationships/customXml" Target="../ink/ink6.xml" /><Relationship Id="rId18" Type="http://schemas.openxmlformats.org/officeDocument/2006/relationships/customXml" Target="../ink/ink9.xml" /><Relationship Id="rId3" Type="http://schemas.openxmlformats.org/officeDocument/2006/relationships/customXml" Target="../ink/ink1.xml" /><Relationship Id="rId7" Type="http://schemas.openxmlformats.org/officeDocument/2006/relationships/customXml" Target="../ink/ink3.xml" /><Relationship Id="rId12" Type="http://schemas.openxmlformats.org/officeDocument/2006/relationships/image" Target="../media/image16.png" /><Relationship Id="rId17" Type="http://schemas.openxmlformats.org/officeDocument/2006/relationships/customXml" Target="../ink/ink8.xml" /><Relationship Id="rId2" Type="http://schemas.openxmlformats.org/officeDocument/2006/relationships/notesSlide" Target="../notesSlides/notesSlide2.xml" /><Relationship Id="rId16" Type="http://schemas.openxmlformats.org/officeDocument/2006/relationships/image" Target="../media/image18.png" /><Relationship Id="rId20" Type="http://schemas.openxmlformats.org/officeDocument/2006/relationships/customXml" Target="../ink/ink10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13.png" /><Relationship Id="rId11" Type="http://schemas.openxmlformats.org/officeDocument/2006/relationships/customXml" Target="../ink/ink5.xml" /><Relationship Id="rId5" Type="http://schemas.openxmlformats.org/officeDocument/2006/relationships/customXml" Target="../ink/ink2.xml" /><Relationship Id="rId15" Type="http://schemas.openxmlformats.org/officeDocument/2006/relationships/customXml" Target="../ink/ink7.xml" /><Relationship Id="rId10" Type="http://schemas.openxmlformats.org/officeDocument/2006/relationships/image" Target="../media/image15.png" /><Relationship Id="rId19" Type="http://schemas.openxmlformats.org/officeDocument/2006/relationships/image" Target="../media/image19.png" /><Relationship Id="rId4" Type="http://schemas.openxmlformats.org/officeDocument/2006/relationships/image" Target="../media/image12.png" /><Relationship Id="rId9" Type="http://schemas.openxmlformats.org/officeDocument/2006/relationships/customXml" Target="../ink/ink4.xml" /><Relationship Id="rId14" Type="http://schemas.openxmlformats.org/officeDocument/2006/relationships/image" Target="../media/image1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2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2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5.xml" /><Relationship Id="rId4" Type="http://schemas.openxmlformats.org/officeDocument/2006/relationships/image" Target="../media/image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6.xml" /><Relationship Id="rId5" Type="http://schemas.openxmlformats.org/officeDocument/2006/relationships/image" Target="../media/image24.png" /><Relationship Id="rId4" Type="http://schemas.openxmlformats.org/officeDocument/2006/relationships/image" Target="../media/image9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7.xml" /><Relationship Id="rId4" Type="http://schemas.openxmlformats.org/officeDocument/2006/relationships/image" Target="../media/image23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8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9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6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 /><Relationship Id="rId3" Type="http://schemas.openxmlformats.org/officeDocument/2006/relationships/image" Target="../media/image27.png" /><Relationship Id="rId7" Type="http://schemas.openxmlformats.org/officeDocument/2006/relationships/image" Target="../media/image3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0.xml" /><Relationship Id="rId6" Type="http://schemas.openxmlformats.org/officeDocument/2006/relationships/image" Target="../media/image30.png" /><Relationship Id="rId5" Type="http://schemas.openxmlformats.org/officeDocument/2006/relationships/image" Target="../media/image29.png" /><Relationship Id="rId4" Type="http://schemas.openxmlformats.org/officeDocument/2006/relationships/image" Target="../media/image28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4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37.jpeg" /><Relationship Id="rId4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2;p33">
            <a:extLst>
              <a:ext uri="{FF2B5EF4-FFF2-40B4-BE49-F238E27FC236}">
                <a16:creationId xmlns:a16="http://schemas.microsoft.com/office/drawing/2014/main" id="{5D1421C4-ABCA-0042-32A8-79C8B77B5380}"/>
              </a:ext>
            </a:extLst>
          </p:cNvPr>
          <p:cNvSpPr txBox="1">
            <a:spLocks/>
          </p:cNvSpPr>
          <p:nvPr/>
        </p:nvSpPr>
        <p:spPr>
          <a:xfrm>
            <a:off x="1031358" y="703548"/>
            <a:ext cx="6858000" cy="17907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buClrTx/>
              <a:buFontTx/>
            </a:pPr>
            <a:r>
              <a:rPr lang="en-US" b="1" err="1"/>
              <a:t>Mulg</a:t>
            </a:r>
            <a:r>
              <a:rPr lang="ro-RO" b="1"/>
              <a:t>ător de vaci</a:t>
            </a:r>
            <a:endParaRPr lang="ro-RO" sz="8000" b="1"/>
          </a:p>
        </p:txBody>
      </p:sp>
      <p:sp>
        <p:nvSpPr>
          <p:cNvPr id="5" name="Google Shape;147;p33">
            <a:extLst>
              <a:ext uri="{FF2B5EF4-FFF2-40B4-BE49-F238E27FC236}">
                <a16:creationId xmlns:a16="http://schemas.microsoft.com/office/drawing/2014/main" id="{CCD742F0-4419-13CC-BB5A-5D3CBF94DFFB}"/>
              </a:ext>
            </a:extLst>
          </p:cNvPr>
          <p:cNvSpPr txBox="1">
            <a:spLocks/>
          </p:cNvSpPr>
          <p:nvPr/>
        </p:nvSpPr>
        <p:spPr>
          <a:xfrm>
            <a:off x="2134883" y="2433650"/>
            <a:ext cx="4557900" cy="6061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Tx/>
              <a:buFont typeface="Arial" panose="020B0604020202020204" pitchFamily="34" charset="0"/>
              <a:buNone/>
            </a:pPr>
            <a:r>
              <a:rPr lang="ro-RO" sz="1800">
                <a:solidFill>
                  <a:schemeClr val="dk1"/>
                </a:solidFill>
              </a:rPr>
              <a:t>Proiectare logică</a:t>
            </a:r>
          </a:p>
        </p:txBody>
      </p:sp>
      <p:pic>
        <p:nvPicPr>
          <p:cNvPr id="6" name="Google Shape;143;p33">
            <a:extLst>
              <a:ext uri="{FF2B5EF4-FFF2-40B4-BE49-F238E27FC236}">
                <a16:creationId xmlns:a16="http://schemas.microsoft.com/office/drawing/2014/main" id="{612D5CEB-8F14-A9E9-0845-7DF4A0D9C2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0523" y="3386026"/>
            <a:ext cx="1805313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4;p33">
            <a:extLst>
              <a:ext uri="{FF2B5EF4-FFF2-40B4-BE49-F238E27FC236}">
                <a16:creationId xmlns:a16="http://schemas.microsoft.com/office/drawing/2014/main" id="{B03A8C15-1C52-5EDC-73F5-2CA95022A4D8}"/>
              </a:ext>
            </a:extLst>
          </p:cNvPr>
          <p:cNvSpPr/>
          <p:nvPr/>
        </p:nvSpPr>
        <p:spPr>
          <a:xfrm>
            <a:off x="1209883" y="4668651"/>
            <a:ext cx="998100" cy="91800"/>
          </a:xfrm>
          <a:prstGeom prst="ellipse">
            <a:avLst/>
          </a:prstGeom>
          <a:solidFill>
            <a:srgbClr val="1C1C1C">
              <a:alpha val="284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145;p33">
            <a:extLst>
              <a:ext uri="{FF2B5EF4-FFF2-40B4-BE49-F238E27FC236}">
                <a16:creationId xmlns:a16="http://schemas.microsoft.com/office/drawing/2014/main" id="{B4FF77C2-191F-BB12-F635-4AC3D7EC37A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87456" y="3590601"/>
            <a:ext cx="1349150" cy="12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6;p33">
            <a:extLst>
              <a:ext uri="{FF2B5EF4-FFF2-40B4-BE49-F238E27FC236}">
                <a16:creationId xmlns:a16="http://schemas.microsoft.com/office/drawing/2014/main" id="{0C4FBA3F-E72B-890D-9FE9-FF75CDBCBD3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8533" y="3039801"/>
            <a:ext cx="2271725" cy="20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A91E3F-D959-7244-0B95-0F3A53FCD0C2}"/>
              </a:ext>
            </a:extLst>
          </p:cNvPr>
          <p:cNvSpPr txBox="1"/>
          <p:nvPr/>
        </p:nvSpPr>
        <p:spPr>
          <a:xfrm>
            <a:off x="723926" y="3535381"/>
            <a:ext cx="2076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400">
                <a:solidFill>
                  <a:schemeClr val="dk1"/>
                </a:solidFill>
              </a:rPr>
              <a:t>Burtescu Eusebiu-Mihai</a:t>
            </a:r>
          </a:p>
          <a:p>
            <a:endParaRPr lang="ro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22A51-BB4C-A111-DEA1-F06B6B2252DB}"/>
              </a:ext>
            </a:extLst>
          </p:cNvPr>
          <p:cNvSpPr txBox="1"/>
          <p:nvPr/>
        </p:nvSpPr>
        <p:spPr>
          <a:xfrm>
            <a:off x="3679303" y="3311799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Dârlău Andrei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2AD38-8D5E-2A7B-B8A1-B25B3D871537}"/>
              </a:ext>
            </a:extLst>
          </p:cNvPr>
          <p:cNvSpPr txBox="1"/>
          <p:nvPr/>
        </p:nvSpPr>
        <p:spPr>
          <a:xfrm>
            <a:off x="6531938" y="3039801"/>
            <a:ext cx="2024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Gheorghe Mihnea-Alex</a:t>
            </a:r>
          </a:p>
        </p:txBody>
      </p:sp>
    </p:spTree>
    <p:extLst>
      <p:ext uri="{BB962C8B-B14F-4D97-AF65-F5344CB8AC3E}">
        <p14:creationId xmlns:p14="http://schemas.microsoft.com/office/powerpoint/2010/main" val="374021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Rectangle 615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6" name="Picture 2" descr="Dairy Cow 101: Everything You Need to Know - Melissa K. Norris">
            <a:extLst>
              <a:ext uri="{FF2B5EF4-FFF2-40B4-BE49-F238E27FC236}">
                <a16:creationId xmlns:a16="http://schemas.microsoft.com/office/drawing/2014/main" id="{64A6C4DC-2782-A82F-DA80-065BD3986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2" b="1774"/>
          <a:stretch/>
        </p:blipFill>
        <p:spPr bwMode="auto">
          <a:xfrm>
            <a:off x="20" y="10"/>
            <a:ext cx="9143980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F33A6E-A7F4-5414-A764-C550F9E30A07}"/>
              </a:ext>
            </a:extLst>
          </p:cNvPr>
          <p:cNvSpPr txBox="1"/>
          <p:nvPr/>
        </p:nvSpPr>
        <p:spPr>
          <a:xfrm>
            <a:off x="0" y="1617643"/>
            <a:ext cx="35573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2800" b="1">
                <a:solidFill>
                  <a:srgbClr val="FFC000"/>
                </a:solidFill>
              </a:rPr>
              <a:t>NU TE-AI SĂTURAT</a:t>
            </a:r>
          </a:p>
          <a:p>
            <a:pPr algn="ctr"/>
            <a:r>
              <a:rPr lang="ro-RO" sz="2800" b="1">
                <a:solidFill>
                  <a:srgbClr val="FFC000"/>
                </a:solidFill>
              </a:rPr>
              <a:t>SĂ FACI ASTA?</a:t>
            </a:r>
          </a:p>
        </p:txBody>
      </p:sp>
    </p:spTree>
    <p:extLst>
      <p:ext uri="{BB962C8B-B14F-4D97-AF65-F5344CB8AC3E}">
        <p14:creationId xmlns:p14="http://schemas.microsoft.com/office/powerpoint/2010/main" val="357168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3200" b="1">
                <a:latin typeface="Arial" panose="020B0604020202020204" pitchFamily="34" charset="0"/>
                <a:cs typeface="Arial" panose="020B0604020202020204" pitchFamily="34" charset="0"/>
              </a:rPr>
              <a:t>Tema proiectului și schema bloc</a:t>
            </a:r>
          </a:p>
        </p:txBody>
      </p:sp>
      <p:sp>
        <p:nvSpPr>
          <p:cNvPr id="153" name="Google Shape;153;p34"/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 proiectului este implementarea unui automat de muls vaci și servirea laptelui obținut. Este creat în parteneriat cu Facultate de Inginerie a Sistemelor Biotehnice pentru o fermă din Ilfov.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ro-RO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A398F-724E-9936-C685-42E3D4C11BDA}"/>
              </a:ext>
            </a:extLst>
          </p:cNvPr>
          <p:cNvSpPr/>
          <p:nvPr/>
        </p:nvSpPr>
        <p:spPr>
          <a:xfrm>
            <a:off x="1594080" y="1628656"/>
            <a:ext cx="1725038" cy="2723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Automat </a:t>
            </a:r>
            <a:r>
              <a:rPr lang="en-US"/>
              <a:t>de </a:t>
            </a:r>
            <a:r>
              <a:rPr lang="ro-RO"/>
              <a:t>muls</a:t>
            </a:r>
          </a:p>
          <a:p>
            <a:pPr algn="ctr"/>
            <a:r>
              <a:rPr lang="ro-RO"/>
              <a:t>vaci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0A31E5-467D-45A4-6C9A-C91F341EFFB9}"/>
              </a:ext>
            </a:extLst>
          </p:cNvPr>
          <p:cNvCxnSpPr>
            <a:cxnSpLocks/>
          </p:cNvCxnSpPr>
          <p:nvPr/>
        </p:nvCxnSpPr>
        <p:spPr>
          <a:xfrm>
            <a:off x="173186" y="2200047"/>
            <a:ext cx="1423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1BB59C-77CD-9832-5F9E-3C3ADAA9F435}"/>
              </a:ext>
            </a:extLst>
          </p:cNvPr>
          <p:cNvSpPr txBox="1"/>
          <p:nvPr/>
        </p:nvSpPr>
        <p:spPr>
          <a:xfrm>
            <a:off x="398288" y="2902311"/>
            <a:ext cx="1120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Poziționare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BB34A-083B-E3FD-4779-CD19E3C5F42E}"/>
              </a:ext>
            </a:extLst>
          </p:cNvPr>
          <p:cNvSpPr txBox="1"/>
          <p:nvPr/>
        </p:nvSpPr>
        <p:spPr>
          <a:xfrm>
            <a:off x="54552" y="2229868"/>
            <a:ext cx="1579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Oprire de urgență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1A2981-CBD1-867A-6478-D47C29F657FF}"/>
              </a:ext>
            </a:extLst>
          </p:cNvPr>
          <p:cNvCxnSpPr/>
          <p:nvPr/>
        </p:nvCxnSpPr>
        <p:spPr>
          <a:xfrm>
            <a:off x="99155" y="2879884"/>
            <a:ext cx="1494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31EA30B-2317-E5ED-2ECF-D6C062712714}"/>
              </a:ext>
            </a:extLst>
          </p:cNvPr>
          <p:cNvSpPr txBox="1"/>
          <p:nvPr/>
        </p:nvSpPr>
        <p:spPr>
          <a:xfrm>
            <a:off x="85289" y="3237688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Recipient prezent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F328F7-9661-FECF-9336-B3C8DE8A4066}"/>
              </a:ext>
            </a:extLst>
          </p:cNvPr>
          <p:cNvCxnSpPr>
            <a:cxnSpLocks/>
          </p:cNvCxnSpPr>
          <p:nvPr/>
        </p:nvCxnSpPr>
        <p:spPr>
          <a:xfrm>
            <a:off x="3319118" y="1806057"/>
            <a:ext cx="1324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BEF253-B670-A79B-A633-478DE0AB8D2D}"/>
              </a:ext>
            </a:extLst>
          </p:cNvPr>
          <p:cNvCxnSpPr>
            <a:cxnSpLocks/>
          </p:cNvCxnSpPr>
          <p:nvPr/>
        </p:nvCxnSpPr>
        <p:spPr>
          <a:xfrm>
            <a:off x="3319118" y="2086948"/>
            <a:ext cx="1324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504D548-55E5-B283-7A9B-6F5749664F83}"/>
              </a:ext>
            </a:extLst>
          </p:cNvPr>
          <p:cNvSpPr txBox="1"/>
          <p:nvPr/>
        </p:nvSpPr>
        <p:spPr>
          <a:xfrm>
            <a:off x="3284029" y="1544447"/>
            <a:ext cx="1939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Lipsește recipientul</a:t>
            </a:r>
          </a:p>
        </p:txBody>
      </p:sp>
      <p:sp>
        <p:nvSpPr>
          <p:cNvPr id="52" name="Google Shape;181;p36">
            <a:extLst>
              <a:ext uri="{FF2B5EF4-FFF2-40B4-BE49-F238E27FC236}">
                <a16:creationId xmlns:a16="http://schemas.microsoft.com/office/drawing/2014/main" id="{65DE2CD9-9D85-6D50-E4CB-ED91B812B321}"/>
              </a:ext>
            </a:extLst>
          </p:cNvPr>
          <p:cNvSpPr txBox="1">
            <a:spLocks/>
          </p:cNvSpPr>
          <p:nvPr/>
        </p:nvSpPr>
        <p:spPr>
          <a:xfrm>
            <a:off x="248631" y="223375"/>
            <a:ext cx="108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RO" sz="400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" sz="40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5E13CC3-A9D2-19CE-A6D9-4E51A3184249}"/>
              </a:ext>
            </a:extLst>
          </p:cNvPr>
          <p:cNvCxnSpPr/>
          <p:nvPr/>
        </p:nvCxnSpPr>
        <p:spPr>
          <a:xfrm>
            <a:off x="101747" y="2537645"/>
            <a:ext cx="1494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C2E396-3013-E1F6-8C03-F49E5800228E}"/>
              </a:ext>
            </a:extLst>
          </p:cNvPr>
          <p:cNvSpPr txBox="1"/>
          <p:nvPr/>
        </p:nvSpPr>
        <p:spPr>
          <a:xfrm>
            <a:off x="127802" y="2577048"/>
            <a:ext cx="1487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Continuare muls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A1DE5-E94A-E376-7435-2BF5FE41ABD0}"/>
              </a:ext>
            </a:extLst>
          </p:cNvPr>
          <p:cNvSpPr txBox="1"/>
          <p:nvPr/>
        </p:nvSpPr>
        <p:spPr>
          <a:xfrm>
            <a:off x="271958" y="1900076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Pasteurizare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D73B2-0B49-ED99-0A1E-D598C835BE6F}"/>
              </a:ext>
            </a:extLst>
          </p:cNvPr>
          <p:cNvSpPr txBox="1"/>
          <p:nvPr/>
        </p:nvSpPr>
        <p:spPr>
          <a:xfrm>
            <a:off x="560324" y="1601256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Servire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75100F-587B-84E3-732E-C28FA34F8842}"/>
              </a:ext>
            </a:extLst>
          </p:cNvPr>
          <p:cNvCxnSpPr/>
          <p:nvPr/>
        </p:nvCxnSpPr>
        <p:spPr>
          <a:xfrm>
            <a:off x="101747" y="1900077"/>
            <a:ext cx="1494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9807AC-CC14-CB4F-7778-3523CEABC3B4}"/>
              </a:ext>
            </a:extLst>
          </p:cNvPr>
          <p:cNvSpPr txBox="1"/>
          <p:nvPr/>
        </p:nvSpPr>
        <p:spPr>
          <a:xfrm>
            <a:off x="3319068" y="1797153"/>
            <a:ext cx="14234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Recipient plin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004E1-EBA5-5A74-D682-29B39DABD8AC}"/>
              </a:ext>
            </a:extLst>
          </p:cNvPr>
          <p:cNvSpPr txBox="1"/>
          <p:nvPr/>
        </p:nvSpPr>
        <p:spPr>
          <a:xfrm>
            <a:off x="3266235" y="2138966"/>
            <a:ext cx="15292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Poziționare incorectă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4A38D9-1F29-393D-6FC8-8EBC24130D98}"/>
              </a:ext>
            </a:extLst>
          </p:cNvPr>
          <p:cNvCxnSpPr>
            <a:cxnSpLocks/>
          </p:cNvCxnSpPr>
          <p:nvPr/>
        </p:nvCxnSpPr>
        <p:spPr>
          <a:xfrm>
            <a:off x="3319118" y="2383756"/>
            <a:ext cx="1324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0CDF9D-8497-2801-974D-725F8825A12B}"/>
              </a:ext>
            </a:extLst>
          </p:cNvPr>
          <p:cNvCxnSpPr>
            <a:cxnSpLocks/>
          </p:cNvCxnSpPr>
          <p:nvPr/>
        </p:nvCxnSpPr>
        <p:spPr>
          <a:xfrm>
            <a:off x="3319118" y="2679779"/>
            <a:ext cx="1324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9FE93E-AB1E-957D-0CD5-1C8321E0F6C2}"/>
              </a:ext>
            </a:extLst>
          </p:cNvPr>
          <p:cNvSpPr txBox="1"/>
          <p:nvPr/>
        </p:nvSpPr>
        <p:spPr>
          <a:xfrm>
            <a:off x="3284029" y="2416988"/>
            <a:ext cx="17250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Vaca nu mai are lapte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10726C-0D03-9C2B-8CEB-8868CAAAB061}"/>
              </a:ext>
            </a:extLst>
          </p:cNvPr>
          <p:cNvCxnSpPr>
            <a:cxnSpLocks/>
          </p:cNvCxnSpPr>
          <p:nvPr/>
        </p:nvCxnSpPr>
        <p:spPr>
          <a:xfrm>
            <a:off x="3319118" y="3093528"/>
            <a:ext cx="1324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A45F084-FF62-BCA9-CCB4-2813EF8B7B5E}"/>
              </a:ext>
            </a:extLst>
          </p:cNvPr>
          <p:cNvSpPr txBox="1"/>
          <p:nvPr/>
        </p:nvSpPr>
        <p:spPr>
          <a:xfrm>
            <a:off x="3292677" y="2779399"/>
            <a:ext cx="17250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Servire începută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6C0A00-B819-206A-6A7B-95DD815DAAE5}"/>
              </a:ext>
            </a:extLst>
          </p:cNvPr>
          <p:cNvSpPr/>
          <p:nvPr/>
        </p:nvSpPr>
        <p:spPr>
          <a:xfrm>
            <a:off x="7124613" y="3408653"/>
            <a:ext cx="817741" cy="421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Cântar</a:t>
            </a:r>
          </a:p>
        </p:txBody>
      </p:sp>
      <p:sp>
        <p:nvSpPr>
          <p:cNvPr id="36" name="AutoShape 8" descr="Best Free Happy Stickman Illustration download in PNG &amp; Vector format">
            <a:extLst>
              <a:ext uri="{FF2B5EF4-FFF2-40B4-BE49-F238E27FC236}">
                <a16:creationId xmlns:a16="http://schemas.microsoft.com/office/drawing/2014/main" id="{D03F0FE2-821B-B4CC-4E25-8A29BE9A7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2451" y="3886021"/>
            <a:ext cx="1725037" cy="172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84EE16-B0D0-D99A-E4D1-EA22681A35C6}"/>
              </a:ext>
            </a:extLst>
          </p:cNvPr>
          <p:cNvGrpSpPr/>
          <p:nvPr/>
        </p:nvGrpSpPr>
        <p:grpSpPr>
          <a:xfrm>
            <a:off x="4777593" y="1721179"/>
            <a:ext cx="855723" cy="1440565"/>
            <a:chOff x="5002912" y="1726142"/>
            <a:chExt cx="972360" cy="16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31F6AF-CE28-4CD0-BBDE-6810574B201B}"/>
                    </a:ext>
                  </a:extLst>
                </p14:cNvPr>
                <p14:cNvContentPartPr/>
                <p14:nvPr/>
              </p14:nvContentPartPr>
              <p14:xfrm>
                <a:off x="5035672" y="1726142"/>
                <a:ext cx="690840" cy="51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31F6AF-CE28-4CD0-BBDE-6810574B201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8719" y="1719188"/>
                  <a:ext cx="704747" cy="530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F4EC79-79E0-AA50-8895-054AED512E0D}"/>
                    </a:ext>
                  </a:extLst>
                </p14:cNvPr>
                <p14:cNvContentPartPr/>
                <p14:nvPr/>
              </p14:nvContentPartPr>
              <p14:xfrm>
                <a:off x="5370472" y="2240222"/>
                <a:ext cx="20880" cy="382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F4EC79-79E0-AA50-8895-054AED512E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63512" y="2233264"/>
                  <a:ext cx="34800" cy="396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9517CF-88F5-51BF-D08A-79B278710A70}"/>
                    </a:ext>
                  </a:extLst>
                </p14:cNvPr>
                <p14:cNvContentPartPr/>
                <p14:nvPr/>
              </p14:nvContentPartPr>
              <p14:xfrm>
                <a:off x="5385232" y="2608862"/>
                <a:ext cx="10440" cy="22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9517CF-88F5-51BF-D08A-79B278710A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78406" y="2601907"/>
                  <a:ext cx="24092" cy="241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28FB66-CC16-AF9A-6311-6A44B76302E7}"/>
                    </a:ext>
                  </a:extLst>
                </p14:cNvPr>
                <p14:cNvContentPartPr/>
                <p14:nvPr/>
              </p14:nvContentPartPr>
              <p14:xfrm>
                <a:off x="5058712" y="2829182"/>
                <a:ext cx="331920" cy="459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28FB66-CC16-AF9A-6311-6A44B76302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51763" y="2822234"/>
                  <a:ext cx="345818" cy="4728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9A909A-EC4F-47B2-9F81-0976030F948F}"/>
                    </a:ext>
                  </a:extLst>
                </p14:cNvPr>
                <p14:cNvContentPartPr/>
                <p14:nvPr/>
              </p14:nvContentPartPr>
              <p14:xfrm>
                <a:off x="5395312" y="2833862"/>
                <a:ext cx="127080" cy="52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9A909A-EC4F-47B2-9F81-0976030F94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8366" y="2826910"/>
                  <a:ext cx="140973" cy="543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9F008E-7B54-DD6D-C5A8-E25D168ABD25}"/>
                    </a:ext>
                  </a:extLst>
                </p14:cNvPr>
                <p14:cNvContentPartPr/>
                <p14:nvPr/>
              </p14:nvContentPartPr>
              <p14:xfrm>
                <a:off x="5002912" y="2484302"/>
                <a:ext cx="972360" cy="6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9F008E-7B54-DD6D-C5A8-E25D168ABD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95958" y="2477387"/>
                  <a:ext cx="986268" cy="76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FA073A-6317-FEBE-A14D-E089B3B66136}"/>
                    </a:ext>
                  </a:extLst>
                </p14:cNvPr>
                <p14:cNvContentPartPr/>
                <p14:nvPr/>
              </p14:nvContentPartPr>
              <p14:xfrm>
                <a:off x="5256352" y="1905062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FA073A-6317-FEBE-A14D-E089B3B661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50232" y="18989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60E1E8-4F1C-7E9B-D894-257F8D015FAA}"/>
                    </a:ext>
                  </a:extLst>
                </p14:cNvPr>
                <p14:cNvContentPartPr/>
                <p14:nvPr/>
              </p14:nvContentPartPr>
              <p14:xfrm>
                <a:off x="5519872" y="1905062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60E1E8-4F1C-7E9B-D894-257F8D015F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13752" y="18989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6590F7-CB7E-5156-E335-226063EE8E54}"/>
                    </a:ext>
                  </a:extLst>
                </p14:cNvPr>
                <p14:cNvContentPartPr/>
                <p14:nvPr/>
              </p14:nvContentPartPr>
              <p14:xfrm>
                <a:off x="5165272" y="1938542"/>
                <a:ext cx="485640" cy="20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6590F7-CB7E-5156-E335-226063EE8E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58317" y="1931603"/>
                  <a:ext cx="499550" cy="21511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5247560-02C3-13DC-D028-E2504291D32C}"/>
                  </a:ext>
                </a:extLst>
              </p14:cNvPr>
              <p14:cNvContentPartPr/>
              <p14:nvPr/>
            </p14:nvContentPartPr>
            <p14:xfrm>
              <a:off x="9009712" y="3638462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5247560-02C3-13DC-D028-E2504291D32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3592" y="36323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A2E13DDC-5B4B-89F3-DD99-72C6300FCA2E}"/>
              </a:ext>
            </a:extLst>
          </p:cNvPr>
          <p:cNvSpPr txBox="1"/>
          <p:nvPr/>
        </p:nvSpPr>
        <p:spPr>
          <a:xfrm>
            <a:off x="3369517" y="3937251"/>
            <a:ext cx="8625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Reset</a:t>
            </a:r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BF1D4EF7-B1B7-9DD8-BA68-409A31607BDA}"/>
              </a:ext>
            </a:extLst>
          </p:cNvPr>
          <p:cNvCxnSpPr>
            <a:cxnSpLocks/>
            <a:stCxn id="29" idx="3"/>
            <a:endCxn id="144" idx="1"/>
          </p:cNvCxnSpPr>
          <p:nvPr/>
        </p:nvCxnSpPr>
        <p:spPr>
          <a:xfrm flipH="1">
            <a:off x="1634405" y="3619421"/>
            <a:ext cx="6307949" cy="226888"/>
          </a:xfrm>
          <a:prstGeom prst="bentConnector5">
            <a:avLst>
              <a:gd name="adj1" fmla="val -3624"/>
              <a:gd name="adj2" fmla="val 576964"/>
              <a:gd name="adj3" fmla="val 1221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672A83F-0F38-4378-9FF8-BBE8F5114BFE}"/>
              </a:ext>
            </a:extLst>
          </p:cNvPr>
          <p:cNvSpPr/>
          <p:nvPr/>
        </p:nvSpPr>
        <p:spPr>
          <a:xfrm>
            <a:off x="1634405" y="3806596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D2B3336-A734-82E6-57FA-9799ED4B1FC0}"/>
              </a:ext>
            </a:extLst>
          </p:cNvPr>
          <p:cNvSpPr txBox="1"/>
          <p:nvPr/>
        </p:nvSpPr>
        <p:spPr>
          <a:xfrm>
            <a:off x="309164" y="3565530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Lapte rămas</a:t>
            </a: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16ADC1B7-67A0-781A-A6EA-6A395537E526}"/>
              </a:ext>
            </a:extLst>
          </p:cNvPr>
          <p:cNvCxnSpPr>
            <a:cxnSpLocks/>
            <a:stCxn id="29" idx="2"/>
            <a:endCxn id="164" idx="1"/>
          </p:cNvCxnSpPr>
          <p:nvPr/>
        </p:nvCxnSpPr>
        <p:spPr>
          <a:xfrm rot="5400000">
            <a:off x="4409714" y="1043055"/>
            <a:ext cx="336637" cy="5910905"/>
          </a:xfrm>
          <a:prstGeom prst="bentConnector4">
            <a:avLst>
              <a:gd name="adj1" fmla="val 299215"/>
              <a:gd name="adj2" fmla="val 122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8AAEC8B-BCAD-8F10-D722-ACD55CFDED9A}"/>
              </a:ext>
            </a:extLst>
          </p:cNvPr>
          <p:cNvSpPr/>
          <p:nvPr/>
        </p:nvSpPr>
        <p:spPr>
          <a:xfrm>
            <a:off x="1622579" y="4092524"/>
            <a:ext cx="91597" cy="14860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5DBDBF-044E-9A95-BD13-E26404585ABD}"/>
              </a:ext>
            </a:extLst>
          </p:cNvPr>
          <p:cNvSpPr txBox="1"/>
          <p:nvPr/>
        </p:nvSpPr>
        <p:spPr>
          <a:xfrm>
            <a:off x="314188" y="3846308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Recipient plin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09E3110-876F-989D-F2A6-63ECB84FAE56}"/>
              </a:ext>
            </a:extLst>
          </p:cNvPr>
          <p:cNvSpPr/>
          <p:nvPr/>
        </p:nvSpPr>
        <p:spPr>
          <a:xfrm>
            <a:off x="7124613" y="2447152"/>
            <a:ext cx="863535" cy="5707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/>
              <a:t>Pompă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3320E112-AD93-50FF-7E36-98010A300529}"/>
              </a:ext>
            </a:extLst>
          </p:cNvPr>
          <p:cNvSpPr/>
          <p:nvPr/>
        </p:nvSpPr>
        <p:spPr>
          <a:xfrm>
            <a:off x="5531373" y="3982584"/>
            <a:ext cx="1529251" cy="554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o-RO"/>
              <a:t>Pasteurizator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5C0321E0-FB95-690C-276A-3135DBC3A51E}"/>
              </a:ext>
            </a:extLst>
          </p:cNvPr>
          <p:cNvCxnSpPr>
            <a:cxnSpLocks/>
          </p:cNvCxnSpPr>
          <p:nvPr/>
        </p:nvCxnSpPr>
        <p:spPr>
          <a:xfrm>
            <a:off x="3334663" y="4294951"/>
            <a:ext cx="2190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0CA1A78-014A-7F64-0267-2F921C755CBD}"/>
              </a:ext>
            </a:extLst>
          </p:cNvPr>
          <p:cNvSpPr txBox="1"/>
          <p:nvPr/>
        </p:nvSpPr>
        <p:spPr>
          <a:xfrm>
            <a:off x="3425506" y="4264099"/>
            <a:ext cx="1419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Start pasteurizare</a:t>
            </a: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70D688DA-4227-C8E9-DEEF-FAC85131902B}"/>
              </a:ext>
            </a:extLst>
          </p:cNvPr>
          <p:cNvSpPr/>
          <p:nvPr/>
        </p:nvSpPr>
        <p:spPr>
          <a:xfrm>
            <a:off x="1615710" y="4190308"/>
            <a:ext cx="91597" cy="1281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034" name="Connector: Elbow 1033">
            <a:extLst>
              <a:ext uri="{FF2B5EF4-FFF2-40B4-BE49-F238E27FC236}">
                <a16:creationId xmlns:a16="http://schemas.microsoft.com/office/drawing/2014/main" id="{D5E8B0A0-F5E2-C23A-65F1-FF45D82A0B3C}"/>
              </a:ext>
            </a:extLst>
          </p:cNvPr>
          <p:cNvCxnSpPr>
            <a:stCxn id="184" idx="3"/>
            <a:endCxn id="1032" idx="1"/>
          </p:cNvCxnSpPr>
          <p:nvPr/>
        </p:nvCxnSpPr>
        <p:spPr>
          <a:xfrm flipH="1" flipV="1">
            <a:off x="1615710" y="4254370"/>
            <a:ext cx="5444914" cy="5243"/>
          </a:xfrm>
          <a:prstGeom prst="bentConnector5">
            <a:avLst>
              <a:gd name="adj1" fmla="val -4198"/>
              <a:gd name="adj2" fmla="val -9440111"/>
              <a:gd name="adj3" fmla="val 122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CD986F9B-0D9C-DB70-A354-B5D2B92C41F3}"/>
              </a:ext>
            </a:extLst>
          </p:cNvPr>
          <p:cNvSpPr txBox="1"/>
          <p:nvPr/>
        </p:nvSpPr>
        <p:spPr>
          <a:xfrm>
            <a:off x="408683" y="4213097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Pasteurizare</a:t>
            </a:r>
          </a:p>
          <a:p>
            <a:r>
              <a:rPr lang="ro-RO">
                <a:solidFill>
                  <a:schemeClr val="tx2">
                    <a:lumMod val="75000"/>
                  </a:schemeClr>
                </a:solidFill>
              </a:rPr>
              <a:t>terminată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61AEC0FB-814F-2FF0-3705-83B33D3F32FE}"/>
              </a:ext>
            </a:extLst>
          </p:cNvPr>
          <p:cNvSpPr/>
          <p:nvPr/>
        </p:nvSpPr>
        <p:spPr>
          <a:xfrm>
            <a:off x="1619430" y="3519831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24293D9A-C757-946C-3446-D27FAAFE3CC1}"/>
              </a:ext>
            </a:extLst>
          </p:cNvPr>
          <p:cNvCxnSpPr>
            <a:cxnSpLocks/>
            <a:stCxn id="29" idx="3"/>
            <a:endCxn id="1043" idx="1"/>
          </p:cNvCxnSpPr>
          <p:nvPr/>
        </p:nvCxnSpPr>
        <p:spPr>
          <a:xfrm flipH="1" flipV="1">
            <a:off x="1619430" y="3559544"/>
            <a:ext cx="6322924" cy="59877"/>
          </a:xfrm>
          <a:prstGeom prst="bentConnector5">
            <a:avLst>
              <a:gd name="adj1" fmla="val -5356"/>
              <a:gd name="adj2" fmla="val -2304486"/>
              <a:gd name="adj3" fmla="val 1229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4443CBC1-5C46-2985-F6B1-33CE06E69CDD}"/>
              </a:ext>
            </a:extLst>
          </p:cNvPr>
          <p:cNvSpPr/>
          <p:nvPr/>
        </p:nvSpPr>
        <p:spPr>
          <a:xfrm>
            <a:off x="1611391" y="3171825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9F6EE167-4953-9C43-F293-AC8ACA4B85F7}"/>
              </a:ext>
            </a:extLst>
          </p:cNvPr>
          <p:cNvSpPr/>
          <p:nvPr/>
        </p:nvSpPr>
        <p:spPr>
          <a:xfrm>
            <a:off x="3245914" y="4151207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066" name="Connector: Elbow 1065">
            <a:extLst>
              <a:ext uri="{FF2B5EF4-FFF2-40B4-BE49-F238E27FC236}">
                <a16:creationId xmlns:a16="http://schemas.microsoft.com/office/drawing/2014/main" id="{C659F32A-8089-7EE7-12A2-081F96707914}"/>
              </a:ext>
            </a:extLst>
          </p:cNvPr>
          <p:cNvCxnSpPr>
            <a:cxnSpLocks/>
            <a:stCxn id="1062" idx="3"/>
            <a:endCxn id="29" idx="1"/>
          </p:cNvCxnSpPr>
          <p:nvPr/>
        </p:nvCxnSpPr>
        <p:spPr>
          <a:xfrm flipV="1">
            <a:off x="3318816" y="3619421"/>
            <a:ext cx="3805797" cy="571499"/>
          </a:xfrm>
          <a:prstGeom prst="bentConnector3">
            <a:avLst>
              <a:gd name="adj1" fmla="val 567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F05EA266-5CA2-544F-6102-D9C16AB976DD}"/>
              </a:ext>
            </a:extLst>
          </p:cNvPr>
          <p:cNvSpPr/>
          <p:nvPr/>
        </p:nvSpPr>
        <p:spPr>
          <a:xfrm>
            <a:off x="3196298" y="3936601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35EEBC28-84A7-06A3-E842-143DFB737346}"/>
              </a:ext>
            </a:extLst>
          </p:cNvPr>
          <p:cNvSpPr/>
          <p:nvPr/>
        </p:nvSpPr>
        <p:spPr>
          <a:xfrm>
            <a:off x="3209463" y="3714702"/>
            <a:ext cx="72902" cy="794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071" name="Connector: Elbow 1070">
            <a:extLst>
              <a:ext uri="{FF2B5EF4-FFF2-40B4-BE49-F238E27FC236}">
                <a16:creationId xmlns:a16="http://schemas.microsoft.com/office/drawing/2014/main" id="{BC5B07C2-436D-5777-CDD4-93A4A2A00938}"/>
              </a:ext>
            </a:extLst>
          </p:cNvPr>
          <p:cNvCxnSpPr>
            <a:cxnSpLocks/>
            <a:stCxn id="1069" idx="3"/>
          </p:cNvCxnSpPr>
          <p:nvPr/>
        </p:nvCxnSpPr>
        <p:spPr>
          <a:xfrm flipV="1">
            <a:off x="3282365" y="2597259"/>
            <a:ext cx="3849357" cy="11571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: Elbow 1072">
            <a:extLst>
              <a:ext uri="{FF2B5EF4-FFF2-40B4-BE49-F238E27FC236}">
                <a16:creationId xmlns:a16="http://schemas.microsoft.com/office/drawing/2014/main" id="{229DDB53-8B11-15C7-445D-7A874A8F1D2B}"/>
              </a:ext>
            </a:extLst>
          </p:cNvPr>
          <p:cNvCxnSpPr>
            <a:cxnSpLocks/>
          </p:cNvCxnSpPr>
          <p:nvPr/>
        </p:nvCxnSpPr>
        <p:spPr>
          <a:xfrm flipV="1">
            <a:off x="3283822" y="2859734"/>
            <a:ext cx="3847900" cy="1116229"/>
          </a:xfrm>
          <a:prstGeom prst="bentConnector3">
            <a:avLst>
              <a:gd name="adj1" fmla="val 533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" name="TextBox 1082">
            <a:extLst>
              <a:ext uri="{FF2B5EF4-FFF2-40B4-BE49-F238E27FC236}">
                <a16:creationId xmlns:a16="http://schemas.microsoft.com/office/drawing/2014/main" id="{799D5025-731A-5FE8-41E1-CB903220EA24}"/>
              </a:ext>
            </a:extLst>
          </p:cNvPr>
          <p:cNvSpPr txBox="1"/>
          <p:nvPr/>
        </p:nvSpPr>
        <p:spPr>
          <a:xfrm>
            <a:off x="3282365" y="3448904"/>
            <a:ext cx="17250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Start pompă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B4A8262D-8D18-348E-5AF4-A7871A94B440}"/>
              </a:ext>
            </a:extLst>
          </p:cNvPr>
          <p:cNvSpPr txBox="1"/>
          <p:nvPr/>
        </p:nvSpPr>
        <p:spPr>
          <a:xfrm>
            <a:off x="3292677" y="3714703"/>
            <a:ext cx="17250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>
                <a:solidFill>
                  <a:schemeClr val="tx2">
                    <a:lumMod val="75000"/>
                  </a:schemeClr>
                </a:solidFill>
              </a:rPr>
              <a:t>Stop pompă</a:t>
            </a:r>
          </a:p>
        </p:txBody>
      </p:sp>
      <p:cxnSp>
        <p:nvCxnSpPr>
          <p:cNvPr id="1088" name="Connector: Elbow 1087">
            <a:extLst>
              <a:ext uri="{FF2B5EF4-FFF2-40B4-BE49-F238E27FC236}">
                <a16:creationId xmlns:a16="http://schemas.microsoft.com/office/drawing/2014/main" id="{F9C668B5-A51E-2F76-B18B-CBBF12F062BD}"/>
              </a:ext>
            </a:extLst>
          </p:cNvPr>
          <p:cNvCxnSpPr>
            <a:stCxn id="174" idx="3"/>
            <a:endCxn id="1049" idx="1"/>
          </p:cNvCxnSpPr>
          <p:nvPr/>
        </p:nvCxnSpPr>
        <p:spPr>
          <a:xfrm flipH="1">
            <a:off x="1611391" y="2732525"/>
            <a:ext cx="6376757" cy="479013"/>
          </a:xfrm>
          <a:prstGeom prst="bentConnector5">
            <a:avLst>
              <a:gd name="adj1" fmla="val -5912"/>
              <a:gd name="adj2" fmla="val 482413"/>
              <a:gd name="adj3" fmla="val 123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1306970" y="365949"/>
            <a:ext cx="6558785" cy="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latin typeface="Arial" panose="020B0604020202020204" pitchFamily="34" charset="0"/>
                <a:cs typeface="Arial" panose="020B0604020202020204" pitchFamily="34" charset="0"/>
              </a:rPr>
              <a:t>Descrierea funcționalității (stări)</a:t>
            </a:r>
          </a:p>
        </p:txBody>
      </p:sp>
      <p:sp>
        <p:nvSpPr>
          <p:cNvPr id="189" name="Google Shape;189;p37"/>
          <p:cNvSpPr txBox="1">
            <a:spLocks noGrp="1"/>
          </p:cNvSpPr>
          <p:nvPr>
            <p:ph type="subTitle" idx="1"/>
          </p:nvPr>
        </p:nvSpPr>
        <p:spPr>
          <a:xfrm>
            <a:off x="557719" y="983227"/>
            <a:ext cx="8372273" cy="3716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0 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 inițială (aparatul se pornește)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 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20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starea în care recipientul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nu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 este prezent</a:t>
            </a:r>
            <a:endParaRPr lang="en-US" sz="2000">
              <a:solidFill>
                <a:schemeClr val="bg1">
                  <a:lumMod val="10000"/>
                </a:schemeClr>
              </a:solidFill>
            </a:endParaRP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2000" baseline="-25000">
                <a:solidFill>
                  <a:schemeClr val="bg1">
                    <a:lumMod val="10000"/>
                  </a:schemeClr>
                </a:solidFill>
              </a:rPr>
              <a:t>2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bg1">
                    <a:lumMod val="10000"/>
                  </a:schemeClr>
                </a:solidFill>
              </a:rPr>
              <a:t>starea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î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n care </a:t>
            </a:r>
            <a:r>
              <a:rPr lang="en-US" sz="2000" err="1">
                <a:solidFill>
                  <a:schemeClr val="bg1">
                    <a:lumMod val="10000"/>
                  </a:schemeClr>
                </a:solidFill>
              </a:rPr>
              <a:t>recipientul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bg1">
                    <a:lumMod val="10000"/>
                  </a:schemeClr>
                </a:solidFill>
              </a:rPr>
              <a:t>este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present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2000" baseline="-25000">
                <a:solidFill>
                  <a:schemeClr val="bg1">
                    <a:lumMod val="10000"/>
                  </a:schemeClr>
                </a:solidFill>
              </a:rPr>
              <a:t>3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bg1">
                    <a:lumMod val="10000"/>
                  </a:schemeClr>
                </a:solidFill>
              </a:rPr>
              <a:t>starea</a:t>
            </a:r>
            <a:r>
              <a:rPr lang="en-US" sz="2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în care recipientul este plin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4 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starea în care recipientul nu este plin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5 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starea în care pompele nu sunt poziționate corect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6 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starea în care se mulge vaca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7 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 intermediară (este posibilă oprirea automatului în timpul mulgerii)</a:t>
            </a:r>
          </a:p>
          <a:p>
            <a:pPr marL="0" indent="0" algn="l"/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2000" baseline="-25000">
                <a:solidFill>
                  <a:schemeClr val="bg1">
                    <a:lumMod val="10000"/>
                  </a:schemeClr>
                </a:solidFill>
              </a:rPr>
              <a:t>8  </a:t>
            </a:r>
            <a:r>
              <a:rPr lang="ro-RO" sz="2000">
                <a:solidFill>
                  <a:schemeClr val="bg1">
                    <a:lumMod val="10000"/>
                  </a:schemeClr>
                </a:solidFill>
              </a:rPr>
              <a:t>= stare intermediară (automatul nu a fost oprit și se verifica dacă mai curge lapte)</a:t>
            </a:r>
          </a:p>
        </p:txBody>
      </p:sp>
      <p:pic>
        <p:nvPicPr>
          <p:cNvPr id="191" name="Google Shape;1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44659">
            <a:off x="7845287" y="2789619"/>
            <a:ext cx="13239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1397931" y="365949"/>
            <a:ext cx="6486974" cy="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latin typeface="Arial" panose="020B0604020202020204" pitchFamily="34" charset="0"/>
                <a:cs typeface="Arial" panose="020B0604020202020204" pitchFamily="34" charset="0"/>
              </a:rPr>
              <a:t>Descrierea funcționalității (stări)</a:t>
            </a:r>
          </a:p>
        </p:txBody>
      </p:sp>
      <p:sp>
        <p:nvSpPr>
          <p:cNvPr id="189" name="Google Shape;189;p37"/>
          <p:cNvSpPr txBox="1">
            <a:spLocks noGrp="1"/>
          </p:cNvSpPr>
          <p:nvPr>
            <p:ph type="subTitle" idx="1"/>
          </p:nvPr>
        </p:nvSpPr>
        <p:spPr>
          <a:xfrm>
            <a:off x="519631" y="1066339"/>
            <a:ext cx="8684481" cy="3711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9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</a:t>
            </a:r>
            <a:r>
              <a:rPr lang="ro-RO">
                <a:solidFill>
                  <a:schemeClr val="bg1">
                    <a:lumMod val="10000"/>
                  </a:schemeClr>
                </a:solidFill>
              </a:rPr>
              <a:t>vaca nu mai are lapte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0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stare intermediară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1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</a:t>
            </a:r>
            <a:r>
              <a:rPr lang="ro-RO">
                <a:solidFill>
                  <a:schemeClr val="bg1">
                    <a:lumMod val="10000"/>
                  </a:schemeClr>
                </a:solidFill>
              </a:rPr>
              <a:t> vaca mai are lapte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2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recipientul este plin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3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stare intermediară (dupa ce s-a terminat procesul de muls)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4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stare intermediară (laptele nu este pasteuRIZZat)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5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stare intermediară (începe pasteuRIZZarea)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6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stare intermediară (se așteaptă output de la automatul auxiliar de pasteurizare)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baseline="-25000">
                <a:solidFill>
                  <a:schemeClr val="bg1">
                    <a:lumMod val="10000"/>
                  </a:schemeClr>
                </a:solidFill>
              </a:rPr>
              <a:t>7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s-a ales servirea laptelui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baseline="-25000">
                <a:solidFill>
                  <a:schemeClr val="bg1">
                    <a:lumMod val="10000"/>
                  </a:schemeClr>
                </a:solidFill>
              </a:rPr>
              <a:t>8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mulsul a fost oprit manual de utilizator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en-US" sz="1800" baseline="-25000">
                <a:solidFill>
                  <a:schemeClr val="bg1">
                    <a:lumMod val="10000"/>
                  </a:schemeClr>
                </a:solidFill>
              </a:rPr>
              <a:t>1</a:t>
            </a:r>
            <a:r>
              <a:rPr lang="ro-RO" baseline="-25000">
                <a:solidFill>
                  <a:schemeClr val="bg1">
                    <a:lumMod val="10000"/>
                  </a:schemeClr>
                </a:solidFill>
              </a:rPr>
              <a:t>9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automatul se închide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S</a:t>
            </a:r>
            <a:r>
              <a:rPr lang="ro-RO" baseline="-25000">
                <a:solidFill>
                  <a:schemeClr val="bg1">
                    <a:lumMod val="10000"/>
                  </a:schemeClr>
                </a:solidFill>
              </a:rPr>
              <a:t>20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– S</a:t>
            </a:r>
            <a:r>
              <a:rPr lang="ro-RO" baseline="-25000">
                <a:solidFill>
                  <a:schemeClr val="bg1">
                    <a:lumMod val="10000"/>
                  </a:schemeClr>
                </a:solidFill>
              </a:rPr>
              <a:t>24</a:t>
            </a:r>
            <a:r>
              <a:rPr lang="ro-RO" sz="1800" baseline="-25000">
                <a:solidFill>
                  <a:schemeClr val="bg1">
                    <a:lumMod val="10000"/>
                  </a:schemeClr>
                </a:solidFill>
              </a:rPr>
              <a:t>  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</a:rPr>
              <a:t>= stări intermediare </a:t>
            </a:r>
          </a:p>
        </p:txBody>
      </p:sp>
      <p:pic>
        <p:nvPicPr>
          <p:cNvPr id="191" name="Google Shape;1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44659">
            <a:off x="7490713" y="3147170"/>
            <a:ext cx="1323975" cy="1276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331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subTitle" idx="1"/>
          </p:nvPr>
        </p:nvSpPr>
        <p:spPr>
          <a:xfrm>
            <a:off x="1057940" y="1072625"/>
            <a:ext cx="8018305" cy="3700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R_P =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recipientul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este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prezent</a:t>
            </a:r>
            <a:endParaRPr lang="en-US" sz="1800">
              <a:solidFill>
                <a:schemeClr val="bg1">
                  <a:lumMod val="10000"/>
                </a:schemeClr>
              </a:solidFill>
              <a:latin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R_FUL =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recipientul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este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plin</a:t>
            </a:r>
            <a:endParaRPr lang="en-US" sz="1800">
              <a:solidFill>
                <a:schemeClr val="bg1">
                  <a:lumMod val="10000"/>
                </a:schemeClr>
              </a:solidFill>
              <a:latin typeface="Arial"/>
              <a:cs typeface="Arial"/>
            </a:endParaRPr>
          </a:p>
          <a:p>
            <a:pPr marL="0" indent="0" algn="l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X =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decizie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auxiliară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(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mereu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0)</a:t>
            </a:r>
          </a:p>
          <a:p>
            <a:pPr marL="0" indent="0" algn="l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POS =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pompele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sunt 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poziționate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corect</a:t>
            </a:r>
            <a:endParaRPr lang="en-US" sz="1800">
              <a:solidFill>
                <a:schemeClr val="bg1">
                  <a:lumMod val="10000"/>
                </a:schemeClr>
              </a:solidFill>
              <a:latin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T_OFF =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utilizatorul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dorește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oprirea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manuală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a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aparatului</a:t>
            </a:r>
            <a:endParaRPr lang="en-US" sz="1800">
              <a:solidFill>
                <a:schemeClr val="bg1">
                  <a:lumMod val="10000"/>
                </a:schemeClr>
              </a:solidFill>
              <a:latin typeface="Arial"/>
              <a:cs typeface="Arial"/>
            </a:endParaRPr>
          </a:p>
          <a:p>
            <a:pPr marL="0" indent="0" algn="l"/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!S_UD 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= vaca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mai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are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lapte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(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cântarul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dă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acest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output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după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perioadă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timp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în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care masa nu s-a </a:t>
            </a:r>
            <a:r>
              <a:rPr lang="en-US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schimabt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4000" cy="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b="1">
                <a:latin typeface="Arial" panose="020B0604020202020204" pitchFamily="34" charset="0"/>
                <a:cs typeface="Arial" panose="020B0604020202020204" pitchFamily="34" charset="0"/>
              </a:rPr>
              <a:t>Descrierea funcționalității (blocuri de decizie)</a:t>
            </a:r>
            <a:endParaRPr lang="it-IT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0" y="3806627"/>
            <a:ext cx="1303200" cy="132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 rotWithShape="1">
          <a:blip r:embed="rId4">
            <a:alphaModFix/>
          </a:blip>
          <a:srcRect t="248" b="258"/>
          <a:stretch/>
        </p:blipFill>
        <p:spPr>
          <a:xfrm>
            <a:off x="7668700" y="3516748"/>
            <a:ext cx="1303200" cy="125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subTitle" idx="1"/>
          </p:nvPr>
        </p:nvSpPr>
        <p:spPr>
          <a:xfrm>
            <a:off x="1057940" y="1072625"/>
            <a:ext cx="7573805" cy="3700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M_FIN = utilizatorul a încheiat sesiunea de muls vaci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M_PST = utilizatorul dacă pasteurizarea laptelui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M_SRV = decizia în care aparatul întreabă utilizatorul dacă dorește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P_D = procesul de </a:t>
            </a:r>
            <a:r>
              <a:rPr lang="ro-RO" sz="1800" err="1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pasterurizare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 este gata</a:t>
            </a:r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4000" cy="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b="1">
                <a:latin typeface="Arial" panose="020B0604020202020204" pitchFamily="34" charset="0"/>
                <a:cs typeface="Arial" panose="020B0604020202020204" pitchFamily="34" charset="0"/>
              </a:rPr>
              <a:t>Descrierea funcționalității (blocuri de decizie)</a:t>
            </a:r>
            <a:endParaRPr lang="it-IT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485" y="3442151"/>
            <a:ext cx="1303200" cy="132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 rotWithShape="1">
          <a:blip r:embed="rId4">
            <a:alphaModFix/>
          </a:blip>
          <a:srcRect t="248" b="258"/>
          <a:stretch/>
        </p:blipFill>
        <p:spPr>
          <a:xfrm>
            <a:off x="130216" y="3760345"/>
            <a:ext cx="1303200" cy="1256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306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>
            <a:spLocks noGrp="1"/>
          </p:cNvSpPr>
          <p:nvPr>
            <p:ph type="title"/>
          </p:nvPr>
        </p:nvSpPr>
        <p:spPr>
          <a:xfrm>
            <a:off x="1509823" y="134542"/>
            <a:ext cx="6289158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Descrierea</a:t>
            </a:r>
            <a:r>
              <a:rPr lang="ro-RO" sz="3200" b="1">
                <a:solidFill>
                  <a:schemeClr val="tx1"/>
                </a:solidFill>
                <a:latin typeface="+mj-lt"/>
              </a:rPr>
              <a:t> funcționalității (ieșiri)</a:t>
            </a:r>
            <a:endParaRPr lang="ro-RO">
              <a:solidFill>
                <a:schemeClr val="tx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28546C7-78A5-E452-D3AE-FC6DCBFBF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046131"/>
            <a:ext cx="9052686" cy="3848986"/>
          </a:xfrm>
        </p:spPr>
        <p:txBody>
          <a:bodyPr/>
          <a:lstStyle/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MSNG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= se aprinde becul 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“</a:t>
            </a: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lang="ro-RO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ecipientul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lipsește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”</a:t>
            </a: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 </a:t>
            </a:r>
            <a:endParaRPr lang="ro-RO" sz="18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FULL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 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se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aprinde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becul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“</a:t>
            </a: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lang="ro-RO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ecipientul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este plin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”</a:t>
            </a:r>
            <a:endParaRPr lang="ro-RO" sz="1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FAIL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se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aprinde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becul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“</a:t>
            </a:r>
            <a:r>
              <a:rPr lang="ro-RO" sz="1800">
                <a:solidFill>
                  <a:srgbClr val="000000"/>
                </a:solidFill>
                <a:latin typeface="Arial"/>
                <a:cs typeface="Arial"/>
              </a:rPr>
              <a:t>Pompele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nu </a:t>
            </a:r>
            <a:r>
              <a:rPr lang="ro-RO" sz="1800">
                <a:solidFill>
                  <a:srgbClr val="000000"/>
                </a:solidFill>
                <a:latin typeface="Arial"/>
                <a:cs typeface="Arial"/>
              </a:rPr>
              <a:t>sunt poziționate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corect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”</a:t>
            </a:r>
            <a:endParaRPr lang="ro-RO" sz="1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S_RST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</a:t>
            </a:r>
            <a:r>
              <a:rPr lang="ro-RO" sz="1800">
                <a:solidFill>
                  <a:srgbClr val="000000"/>
                </a:solidFill>
                <a:latin typeface="Arial"/>
                <a:cs typeface="Arial"/>
              </a:rPr>
              <a:t>trimite semnalul de </a:t>
            </a:r>
            <a:r>
              <a:rPr lang="ro-RO" sz="1800" err="1">
                <a:solidFill>
                  <a:srgbClr val="000000"/>
                </a:solidFill>
                <a:latin typeface="Arial"/>
                <a:cs typeface="Arial"/>
              </a:rPr>
              <a:t>reset</a:t>
            </a:r>
            <a:r>
              <a:rPr lang="ro-RO" sz="1800">
                <a:solidFill>
                  <a:srgbClr val="000000"/>
                </a:solidFill>
                <a:latin typeface="Arial"/>
                <a:cs typeface="Arial"/>
              </a:rPr>
              <a:t> către cântar (cântarul trebuie să aștepte un interval</a:t>
            </a:r>
            <a:endParaRPr lang="ro-RO" sz="1800">
              <a:solidFill>
                <a:srgbClr val="1919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o-RO" sz="1800">
                <a:solidFill>
                  <a:srgbClr val="000000"/>
                </a:solidFill>
                <a:latin typeface="Arial"/>
                <a:cs typeface="Arial"/>
              </a:rPr>
              <a:t>de timp până ce poate da outputul !</a:t>
            </a:r>
            <a:r>
              <a:rPr lang="ro-RO" sz="1800">
                <a:solidFill>
                  <a:schemeClr val="bg1">
                    <a:lumMod val="10000"/>
                  </a:schemeClr>
                </a:solidFill>
                <a:latin typeface="Arial"/>
                <a:cs typeface="Arial"/>
              </a:rPr>
              <a:t>S_UD pentru a nu opri mulgerea instantaneu)</a:t>
            </a:r>
            <a:endParaRPr lang="ro-RO" sz="1800" b="0" i="0"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C_EMT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 se aprinde becul 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“</a:t>
            </a: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V</a:t>
            </a:r>
            <a:r>
              <a:rPr lang="ro-RO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aca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nu mai are lapte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”</a:t>
            </a:r>
            <a:endParaRPr lang="ro-RO" sz="1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P_ON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 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a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paratul trimite semnalul de start către pompă</a:t>
            </a: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P_OFF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= aparatul trimite semnalul de oprire către pompă</a:t>
            </a: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PST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</a:t>
            </a:r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aparatul trimite semnalul de start către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Arial"/>
                <a:cs typeface="Arial"/>
              </a:rPr>
              <a:t>pasteuRIZZator</a:t>
            </a:r>
            <a:endParaRPr lang="ro-RO" sz="1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algn="l"/>
            <a:r>
              <a:rPr lang="en-US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SRV </a:t>
            </a:r>
            <a:r>
              <a:rPr lang="ro-RO" sz="1800" b="0" i="0">
                <a:solidFill>
                  <a:srgbClr val="000000"/>
                </a:solidFill>
                <a:effectLst/>
                <a:latin typeface="Arial"/>
                <a:cs typeface="Arial"/>
              </a:rPr>
              <a:t>= aparatul servește lapte</a:t>
            </a:r>
            <a:endParaRPr lang="en-US" sz="1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algn="l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4" name="Google Shape;2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351674" y="3076950"/>
            <a:ext cx="1952025" cy="17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2227" y="3807355"/>
            <a:ext cx="1567100" cy="14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9074" y="4093150"/>
            <a:ext cx="588327" cy="5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">
            <a:off x="548600" y="4019210"/>
            <a:ext cx="889625" cy="7979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5211ED-880F-2D0B-5DAA-DB6F9D6D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" name="Picture 22" descr="A diagram of a computer&#10;&#10;Description automatically generated">
            <a:extLst>
              <a:ext uri="{FF2B5EF4-FFF2-40B4-BE49-F238E27FC236}">
                <a16:creationId xmlns:a16="http://schemas.microsoft.com/office/drawing/2014/main" id="{20660AB2-2C6F-FE65-4B11-D0EA272B3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1"/>
          <p:cNvPicPr preferRelativeResize="0"/>
          <p:nvPr/>
        </p:nvPicPr>
        <p:blipFill rotWithShape="1">
          <a:blip r:embed="rId3">
            <a:alphaModFix/>
          </a:blip>
          <a:srcRect t="11807" b="11815"/>
          <a:stretch/>
        </p:blipFill>
        <p:spPr>
          <a:xfrm>
            <a:off x="-79600" y="2270124"/>
            <a:ext cx="1854625" cy="2428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 txBox="1">
            <a:spLocks noGrp="1"/>
          </p:cNvSpPr>
          <p:nvPr>
            <p:ph type="title"/>
          </p:nvPr>
        </p:nvSpPr>
        <p:spPr>
          <a:xfrm>
            <a:off x="1775025" y="445025"/>
            <a:ext cx="58857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latin typeface="Arial" panose="020B0604020202020204" pitchFamily="34" charset="0"/>
                <a:cs typeface="Arial" panose="020B0604020202020204" pitchFamily="34" charset="0"/>
              </a:rPr>
              <a:t>Explicarea</a:t>
            </a:r>
            <a:r>
              <a:rPr lang="ro-RO" sz="3200" b="1">
                <a:latin typeface="+mj-lt"/>
              </a:rPr>
              <a:t> funcționalității</a:t>
            </a:r>
            <a:endParaRPr/>
          </a:p>
        </p:txBody>
      </p:sp>
      <p:sp>
        <p:nvSpPr>
          <p:cNvPr id="239" name="Google Shape;239;p41"/>
          <p:cNvSpPr txBox="1">
            <a:spLocks noGrp="1"/>
          </p:cNvSpPr>
          <p:nvPr>
            <p:ph type="body" idx="1"/>
          </p:nvPr>
        </p:nvSpPr>
        <p:spPr>
          <a:xfrm>
            <a:off x="765990" y="1158638"/>
            <a:ext cx="6894768" cy="3308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o-RO">
                <a:latin typeface="+mj-lt"/>
              </a:rPr>
              <a:t>Automatul de muls vaci se folosește de alte automate auxiliare: un cântar, o pompă și un pasteurizator. După pornire, automatul se folosește de cântar pentru a verifica dacă recipientul este eligibil (prezent și nu plin). Dacă acesta este eligibil, automatul se folosește de pompă pentru a verifica dacă este conectată corect la vacă. În cazul pozitivil, se începe mulgerea: se trimite un semnal la cântar de reset, iar la pompă unul pentru a se porni. În timpul mulgerii, utilizatorul poate opri automatul manual în cazuri excepționale (de exemplu: moare vaca). Dacă mulgerea nu este oprită de către utilizator, ea va fi oprită de către cântar (fie nu mai curge lapte – vaca nu mai are lapte, fie recipientul a ajuns la capacitate maximă). Dacă motivul opririi a fost </a:t>
            </a:r>
            <a:r>
              <a:rPr lang="en-US">
                <a:latin typeface="+mj-lt"/>
              </a:rPr>
              <a:t>“</a:t>
            </a:r>
            <a:r>
              <a:rPr lang="ro-RO">
                <a:latin typeface="+mj-lt"/>
              </a:rPr>
              <a:t>nu mai curge lapte”, utilizatorul are opțiunea de a trece la următoarea vacă. După umplerea recipientului, utilizatorul poate opta ca laptele să fie pasteurizat. În cazul pasteurizării, se trimite un semnal pasteurizatorului de a se porni. Se așteaptă până pasteurizatorul trimite înapoi automatului nostru semnalul că pasteurizarea a luat sfârșit. După acest pas, utilizatorul poate servi laptele obținut (pasteurizat sau nu), după care automatul se închide.</a:t>
            </a:r>
            <a:endParaRPr>
              <a:latin typeface="+mj-lt"/>
            </a:endParaRPr>
          </a:p>
        </p:txBody>
      </p:sp>
      <p:pic>
        <p:nvPicPr>
          <p:cNvPr id="238" name="Google Shape;2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3738" y="3408625"/>
            <a:ext cx="1805313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>
            <a:spLocks noGrp="1"/>
          </p:cNvSpPr>
          <p:nvPr>
            <p:ph type="title"/>
          </p:nvPr>
        </p:nvSpPr>
        <p:spPr>
          <a:xfrm>
            <a:off x="1281222" y="204303"/>
            <a:ext cx="7145079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Calculul lungimii microinstrucțiunii</a:t>
            </a:r>
            <a:endParaRPr lang="ro-RO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2860E-03D8-1A30-24AD-E70EFD76AA04}"/>
              </a:ext>
            </a:extLst>
          </p:cNvPr>
          <p:cNvSpPr/>
          <p:nvPr/>
        </p:nvSpPr>
        <p:spPr>
          <a:xfrm>
            <a:off x="781992" y="1013811"/>
            <a:ext cx="7600030" cy="1912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/>
              <a:t>Output-urile sunt în număr de 9. Intrările sunt în număr de 10, deci se codifică pe 4 biți, iar cele 25 de stări se codifică pe 5 biți.</a:t>
            </a:r>
            <a:endParaRPr lang="en-US"/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pl-PL" sz="1800" b="1" i="0" u="none" strike="noStrike">
              <a:solidFill>
                <a:srgbClr val="FFFFFF"/>
              </a:solidFill>
              <a:effectLst/>
              <a:latin typeface="Cambria Math" panose="020405030504060302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l-PL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L</a:t>
            </a:r>
            <a:r>
              <a:rPr lang="pl-PL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μTip0</a:t>
            </a:r>
            <a:r>
              <a:rPr lang="pl-PL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= 1 + </a:t>
            </a:r>
            <a:r>
              <a:rPr lang="pl-PL" b="1" i="0" u="none" strike="noStrike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n</a:t>
            </a:r>
            <a:r>
              <a:rPr lang="pl-PL" b="1" i="0" u="none" strike="noStrike" baseline="-25000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ci</a:t>
            </a:r>
            <a:r>
              <a:rPr lang="pl-PL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+ </a:t>
            </a:r>
            <a:r>
              <a:rPr lang="pl-PL" b="1" i="0" u="none" strike="noStrike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n</a:t>
            </a:r>
            <a:r>
              <a:rPr lang="pl-PL" b="1" i="0" u="none" strike="noStrike" baseline="-25000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ADR</a:t>
            </a:r>
            <a:r>
              <a:rPr lang="pl-PL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= 1 + 4 + 5 = 10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L</a:t>
            </a:r>
            <a:r>
              <a:rPr lang="fr-FR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μTip1</a:t>
            </a:r>
            <a:r>
              <a:rPr lang="fr-FR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= 1 + </a:t>
            </a:r>
            <a:r>
              <a:rPr lang="fr-FR" b="1" i="0" u="none" strike="noStrike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n</a:t>
            </a:r>
            <a:r>
              <a:rPr lang="fr-FR" b="1" i="0" u="none" strike="noStrike" baseline="-25000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OUT</a:t>
            </a:r>
            <a:r>
              <a:rPr lang="fr-FR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= 1 + </a:t>
            </a: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9</a:t>
            </a:r>
            <a:r>
              <a:rPr lang="fr-FR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 = 1</a:t>
            </a:r>
            <a:r>
              <a:rPr lang="ro-RO" b="1">
                <a:solidFill>
                  <a:srgbClr val="FFFFFF"/>
                </a:solidFill>
                <a:latin typeface="Cambria Math"/>
                <a:ea typeface="Cambria Math"/>
              </a:rPr>
              <a:t>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L</a:t>
            </a:r>
            <a:r>
              <a:rPr lang="el-GR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μ</a:t>
            </a:r>
            <a:r>
              <a:rPr lang="ro-RO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i</a:t>
            </a: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= </a:t>
            </a:r>
            <a:r>
              <a:rPr lang="ro-RO" b="1" i="0" u="none" strike="noStrike" err="1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max</a:t>
            </a: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(L</a:t>
            </a:r>
            <a:r>
              <a:rPr lang="el-GR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μ</a:t>
            </a:r>
            <a:r>
              <a:rPr lang="ro-RO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Tip0 </a:t>
            </a: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, L</a:t>
            </a:r>
            <a:r>
              <a:rPr lang="el-GR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μ</a:t>
            </a:r>
            <a:r>
              <a:rPr lang="ro-RO" b="1" i="0" u="none" strike="noStrike" baseline="-25000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Tip1</a:t>
            </a:r>
            <a:r>
              <a:rPr lang="ro-RO" b="1" i="0" u="none" strike="noStrike">
                <a:solidFill>
                  <a:srgbClr val="FFFFFF"/>
                </a:solidFill>
                <a:effectLst/>
                <a:latin typeface="Cambria Math"/>
                <a:ea typeface="Cambria Math"/>
              </a:rPr>
              <a:t>)= 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0AB73C-A0DF-2E79-196D-7F1F557AE60B}"/>
              </a:ext>
            </a:extLst>
          </p:cNvPr>
          <p:cNvSpPr/>
          <p:nvPr/>
        </p:nvSpPr>
        <p:spPr>
          <a:xfrm>
            <a:off x="783432" y="3569684"/>
            <a:ext cx="7584154" cy="944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ro-RO" b="1" i="0" u="none" strike="noStrike">
              <a:solidFill>
                <a:srgbClr val="FFFFFF"/>
              </a:solidFill>
              <a:effectLst/>
              <a:latin typeface="Cambria Math" panose="020405030504060302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o-RO" b="1">
              <a:solidFill>
                <a:srgbClr val="FFFFFF"/>
              </a:solidFill>
              <a:latin typeface="Cambria Math" panose="02040503050406030204" pitchFamily="18" charset="0"/>
            </a:endParaRPr>
          </a:p>
          <a:p>
            <a:r>
              <a:rPr lang="ro-RO">
                <a:solidFill>
                  <a:srgbClr val="FFFFFF"/>
                </a:solidFill>
                <a:latin typeface="Arial"/>
                <a:cs typeface="Arial"/>
              </a:rPr>
              <a:t>În concluzie, lungimea microinstrucțiunii este de 10 biți =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&gt; 3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circuite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memorie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1" i="0" u="none" strike="noStrike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o-RO" b="1" i="0" u="none" strike="noStrike">
              <a:solidFill>
                <a:srgbClr val="FFFFFF"/>
              </a:solidFill>
              <a:effectLst/>
              <a:latin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>
            <a:spLocks noGrp="1"/>
          </p:cNvSpPr>
          <p:nvPr>
            <p:ph type="title"/>
          </p:nvPr>
        </p:nvSpPr>
        <p:spPr>
          <a:xfrm>
            <a:off x="0" y="29511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b="1">
                <a:latin typeface="Arial" panose="020B0604020202020204" pitchFamily="34" charset="0"/>
                <a:cs typeface="Arial" panose="020B0604020202020204" pitchFamily="34" charset="0"/>
              </a:rPr>
              <a:t>Schema unității de comandă microprogramate</a:t>
            </a:r>
            <a:endParaRPr lang="ro-RO" sz="360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13E0E873-F08A-4DBB-F52F-7975AD344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502" y="972171"/>
            <a:ext cx="5674995" cy="3566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/>
          <p:nvPr/>
        </p:nvSpPr>
        <p:spPr>
          <a:xfrm>
            <a:off x="1391832" y="3164650"/>
            <a:ext cx="1885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66368" y="3172200"/>
            <a:ext cx="1885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88687-F435-E119-386C-192492C5F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04559"/>
              </p:ext>
            </p:extLst>
          </p:nvPr>
        </p:nvGraphicFramePr>
        <p:xfrm>
          <a:off x="0" y="0"/>
          <a:ext cx="9144001" cy="5168826"/>
        </p:xfrm>
        <a:graphic>
          <a:graphicData uri="http://schemas.openxmlformats.org/drawingml/2006/table">
            <a:tbl>
              <a:tblPr/>
              <a:tblGrid>
                <a:gridCol w="1014183">
                  <a:extLst>
                    <a:ext uri="{9D8B030D-6E8A-4147-A177-3AD203B41FA5}">
                      <a16:colId xmlns:a16="http://schemas.microsoft.com/office/drawing/2014/main" val="529970605"/>
                    </a:ext>
                  </a:extLst>
                </a:gridCol>
                <a:gridCol w="1308624">
                  <a:extLst>
                    <a:ext uri="{9D8B030D-6E8A-4147-A177-3AD203B41FA5}">
                      <a16:colId xmlns:a16="http://schemas.microsoft.com/office/drawing/2014/main" val="1876290689"/>
                    </a:ext>
                  </a:extLst>
                </a:gridCol>
                <a:gridCol w="687025">
                  <a:extLst>
                    <a:ext uri="{9D8B030D-6E8A-4147-A177-3AD203B41FA5}">
                      <a16:colId xmlns:a16="http://schemas.microsoft.com/office/drawing/2014/main" val="638172416"/>
                    </a:ext>
                  </a:extLst>
                </a:gridCol>
                <a:gridCol w="768818">
                  <a:extLst>
                    <a:ext uri="{9D8B030D-6E8A-4147-A177-3AD203B41FA5}">
                      <a16:colId xmlns:a16="http://schemas.microsoft.com/office/drawing/2014/main" val="2483343575"/>
                    </a:ext>
                  </a:extLst>
                </a:gridCol>
                <a:gridCol w="621596">
                  <a:extLst>
                    <a:ext uri="{9D8B030D-6E8A-4147-A177-3AD203B41FA5}">
                      <a16:colId xmlns:a16="http://schemas.microsoft.com/office/drawing/2014/main" val="4281814267"/>
                    </a:ext>
                  </a:extLst>
                </a:gridCol>
                <a:gridCol w="572523">
                  <a:extLst>
                    <a:ext uri="{9D8B030D-6E8A-4147-A177-3AD203B41FA5}">
                      <a16:colId xmlns:a16="http://schemas.microsoft.com/office/drawing/2014/main" val="3093785507"/>
                    </a:ext>
                  </a:extLst>
                </a:gridCol>
                <a:gridCol w="752457">
                  <a:extLst>
                    <a:ext uri="{9D8B030D-6E8A-4147-A177-3AD203B41FA5}">
                      <a16:colId xmlns:a16="http://schemas.microsoft.com/office/drawing/2014/main" val="1178438690"/>
                    </a:ext>
                  </a:extLst>
                </a:gridCol>
                <a:gridCol w="866962">
                  <a:extLst>
                    <a:ext uri="{9D8B030D-6E8A-4147-A177-3AD203B41FA5}">
                      <a16:colId xmlns:a16="http://schemas.microsoft.com/office/drawing/2014/main" val="2600183141"/>
                    </a:ext>
                  </a:extLst>
                </a:gridCol>
                <a:gridCol w="719740">
                  <a:extLst>
                    <a:ext uri="{9D8B030D-6E8A-4147-A177-3AD203B41FA5}">
                      <a16:colId xmlns:a16="http://schemas.microsoft.com/office/drawing/2014/main" val="348504958"/>
                    </a:ext>
                  </a:extLst>
                </a:gridCol>
                <a:gridCol w="785175">
                  <a:extLst>
                    <a:ext uri="{9D8B030D-6E8A-4147-A177-3AD203B41FA5}">
                      <a16:colId xmlns:a16="http://schemas.microsoft.com/office/drawing/2014/main" val="2162237985"/>
                    </a:ext>
                  </a:extLst>
                </a:gridCol>
                <a:gridCol w="507092">
                  <a:extLst>
                    <a:ext uri="{9D8B030D-6E8A-4147-A177-3AD203B41FA5}">
                      <a16:colId xmlns:a16="http://schemas.microsoft.com/office/drawing/2014/main" val="1837876137"/>
                    </a:ext>
                  </a:extLst>
                </a:gridCol>
                <a:gridCol w="539806">
                  <a:extLst>
                    <a:ext uri="{9D8B030D-6E8A-4147-A177-3AD203B41FA5}">
                      <a16:colId xmlns:a16="http://schemas.microsoft.com/office/drawing/2014/main" val="3798131777"/>
                    </a:ext>
                  </a:extLst>
                </a:gridCol>
              </a:tblGrid>
              <a:tr h="13734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Stare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Adresa</a:t>
                      </a:r>
                      <a:endParaRPr lang="en-US" sz="900" b="0" i="0" u="none" strike="noStrike" err="1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Tip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INPUT COD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ADR0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830252"/>
                  </a:ext>
                </a:extLst>
              </a:tr>
              <a:tr h="1373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MSNG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FULL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FAIL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S_RST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C_EMT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P_ON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P_OFF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PST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SRV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504360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00000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182963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00001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430928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00010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461421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00011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654852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00100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934461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00101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178354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00110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536379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00111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538340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01000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264781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01001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70C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70C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70C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70C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70C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564311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01010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419376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01011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224856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01100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02028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01101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54320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01110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83622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01111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987285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10000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581897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10001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351894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10010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126596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10011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830130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10100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43442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10101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098442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10110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31113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10111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272921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11000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76381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11001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65144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11010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75623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547177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11011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027182"/>
                  </a:ext>
                </a:extLst>
              </a:tr>
              <a:tr h="1562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9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11100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001582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11101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03934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11110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549992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11111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</a:txBody>
                  <a:tcPr marL="3004" marR="3004" marT="300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3032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>
            <a:spLocks noGrp="1"/>
          </p:cNvSpPr>
          <p:nvPr>
            <p:ph type="title"/>
          </p:nvPr>
        </p:nvSpPr>
        <p:spPr>
          <a:xfrm>
            <a:off x="1388100" y="211946"/>
            <a:ext cx="6367800" cy="13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>
                <a:latin typeface="Arial" panose="020B0604020202020204" pitchFamily="34" charset="0"/>
                <a:cs typeface="Arial" panose="020B0604020202020204" pitchFamily="34" charset="0"/>
              </a:rPr>
              <a:t>Componente digitale folosite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CFE17-3C52-7993-6581-DC062A040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22" y="755164"/>
            <a:ext cx="1862418" cy="1870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F2DD4A-348D-7A3A-F685-E1FB66D6CDF9}"/>
              </a:ext>
            </a:extLst>
          </p:cNvPr>
          <p:cNvSpPr txBox="1"/>
          <p:nvPr/>
        </p:nvSpPr>
        <p:spPr>
          <a:xfrm>
            <a:off x="457208" y="2538510"/>
            <a:ext cx="22110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gg sans"/>
              </a:rPr>
              <a:t>RAM </a:t>
            </a:r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CAT22C10 64x4 </a:t>
            </a:r>
            <a:r>
              <a:rPr lang="en-US">
                <a:solidFill>
                  <a:schemeClr val="tx1"/>
                </a:solidFill>
                <a:latin typeface="gg sans"/>
              </a:rPr>
              <a:t>(</a:t>
            </a:r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3</a:t>
            </a:r>
            <a:r>
              <a:rPr lang="en-US">
                <a:solidFill>
                  <a:schemeClr val="tx1"/>
                </a:solidFill>
                <a:latin typeface="gg sans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43013C-A51E-360B-290F-C0CCEAD5B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014" y="890837"/>
            <a:ext cx="2156616" cy="1795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C2CDB0-4C1A-6EB5-3C38-AFA29E95BA4B}"/>
              </a:ext>
            </a:extLst>
          </p:cNvPr>
          <p:cNvSpPr txBox="1"/>
          <p:nvPr/>
        </p:nvSpPr>
        <p:spPr>
          <a:xfrm>
            <a:off x="3446194" y="2538509"/>
            <a:ext cx="21025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err="1">
                <a:solidFill>
                  <a:schemeClr val="tx1"/>
                </a:solidFill>
                <a:latin typeface="gg sans"/>
              </a:rPr>
              <a:t>Numărător</a:t>
            </a:r>
            <a:r>
              <a:rPr lang="en-US">
                <a:solidFill>
                  <a:schemeClr val="tx1"/>
                </a:solidFill>
                <a:latin typeface="gg sans"/>
              </a:rPr>
              <a:t> </a:t>
            </a:r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SN74193 </a:t>
            </a:r>
            <a:r>
              <a:rPr lang="en-US">
                <a:solidFill>
                  <a:schemeClr val="tx1"/>
                </a:solidFill>
                <a:latin typeface="gg sans"/>
              </a:rPr>
              <a:t>(2)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34A8E0-F84D-2768-7660-E51430FF8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55" y="2897905"/>
            <a:ext cx="2419633" cy="18019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2580BD-3635-3077-9449-D24A601D89A9}"/>
              </a:ext>
            </a:extLst>
          </p:cNvPr>
          <p:cNvSpPr txBox="1"/>
          <p:nvPr/>
        </p:nvSpPr>
        <p:spPr>
          <a:xfrm>
            <a:off x="436484" y="4720316"/>
            <a:ext cx="189832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MUX</a:t>
            </a:r>
            <a:r>
              <a:rPr lang="ro-RO" b="0" i="0">
                <a:solidFill>
                  <a:schemeClr val="tx1"/>
                </a:solidFill>
                <a:effectLst/>
                <a:latin typeface="gg sans"/>
              </a:rPr>
              <a:t> </a:t>
            </a:r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16</a:t>
            </a:r>
            <a:r>
              <a:rPr lang="en-US">
                <a:solidFill>
                  <a:schemeClr val="tx1"/>
                </a:solidFill>
                <a:latin typeface="gg sans"/>
              </a:rPr>
              <a:t>:1</a:t>
            </a:r>
            <a:r>
              <a:rPr lang="en-US" b="0" i="0">
                <a:solidFill>
                  <a:schemeClr val="tx1"/>
                </a:solidFill>
                <a:effectLst/>
                <a:latin typeface="gg sans"/>
              </a:rPr>
              <a:t> 54150 </a:t>
            </a:r>
            <a:r>
              <a:rPr lang="en-US">
                <a:solidFill>
                  <a:schemeClr val="tx1"/>
                </a:solidFill>
                <a:latin typeface="gg sans"/>
              </a:rPr>
              <a:t>(1)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 descr="A circuit board with numbers and symbols&#10;&#10;Description automatically generated">
            <a:extLst>
              <a:ext uri="{FF2B5EF4-FFF2-40B4-BE49-F238E27FC236}">
                <a16:creationId xmlns:a16="http://schemas.microsoft.com/office/drawing/2014/main" id="{71FE6A49-C542-2D36-3986-8EEF45336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651" y="1010709"/>
            <a:ext cx="1544865" cy="13229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579BAB-9357-AD7A-AC56-84B4C5A0044C}"/>
              </a:ext>
            </a:extLst>
          </p:cNvPr>
          <p:cNvSpPr txBox="1"/>
          <p:nvPr/>
        </p:nvSpPr>
        <p:spPr>
          <a:xfrm>
            <a:off x="6728275" y="2386691"/>
            <a:ext cx="160198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gg sans"/>
              </a:rPr>
              <a:t>OR 7432 (1)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15050A-72C1-A94D-2EA1-9032D33B6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238" y="3259666"/>
            <a:ext cx="1863359" cy="11800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7AAAF8-C0CA-C2E4-C4DA-4895CA0944A1}"/>
              </a:ext>
            </a:extLst>
          </p:cNvPr>
          <p:cNvSpPr txBox="1"/>
          <p:nvPr/>
        </p:nvSpPr>
        <p:spPr>
          <a:xfrm>
            <a:off x="3870777" y="4524524"/>
            <a:ext cx="125803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gg sans"/>
              </a:rPr>
              <a:t>AND 7408 (1)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 descr="A diagram of a circuit&#10;&#10;Description automatically generated">
            <a:extLst>
              <a:ext uri="{FF2B5EF4-FFF2-40B4-BE49-F238E27FC236}">
                <a16:creationId xmlns:a16="http://schemas.microsoft.com/office/drawing/2014/main" id="{0E719E65-BA2E-AA35-5CD2-B8752E2016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046" y="3169709"/>
            <a:ext cx="1867324" cy="13546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B5F5EC-BCE3-9713-18C7-49C64F704E1B}"/>
              </a:ext>
            </a:extLst>
          </p:cNvPr>
          <p:cNvSpPr txBox="1"/>
          <p:nvPr/>
        </p:nvSpPr>
        <p:spPr>
          <a:xfrm>
            <a:off x="6680652" y="4577441"/>
            <a:ext cx="151203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gg sans"/>
              </a:rPr>
              <a:t>NOT 7404 (1)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>
                <a:latin typeface="Arial" panose="020B0604020202020204" pitchFamily="34" charset="0"/>
                <a:cs typeface="Arial" panose="020B0604020202020204" pitchFamily="34" charset="0"/>
              </a:rPr>
              <a:t>Conexiunile dintre pini</a:t>
            </a:r>
            <a:endParaRPr lang="en" dirty="0">
              <a:solidFill>
                <a:schemeClr val="accent2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9ECDAF-FD4B-0260-8E11-D5158DC3E53F}"/>
              </a:ext>
            </a:extLst>
          </p:cNvPr>
          <p:cNvSpPr/>
          <p:nvPr/>
        </p:nvSpPr>
        <p:spPr>
          <a:xfrm>
            <a:off x="540016" y="1093185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</a:rPr>
              <a:t>M3 I/O4 - OR 1A</a:t>
            </a:r>
            <a:endParaRPr lang="en-US"/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</a:rPr>
              <a:t>M3 I/O3 - MUX D</a:t>
            </a:r>
            <a:endParaRPr lang="ro-RO" b="1" i="0" u="none" strike="noStrike">
              <a:solidFill>
                <a:srgbClr val="FFFFFF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M3 I/O2 - MUX C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M3 I/O1 - MUX B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I/O4 - MUX A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I/O3 - N2 A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I/O2 - N1 D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I/O1 - N1 C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I/O4 - N1 B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I/O3 - N1 A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I/O2 - GND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I/O1 - GND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5CBB97-0D86-3509-4F30-0DD496B0A8F8}"/>
              </a:ext>
            </a:extLst>
          </p:cNvPr>
          <p:cNvSpPr/>
          <p:nvPr/>
        </p:nvSpPr>
        <p:spPr>
          <a:xfrm>
            <a:off x="3503350" y="1093184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M3 I/O4 - AND*</a:t>
            </a:r>
            <a:endParaRPr lang="en-US" dirty="0"/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M3 I/O3 - AND1 1B</a:t>
            </a:r>
            <a:endParaRPr lang="ro-RO" i="0" u="none" strike="noStrike" dirty="0">
              <a:solidFill>
                <a:srgbClr val="FFFFFF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M3 I/O2 - AND1 2B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M3 I/O1 - AND1 3B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I/O4 - AND1 4B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I/O3 - AND2 1B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I/O2 - AND2 2B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M2 I/O1 - AND2 3B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I/O4 - AND2 4B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M1 I/O3 - AND3 1B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endParaRPr lang="ro-RO" b="1" dirty="0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  <a:p>
            <a:r>
              <a:rPr lang="ro-RO" sz="1000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*toate A-urile corespunzătoare AND-urile de mai jos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835046-619B-FEE2-B8A4-2BBA52BDB164}"/>
              </a:ext>
            </a:extLst>
          </p:cNvPr>
          <p:cNvSpPr/>
          <p:nvPr/>
        </p:nvSpPr>
        <p:spPr>
          <a:xfrm>
            <a:off x="6498432" y="1093183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AND1 1Y – out MSNG</a:t>
            </a:r>
            <a:endParaRPr lang="ro-RO" i="0" u="none" strike="noStrike" dirty="0">
              <a:solidFill>
                <a:srgbClr val="FFFFFF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AND1 2Y – out FULL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AND1 3Y – out FAIL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AND1 4Y – out R_RST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AND2 1Y – out C_EMT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AND2 2Y – out P_ON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AND2 3Y – out P_OFF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AND2 4Y – out PST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AND3 1Y – out SRV</a:t>
            </a:r>
            <a:endParaRPr lang="ro-RO" dirty="0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AND3 2A – </a:t>
            </a:r>
            <a:r>
              <a:rPr lang="en-US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LOAD</a:t>
            </a:r>
            <a:endParaRPr lang="ro-RO" b="1" dirty="0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AND3 2B – CLK</a:t>
            </a:r>
          </a:p>
          <a:p>
            <a:r>
              <a:rPr lang="en-US" b="1" dirty="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AND3 2Y – N1 UP</a:t>
            </a:r>
            <a:endParaRPr lang="ro-RO" b="1" dirty="0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  <a:p>
            <a:endParaRPr lang="ro-RO" b="1" dirty="0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917135F0-B697-AA7E-5C01-BF1442F0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>
            <a:extLst>
              <a:ext uri="{FF2B5EF4-FFF2-40B4-BE49-F238E27FC236}">
                <a16:creationId xmlns:a16="http://schemas.microsoft.com/office/drawing/2014/main" id="{9EB64ACF-7323-FB31-51BB-447040A6E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>
                <a:latin typeface="Arial" panose="020B0604020202020204" pitchFamily="34" charset="0"/>
                <a:cs typeface="Arial" panose="020B0604020202020204" pitchFamily="34" charset="0"/>
              </a:rPr>
              <a:t>Conexiunile dintre pini</a:t>
            </a:r>
            <a:endParaRPr lang="en" dirty="0">
              <a:solidFill>
                <a:schemeClr val="accent2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E09476-FB86-D22F-EE45-D33269581537}"/>
              </a:ext>
            </a:extLst>
          </p:cNvPr>
          <p:cNvSpPr/>
          <p:nvPr/>
        </p:nvSpPr>
        <p:spPr>
          <a:xfrm>
            <a:off x="540016" y="1093185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MUX W – NOT 1A</a:t>
            </a: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NOT 1Y – OR 1B</a:t>
            </a: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AND3 2Y – N1 UP</a:t>
            </a: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OR 1Y – N* !LOAD</a:t>
            </a: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N1 !CO – N2 UP</a:t>
            </a:r>
          </a:p>
          <a:p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N1 Q</a:t>
            </a:r>
            <a:r>
              <a:rPr lang="ro-RO" sz="800" b="1" dirty="0">
                <a:solidFill>
                  <a:srgbClr val="FFFFFF"/>
                </a:solidFill>
                <a:latin typeface="Cambria Math"/>
                <a:ea typeface="Cambria Math"/>
              </a:rPr>
              <a:t>A</a:t>
            </a:r>
            <a:r>
              <a:rPr lang="ro-RO" b="1" dirty="0">
                <a:solidFill>
                  <a:srgbClr val="FFFFFF"/>
                </a:solidFill>
                <a:latin typeface="Cambria Math"/>
                <a:ea typeface="Cambria Math"/>
              </a:rPr>
              <a:t> – M* A0</a:t>
            </a:r>
            <a:endParaRPr lang="ro-RO" dirty="0"/>
          </a:p>
          <a:p>
            <a:r>
              <a:rPr lang="ro-RO" b="1" dirty="0">
                <a:latin typeface="Cambria Math"/>
                <a:ea typeface="Cambria Math"/>
              </a:rPr>
              <a:t>N1 Q</a:t>
            </a:r>
            <a:r>
              <a:rPr lang="ro-RO" sz="800" b="1" dirty="0">
                <a:latin typeface="Cambria Math"/>
                <a:ea typeface="Cambria Math"/>
              </a:rPr>
              <a:t>B</a:t>
            </a:r>
            <a:r>
              <a:rPr lang="ro-RO" b="1" dirty="0">
                <a:latin typeface="Cambria Math"/>
                <a:ea typeface="Cambria Math"/>
              </a:rPr>
              <a:t> – M* A1</a:t>
            </a:r>
            <a:endParaRPr lang="ro-RO" dirty="0"/>
          </a:p>
          <a:p>
            <a:r>
              <a:rPr lang="ro-RO" b="1" dirty="0">
                <a:latin typeface="Cambria Math"/>
                <a:ea typeface="Cambria Math"/>
              </a:rPr>
              <a:t>N1 Q</a:t>
            </a:r>
            <a:r>
              <a:rPr lang="ro-RO" sz="800" b="1" dirty="0">
                <a:latin typeface="Cambria Math"/>
                <a:ea typeface="Cambria Math"/>
              </a:rPr>
              <a:t>C</a:t>
            </a:r>
            <a:r>
              <a:rPr lang="ro-RO" b="1" dirty="0">
                <a:latin typeface="Cambria Math"/>
                <a:ea typeface="Cambria Math"/>
              </a:rPr>
              <a:t> – M* A2</a:t>
            </a:r>
            <a:endParaRPr lang="ro-RO" dirty="0"/>
          </a:p>
          <a:p>
            <a:r>
              <a:rPr lang="ro-RO" b="1" dirty="0">
                <a:latin typeface="Cambria Math"/>
                <a:ea typeface="Cambria Math"/>
              </a:rPr>
              <a:t>N1 Q</a:t>
            </a:r>
            <a:r>
              <a:rPr lang="ro-RO" sz="800" b="1" dirty="0">
                <a:latin typeface="Cambria Math"/>
                <a:ea typeface="Cambria Math"/>
              </a:rPr>
              <a:t>D</a:t>
            </a:r>
            <a:r>
              <a:rPr lang="ro-RO" b="1" dirty="0">
                <a:latin typeface="Cambria Math"/>
                <a:ea typeface="Cambria Math"/>
              </a:rPr>
              <a:t> – M* A3</a:t>
            </a:r>
            <a:endParaRPr lang="ro-RO" dirty="0"/>
          </a:p>
          <a:p>
            <a:r>
              <a:rPr lang="ro-RO" b="1" dirty="0">
                <a:latin typeface="Cambria Math"/>
                <a:ea typeface="Cambria Math"/>
              </a:rPr>
              <a:t>N2 Q</a:t>
            </a:r>
            <a:r>
              <a:rPr lang="ro-RO" sz="800" b="1" dirty="0">
                <a:latin typeface="Cambria Math"/>
                <a:ea typeface="Cambria Math"/>
              </a:rPr>
              <a:t>A</a:t>
            </a:r>
            <a:r>
              <a:rPr lang="ro-RO" b="1" dirty="0">
                <a:latin typeface="Cambria Math"/>
                <a:ea typeface="Cambria Math"/>
              </a:rPr>
              <a:t> – M* A4</a:t>
            </a:r>
            <a:endParaRPr lang="ro-RO" dirty="0"/>
          </a:p>
          <a:p>
            <a:endParaRPr lang="ro-RO" b="1" dirty="0">
              <a:latin typeface="Cambria Math"/>
              <a:ea typeface="Cambria Math"/>
            </a:endParaRPr>
          </a:p>
          <a:p>
            <a:r>
              <a:rPr lang="ro-RO" sz="1000" dirty="0">
                <a:latin typeface="Cambria Math"/>
                <a:ea typeface="Cambria Math"/>
              </a:rPr>
              <a:t>*toate memoriile (M1, M2, M3)</a:t>
            </a:r>
          </a:p>
          <a:p>
            <a:r>
              <a:rPr lang="ro-RO" sz="1000" dirty="0">
                <a:latin typeface="Cambria Math"/>
                <a:ea typeface="Cambria Math"/>
              </a:rPr>
              <a:t>*ambele numărătoare (N1, N2)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1FC16D-63C2-C63F-A73B-E8421BE4F6B3}"/>
              </a:ext>
            </a:extLst>
          </p:cNvPr>
          <p:cNvSpPr/>
          <p:nvPr/>
        </p:nvSpPr>
        <p:spPr>
          <a:xfrm>
            <a:off x="3503350" y="1093184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</a:rPr>
              <a:t>M* !WE - </a:t>
            </a:r>
            <a:r>
              <a:rPr lang="ro-RO" b="1" err="1">
                <a:solidFill>
                  <a:srgbClr val="FFFFFF"/>
                </a:solidFill>
                <a:latin typeface="Cambria Math"/>
                <a:ea typeface="Cambria Math"/>
              </a:rPr>
              <a:t>Vcc</a:t>
            </a:r>
            <a:endParaRPr lang="ro-RO" b="1" err="1">
              <a:latin typeface="Cambria Math"/>
              <a:ea typeface="Cambria Math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</a:rPr>
              <a:t>M* !RECALL - </a:t>
            </a:r>
            <a:r>
              <a:rPr lang="ro-RO" b="1" err="1">
                <a:solidFill>
                  <a:srgbClr val="FFFFFF"/>
                </a:solidFill>
                <a:latin typeface="Cambria Math"/>
                <a:ea typeface="Cambria Math"/>
              </a:rPr>
              <a:t>Vcc</a:t>
            </a:r>
            <a:endParaRPr lang="ro-RO" i="0" u="none" strike="noStrike" err="1">
              <a:solidFill>
                <a:srgbClr val="FFFFFF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M* !STORE - </a:t>
            </a:r>
            <a:r>
              <a:rPr lang="ro-RO" b="1" err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Vcc</a:t>
            </a:r>
            <a:endParaRPr lang="ro-RO" b="1" err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M* !CS - GND</a:t>
            </a:r>
            <a:endParaRPr lang="ro-RO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M* A5 - GND</a:t>
            </a:r>
            <a:endParaRPr lang="ro-RO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M* </a:t>
            </a:r>
            <a:r>
              <a:rPr lang="ro-RO" b="1" err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Vss</a:t>
            </a:r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 - GND</a:t>
            </a:r>
            <a:endParaRPr lang="ro-RO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N2 Q</a:t>
            </a:r>
            <a:r>
              <a:rPr lang="ro-RO" sz="800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B</a:t>
            </a:r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 - GND</a:t>
            </a:r>
            <a:endParaRPr lang="ro-RO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N2 Q</a:t>
            </a:r>
            <a:r>
              <a:rPr lang="ro-RO" sz="800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C</a:t>
            </a:r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 - GND</a:t>
            </a:r>
            <a:endParaRPr lang="ro-RO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N2 Q</a:t>
            </a:r>
            <a:r>
              <a:rPr lang="ro-RO" sz="800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D</a:t>
            </a:r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 - GND</a:t>
            </a:r>
            <a:endParaRPr lang="ro-RO"/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N2 !CO - GND</a:t>
            </a:r>
            <a:endParaRPr lang="ro-RO" b="1">
              <a:solidFill>
                <a:srgbClr val="FFFFFF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N* !BO - GND</a:t>
            </a:r>
            <a:endParaRPr lang="en-US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N* CLEAR – GND</a:t>
            </a:r>
            <a:endParaRPr lang="ro-RO"/>
          </a:p>
          <a:p>
            <a:r>
              <a:rPr lang="ro-RO" sz="100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*toate memoriile (M1, M2, M3)</a:t>
            </a:r>
          </a:p>
          <a:p>
            <a:r>
              <a:rPr lang="ro-RO" sz="1000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*ambele numărătoare (N1, N2)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11867-91BA-1532-E241-B563422BBE3D}"/>
              </a:ext>
            </a:extLst>
          </p:cNvPr>
          <p:cNvSpPr/>
          <p:nvPr/>
        </p:nvSpPr>
        <p:spPr>
          <a:xfrm>
            <a:off x="6498432" y="1093183"/>
            <a:ext cx="2144322" cy="343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ro-RO" b="1">
              <a:solidFill>
                <a:srgbClr val="FFFFFF"/>
              </a:solidFill>
              <a:latin typeface="Cambria Math"/>
              <a:ea typeface="Cambria Math"/>
              <a:cs typeface="Arial"/>
            </a:endParaRP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MUX E0 – X (GND)</a:t>
            </a:r>
          </a:p>
          <a:p>
            <a:r>
              <a:rPr lang="ro-RO" b="1">
                <a:solidFill>
                  <a:srgbClr val="FFFFFF"/>
                </a:solidFill>
                <a:latin typeface="Cambria Math"/>
                <a:ea typeface="Cambria Math"/>
                <a:cs typeface="Arial"/>
              </a:rPr>
              <a:t>MUX E1 – R_P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E2 – R_FULL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E3 – POS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E4 – T_OFF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E5 – !S_UD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E6 – M_FIN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E7 – M_PST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E8 – P_D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E9 – M_SRV</a:t>
            </a:r>
            <a:endParaRPr lang="ro-RO"/>
          </a:p>
          <a:p>
            <a:r>
              <a:rPr lang="ro-RO" b="1">
                <a:latin typeface="Cambria Math"/>
                <a:ea typeface="Cambria Math"/>
                <a:cs typeface="Arial"/>
              </a:rPr>
              <a:t>MUX E* – GND</a:t>
            </a:r>
            <a:endParaRPr lang="ro-RO">
              <a:latin typeface="Aptos" panose="02110004020202020204"/>
              <a:ea typeface="Cambria Math"/>
              <a:cs typeface="Arial"/>
            </a:endParaRPr>
          </a:p>
          <a:p>
            <a:endParaRPr lang="ro-RO" sz="1000">
              <a:latin typeface="Cambria Math"/>
              <a:ea typeface="Cambria Math"/>
            </a:endParaRPr>
          </a:p>
          <a:p>
            <a:r>
              <a:rPr lang="ro-RO" sz="1000">
                <a:latin typeface="Cambria Math"/>
                <a:ea typeface="Cambria Math"/>
              </a:rPr>
              <a:t>*restul E-urilor (10-15)</a:t>
            </a:r>
            <a:endParaRPr lang="ro-RO"/>
          </a:p>
          <a:p>
            <a:endParaRPr lang="ro-RO" b="1">
              <a:latin typeface="Cambria Math"/>
              <a:ea typeface="Cambria Math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68A445-B31B-7FEA-B9D9-300AE317CB86}"/>
              </a:ext>
            </a:extLst>
          </p:cNvPr>
          <p:cNvSpPr txBox="1"/>
          <p:nvPr/>
        </p:nvSpPr>
        <p:spPr>
          <a:xfrm>
            <a:off x="666750" y="4529666"/>
            <a:ext cx="60536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*</a:t>
            </a:r>
            <a:r>
              <a:rPr lang="en-US" sz="1200" dirty="0" err="1"/>
              <a:t>Pinii</a:t>
            </a:r>
            <a:r>
              <a:rPr lang="en-US" sz="1200" dirty="0"/>
              <a:t> </a:t>
            </a:r>
            <a:r>
              <a:rPr lang="en-US" sz="1200"/>
              <a:t>GND </a:t>
            </a:r>
            <a:r>
              <a:rPr lang="en-US" sz="1200" err="1"/>
              <a:t>și</a:t>
            </a:r>
            <a:r>
              <a:rPr lang="en-US" sz="1200"/>
              <a:t> ai porților</a:t>
            </a:r>
            <a:r>
              <a:rPr lang="en-US" sz="1200" dirty="0"/>
              <a:t> </a:t>
            </a:r>
            <a:r>
              <a:rPr lang="en-US" sz="1200" dirty="0" err="1"/>
              <a:t>logice</a:t>
            </a:r>
            <a:r>
              <a:rPr lang="en-US" sz="1200" dirty="0"/>
              <a:t> </a:t>
            </a:r>
            <a:r>
              <a:rPr lang="en-US" sz="1200" dirty="0" err="1"/>
              <a:t>nespecificați</a:t>
            </a:r>
            <a:r>
              <a:rPr lang="en-US" sz="1200" dirty="0"/>
              <a:t> sunt </a:t>
            </a:r>
            <a:r>
              <a:rPr lang="en-US" sz="1200" dirty="0" err="1"/>
              <a:t>conectați</a:t>
            </a:r>
            <a:r>
              <a:rPr lang="en-US" sz="1200" dirty="0"/>
              <a:t> la </a:t>
            </a:r>
            <a:r>
              <a:rPr lang="en-US" sz="1200" dirty="0" err="1"/>
              <a:t>împământare</a:t>
            </a:r>
            <a:endParaRPr lang="en-US" sz="1200" dirty="0"/>
          </a:p>
          <a:p>
            <a:r>
              <a:rPr lang="en-US" sz="1200" dirty="0"/>
              <a:t>*</a:t>
            </a:r>
            <a:r>
              <a:rPr lang="en-US" sz="1200" dirty="0" err="1"/>
              <a:t>Pinii</a:t>
            </a:r>
            <a:r>
              <a:rPr lang="en-US" sz="1200" dirty="0"/>
              <a:t> </a:t>
            </a:r>
            <a:r>
              <a:rPr lang="en-US" sz="1200" dirty="0" err="1"/>
              <a:t>Vcc</a:t>
            </a:r>
            <a:r>
              <a:rPr lang="en-US" sz="1200" dirty="0"/>
              <a:t> sunt </a:t>
            </a:r>
            <a:r>
              <a:rPr lang="en-US" sz="1200" dirty="0" err="1"/>
              <a:t>conectați</a:t>
            </a:r>
            <a:r>
              <a:rPr lang="en-US" sz="1200" dirty="0"/>
              <a:t> la </a:t>
            </a:r>
            <a:r>
              <a:rPr lang="en-US" sz="1200" dirty="0" err="1"/>
              <a:t>alimentare</a:t>
            </a:r>
            <a:endParaRPr lang="en-US" sz="1200" dirty="0"/>
          </a:p>
          <a:p>
            <a:r>
              <a:rPr lang="en-US" sz="1200"/>
              <a:t>*</a:t>
            </a:r>
            <a:r>
              <a:rPr lang="en-US" sz="1200" err="1"/>
              <a:t>Pinii</a:t>
            </a:r>
            <a:r>
              <a:rPr lang="en-US" sz="1200" dirty="0"/>
              <a:t> CLK sunt </a:t>
            </a:r>
            <a:r>
              <a:rPr lang="en-US" sz="1200" dirty="0" err="1"/>
              <a:t>conecta</a:t>
            </a:r>
            <a:r>
              <a:rPr lang="ro-RO" sz="1200" dirty="0"/>
              <a:t>ți la ceas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4046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ircuit&#10;&#10;Description automatically generated">
            <a:extLst>
              <a:ext uri="{FF2B5EF4-FFF2-40B4-BE49-F238E27FC236}">
                <a16:creationId xmlns:a16="http://schemas.microsoft.com/office/drawing/2014/main" id="{9ED2E275-B77D-87E0-0D8E-6BC16478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7672"/>
            <a:ext cx="9144000" cy="3368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B8C74B-7990-3026-1CC6-F318CE85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4767262"/>
            <a:ext cx="2057400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7406AF-0E02-3615-3AE5-0ED6BAA57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183961"/>
              </p:ext>
            </p:extLst>
          </p:nvPr>
        </p:nvGraphicFramePr>
        <p:xfrm>
          <a:off x="482600" y="495808"/>
          <a:ext cx="8178801" cy="4151884"/>
        </p:xfrm>
        <a:graphic>
          <a:graphicData uri="http://schemas.openxmlformats.org/drawingml/2006/table">
            <a:tbl>
              <a:tblPr/>
              <a:tblGrid>
                <a:gridCol w="595207">
                  <a:extLst>
                    <a:ext uri="{9D8B030D-6E8A-4147-A177-3AD203B41FA5}">
                      <a16:colId xmlns:a16="http://schemas.microsoft.com/office/drawing/2014/main" val="2312740783"/>
                    </a:ext>
                  </a:extLst>
                </a:gridCol>
                <a:gridCol w="3975524">
                  <a:extLst>
                    <a:ext uri="{9D8B030D-6E8A-4147-A177-3AD203B41FA5}">
                      <a16:colId xmlns:a16="http://schemas.microsoft.com/office/drawing/2014/main" val="3033428050"/>
                    </a:ext>
                  </a:extLst>
                </a:gridCol>
                <a:gridCol w="1473623">
                  <a:extLst>
                    <a:ext uri="{9D8B030D-6E8A-4147-A177-3AD203B41FA5}">
                      <a16:colId xmlns:a16="http://schemas.microsoft.com/office/drawing/2014/main" val="3329128193"/>
                    </a:ext>
                  </a:extLst>
                </a:gridCol>
                <a:gridCol w="648124">
                  <a:extLst>
                    <a:ext uri="{9D8B030D-6E8A-4147-A177-3AD203B41FA5}">
                      <a16:colId xmlns:a16="http://schemas.microsoft.com/office/drawing/2014/main" val="2794879841"/>
                    </a:ext>
                  </a:extLst>
                </a:gridCol>
                <a:gridCol w="1486323">
                  <a:extLst>
                    <a:ext uri="{9D8B030D-6E8A-4147-A177-3AD203B41FA5}">
                      <a16:colId xmlns:a16="http://schemas.microsoft.com/office/drawing/2014/main" val="1762701633"/>
                    </a:ext>
                  </a:extLst>
                </a:gridCol>
              </a:tblGrid>
              <a:tr h="50850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Etapa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Conținutul etapei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Burtescu Eusebiu-Mihai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Dârlău Andrei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Gheorghe Mihnea-Alex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87785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Elaborarea schemei bloc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3363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Descrierea funcționalității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381562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Elaborarea organigramei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852044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Calcului lungimii microinstrucțiunii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822719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Complerea conținutului memoriei de microprogram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8305"/>
                  </a:ext>
                </a:extLst>
              </a:tr>
              <a:tr h="50850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Proiectarea schemei unității de comandă microprogramată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2239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Alegerea componentelor digitale folosite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10162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Proiectarea cablajului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6378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Scrierea documentației pentru activitățile derulate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98933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Integrarea documentației de proiect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835890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Elaborarea prezentării .pptx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411787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Prezentare proiect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  <a:endParaRPr lang="ro-RO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940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08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170" name="Picture 2" descr="Cow tipping - Wikipedia">
            <a:extLst>
              <a:ext uri="{FF2B5EF4-FFF2-40B4-BE49-F238E27FC236}">
                <a16:creationId xmlns:a16="http://schemas.microsoft.com/office/drawing/2014/main" id="{8791B5C2-7E91-5028-7712-707795A21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5" b="2"/>
          <a:stretch/>
        </p:blipFill>
        <p:spPr bwMode="auto">
          <a:xfrm>
            <a:off x="20" y="961"/>
            <a:ext cx="9143980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7DBCA9-4BBB-2104-F285-2625F5D0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AA5A7-81FE-36A3-9E27-CB60088A75C9}"/>
              </a:ext>
            </a:extLst>
          </p:cNvPr>
          <p:cNvSpPr txBox="1"/>
          <p:nvPr/>
        </p:nvSpPr>
        <p:spPr>
          <a:xfrm>
            <a:off x="3245387" y="607562"/>
            <a:ext cx="4921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>
                <a:solidFill>
                  <a:schemeClr val="bg1"/>
                </a:solidFill>
              </a:rPr>
              <a:t>VACA DUPĂ CE A FOST MULSĂ</a:t>
            </a:r>
          </a:p>
          <a:p>
            <a:r>
              <a:rPr lang="ro-RO" sz="2400" b="1">
                <a:solidFill>
                  <a:schemeClr val="bg1"/>
                </a:solidFill>
              </a:rPr>
              <a:t>(DOARME, NU E MOARTĂ)</a:t>
            </a:r>
          </a:p>
        </p:txBody>
      </p:sp>
    </p:spTree>
    <p:extLst>
      <p:ext uri="{BB962C8B-B14F-4D97-AF65-F5344CB8AC3E}">
        <p14:creationId xmlns:p14="http://schemas.microsoft.com/office/powerpoint/2010/main" val="3387126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Qué pasa si una vaca se toma su propia leche? Así puede evitarlo">
            <a:extLst>
              <a:ext uri="{FF2B5EF4-FFF2-40B4-BE49-F238E27FC236}">
                <a16:creationId xmlns:a16="http://schemas.microsoft.com/office/drawing/2014/main" id="{711D4D2B-1146-2F79-9892-985903C55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" b="3107"/>
          <a:stretch/>
        </p:blipFill>
        <p:spPr bwMode="auto">
          <a:xfrm>
            <a:off x="20" y="961"/>
            <a:ext cx="9143980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69966-965C-8480-77A2-026D5455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3189D-0BFE-A7B8-1FE6-C637201BCF3A}"/>
              </a:ext>
            </a:extLst>
          </p:cNvPr>
          <p:cNvSpPr txBox="1"/>
          <p:nvPr/>
        </p:nvSpPr>
        <p:spPr>
          <a:xfrm>
            <a:off x="-59634" y="670892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8000">
                <a:solidFill>
                  <a:schemeClr val="bg1"/>
                </a:solidFill>
              </a:rPr>
              <a:t>THE END</a:t>
            </a:r>
          </a:p>
        </p:txBody>
      </p:sp>
      <p:pic>
        <p:nvPicPr>
          <p:cNvPr id="5126" name="Picture 6" descr="Cursed Emoji #089 - Cursed-Emojis | OpenSea">
            <a:extLst>
              <a:ext uri="{FF2B5EF4-FFF2-40B4-BE49-F238E27FC236}">
                <a16:creationId xmlns:a16="http://schemas.microsoft.com/office/drawing/2014/main" id="{1916FDB8-BA60-E87C-C0BD-426DBAE5C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117" y="2167977"/>
            <a:ext cx="2473597" cy="247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Cool emoticon | Smiley emoji, Emojis novos, Imagens de emoji">
            <a:extLst>
              <a:ext uri="{FF2B5EF4-FFF2-40B4-BE49-F238E27FC236}">
                <a16:creationId xmlns:a16="http://schemas.microsoft.com/office/drawing/2014/main" id="{8AD2FBA9-1EA2-663C-891A-3F4A3ABA6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8" y="2520816"/>
            <a:ext cx="2023891" cy="188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044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3bf863-a499-485c-b22b-18ab9ca9b64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7CD89D570B24C97A1C407029819FB" ma:contentTypeVersion="8" ma:contentTypeDescription="Create a new document." ma:contentTypeScope="" ma:versionID="31bfd24489e62086a0e3e339e46f16f9">
  <xsd:schema xmlns:xsd="http://www.w3.org/2001/XMLSchema" xmlns:xs="http://www.w3.org/2001/XMLSchema" xmlns:p="http://schemas.microsoft.com/office/2006/metadata/properties" xmlns:ns3="ab3bf863-a499-485c-b22b-18ab9ca9b64f" xmlns:ns4="5fe78b24-4133-4816-b925-8445bf696f0d" targetNamespace="http://schemas.microsoft.com/office/2006/metadata/properties" ma:root="true" ma:fieldsID="c399f0faa1a7ea6eda95a8a6de3e0dd9" ns3:_="" ns4:_="">
    <xsd:import namespace="ab3bf863-a499-485c-b22b-18ab9ca9b64f"/>
    <xsd:import namespace="5fe78b24-4133-4816-b925-8445bf696f0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bf863-a499-485c-b22b-18ab9ca9b64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78b24-4133-4816-b925-8445bf696f0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4EC4A7-EC2B-4239-BCAB-4BEA6BB97F40}">
  <ds:schemaRefs>
    <ds:schemaRef ds:uri="http://schemas.microsoft.com/office/2006/metadata/properties"/>
    <ds:schemaRef ds:uri="http://www.w3.org/2000/xmlns/"/>
    <ds:schemaRef ds:uri="ab3bf863-a499-485c-b22b-18ab9ca9b64f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DF8DAD74-33C1-487E-B1E6-7E584CB2BB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6E178B-1477-484A-AA99-0F8B628D30C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b3bf863-a499-485c-b22b-18ab9ca9b64f"/>
    <ds:schemaRef ds:uri="5fe78b24-4133-4816-b925-8445bf696f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1933</Words>
  <Application>Microsoft Office PowerPoint</Application>
  <PresentationFormat>On-screen Show (16:9)</PresentationFormat>
  <Paragraphs>650</Paragraphs>
  <Slides>20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Tema proiectului și schema bloc</vt:lpstr>
      <vt:lpstr>Descrierea funcționalității (stări)</vt:lpstr>
      <vt:lpstr>Descrierea funcționalității (stări)</vt:lpstr>
      <vt:lpstr>Descrierea funcționalității (blocuri de decizie)</vt:lpstr>
      <vt:lpstr>Descrierea funcționalității (blocuri de decizie)</vt:lpstr>
      <vt:lpstr>Descrierea funcționalității (ieșiri)</vt:lpstr>
      <vt:lpstr>PowerPoint Presentation</vt:lpstr>
      <vt:lpstr>Explicarea funcționalității</vt:lpstr>
      <vt:lpstr>Calculul lungimii microinstrucțiunii</vt:lpstr>
      <vt:lpstr>Schema unității de comandă microprogramate</vt:lpstr>
      <vt:lpstr>PowerPoint Presentation</vt:lpstr>
      <vt:lpstr>Componente digitale folosite</vt:lpstr>
      <vt:lpstr>Conexiunile dintre pini</vt:lpstr>
      <vt:lpstr>Conexiunile dintre pini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CARING FOR COWS WORKSHOP</dc:title>
  <dc:creator>Andrei Darlau</dc:creator>
  <cp:lastModifiedBy>Andrei Darlau</cp:lastModifiedBy>
  <cp:revision>2</cp:revision>
  <dcterms:modified xsi:type="dcterms:W3CDTF">2024-02-13T17:34:55Z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0x0101001CD7CD89D570B24C97A1C407029819FB</vt:lpwstr>
  </property>
</Properties>
</file>