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E7C8D1-F9BD-4507-B5F5-7B5D53EDF2A3}">
  <a:tblStyle styleId="{43E7C8D1-F9BD-4507-B5F5-7B5D53EDF2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8fc1863d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8fc1863d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a8fc1863db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a8fc1863db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a8fc1863db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a8fc1863db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8fc1863db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a8fc1863db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2390100"/>
            <a:ext cx="8520600" cy="22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A9999"/>
                </a:solidFill>
              </a:rPr>
              <a:t>Scop: Identificarea funcționalităților proiectului în echipă și a sarcinilor membrilor echipei. </a:t>
            </a:r>
            <a:endParaRPr b="1" sz="2000">
              <a:solidFill>
                <a:srgbClr val="EA999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A9999"/>
                </a:solidFill>
              </a:rPr>
              <a:t>Abilități: Realizarea proiectului</a:t>
            </a:r>
            <a:endParaRPr b="1" sz="2000">
              <a:solidFill>
                <a:srgbClr val="EA9999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rgbClr val="EA9999"/>
                </a:solidFill>
              </a:rPr>
              <a:t>Documentație: C14, C15, C16</a:t>
            </a:r>
            <a:endParaRPr sz="2800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744575"/>
            <a:ext cx="8520600" cy="11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600"/>
              <a:t>Descrierea proiectului în echipă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464646"/>
                </a:solidFill>
              </a:rPr>
              <a:t>Cerințe generale</a:t>
            </a:r>
            <a:endParaRPr sz="22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Ce avem de făcut?</a:t>
            </a:r>
            <a:endParaRPr sz="19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Proiectarea unui dispozitiv de comandă la alegere </a:t>
            </a:r>
            <a:r>
              <a:rPr lang="en" sz="1600">
                <a:solidFill>
                  <a:schemeClr val="dk1"/>
                </a:solidFill>
              </a:rPr>
              <a:t>folosind </a:t>
            </a:r>
            <a:r>
              <a:rPr b="1" lang="en" sz="1600">
                <a:solidFill>
                  <a:schemeClr val="dk1"/>
                </a:solidFill>
              </a:rPr>
              <a:t>o unitate de comandă microprogramată bazată pe microinstrucțiuni cu format variabil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Ce folosim?</a:t>
            </a:r>
            <a:endParaRPr sz="19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Unitatea de comandă microprogramată </a:t>
            </a:r>
            <a:r>
              <a:rPr lang="en" sz="1600">
                <a:solidFill>
                  <a:schemeClr val="dk1"/>
                </a:solidFill>
              </a:rPr>
              <a:t>cu structura generică prezentată la curs.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Componente digitale </a:t>
            </a:r>
            <a:r>
              <a:rPr lang="en" sz="1600">
                <a:solidFill>
                  <a:schemeClr val="dk1"/>
                </a:solidFill>
              </a:rPr>
              <a:t>adaptate nevoilor de implementare a temei.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În funcție de cerințele temei de proiectare va rezulta o structură  particulară a microinstrucțiunii, care va sta la baza </a:t>
            </a:r>
            <a:r>
              <a:rPr b="1" lang="en" sz="1900">
                <a:solidFill>
                  <a:schemeClr val="dk1"/>
                </a:solidFill>
              </a:rPr>
              <a:t>alegerii componentelor digitale</a:t>
            </a:r>
            <a:r>
              <a:rPr lang="en" sz="1900">
                <a:solidFill>
                  <a:schemeClr val="dk1"/>
                </a:solidFill>
              </a:rPr>
              <a:t>, respectiv la </a:t>
            </a:r>
            <a:r>
              <a:rPr b="1" lang="en" sz="1900">
                <a:solidFill>
                  <a:schemeClr val="dk1"/>
                </a:solidFill>
              </a:rPr>
              <a:t>completarea conținutului memoriei de microprogram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Proiectul se va realiza în echipe de 4 studenți.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464646"/>
                </a:solidFill>
              </a:rPr>
              <a:t>Desfășurarea proiectului</a:t>
            </a:r>
            <a:endParaRPr sz="24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Echipele de proiect vor fi constituite, de regulă, </a:t>
            </a:r>
            <a:r>
              <a:rPr b="1" lang="en" sz="2000">
                <a:solidFill>
                  <a:schemeClr val="dk1"/>
                </a:solidFill>
              </a:rPr>
              <a:t>din 4 studenți din aceeași semigrupă</a:t>
            </a:r>
            <a:r>
              <a:rPr lang="en" sz="2000">
                <a:solidFill>
                  <a:schemeClr val="dk1"/>
                </a:solidFill>
              </a:rPr>
              <a:t>. Componența echipelor și persoana care încarcă documentația se vor stabili la primul laborator în care se alege tema.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În cazul în care nu se pot constitui toate grupele din 4 studenți, </a:t>
            </a:r>
            <a:r>
              <a:rPr b="1" lang="en" sz="1700">
                <a:solidFill>
                  <a:schemeClr val="dk1"/>
                </a:solidFill>
              </a:rPr>
              <a:t>asistentul va decide dacă se constituie echipe de 3 sau 5 persoane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Fiecare echipă va transmite o (singură) </a:t>
            </a:r>
            <a:r>
              <a:rPr b="1" lang="en" sz="2000">
                <a:solidFill>
                  <a:schemeClr val="dk1"/>
                </a:solidFill>
              </a:rPr>
              <a:t>documentație comună a proiectului</a:t>
            </a:r>
            <a:r>
              <a:rPr lang="en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Prezentarea se va face pe baza unui </a:t>
            </a:r>
            <a:r>
              <a:rPr b="1" lang="en" sz="2000">
                <a:solidFill>
                  <a:schemeClr val="dk1"/>
                </a:solidFill>
              </a:rPr>
              <a:t>document .pptx</a:t>
            </a:r>
            <a:r>
              <a:rPr lang="en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Fiecare membru al echipei trebuie sa susțină o parte din prezentare</a:t>
            </a:r>
            <a:r>
              <a:rPr lang="en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Prezentarea va avea loc în </a:t>
            </a:r>
            <a:r>
              <a:rPr b="1" lang="en" sz="2000">
                <a:solidFill>
                  <a:schemeClr val="dk1"/>
                </a:solidFill>
              </a:rPr>
              <a:t>timpul ultimului laborator, pe Teams</a:t>
            </a:r>
            <a:r>
              <a:rPr lang="en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8382000" y="389950"/>
            <a:ext cx="1485900" cy="45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Distribuirea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sarcinilor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în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echipă</a:t>
            </a:r>
            <a:endParaRPr sz="2000"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{43E7C8D1-F9BD-4507-B5F5-7B5D53EDF2A3}</a:tableStyleId>
              </a:tblPr>
              <a:tblGrid>
                <a:gridCol w="799175"/>
                <a:gridCol w="3391825"/>
                <a:gridCol w="857250"/>
                <a:gridCol w="781050"/>
                <a:gridCol w="838200"/>
                <a:gridCol w="781050"/>
                <a:gridCol w="781050"/>
              </a:tblGrid>
              <a:tr h="229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Etapa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Conținutul etapei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Punctaj</a:t>
                      </a:r>
                      <a:endParaRPr b="1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Stud. 1</a:t>
                      </a:r>
                      <a:endParaRPr b="1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 Stud. 2</a:t>
                      </a:r>
                      <a:endParaRPr b="1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Stud. 3</a:t>
                      </a:r>
                      <a:endParaRPr b="1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Stud. 4</a:t>
                      </a:r>
                      <a:endParaRPr b="1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1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Elaborarea schemei bloc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28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1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Descrierea funcţionării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3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1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Elaborarea organigramei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16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1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Calculul lungimii microinstructiunii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47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2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Completarea conţinutului memoriei de microprogram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469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2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Proiectarea schemei unităţii de comandă microprogramate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457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3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Alegerea componentelor digitale folosite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241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3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Proiectarea cablajului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457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4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Scrierea documentaţiei pentru activităţile derulate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16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4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Integrarea documentaţiei de proiect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03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4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Elaborarea prezentării .pptx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508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5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Upload proiect + prezentare pe Moodle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24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5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Prezentare proiect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x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 </a:t>
                      </a:r>
                      <a:endParaRPr b="1"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Total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15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 </a:t>
                      </a:r>
                      <a:endParaRPr sz="16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