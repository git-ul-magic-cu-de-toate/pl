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8" roundtripDataSignature="AMtx7mgMsc4mhinBMW62nk3l2jEhgCPW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22C8B3-53B7-4DB1-91CB-C40D2CFB818E}">
  <a:tblStyle styleId="{0522C8B3-53B7-4DB1-91CB-C40D2CFB818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customschemas.google.com/relationships/presentationmetadata" Target="meta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f698a5c18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f698a5c1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a614c1f9e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a614c1f9e7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92148" y="86683"/>
            <a:ext cx="9122735"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4000">
                <a:solidFill>
                  <a:srgbClr val="0070C0"/>
                </a:solidFill>
              </a:rPr>
              <a:t>Minimizarea funcțiilor booleene folosind Diagramelor Karnaugh</a:t>
            </a:r>
            <a:endParaRPr sz="4000">
              <a:solidFill>
                <a:srgbClr val="0070C0"/>
              </a:solidFill>
            </a:endParaRPr>
          </a:p>
        </p:txBody>
      </p:sp>
      <p:sp>
        <p:nvSpPr>
          <p:cNvPr id="55" name="Google Shape;55;p1"/>
          <p:cNvSpPr txBox="1"/>
          <p:nvPr>
            <p:ph idx="1" type="subTitle"/>
          </p:nvPr>
        </p:nvSpPr>
        <p:spPr>
          <a:xfrm>
            <a:off x="226208" y="2139283"/>
            <a:ext cx="8520600" cy="1128457"/>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600"/>
              </a:spcBef>
              <a:spcAft>
                <a:spcPts val="0"/>
              </a:spcAft>
              <a:buClr>
                <a:schemeClr val="dk1"/>
              </a:buClr>
              <a:buSzPts val="1100"/>
              <a:buFont typeface="Arial"/>
              <a:buNone/>
            </a:pPr>
            <a:r>
              <a:rPr b="1" lang="en" sz="1800">
                <a:solidFill>
                  <a:schemeClr val="dk1"/>
                </a:solidFill>
              </a:rPr>
              <a:t>Scop: Învățarea modalității de minimizare folosind diagrame Karnaugh</a:t>
            </a:r>
            <a:endParaRPr b="1" sz="18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n" sz="1800">
                <a:solidFill>
                  <a:schemeClr val="dk1"/>
                </a:solidFill>
              </a:rPr>
              <a:t>Abilități: Capacitatea de a minimiza orice funcție booleană</a:t>
            </a:r>
            <a:endParaRPr b="1" sz="1800">
              <a:solidFill>
                <a:schemeClr val="dk1"/>
              </a:solidFill>
            </a:endParaRPr>
          </a:p>
        </p:txBody>
      </p:sp>
      <p:sp>
        <p:nvSpPr>
          <p:cNvPr id="56" name="Google Shape;5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7" name="Google Shape;57;p1"/>
          <p:cNvSpPr txBox="1"/>
          <p:nvPr/>
        </p:nvSpPr>
        <p:spPr>
          <a:xfrm>
            <a:off x="226208" y="3482383"/>
            <a:ext cx="8520600" cy="96619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600"/>
              </a:spcBef>
              <a:spcAft>
                <a:spcPts val="0"/>
              </a:spcAft>
              <a:buClr>
                <a:schemeClr val="dk1"/>
              </a:buClr>
              <a:buSzPts val="1100"/>
              <a:buFont typeface="Arial"/>
              <a:buNone/>
            </a:pPr>
            <a:r>
              <a:rPr b="1" i="0" lang="en" sz="1400" u="none" cap="none" strike="noStrike">
                <a:solidFill>
                  <a:srgbClr val="0070C0"/>
                </a:solidFill>
                <a:latin typeface="Arial"/>
                <a:ea typeface="Arial"/>
                <a:cs typeface="Arial"/>
                <a:sym typeface="Arial"/>
              </a:rPr>
              <a:t>Asistent: Arsene Diana-Andreea</a:t>
            </a:r>
            <a:endParaRPr b="1" i="0" sz="1400" u="none" cap="none" strike="noStrike">
              <a:solidFill>
                <a:srgbClr val="0070C0"/>
              </a:solidFill>
              <a:latin typeface="Arial"/>
              <a:ea typeface="Arial"/>
              <a:cs typeface="Arial"/>
              <a:sym typeface="Arial"/>
            </a:endParaRPr>
          </a:p>
          <a:p>
            <a:pPr indent="0" lvl="0" marL="0" marR="0" rtl="0" algn="r">
              <a:lnSpc>
                <a:spcPct val="115000"/>
              </a:lnSpc>
              <a:spcBef>
                <a:spcPts val="600"/>
              </a:spcBef>
              <a:spcAft>
                <a:spcPts val="0"/>
              </a:spcAft>
              <a:buClr>
                <a:schemeClr val="dk1"/>
              </a:buClr>
              <a:buSzPts val="1100"/>
              <a:buFont typeface="Arial"/>
              <a:buNone/>
            </a:pPr>
            <a:r>
              <a:rPr b="1" i="0" lang="en" sz="1400" u="none" cap="none" strike="noStrike">
                <a:solidFill>
                  <a:srgbClr val="0070C0"/>
                </a:solidFill>
                <a:latin typeface="Arial"/>
                <a:ea typeface="Arial"/>
                <a:cs typeface="Arial"/>
                <a:sym typeface="Arial"/>
              </a:rPr>
              <a:t>E-mail: arsene.diana.andreea@gmail.com</a:t>
            </a:r>
            <a:endParaRPr b="0" i="0" sz="1400" u="none" cap="none" strike="noStrike">
              <a:solidFill>
                <a:srgbClr val="0070C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Generalități</a:t>
            </a:r>
            <a:endParaRPr sz="2000">
              <a:solidFill>
                <a:srgbClr val="0070C0"/>
              </a:solidFill>
            </a:endParaRPr>
          </a:p>
        </p:txBody>
      </p:sp>
      <p:sp>
        <p:nvSpPr>
          <p:cNvPr id="63" name="Google Shape;63;p2"/>
          <p:cNvSpPr txBox="1"/>
          <p:nvPr>
            <p:ph idx="1" type="body"/>
          </p:nvPr>
        </p:nvSpPr>
        <p:spPr>
          <a:xfrm>
            <a:off x="311700" y="1358038"/>
            <a:ext cx="8520600" cy="3416400"/>
          </a:xfrm>
          <a:prstGeom prst="rect">
            <a:avLst/>
          </a:prstGeom>
          <a:noFill/>
          <a:ln>
            <a:noFill/>
          </a:ln>
        </p:spPr>
        <p:txBody>
          <a:bodyPr anchorCtr="0" anchor="t" bIns="91425" lIns="91425" spcFirstLastPara="1" rIns="91425" wrap="square" tIns="91425">
            <a:noAutofit/>
          </a:bodyPr>
          <a:lstStyle/>
          <a:p>
            <a:pPr indent="-342900" lvl="0" marL="342900" rtl="0" algn="l">
              <a:lnSpc>
                <a:spcPct val="115000"/>
              </a:lnSpc>
              <a:spcBef>
                <a:spcPts val="600"/>
              </a:spcBef>
              <a:spcAft>
                <a:spcPts val="0"/>
              </a:spcAft>
              <a:buSzPts val="1800"/>
              <a:buChar char="●"/>
            </a:pPr>
            <a:r>
              <a:rPr b="1" lang="en"/>
              <a:t>Diagramele Karnaugh</a:t>
            </a:r>
            <a:r>
              <a:rPr lang="en"/>
              <a:t> sunt folosite pentru minimizarea funcțiilor booleene. </a:t>
            </a:r>
            <a:r>
              <a:rPr lang="en">
                <a:solidFill>
                  <a:srgbClr val="FF0000"/>
                </a:solidFill>
              </a:rPr>
              <a:t>(Două căsuțe adiacente diferă printr-un singur bit!).</a:t>
            </a:r>
            <a:r>
              <a:rPr lang="en"/>
              <a:t> </a:t>
            </a:r>
            <a:endParaRPr/>
          </a:p>
          <a:p>
            <a:pPr indent="-342900" lvl="0" marL="342900" rtl="0" algn="l">
              <a:lnSpc>
                <a:spcPct val="115000"/>
              </a:lnSpc>
              <a:spcBef>
                <a:spcPts val="600"/>
              </a:spcBef>
              <a:spcAft>
                <a:spcPts val="0"/>
              </a:spcAft>
              <a:buSzPts val="1800"/>
              <a:buChar char="●"/>
            </a:pPr>
            <a:r>
              <a:rPr lang="en"/>
              <a:t>Prin combinarea mai multor căsuțe, dispar unele variabile din termenii finali</a:t>
            </a:r>
            <a:endParaRPr/>
          </a:p>
          <a:p>
            <a:pPr indent="-342900" lvl="0" marL="342900" rtl="0" algn="l">
              <a:lnSpc>
                <a:spcPct val="115000"/>
              </a:lnSpc>
              <a:spcBef>
                <a:spcPts val="1200"/>
              </a:spcBef>
              <a:spcAft>
                <a:spcPts val="0"/>
              </a:spcAft>
              <a:buSzPts val="1800"/>
              <a:buChar char="●"/>
            </a:pPr>
            <a:r>
              <a:rPr lang="en"/>
              <a:t>Funcțiile</a:t>
            </a:r>
            <a:r>
              <a:rPr b="1" lang="en"/>
              <a:t> incomplet specificate</a:t>
            </a:r>
            <a:r>
              <a:rPr lang="en"/>
              <a:t> sunt funcții la care nu ne interesează rezultatul pentru anumite date de intrare. Deci rezultatul funcției pentru acele date poate fi ales liber, cat mai convenabil pentru minimizare. </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1600"/>
              </a:spcAft>
              <a:buSzPts val="1800"/>
              <a:buNone/>
            </a:pPr>
            <a:r>
              <a:t/>
            </a:r>
            <a:endParaRPr/>
          </a:p>
        </p:txBody>
      </p:sp>
      <p:sp>
        <p:nvSpPr>
          <p:cNvPr id="64" name="Google Shape;64;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f698a5c181_0_0"/>
          <p:cNvPicPr preferRelativeResize="0"/>
          <p:nvPr/>
        </p:nvPicPr>
        <p:blipFill rotWithShape="1">
          <a:blip r:embed="rId3">
            <a:alphaModFix/>
          </a:blip>
          <a:srcRect b="0" l="0" r="0" t="0"/>
          <a:stretch/>
        </p:blipFill>
        <p:spPr>
          <a:xfrm>
            <a:off x="1773418" y="582329"/>
            <a:ext cx="5597164" cy="397884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219300" y="2294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1200"/>
              </a:spcAft>
              <a:buClr>
                <a:schemeClr val="dk1"/>
              </a:buClr>
              <a:buSzPts val="1100"/>
              <a:buFont typeface="Arial"/>
              <a:buNone/>
            </a:pPr>
            <a:r>
              <a:rPr lang="en" sz="2000">
                <a:solidFill>
                  <a:srgbClr val="0070C0"/>
                </a:solidFill>
              </a:rPr>
              <a:t>Algoritm de minimizare</a:t>
            </a:r>
            <a:endParaRPr sz="2000">
              <a:solidFill>
                <a:srgbClr val="0070C0"/>
              </a:solidFill>
            </a:endParaRPr>
          </a:p>
        </p:txBody>
      </p:sp>
      <p:sp>
        <p:nvSpPr>
          <p:cNvPr id="75" name="Google Shape;75;p3"/>
          <p:cNvSpPr txBox="1"/>
          <p:nvPr>
            <p:ph idx="1" type="body"/>
          </p:nvPr>
        </p:nvSpPr>
        <p:spPr>
          <a:xfrm>
            <a:off x="311700" y="802125"/>
            <a:ext cx="8520600" cy="41721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600"/>
              </a:spcBef>
              <a:spcAft>
                <a:spcPts val="0"/>
              </a:spcAft>
              <a:buSzPts val="1300"/>
              <a:buAutoNum type="arabicPeriod"/>
            </a:pPr>
            <a:r>
              <a:rPr lang="en" sz="1300"/>
              <a:t>Pentru fiecare produs din funcția de minimizat se trece 1 in căsuța corespunzătoare din diagramă;</a:t>
            </a:r>
            <a:endParaRPr/>
          </a:p>
          <a:p>
            <a:pPr indent="0" lvl="0" marL="457200" rtl="0" algn="l">
              <a:lnSpc>
                <a:spcPct val="115000"/>
              </a:lnSpc>
              <a:spcBef>
                <a:spcPts val="600"/>
              </a:spcBef>
              <a:spcAft>
                <a:spcPts val="0"/>
              </a:spcAft>
              <a:buSzPts val="1800"/>
              <a:buNone/>
            </a:pPr>
            <a:r>
              <a:t/>
            </a:r>
            <a:endParaRPr sz="1300"/>
          </a:p>
          <a:p>
            <a:pPr indent="-311150" lvl="0" marL="457200" rtl="0" algn="l">
              <a:lnSpc>
                <a:spcPct val="115000"/>
              </a:lnSpc>
              <a:spcBef>
                <a:spcPts val="0"/>
              </a:spcBef>
              <a:spcAft>
                <a:spcPts val="0"/>
              </a:spcAft>
              <a:buSzPts val="1300"/>
              <a:buAutoNum type="arabicPeriod"/>
            </a:pPr>
            <a:r>
              <a:rPr lang="en" sz="1300"/>
              <a:t>Se formează suprafețe de minimizare pătrate sau dreptunghiulare alcătuite din 1, 2, 4, 8 sau 16 pătrățele adiacente ce conțin unități; (</a:t>
            </a:r>
            <a:r>
              <a:rPr lang="en" sz="1300">
                <a:solidFill>
                  <a:srgbClr val="FF0000"/>
                </a:solidFill>
              </a:rPr>
              <a:t>Căsuțele de pe prima linie sunt adiacente cu cele de pe ultima linie, iar cele de pe prima coloană sunt adiacente cu cele de pe ultima coloană</a:t>
            </a:r>
            <a:r>
              <a:rPr lang="en" sz="1300"/>
              <a:t>.) </a:t>
            </a:r>
            <a:endParaRPr sz="1300"/>
          </a:p>
          <a:p>
            <a:pPr indent="-311150" lvl="0" marL="457200" rtl="0" algn="l">
              <a:lnSpc>
                <a:spcPct val="115000"/>
              </a:lnSpc>
              <a:spcBef>
                <a:spcPts val="0"/>
              </a:spcBef>
              <a:spcAft>
                <a:spcPts val="0"/>
              </a:spcAft>
              <a:buSzPts val="1300"/>
              <a:buAutoNum type="arabicPeriod"/>
            </a:pPr>
            <a:r>
              <a:rPr b="1" lang="en" sz="1300"/>
              <a:t>Proprietăți ale suprafețelor de minimizare</a:t>
            </a:r>
            <a:r>
              <a:rPr lang="en" sz="1300"/>
              <a:t>: sa fie in număr cat mai redus, sa aibă aria cat mai mare și o căsuță ce conține 1 trebuie sa fie conținută in cel puțin o suprafață</a:t>
            </a:r>
            <a:endParaRPr/>
          </a:p>
          <a:p>
            <a:pPr indent="0" lvl="0" marL="457200" rtl="0" algn="l">
              <a:lnSpc>
                <a:spcPct val="115000"/>
              </a:lnSpc>
              <a:spcBef>
                <a:spcPts val="0"/>
              </a:spcBef>
              <a:spcAft>
                <a:spcPts val="0"/>
              </a:spcAft>
              <a:buSzPts val="1800"/>
              <a:buNone/>
            </a:pPr>
            <a:r>
              <a:t/>
            </a:r>
            <a:endParaRPr sz="1300"/>
          </a:p>
          <a:p>
            <a:pPr indent="-311150" lvl="0" marL="457200" rtl="0" algn="l">
              <a:lnSpc>
                <a:spcPct val="115000"/>
              </a:lnSpc>
              <a:spcBef>
                <a:spcPts val="0"/>
              </a:spcBef>
              <a:spcAft>
                <a:spcPts val="0"/>
              </a:spcAft>
              <a:buSzPts val="1300"/>
              <a:buAutoNum type="arabicPeriod"/>
            </a:pPr>
            <a:r>
              <a:rPr lang="en" sz="1300"/>
              <a:t>Se formează produse pe baza suprafețelor de minimizare astfel: dacă in interiorul unei suprafețe de minimizare o variabila își schimbă valoarea, atunci variabila respectivă nu mai apare in produs; dacă o variabilă își păstrează valoarea 0, atunci ea apare in produs in forma negată; dacă o variabilă își păstrează valoarea 1, atunci ea apare in produs in forma directă;</a:t>
            </a:r>
            <a:endParaRPr/>
          </a:p>
          <a:p>
            <a:pPr indent="0" lvl="0" marL="457200" rtl="0" algn="l">
              <a:lnSpc>
                <a:spcPct val="115000"/>
              </a:lnSpc>
              <a:spcBef>
                <a:spcPts val="0"/>
              </a:spcBef>
              <a:spcAft>
                <a:spcPts val="0"/>
              </a:spcAft>
              <a:buSzPts val="1800"/>
              <a:buNone/>
            </a:pPr>
            <a:r>
              <a:t/>
            </a:r>
            <a:endParaRPr sz="1300"/>
          </a:p>
          <a:p>
            <a:pPr indent="-311150" lvl="0" marL="457200" rtl="0" algn="l">
              <a:lnSpc>
                <a:spcPct val="115000"/>
              </a:lnSpc>
              <a:spcBef>
                <a:spcPts val="0"/>
              </a:spcBef>
              <a:spcAft>
                <a:spcPts val="0"/>
              </a:spcAft>
              <a:buSzPts val="1300"/>
              <a:buAutoNum type="arabicPeriod"/>
            </a:pPr>
            <a:r>
              <a:rPr lang="en" sz="1300"/>
              <a:t>Expresia minimizată este dată de suma produselor obținute la pasul 3).</a:t>
            </a:r>
            <a:endParaRPr sz="1300"/>
          </a:p>
          <a:p>
            <a:pPr indent="0" lvl="0" marL="0" rtl="0" algn="l">
              <a:lnSpc>
                <a:spcPct val="115000"/>
              </a:lnSpc>
              <a:spcBef>
                <a:spcPts val="1200"/>
              </a:spcBef>
              <a:spcAft>
                <a:spcPts val="0"/>
              </a:spcAft>
              <a:buSzPts val="1800"/>
              <a:buNone/>
            </a:pPr>
            <a:r>
              <a:rPr b="1" lang="en" sz="1300"/>
              <a:t>Observație</a:t>
            </a:r>
            <a:r>
              <a:rPr lang="en" sz="1300"/>
              <a:t>: La minimizarea funcțiilor incomplet specificate, nu se realizează suprafețe alcătuite doar din *!</a:t>
            </a:r>
            <a:endParaRPr sz="1300"/>
          </a:p>
          <a:p>
            <a:pPr indent="0" lvl="0" marL="0" rtl="0" algn="l">
              <a:lnSpc>
                <a:spcPct val="115000"/>
              </a:lnSpc>
              <a:spcBef>
                <a:spcPts val="1200"/>
              </a:spcBef>
              <a:spcAft>
                <a:spcPts val="1200"/>
              </a:spcAft>
              <a:buSzPts val="1800"/>
              <a:buNone/>
            </a:pPr>
            <a:r>
              <a:t/>
            </a:r>
            <a:endParaRPr sz="1300"/>
          </a:p>
        </p:txBody>
      </p:sp>
      <p:sp>
        <p:nvSpPr>
          <p:cNvPr id="76" name="Google Shape;7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5"/>
          <p:cNvSpPr txBox="1"/>
          <p:nvPr>
            <p:ph type="title"/>
          </p:nvPr>
        </p:nvSpPr>
        <p:spPr>
          <a:xfrm>
            <a:off x="311700" y="521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1 - minimizare funcție 3 variabile</a:t>
            </a:r>
            <a:endParaRPr sz="2000">
              <a:solidFill>
                <a:srgbClr val="0070C0"/>
              </a:solidFill>
            </a:endParaRPr>
          </a:p>
        </p:txBody>
      </p:sp>
      <p:sp>
        <p:nvSpPr>
          <p:cNvPr id="82" name="Google Shape;82;p5"/>
          <p:cNvSpPr txBox="1"/>
          <p:nvPr>
            <p:ph idx="1" type="body"/>
          </p:nvPr>
        </p:nvSpPr>
        <p:spPr>
          <a:xfrm>
            <a:off x="311700" y="1076275"/>
            <a:ext cx="6859800" cy="106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Realizați tabelul de adevăr și apoi minimizați funcția de mai jos:</a:t>
            </a:r>
            <a:endParaRPr/>
          </a:p>
          <a:p>
            <a:pPr indent="0" lvl="0" marL="0" rtl="0" algn="l">
              <a:lnSpc>
                <a:spcPct val="115000"/>
              </a:lnSpc>
              <a:spcBef>
                <a:spcPts val="1200"/>
              </a:spcBef>
              <a:spcAft>
                <a:spcPts val="1600"/>
              </a:spcAft>
              <a:buSzPts val="1800"/>
              <a:buNone/>
            </a:pPr>
            <a:r>
              <a:rPr lang="en"/>
              <a:t>f(x,y,z) = x*y*z + x*y*!z + x*!y*!z + !x*y*!z + !x*!y*!z + !x*y*z</a:t>
            </a:r>
            <a:endParaRPr/>
          </a:p>
        </p:txBody>
      </p:sp>
      <p:graphicFrame>
        <p:nvGraphicFramePr>
          <p:cNvPr id="83" name="Google Shape;83;p5"/>
          <p:cNvGraphicFramePr/>
          <p:nvPr/>
        </p:nvGraphicFramePr>
        <p:xfrm>
          <a:off x="7259500" y="1232550"/>
          <a:ext cx="3000000" cy="3000000"/>
        </p:xfrm>
        <a:graphic>
          <a:graphicData uri="http://schemas.openxmlformats.org/drawingml/2006/table">
            <a:tbl>
              <a:tblPr>
                <a:noFill/>
                <a:tableStyleId>{0522C8B3-53B7-4DB1-91CB-C40D2CFB818E}</a:tableStyleId>
              </a:tblPr>
              <a:tblGrid>
                <a:gridCol w="382850"/>
                <a:gridCol w="396775"/>
                <a:gridCol w="433325"/>
                <a:gridCol w="34627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x</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y</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z</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f</a:t>
                      </a:r>
                      <a:endParaRPr b="1"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1</a:t>
                      </a:r>
                      <a:endParaRPr b="1"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1</a:t>
                      </a:r>
                      <a:endParaRPr b="1"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a:t>0</a:t>
                      </a:r>
                      <a:endParaRPr b="1"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0</a:t>
                      </a:r>
                      <a:endParaRPr b="1"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1</a:t>
                      </a:r>
                      <a:endParaRPr b="1"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1</a:t>
                      </a:r>
                      <a:endParaRPr b="1" sz="1400" u="none" cap="none" strike="noStrike"/>
                    </a:p>
                  </a:txBody>
                  <a:tcPr marT="91425" marB="91425" marR="91425" marL="91425">
                    <a:solidFill>
                      <a:srgbClr val="EA9999"/>
                    </a:solidFill>
                  </a:tcPr>
                </a:tc>
              </a:tr>
            </a:tbl>
          </a:graphicData>
        </a:graphic>
      </p:graphicFrame>
      <p:graphicFrame>
        <p:nvGraphicFramePr>
          <p:cNvPr id="84" name="Google Shape;84;p5"/>
          <p:cNvGraphicFramePr/>
          <p:nvPr/>
        </p:nvGraphicFramePr>
        <p:xfrm>
          <a:off x="2625650" y="2432575"/>
          <a:ext cx="3000000" cy="3000000"/>
        </p:xfrm>
        <a:graphic>
          <a:graphicData uri="http://schemas.openxmlformats.org/drawingml/2006/table">
            <a:tbl>
              <a:tblPr>
                <a:noFill/>
                <a:tableStyleId>{0522C8B3-53B7-4DB1-91CB-C40D2CFB818E}</a:tableStyleId>
              </a:tblPr>
              <a:tblGrid>
                <a:gridCol w="732400"/>
                <a:gridCol w="421825"/>
                <a:gridCol w="39190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     yz</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r>
              <a:tr h="3962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r>
            </a:tbl>
          </a:graphicData>
        </a:graphic>
      </p:graphicFrame>
      <p:cxnSp>
        <p:nvCxnSpPr>
          <p:cNvPr id="85" name="Google Shape;85;p5"/>
          <p:cNvCxnSpPr/>
          <p:nvPr/>
        </p:nvCxnSpPr>
        <p:spPr>
          <a:xfrm>
            <a:off x="2634150" y="2448550"/>
            <a:ext cx="723900" cy="400500"/>
          </a:xfrm>
          <a:prstGeom prst="straightConnector1">
            <a:avLst/>
          </a:prstGeom>
          <a:noFill/>
          <a:ln cap="flat" cmpd="sng" w="9525">
            <a:solidFill>
              <a:schemeClr val="dk2"/>
            </a:solidFill>
            <a:prstDash val="solid"/>
            <a:round/>
            <a:headEnd len="sm" w="sm" type="none"/>
            <a:tailEnd len="sm" w="sm" type="none"/>
          </a:ln>
        </p:spPr>
      </p:cxnSp>
      <p:sp>
        <p:nvSpPr>
          <p:cNvPr id="86" name="Google Shape;86;p5"/>
          <p:cNvSpPr/>
          <p:nvPr/>
        </p:nvSpPr>
        <p:spPr>
          <a:xfrm>
            <a:off x="953125" y="3673225"/>
            <a:ext cx="1139100" cy="400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5"/>
          <p:cNvSpPr/>
          <p:nvPr/>
        </p:nvSpPr>
        <p:spPr>
          <a:xfrm>
            <a:off x="229225" y="2939050"/>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5"/>
          <p:cNvSpPr/>
          <p:nvPr/>
        </p:nvSpPr>
        <p:spPr>
          <a:xfrm rot="5400000">
            <a:off x="3196350" y="3020425"/>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5"/>
          <p:cNvSpPr/>
          <p:nvPr/>
        </p:nvSpPr>
        <p:spPr>
          <a:xfrm rot="10800000">
            <a:off x="229213" y="3506609"/>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rot="-5400000">
            <a:off x="4364288" y="3020425"/>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5"/>
          <p:cNvSpPr txBox="1"/>
          <p:nvPr/>
        </p:nvSpPr>
        <p:spPr>
          <a:xfrm>
            <a:off x="362500" y="4125775"/>
            <a:ext cx="6859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800"/>
              <a:buFont typeface="Arial"/>
              <a:buNone/>
            </a:pPr>
            <a:r>
              <a:rPr b="0" i="0" lang="en" sz="1800" u="none" cap="none" strike="noStrike">
                <a:solidFill>
                  <a:srgbClr val="EA9999"/>
                </a:solidFill>
                <a:latin typeface="Arial"/>
                <a:ea typeface="Arial"/>
                <a:cs typeface="Arial"/>
                <a:sym typeface="Arial"/>
              </a:rPr>
              <a:t>f(x,y,z) = </a:t>
            </a:r>
            <a:r>
              <a:rPr lang="en" sz="1800">
                <a:solidFill>
                  <a:srgbClr val="EA9999"/>
                </a:solidFill>
              </a:rPr>
              <a:t>y+!z</a:t>
            </a:r>
            <a:endParaRPr b="0" i="0" sz="1800" u="none" cap="none" strike="noStrike">
              <a:solidFill>
                <a:srgbClr val="595959"/>
              </a:solidFill>
              <a:latin typeface="Arial"/>
              <a:ea typeface="Arial"/>
              <a:cs typeface="Arial"/>
              <a:sym typeface="Arial"/>
            </a:endParaRPr>
          </a:p>
        </p:txBody>
      </p:sp>
      <p:sp>
        <p:nvSpPr>
          <p:cNvPr id="92" name="Google Shape;92;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93" name="Google Shape;93;p5"/>
          <p:cNvSpPr/>
          <p:nvPr/>
        </p:nvSpPr>
        <p:spPr>
          <a:xfrm>
            <a:off x="4195075" y="2934325"/>
            <a:ext cx="723900" cy="5727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6"/>
          <p:cNvSpPr txBox="1"/>
          <p:nvPr>
            <p:ph type="title"/>
          </p:nvPr>
        </p:nvSpPr>
        <p:spPr>
          <a:xfrm>
            <a:off x="311700" y="6992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2 - minimizare funcție 4 variabile</a:t>
            </a:r>
            <a:endParaRPr sz="2000">
              <a:solidFill>
                <a:srgbClr val="0070C0"/>
              </a:solidFill>
            </a:endParaRPr>
          </a:p>
        </p:txBody>
      </p:sp>
      <p:sp>
        <p:nvSpPr>
          <p:cNvPr id="99" name="Google Shape;99;p6"/>
          <p:cNvSpPr txBox="1"/>
          <p:nvPr>
            <p:ph idx="1" type="body"/>
          </p:nvPr>
        </p:nvSpPr>
        <p:spPr>
          <a:xfrm>
            <a:off x="311700" y="1152475"/>
            <a:ext cx="6918000" cy="160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a:t>Realizați tabelul de adevăr și apoi minimizați funcția de mai jos:</a:t>
            </a:r>
            <a:endParaRPr/>
          </a:p>
          <a:p>
            <a:pPr indent="0" lvl="0" marL="0" rtl="0" algn="l">
              <a:lnSpc>
                <a:spcPct val="115000"/>
              </a:lnSpc>
              <a:spcBef>
                <a:spcPts val="1200"/>
              </a:spcBef>
              <a:spcAft>
                <a:spcPts val="1600"/>
              </a:spcAft>
              <a:buSzPts val="1800"/>
              <a:buNone/>
            </a:pPr>
            <a:r>
              <a:rPr lang="en"/>
              <a:t>f(x,y,z) = !x*!y*!z*!t + !x*!y*!z*t + !x*!y*z*!t + !x*!y*z*t + !x*y*!z*!t + !x*y*!z*t + !x*y*z*!t + !x*y*z*t + x*!y*!z*t +  x*!y*z*t + x*y*!z*t +  x*y*z*t</a:t>
            </a:r>
            <a:endParaRPr/>
          </a:p>
        </p:txBody>
      </p:sp>
      <p:graphicFrame>
        <p:nvGraphicFramePr>
          <p:cNvPr id="100" name="Google Shape;100;p6"/>
          <p:cNvGraphicFramePr/>
          <p:nvPr/>
        </p:nvGraphicFramePr>
        <p:xfrm>
          <a:off x="4203375" y="2699950"/>
          <a:ext cx="3000000" cy="3000000"/>
        </p:xfrm>
        <a:graphic>
          <a:graphicData uri="http://schemas.openxmlformats.org/drawingml/2006/table">
            <a:tbl>
              <a:tblPr>
                <a:noFill/>
                <a:tableStyleId>{0522C8B3-53B7-4DB1-91CB-C40D2CFB818E}</a:tableStyleId>
              </a:tblPr>
              <a:tblGrid>
                <a:gridCol w="951475"/>
                <a:gridCol w="415500"/>
                <a:gridCol w="39190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bl>
          </a:graphicData>
        </a:graphic>
      </p:graphicFrame>
      <p:cxnSp>
        <p:nvCxnSpPr>
          <p:cNvPr id="101" name="Google Shape;101;p6"/>
          <p:cNvCxnSpPr/>
          <p:nvPr/>
        </p:nvCxnSpPr>
        <p:spPr>
          <a:xfrm>
            <a:off x="4203375" y="2704800"/>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102" name="Google Shape;102;p6"/>
          <p:cNvGraphicFramePr/>
          <p:nvPr/>
        </p:nvGraphicFramePr>
        <p:xfrm>
          <a:off x="7036575" y="11915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7217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EA9999"/>
                    </a:solidFill>
                  </a:tcPr>
                </a:tc>
              </a:tr>
              <a:tr h="35165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EA9999"/>
                    </a:solidFill>
                  </a:tcPr>
                </a:tc>
              </a:tr>
              <a:tr h="35165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EA9999"/>
                    </a:solidFill>
                  </a:tcPr>
                </a:tc>
              </a:tr>
              <a:tr h="35165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EA9999"/>
                    </a:solidFill>
                  </a:tcPr>
                </a:tc>
              </a:tr>
              <a:tr h="35165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lnL cap="flat" cmpd="sng" w="9525">
                      <a:solidFill>
                        <a:srgbClr val="9E9E9E"/>
                      </a:solidFill>
                      <a:prstDash val="solid"/>
                      <a:round/>
                      <a:headEnd len="sm" w="sm" type="none"/>
                      <a:tailEnd len="sm" w="sm" type="none"/>
                    </a:lnL>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EA9999"/>
                    </a:solidFill>
                  </a:tcPr>
                </a:tc>
              </a:tr>
              <a:tr h="35165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lnL cap="flat" cmpd="sng" w="9525">
                      <a:solidFill>
                        <a:srgbClr val="9E9E9E"/>
                      </a:solidFill>
                      <a:prstDash val="solid"/>
                      <a:round/>
                      <a:headEnd len="sm" w="sm" type="none"/>
                      <a:tailEnd len="sm" w="sm" type="none"/>
                    </a:lnL>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EA9999"/>
                    </a:solidFill>
                  </a:tcPr>
                </a:tc>
              </a:tr>
              <a:tr h="2721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EA9999"/>
                    </a:solidFill>
                  </a:tcPr>
                </a:tc>
              </a:tr>
              <a:tr h="1559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EA9999"/>
                    </a:solidFill>
                  </a:tcPr>
                </a:tc>
              </a:tr>
            </a:tbl>
          </a:graphicData>
        </a:graphic>
      </p:graphicFrame>
      <p:sp>
        <p:nvSpPr>
          <p:cNvPr id="103" name="Google Shape;103;p6"/>
          <p:cNvSpPr/>
          <p:nvPr/>
        </p:nvSpPr>
        <p:spPr>
          <a:xfrm>
            <a:off x="2853250" y="2991650"/>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6"/>
          <p:cNvSpPr/>
          <p:nvPr/>
        </p:nvSpPr>
        <p:spPr>
          <a:xfrm rot="5400000">
            <a:off x="2984275" y="3674300"/>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6"/>
          <p:cNvSpPr/>
          <p:nvPr/>
        </p:nvSpPr>
        <p:spPr>
          <a:xfrm rot="10800000">
            <a:off x="1593963" y="3599634"/>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6"/>
          <p:cNvSpPr/>
          <p:nvPr/>
        </p:nvSpPr>
        <p:spPr>
          <a:xfrm rot="-5400000">
            <a:off x="2364350" y="3674300"/>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6"/>
          <p:cNvSpPr txBox="1"/>
          <p:nvPr>
            <p:ph idx="1" type="body"/>
          </p:nvPr>
        </p:nvSpPr>
        <p:spPr>
          <a:xfrm>
            <a:off x="123675" y="4356950"/>
            <a:ext cx="40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 !x + t</a:t>
            </a:r>
            <a:endParaRPr>
              <a:solidFill>
                <a:srgbClr val="EA9999"/>
              </a:solidFill>
            </a:endParaRPr>
          </a:p>
          <a:p>
            <a:pPr indent="0" lvl="0" marL="0" rtl="0" algn="l">
              <a:lnSpc>
                <a:spcPct val="115000"/>
              </a:lnSpc>
              <a:spcBef>
                <a:spcPts val="1600"/>
              </a:spcBef>
              <a:spcAft>
                <a:spcPts val="1600"/>
              </a:spcAft>
              <a:buSzPts val="1800"/>
              <a:buNone/>
            </a:pPr>
            <a:r>
              <a:t/>
            </a:r>
            <a:endParaRPr/>
          </a:p>
        </p:txBody>
      </p:sp>
      <p:sp>
        <p:nvSpPr>
          <p:cNvPr id="108" name="Google Shape;108;p6"/>
          <p:cNvSpPr/>
          <p:nvPr/>
        </p:nvSpPr>
        <p:spPr>
          <a:xfrm>
            <a:off x="5618650" y="3183725"/>
            <a:ext cx="667200" cy="1426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6"/>
          <p:cNvSpPr/>
          <p:nvPr/>
        </p:nvSpPr>
        <p:spPr>
          <a:xfrm>
            <a:off x="5154850" y="3096148"/>
            <a:ext cx="1594800" cy="774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4 - caz special</a:t>
            </a:r>
            <a:endParaRPr sz="2000">
              <a:solidFill>
                <a:srgbClr val="0070C0"/>
              </a:solidFill>
            </a:endParaRPr>
          </a:p>
        </p:txBody>
      </p:sp>
      <p:graphicFrame>
        <p:nvGraphicFramePr>
          <p:cNvPr id="115" name="Google Shape;115;p8"/>
          <p:cNvGraphicFramePr/>
          <p:nvPr/>
        </p:nvGraphicFramePr>
        <p:xfrm>
          <a:off x="3759275" y="2041525"/>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bl>
          </a:graphicData>
        </a:graphic>
      </p:graphicFrame>
      <p:cxnSp>
        <p:nvCxnSpPr>
          <p:cNvPr id="116" name="Google Shape;116;p8"/>
          <p:cNvCxnSpPr/>
          <p:nvPr/>
        </p:nvCxnSpPr>
        <p:spPr>
          <a:xfrm>
            <a:off x="3759275" y="2046375"/>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117" name="Google Shape;117;p8"/>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118" name="Google Shape;118;p8"/>
          <p:cNvSpPr/>
          <p:nvPr/>
        </p:nvSpPr>
        <p:spPr>
          <a:xfrm>
            <a:off x="551575" y="2405300"/>
            <a:ext cx="1139100" cy="400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8"/>
          <p:cNvSpPr/>
          <p:nvPr/>
        </p:nvSpPr>
        <p:spPr>
          <a:xfrm>
            <a:off x="1813925" y="2405300"/>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8"/>
          <p:cNvSpPr/>
          <p:nvPr/>
        </p:nvSpPr>
        <p:spPr>
          <a:xfrm rot="5400000">
            <a:off x="1966325" y="3092800"/>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8"/>
          <p:cNvSpPr/>
          <p:nvPr/>
        </p:nvSpPr>
        <p:spPr>
          <a:xfrm rot="10800000">
            <a:off x="564763" y="3018109"/>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8"/>
          <p:cNvSpPr/>
          <p:nvPr/>
        </p:nvSpPr>
        <p:spPr>
          <a:xfrm rot="-5400000">
            <a:off x="1346400" y="3092800"/>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8"/>
          <p:cNvSpPr txBox="1"/>
          <p:nvPr>
            <p:ph idx="1" type="body"/>
          </p:nvPr>
        </p:nvSpPr>
        <p:spPr>
          <a:xfrm>
            <a:off x="311700" y="1152475"/>
            <a:ext cx="6918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sp>
        <p:nvSpPr>
          <p:cNvPr id="124" name="Google Shape;124;p8"/>
          <p:cNvSpPr txBox="1"/>
          <p:nvPr>
            <p:ph idx="1" type="body"/>
          </p:nvPr>
        </p:nvSpPr>
        <p:spPr>
          <a:xfrm>
            <a:off x="123675" y="4356950"/>
            <a:ext cx="40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 1</a:t>
            </a:r>
            <a:endParaRPr>
              <a:solidFill>
                <a:srgbClr val="EA9999"/>
              </a:solidFill>
            </a:endParaRPr>
          </a:p>
          <a:p>
            <a:pPr indent="0" lvl="0" marL="0" rtl="0" algn="l">
              <a:lnSpc>
                <a:spcPct val="115000"/>
              </a:lnSpc>
              <a:spcBef>
                <a:spcPts val="1600"/>
              </a:spcBef>
              <a:spcAft>
                <a:spcPts val="1600"/>
              </a:spcAft>
              <a:buSzPts val="1800"/>
              <a:buNone/>
            </a:pPr>
            <a:r>
              <a:t/>
            </a:r>
            <a:endParaRPr/>
          </a:p>
        </p:txBody>
      </p:sp>
      <p:sp>
        <p:nvSpPr>
          <p:cNvPr id="125" name="Google Shape;125;p8"/>
          <p:cNvSpPr/>
          <p:nvPr/>
        </p:nvSpPr>
        <p:spPr>
          <a:xfrm>
            <a:off x="4698800" y="2491375"/>
            <a:ext cx="1469400" cy="1470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3 - minimizare funcție 4 variabile</a:t>
            </a:r>
            <a:endParaRPr sz="2000">
              <a:solidFill>
                <a:srgbClr val="0070C0"/>
              </a:solidFill>
            </a:endParaRPr>
          </a:p>
        </p:txBody>
      </p:sp>
      <p:sp>
        <p:nvSpPr>
          <p:cNvPr id="131" name="Google Shape;131;p7"/>
          <p:cNvSpPr txBox="1"/>
          <p:nvPr>
            <p:ph idx="1" type="body"/>
          </p:nvPr>
        </p:nvSpPr>
        <p:spPr>
          <a:xfrm>
            <a:off x="311700" y="1152475"/>
            <a:ext cx="6918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graphicFrame>
        <p:nvGraphicFramePr>
          <p:cNvPr id="132" name="Google Shape;132;p7"/>
          <p:cNvGraphicFramePr/>
          <p:nvPr/>
        </p:nvGraphicFramePr>
        <p:xfrm>
          <a:off x="3759275" y="2041525"/>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bl>
          </a:graphicData>
        </a:graphic>
      </p:graphicFrame>
      <p:cxnSp>
        <p:nvCxnSpPr>
          <p:cNvPr id="133" name="Google Shape;133;p7"/>
          <p:cNvCxnSpPr/>
          <p:nvPr/>
        </p:nvCxnSpPr>
        <p:spPr>
          <a:xfrm>
            <a:off x="3759275" y="2046375"/>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134" name="Google Shape;134;p7"/>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135" name="Google Shape;135;p7"/>
          <p:cNvSpPr/>
          <p:nvPr/>
        </p:nvSpPr>
        <p:spPr>
          <a:xfrm>
            <a:off x="484425" y="2313650"/>
            <a:ext cx="1139100" cy="400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7"/>
          <p:cNvSpPr/>
          <p:nvPr/>
        </p:nvSpPr>
        <p:spPr>
          <a:xfrm rot="-5400000">
            <a:off x="5944100" y="3624125"/>
            <a:ext cx="3324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7"/>
          <p:cNvSpPr/>
          <p:nvPr/>
        </p:nvSpPr>
        <p:spPr>
          <a:xfrm rot="5400000">
            <a:off x="4704750" y="2452275"/>
            <a:ext cx="4125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7"/>
          <p:cNvSpPr/>
          <p:nvPr/>
        </p:nvSpPr>
        <p:spPr>
          <a:xfrm rot="5400000">
            <a:off x="4666500" y="3624128"/>
            <a:ext cx="4890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7"/>
          <p:cNvSpPr/>
          <p:nvPr/>
        </p:nvSpPr>
        <p:spPr>
          <a:xfrm rot="-5400000">
            <a:off x="5922050" y="2452275"/>
            <a:ext cx="3765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7"/>
          <p:cNvSpPr txBox="1"/>
          <p:nvPr>
            <p:ph idx="1" type="body"/>
          </p:nvPr>
        </p:nvSpPr>
        <p:spPr>
          <a:xfrm>
            <a:off x="68875" y="4377025"/>
            <a:ext cx="40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=!y!t + yt</a:t>
            </a:r>
            <a:endParaRPr>
              <a:solidFill>
                <a:srgbClr val="EA9999"/>
              </a:solidFill>
            </a:endParaRPr>
          </a:p>
          <a:p>
            <a:pPr indent="0" lvl="0" marL="0" rtl="0" algn="l">
              <a:lnSpc>
                <a:spcPct val="115000"/>
              </a:lnSpc>
              <a:spcBef>
                <a:spcPts val="1600"/>
              </a:spcBef>
              <a:spcAft>
                <a:spcPts val="1600"/>
              </a:spcAft>
              <a:buSzPts val="1800"/>
              <a:buNone/>
            </a:pPr>
            <a:r>
              <a:t/>
            </a:r>
            <a:endParaRPr/>
          </a:p>
        </p:txBody>
      </p:sp>
      <p:sp>
        <p:nvSpPr>
          <p:cNvPr id="141" name="Google Shape;141;p7"/>
          <p:cNvSpPr/>
          <p:nvPr/>
        </p:nvSpPr>
        <p:spPr>
          <a:xfrm>
            <a:off x="5163850" y="2926450"/>
            <a:ext cx="667200" cy="660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311700" y="13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5 - caz particular</a:t>
            </a:r>
            <a:endParaRPr sz="2000">
              <a:solidFill>
                <a:srgbClr val="0070C0"/>
              </a:solidFill>
            </a:endParaRPr>
          </a:p>
        </p:txBody>
      </p:sp>
      <p:graphicFrame>
        <p:nvGraphicFramePr>
          <p:cNvPr id="147" name="Google Shape;147;p9"/>
          <p:cNvGraphicFramePr/>
          <p:nvPr/>
        </p:nvGraphicFramePr>
        <p:xfrm>
          <a:off x="4109675" y="997075"/>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bl>
          </a:graphicData>
        </a:graphic>
      </p:graphicFrame>
      <p:cxnSp>
        <p:nvCxnSpPr>
          <p:cNvPr id="148" name="Google Shape;148;p9"/>
          <p:cNvCxnSpPr/>
          <p:nvPr/>
        </p:nvCxnSpPr>
        <p:spPr>
          <a:xfrm>
            <a:off x="4109675" y="1001925"/>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149" name="Google Shape;149;p9"/>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31EAFE"/>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sz="1400" u="none" cap="none" strike="noStrike"/>
                    </a:p>
                  </a:txBody>
                  <a:tcPr marT="91425" marB="91425" marR="91425" marL="91425">
                    <a:lnL cap="flat" cmpd="sng" w="9525">
                      <a:solidFill>
                        <a:srgbClr val="9E9E9E"/>
                      </a:solidFill>
                      <a:prstDash val="solid"/>
                      <a:round/>
                      <a:headEnd len="sm" w="sm" type="none"/>
                      <a:tailEnd len="sm" w="sm" type="none"/>
                    </a:lnL>
                    <a:solidFill>
                      <a:srgbClr val="FF0000"/>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graphicFrame>
        <p:nvGraphicFramePr>
          <p:cNvPr id="150" name="Google Shape;150;p9"/>
          <p:cNvGraphicFramePr/>
          <p:nvPr/>
        </p:nvGraphicFramePr>
        <p:xfrm>
          <a:off x="4109675" y="3066750"/>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bl>
          </a:graphicData>
        </a:graphic>
      </p:graphicFrame>
      <p:cxnSp>
        <p:nvCxnSpPr>
          <p:cNvPr id="151" name="Google Shape;151;p9"/>
          <p:cNvCxnSpPr/>
          <p:nvPr/>
        </p:nvCxnSpPr>
        <p:spPr>
          <a:xfrm>
            <a:off x="4109675" y="3071600"/>
            <a:ext cx="976500" cy="399900"/>
          </a:xfrm>
          <a:prstGeom prst="straightConnector1">
            <a:avLst/>
          </a:prstGeom>
          <a:noFill/>
          <a:ln cap="flat" cmpd="sng" w="9525">
            <a:solidFill>
              <a:schemeClr val="dk2"/>
            </a:solidFill>
            <a:prstDash val="solid"/>
            <a:round/>
            <a:headEnd len="sm" w="sm" type="none"/>
            <a:tailEnd len="sm" w="sm" type="none"/>
          </a:ln>
        </p:spPr>
      </p:cxnSp>
      <p:sp>
        <p:nvSpPr>
          <p:cNvPr id="152" name="Google Shape;152;p9"/>
          <p:cNvSpPr txBox="1"/>
          <p:nvPr>
            <p:ph idx="1" type="body"/>
          </p:nvPr>
        </p:nvSpPr>
        <p:spPr>
          <a:xfrm>
            <a:off x="163975" y="460950"/>
            <a:ext cx="6918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sp>
        <p:nvSpPr>
          <p:cNvPr id="153" name="Google Shape;153;p9"/>
          <p:cNvSpPr txBox="1"/>
          <p:nvPr>
            <p:ph idx="1" type="body"/>
          </p:nvPr>
        </p:nvSpPr>
        <p:spPr>
          <a:xfrm>
            <a:off x="0" y="2558417"/>
            <a:ext cx="4079700" cy="248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=!z + t + !x + y</a:t>
            </a:r>
            <a:endParaRPr/>
          </a:p>
          <a:p>
            <a:pPr indent="0" lvl="0" marL="0" rtl="0" algn="l">
              <a:lnSpc>
                <a:spcPct val="115000"/>
              </a:lnSpc>
              <a:spcBef>
                <a:spcPts val="1600"/>
              </a:spcBef>
              <a:spcAft>
                <a:spcPts val="0"/>
              </a:spcAft>
              <a:buClr>
                <a:schemeClr val="dk1"/>
              </a:buClr>
              <a:buSzPts val="1100"/>
              <a:buFont typeface="Arial"/>
              <a:buNone/>
            </a:pPr>
            <a:r>
              <a:rPr lang="en"/>
              <a:t>Dar f(x,y,z,t) =! (!f(x,y,z,t))</a:t>
            </a:r>
            <a:endParaRPr/>
          </a:p>
          <a:p>
            <a:pPr indent="0" lvl="0" marL="0" rtl="0" algn="l">
              <a:lnSpc>
                <a:spcPct val="115000"/>
              </a:lnSpc>
              <a:spcBef>
                <a:spcPts val="1600"/>
              </a:spcBef>
              <a:spcAft>
                <a:spcPts val="0"/>
              </a:spcAft>
              <a:buSzPts val="1800"/>
              <a:buNone/>
            </a:pPr>
            <a:r>
              <a:rPr lang="en">
                <a:solidFill>
                  <a:srgbClr val="EA9999"/>
                </a:solidFill>
              </a:rPr>
              <a:t>!f(x,y,z,t) = x!yz!t </a:t>
            </a:r>
            <a:endParaRPr>
              <a:solidFill>
                <a:srgbClr val="EA9999"/>
              </a:solidFill>
            </a:endParaRPr>
          </a:p>
          <a:p>
            <a:pPr indent="0" lvl="0" marL="0" rtl="0" algn="l">
              <a:spcBef>
                <a:spcPts val="1600"/>
              </a:spcBef>
              <a:spcAft>
                <a:spcPts val="0"/>
              </a:spcAft>
              <a:buClr>
                <a:schemeClr val="dk1"/>
              </a:buClr>
              <a:buSzPts val="1100"/>
              <a:buFont typeface="Arial"/>
              <a:buNone/>
            </a:pPr>
            <a:r>
              <a:rPr lang="en"/>
              <a:t>! (!f(x,y,z,t)) = !(</a:t>
            </a:r>
            <a:r>
              <a:rPr lang="en">
                <a:solidFill>
                  <a:srgbClr val="EA9999"/>
                </a:solidFill>
              </a:rPr>
              <a:t>x!yz!t ) = !x+y+!z+t</a:t>
            </a:r>
            <a:endParaRPr>
              <a:solidFill>
                <a:srgbClr val="EA9999"/>
              </a:solidFill>
            </a:endParaRPr>
          </a:p>
        </p:txBody>
      </p:sp>
      <p:sp>
        <p:nvSpPr>
          <p:cNvPr id="154" name="Google Shape;154;p9"/>
          <p:cNvSpPr/>
          <p:nvPr/>
        </p:nvSpPr>
        <p:spPr>
          <a:xfrm>
            <a:off x="263400" y="1219075"/>
            <a:ext cx="1139100" cy="400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9"/>
          <p:cNvSpPr/>
          <p:nvPr/>
        </p:nvSpPr>
        <p:spPr>
          <a:xfrm>
            <a:off x="415800" y="1371475"/>
            <a:ext cx="1139100" cy="400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9"/>
          <p:cNvSpPr/>
          <p:nvPr/>
        </p:nvSpPr>
        <p:spPr>
          <a:xfrm>
            <a:off x="568200" y="1523875"/>
            <a:ext cx="1139100" cy="400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9"/>
          <p:cNvSpPr/>
          <p:nvPr/>
        </p:nvSpPr>
        <p:spPr>
          <a:xfrm>
            <a:off x="5061150" y="1482125"/>
            <a:ext cx="807300" cy="1467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9"/>
          <p:cNvSpPr/>
          <p:nvPr/>
        </p:nvSpPr>
        <p:spPr>
          <a:xfrm>
            <a:off x="5182625" y="1828625"/>
            <a:ext cx="1360800" cy="757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9"/>
          <p:cNvSpPr/>
          <p:nvPr/>
        </p:nvSpPr>
        <p:spPr>
          <a:xfrm>
            <a:off x="5182625" y="1523875"/>
            <a:ext cx="1360800" cy="609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9"/>
          <p:cNvSpPr/>
          <p:nvPr/>
        </p:nvSpPr>
        <p:spPr>
          <a:xfrm>
            <a:off x="5459375" y="1473425"/>
            <a:ext cx="807300" cy="1467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6 - minimizare funcție 4 variabile</a:t>
            </a:r>
            <a:endParaRPr sz="2000">
              <a:solidFill>
                <a:srgbClr val="0070C0"/>
              </a:solidFill>
            </a:endParaRPr>
          </a:p>
        </p:txBody>
      </p:sp>
      <p:graphicFrame>
        <p:nvGraphicFramePr>
          <p:cNvPr id="166" name="Google Shape;166;p10"/>
          <p:cNvGraphicFramePr/>
          <p:nvPr/>
        </p:nvGraphicFramePr>
        <p:xfrm>
          <a:off x="3759275" y="2041525"/>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r>
            </a:tbl>
          </a:graphicData>
        </a:graphic>
      </p:graphicFrame>
      <p:cxnSp>
        <p:nvCxnSpPr>
          <p:cNvPr id="167" name="Google Shape;167;p10"/>
          <p:cNvCxnSpPr/>
          <p:nvPr/>
        </p:nvCxnSpPr>
        <p:spPr>
          <a:xfrm>
            <a:off x="3759275" y="2046375"/>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168" name="Google Shape;168;p10"/>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169" name="Google Shape;169;p10"/>
          <p:cNvSpPr/>
          <p:nvPr/>
        </p:nvSpPr>
        <p:spPr>
          <a:xfrm>
            <a:off x="4710750" y="2446275"/>
            <a:ext cx="1594800" cy="400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0"/>
          <p:cNvSpPr/>
          <p:nvPr/>
        </p:nvSpPr>
        <p:spPr>
          <a:xfrm rot="10800000">
            <a:off x="5910100" y="2446350"/>
            <a:ext cx="401400" cy="15720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0"/>
          <p:cNvSpPr/>
          <p:nvPr/>
        </p:nvSpPr>
        <p:spPr>
          <a:xfrm rot="-5400000">
            <a:off x="4846650" y="2868525"/>
            <a:ext cx="572700" cy="7224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0"/>
          <p:cNvSpPr txBox="1"/>
          <p:nvPr>
            <p:ph idx="1" type="body"/>
          </p:nvPr>
        </p:nvSpPr>
        <p:spPr>
          <a:xfrm>
            <a:off x="311700" y="1152475"/>
            <a:ext cx="6918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sp>
        <p:nvSpPr>
          <p:cNvPr id="173" name="Google Shape;173;p10"/>
          <p:cNvSpPr txBox="1"/>
          <p:nvPr>
            <p:ph idx="1" type="body"/>
          </p:nvPr>
        </p:nvSpPr>
        <p:spPr>
          <a:xfrm>
            <a:off x="123675" y="4356950"/>
            <a:ext cx="40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=!x!y+z!t+y!z</a:t>
            </a:r>
            <a:endParaRPr>
              <a:solidFill>
                <a:srgbClr val="EA9999"/>
              </a:solidFill>
            </a:endParaRPr>
          </a:p>
          <a:p>
            <a:pPr indent="0" lvl="0" marL="0" rtl="0" algn="l">
              <a:lnSpc>
                <a:spcPct val="115000"/>
              </a:lnSpc>
              <a:spcBef>
                <a:spcPts val="1600"/>
              </a:spcBef>
              <a:spcAft>
                <a:spcPts val="1600"/>
              </a:spcAft>
              <a:buSzPts val="1800"/>
              <a:buNone/>
            </a:pPr>
            <a:r>
              <a:t/>
            </a:r>
            <a:endParaRPr/>
          </a:p>
        </p:txBody>
      </p:sp>
      <p:sp>
        <p:nvSpPr>
          <p:cNvPr id="174" name="Google Shape;174;p10"/>
          <p:cNvSpPr/>
          <p:nvPr/>
        </p:nvSpPr>
        <p:spPr>
          <a:xfrm>
            <a:off x="2341375" y="3047700"/>
            <a:ext cx="667200" cy="660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7 - minimizare funcție incompletă</a:t>
            </a:r>
            <a:endParaRPr sz="2000">
              <a:solidFill>
                <a:srgbClr val="0070C0"/>
              </a:solidFill>
            </a:endParaRPr>
          </a:p>
        </p:txBody>
      </p:sp>
      <p:graphicFrame>
        <p:nvGraphicFramePr>
          <p:cNvPr id="180" name="Google Shape;180;p11"/>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a:t>*</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181" name="Google Shape;181;p11"/>
          <p:cNvSpPr txBox="1"/>
          <p:nvPr>
            <p:ph idx="1" type="body"/>
          </p:nvPr>
        </p:nvSpPr>
        <p:spPr>
          <a:xfrm>
            <a:off x="311700" y="1152475"/>
            <a:ext cx="6918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sp>
        <p:nvSpPr>
          <p:cNvPr id="182" name="Google Shape;182;p11"/>
          <p:cNvSpPr txBox="1"/>
          <p:nvPr>
            <p:ph idx="1" type="body"/>
          </p:nvPr>
        </p:nvSpPr>
        <p:spPr>
          <a:xfrm>
            <a:off x="123675" y="4356950"/>
            <a:ext cx="40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 !zt + !yz + !xz!t + xt </a:t>
            </a:r>
            <a:endParaRPr>
              <a:solidFill>
                <a:srgbClr val="EA9999"/>
              </a:solidFill>
            </a:endParaRPr>
          </a:p>
          <a:p>
            <a:pPr indent="0" lvl="0" marL="0" rtl="0" algn="l">
              <a:lnSpc>
                <a:spcPct val="115000"/>
              </a:lnSpc>
              <a:spcBef>
                <a:spcPts val="1600"/>
              </a:spcBef>
              <a:spcAft>
                <a:spcPts val="1600"/>
              </a:spcAft>
              <a:buSzPts val="1800"/>
              <a:buNone/>
            </a:pPr>
            <a:r>
              <a:t/>
            </a:r>
            <a:endParaRPr/>
          </a:p>
        </p:txBody>
      </p:sp>
      <p:graphicFrame>
        <p:nvGraphicFramePr>
          <p:cNvPr id="183" name="Google Shape;183;p11"/>
          <p:cNvGraphicFramePr/>
          <p:nvPr/>
        </p:nvGraphicFramePr>
        <p:xfrm>
          <a:off x="689225" y="2054363"/>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bl>
          </a:graphicData>
        </a:graphic>
      </p:graphicFrame>
      <p:sp>
        <p:nvSpPr>
          <p:cNvPr id="184" name="Google Shape;184;p11"/>
          <p:cNvSpPr/>
          <p:nvPr/>
        </p:nvSpPr>
        <p:spPr>
          <a:xfrm>
            <a:off x="2072200" y="3352475"/>
            <a:ext cx="667200" cy="660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1"/>
          <p:cNvSpPr/>
          <p:nvPr/>
        </p:nvSpPr>
        <p:spPr>
          <a:xfrm>
            <a:off x="2072200" y="2502450"/>
            <a:ext cx="288600" cy="14880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1"/>
          <p:cNvSpPr/>
          <p:nvPr/>
        </p:nvSpPr>
        <p:spPr>
          <a:xfrm>
            <a:off x="2840000" y="2502450"/>
            <a:ext cx="395400" cy="660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1"/>
          <p:cNvSpPr/>
          <p:nvPr/>
        </p:nvSpPr>
        <p:spPr>
          <a:xfrm>
            <a:off x="2448100" y="3649475"/>
            <a:ext cx="667200" cy="341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1"/>
          <p:cNvSpPr/>
          <p:nvPr/>
        </p:nvSpPr>
        <p:spPr>
          <a:xfrm>
            <a:off x="2501125" y="2516782"/>
            <a:ext cx="667200" cy="341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8 - minimizare funcție incompletă</a:t>
            </a:r>
            <a:endParaRPr sz="2000">
              <a:solidFill>
                <a:srgbClr val="0070C0"/>
              </a:solidFill>
            </a:endParaRPr>
          </a:p>
        </p:txBody>
      </p:sp>
      <p:graphicFrame>
        <p:nvGraphicFramePr>
          <p:cNvPr id="194" name="Google Shape;194;p12"/>
          <p:cNvGraphicFramePr/>
          <p:nvPr/>
        </p:nvGraphicFramePr>
        <p:xfrm>
          <a:off x="3759275" y="2041525"/>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bl>
          </a:graphicData>
        </a:graphic>
      </p:graphicFrame>
      <p:cxnSp>
        <p:nvCxnSpPr>
          <p:cNvPr id="195" name="Google Shape;195;p12"/>
          <p:cNvCxnSpPr/>
          <p:nvPr/>
        </p:nvCxnSpPr>
        <p:spPr>
          <a:xfrm>
            <a:off x="3759275" y="2046375"/>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196" name="Google Shape;196;p12"/>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197" name="Google Shape;197;p12"/>
          <p:cNvSpPr txBox="1"/>
          <p:nvPr>
            <p:ph idx="1" type="body"/>
          </p:nvPr>
        </p:nvSpPr>
        <p:spPr>
          <a:xfrm>
            <a:off x="311700" y="1152475"/>
            <a:ext cx="6918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sp>
        <p:nvSpPr>
          <p:cNvPr id="198" name="Google Shape;198;p12"/>
          <p:cNvSpPr txBox="1"/>
          <p:nvPr>
            <p:ph idx="1" type="body"/>
          </p:nvPr>
        </p:nvSpPr>
        <p:spPr>
          <a:xfrm>
            <a:off x="133725" y="4470600"/>
            <a:ext cx="40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=!zt+y!z+!yz+!xz!t</a:t>
            </a:r>
            <a:endParaRPr/>
          </a:p>
        </p:txBody>
      </p:sp>
      <p:sp>
        <p:nvSpPr>
          <p:cNvPr id="199" name="Google Shape;199;p12"/>
          <p:cNvSpPr/>
          <p:nvPr/>
        </p:nvSpPr>
        <p:spPr>
          <a:xfrm>
            <a:off x="1513225" y="1859925"/>
            <a:ext cx="667200" cy="660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2"/>
          <p:cNvSpPr/>
          <p:nvPr/>
        </p:nvSpPr>
        <p:spPr>
          <a:xfrm>
            <a:off x="5128025" y="2521475"/>
            <a:ext cx="348000" cy="1440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2"/>
          <p:cNvSpPr/>
          <p:nvPr/>
        </p:nvSpPr>
        <p:spPr>
          <a:xfrm>
            <a:off x="5589725" y="3613475"/>
            <a:ext cx="749100" cy="399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2"/>
          <p:cNvSpPr/>
          <p:nvPr/>
        </p:nvSpPr>
        <p:spPr>
          <a:xfrm>
            <a:off x="5589725" y="2490519"/>
            <a:ext cx="667200" cy="357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2"/>
          <p:cNvSpPr/>
          <p:nvPr/>
        </p:nvSpPr>
        <p:spPr>
          <a:xfrm>
            <a:off x="4768525" y="2911325"/>
            <a:ext cx="667200" cy="660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2"/>
          <p:cNvSpPr/>
          <p:nvPr/>
        </p:nvSpPr>
        <p:spPr>
          <a:xfrm>
            <a:off x="5910050" y="2469375"/>
            <a:ext cx="447900" cy="660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a614c1f9e7_1_0"/>
          <p:cNvSpPr txBox="1"/>
          <p:nvPr>
            <p:ph type="title"/>
          </p:nvPr>
        </p:nvSpPr>
        <p:spPr>
          <a:xfrm>
            <a:off x="311700" y="121625"/>
            <a:ext cx="8520600" cy="109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SzPts val="2800"/>
              <a:buNone/>
            </a:pPr>
            <a:r>
              <a:rPr lang="en" sz="2000">
                <a:solidFill>
                  <a:srgbClr val="0070C0"/>
                </a:solidFill>
              </a:rPr>
              <a:t>Minimizarea funcțiilor cu mult de 4 variabile (cu variabile in coloana rezultat) - algoritm minimizare</a:t>
            </a:r>
            <a:endParaRPr sz="2000">
              <a:solidFill>
                <a:srgbClr val="0070C0"/>
              </a:solidFill>
            </a:endParaRPr>
          </a:p>
        </p:txBody>
      </p:sp>
      <p:sp>
        <p:nvSpPr>
          <p:cNvPr id="210" name="Google Shape;210;ga614c1f9e7_1_0"/>
          <p:cNvSpPr txBox="1"/>
          <p:nvPr>
            <p:ph idx="1" type="body"/>
          </p:nvPr>
        </p:nvSpPr>
        <p:spPr>
          <a:xfrm>
            <a:off x="311700" y="1152475"/>
            <a:ext cx="8520600" cy="3660600"/>
          </a:xfrm>
          <a:prstGeom prst="rect">
            <a:avLst/>
          </a:prstGeom>
          <a:noFill/>
          <a:ln>
            <a:noFill/>
          </a:ln>
        </p:spPr>
        <p:txBody>
          <a:bodyPr anchorCtr="0" anchor="t" bIns="91425" lIns="91425" spcFirstLastPara="1" rIns="91425" wrap="square" tIns="91425">
            <a:noAutofit/>
          </a:bodyPr>
          <a:lstStyle/>
          <a:p>
            <a:pPr indent="-311150" lvl="0" marL="457200" rtl="0" algn="just">
              <a:lnSpc>
                <a:spcPct val="115000"/>
              </a:lnSpc>
              <a:spcBef>
                <a:spcPts val="1200"/>
              </a:spcBef>
              <a:spcAft>
                <a:spcPts val="0"/>
              </a:spcAft>
              <a:buSzPts val="1300"/>
              <a:buAutoNum type="arabicPeriod"/>
            </a:pPr>
            <a:r>
              <a:rPr lang="en" sz="1300"/>
              <a:t>Se construiește diagrama Karnaugh pornind de la valorile funcției.</a:t>
            </a:r>
            <a:endParaRPr/>
          </a:p>
          <a:p>
            <a:pPr indent="0" lvl="0" marL="457200" rtl="0" algn="just">
              <a:lnSpc>
                <a:spcPct val="115000"/>
              </a:lnSpc>
              <a:spcBef>
                <a:spcPts val="1200"/>
              </a:spcBef>
              <a:spcAft>
                <a:spcPts val="0"/>
              </a:spcAft>
              <a:buSzPts val="1800"/>
              <a:buNone/>
            </a:pPr>
            <a:r>
              <a:t/>
            </a:r>
            <a:endParaRPr sz="1300"/>
          </a:p>
          <a:p>
            <a:pPr indent="-311150" lvl="0" marL="457200" rtl="0" algn="just">
              <a:lnSpc>
                <a:spcPct val="115000"/>
              </a:lnSpc>
              <a:spcBef>
                <a:spcPts val="0"/>
              </a:spcBef>
              <a:spcAft>
                <a:spcPts val="0"/>
              </a:spcAft>
              <a:buSzPts val="1300"/>
              <a:buAutoNum type="arabicPeriod"/>
            </a:pPr>
            <a:r>
              <a:rPr lang="en" sz="1300"/>
              <a:t>Căsuțele ce conțin variabile sunt considerate a fi 0 si se minimizează funcția in mod obișnuit.</a:t>
            </a:r>
            <a:endParaRPr/>
          </a:p>
          <a:p>
            <a:pPr indent="0" lvl="0" marL="457200" rtl="0" algn="just">
              <a:lnSpc>
                <a:spcPct val="115000"/>
              </a:lnSpc>
              <a:spcBef>
                <a:spcPts val="0"/>
              </a:spcBef>
              <a:spcAft>
                <a:spcPts val="0"/>
              </a:spcAft>
              <a:buSzPts val="1800"/>
              <a:buNone/>
            </a:pPr>
            <a:r>
              <a:t/>
            </a:r>
            <a:endParaRPr sz="1300"/>
          </a:p>
          <a:p>
            <a:pPr indent="-311150" lvl="0" marL="457200" rtl="0" algn="just">
              <a:lnSpc>
                <a:spcPct val="115000"/>
              </a:lnSpc>
              <a:spcBef>
                <a:spcPts val="0"/>
              </a:spcBef>
              <a:spcAft>
                <a:spcPts val="0"/>
              </a:spcAft>
              <a:buSzPts val="1300"/>
              <a:buAutoNum type="arabicPeriod"/>
            </a:pPr>
            <a:r>
              <a:rPr lang="en" sz="1300"/>
              <a:t>Realizare de suprafețe care sa conțină toate variabilele. Se formează suprafețe de minimizare care conțin un același literal (variabilă). Două suprafețe de minimizare formate in această etapă pot sa aibă in comun doar căsuțe 1, * sau același literal. In acest pas nu se formează suprafețe de minimizare care să conțină numai căsuțe 1. Se formează produse pe baza suprafețelor de minimizare astfel: la produsul obținut doar cu unități se adaugă variabila ce apare in produs.</a:t>
            </a:r>
            <a:endParaRPr/>
          </a:p>
          <a:p>
            <a:pPr indent="0" lvl="0" marL="457200" rtl="0" algn="just">
              <a:lnSpc>
                <a:spcPct val="115000"/>
              </a:lnSpc>
              <a:spcBef>
                <a:spcPts val="0"/>
              </a:spcBef>
              <a:spcAft>
                <a:spcPts val="0"/>
              </a:spcAft>
              <a:buSzPts val="1800"/>
              <a:buNone/>
            </a:pPr>
            <a:r>
              <a:t/>
            </a:r>
            <a:endParaRPr sz="1300"/>
          </a:p>
          <a:p>
            <a:pPr indent="-311150" lvl="0" marL="457200" rtl="0" algn="just">
              <a:lnSpc>
                <a:spcPct val="115000"/>
              </a:lnSpc>
              <a:spcBef>
                <a:spcPts val="0"/>
              </a:spcBef>
              <a:spcAft>
                <a:spcPts val="0"/>
              </a:spcAft>
              <a:buSzPts val="1300"/>
              <a:buAutoNum type="arabicPeriod"/>
            </a:pPr>
            <a:r>
              <a:rPr lang="en" sz="1300"/>
              <a:t>Forma minimizată este dată de suma produselor obținute in pașii 2 si 3.</a:t>
            </a:r>
            <a:endParaRPr sz="1300"/>
          </a:p>
          <a:p>
            <a:pPr indent="-311150" lvl="0" marL="457200" rtl="0" algn="l">
              <a:lnSpc>
                <a:spcPct val="115000"/>
              </a:lnSpc>
              <a:spcBef>
                <a:spcPts val="0"/>
              </a:spcBef>
              <a:spcAft>
                <a:spcPts val="0"/>
              </a:spcAft>
              <a:buSzPts val="1300"/>
              <a:buAutoNum type="arabicPeriod"/>
            </a:pPr>
            <a:r>
              <a:rPr b="1" lang="en" sz="1300"/>
              <a:t>Observație: </a:t>
            </a:r>
            <a:r>
              <a:rPr lang="en" sz="1300"/>
              <a:t>La minimizarea funcțiilor incomplet specificate cu variabile in coloana rezultat, evaluarea steluțelor dintr-un pas este independenta de evaluarea steluțelor in celalalt pas.</a:t>
            </a:r>
            <a:endParaRPr sz="1300"/>
          </a:p>
        </p:txBody>
      </p:sp>
      <p:sp>
        <p:nvSpPr>
          <p:cNvPr id="211" name="Google Shape;211;ga614c1f9e7_1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3"/>
          <p:cNvSpPr txBox="1"/>
          <p:nvPr>
            <p:ph idx="1" type="body"/>
          </p:nvPr>
        </p:nvSpPr>
        <p:spPr>
          <a:xfrm>
            <a:off x="6749575" y="1693500"/>
            <a:ext cx="2333400" cy="150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 = y*z </a:t>
            </a:r>
            <a:endParaRPr>
              <a:solidFill>
                <a:srgbClr val="EA9999"/>
              </a:solidFill>
            </a:endParaRPr>
          </a:p>
          <a:p>
            <a:pPr indent="0" lvl="0" marL="0" rtl="0" algn="l">
              <a:lnSpc>
                <a:spcPct val="115000"/>
              </a:lnSpc>
              <a:spcBef>
                <a:spcPts val="1600"/>
              </a:spcBef>
              <a:spcAft>
                <a:spcPts val="0"/>
              </a:spcAft>
              <a:buSzPts val="1800"/>
              <a:buNone/>
            </a:pPr>
            <a:r>
              <a:rPr lang="en">
                <a:solidFill>
                  <a:srgbClr val="EA9999"/>
                </a:solidFill>
              </a:rPr>
              <a:t>f = f’(x,y,z) + f”(x,y,z) =  ?</a:t>
            </a:r>
            <a:endParaRPr>
              <a:solidFill>
                <a:srgbClr val="EA9999"/>
              </a:solidFill>
            </a:endParaRPr>
          </a:p>
          <a:p>
            <a:pPr indent="0" lvl="0" marL="0" rtl="0" algn="l">
              <a:lnSpc>
                <a:spcPct val="115000"/>
              </a:lnSpc>
              <a:spcBef>
                <a:spcPts val="1600"/>
              </a:spcBef>
              <a:spcAft>
                <a:spcPts val="1600"/>
              </a:spcAft>
              <a:buSzPts val="1800"/>
              <a:buNone/>
            </a:pPr>
            <a:r>
              <a:t/>
            </a:r>
            <a:endParaRPr/>
          </a:p>
        </p:txBody>
      </p:sp>
      <p:sp>
        <p:nvSpPr>
          <p:cNvPr id="217" name="Google Shape;217;p13"/>
          <p:cNvSpPr txBox="1"/>
          <p:nvPr>
            <p:ph type="title"/>
          </p:nvPr>
        </p:nvSpPr>
        <p:spPr>
          <a:xfrm>
            <a:off x="2143425" y="279603"/>
            <a:ext cx="6814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000">
                <a:solidFill>
                  <a:srgbClr val="0070C0"/>
                </a:solidFill>
              </a:rPr>
              <a:t>Exercițiul 9 - funcții cu variabile în coloana rezultat</a:t>
            </a:r>
            <a:endParaRPr sz="2000">
              <a:solidFill>
                <a:srgbClr val="0070C0"/>
              </a:solidFill>
            </a:endParaRPr>
          </a:p>
          <a:p>
            <a:pPr indent="0" lvl="0" marL="0" rtl="0" algn="l">
              <a:lnSpc>
                <a:spcPct val="100000"/>
              </a:lnSpc>
              <a:spcBef>
                <a:spcPts val="0"/>
              </a:spcBef>
              <a:spcAft>
                <a:spcPts val="0"/>
              </a:spcAft>
              <a:buSzPts val="2800"/>
              <a:buNone/>
            </a:pPr>
            <a:r>
              <a:t/>
            </a:r>
            <a:endParaRPr sz="2000">
              <a:solidFill>
                <a:srgbClr val="0070C0"/>
              </a:solidFill>
            </a:endParaRPr>
          </a:p>
        </p:txBody>
      </p:sp>
      <p:sp>
        <p:nvSpPr>
          <p:cNvPr id="218" name="Google Shape;218;p13"/>
          <p:cNvSpPr txBox="1"/>
          <p:nvPr>
            <p:ph idx="1" type="body"/>
          </p:nvPr>
        </p:nvSpPr>
        <p:spPr>
          <a:xfrm>
            <a:off x="1981400" y="991325"/>
            <a:ext cx="6918000" cy="40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a:t>Să se reprezinte funcția f ca</a:t>
            </a:r>
            <a:r>
              <a:rPr b="1" lang="en"/>
              <a:t> f(x,y,z) </a:t>
            </a:r>
            <a:r>
              <a:rPr lang="en"/>
              <a:t>și apoi minimizați f(x,y,z):</a:t>
            </a:r>
            <a:endParaRPr/>
          </a:p>
        </p:txBody>
      </p:sp>
      <p:graphicFrame>
        <p:nvGraphicFramePr>
          <p:cNvPr id="219" name="Google Shape;219;p13"/>
          <p:cNvGraphicFramePr/>
          <p:nvPr/>
        </p:nvGraphicFramePr>
        <p:xfrm>
          <a:off x="0" y="-34987"/>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20" name="Google Shape;220;p13"/>
          <p:cNvGraphicFramePr/>
          <p:nvPr/>
        </p:nvGraphicFramePr>
        <p:xfrm>
          <a:off x="2344300" y="1498400"/>
          <a:ext cx="3000000" cy="3000000"/>
        </p:xfrm>
        <a:graphic>
          <a:graphicData uri="http://schemas.openxmlformats.org/drawingml/2006/table">
            <a:tbl>
              <a:tblPr>
                <a:noFill/>
                <a:tableStyleId>{0522C8B3-53B7-4DB1-91CB-C40D2CFB818E}</a:tableStyleId>
              </a:tblPr>
              <a:tblGrid>
                <a:gridCol w="382850"/>
                <a:gridCol w="396775"/>
                <a:gridCol w="396750"/>
                <a:gridCol w="38285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x</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y</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z</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f</a:t>
                      </a:r>
                      <a:endParaRPr b="1"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t>!t</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t</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t>!t</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solidFill>
                      <a:srgbClr val="00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solidFill>
                      <a:srgbClr val="00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t</a:t>
                      </a:r>
                      <a:endParaRPr sz="1400" u="none" cap="none" strike="noStrike"/>
                    </a:p>
                  </a:txBody>
                  <a:tcPr marT="91425" marB="91425" marR="91425" marL="91425">
                    <a:solidFill>
                      <a:srgbClr val="EA999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solidFill>
                      <a:srgbClr val="EA9999"/>
                    </a:solidFill>
                  </a:tcPr>
                </a:tc>
              </a:tr>
            </a:tbl>
          </a:graphicData>
        </a:graphic>
      </p:graphicFrame>
      <p:sp>
        <p:nvSpPr>
          <p:cNvPr id="221" name="Google Shape;221;p13"/>
          <p:cNvSpPr/>
          <p:nvPr/>
        </p:nvSpPr>
        <p:spPr>
          <a:xfrm>
            <a:off x="5350575" y="2002025"/>
            <a:ext cx="796800" cy="400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3"/>
          <p:cNvSpPr txBox="1"/>
          <p:nvPr>
            <p:ph idx="1" type="body"/>
          </p:nvPr>
        </p:nvSpPr>
        <p:spPr>
          <a:xfrm>
            <a:off x="4025050" y="4324350"/>
            <a:ext cx="4874400" cy="72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 =x!y!z!t + !xz!t + yt  </a:t>
            </a:r>
            <a:endParaRPr/>
          </a:p>
        </p:txBody>
      </p:sp>
      <p:sp>
        <p:nvSpPr>
          <p:cNvPr id="223" name="Google Shape;22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cxnSp>
        <p:nvCxnSpPr>
          <p:cNvPr id="224" name="Google Shape;224;p13"/>
          <p:cNvCxnSpPr/>
          <p:nvPr/>
        </p:nvCxnSpPr>
        <p:spPr>
          <a:xfrm>
            <a:off x="4209250" y="1530975"/>
            <a:ext cx="693300" cy="361800"/>
          </a:xfrm>
          <a:prstGeom prst="straightConnector1">
            <a:avLst/>
          </a:prstGeom>
          <a:noFill/>
          <a:ln cap="flat" cmpd="sng" w="9525">
            <a:solidFill>
              <a:schemeClr val="dk2"/>
            </a:solidFill>
            <a:prstDash val="solid"/>
            <a:round/>
            <a:headEnd len="sm" w="sm" type="none"/>
            <a:tailEnd len="sm" w="sm" type="none"/>
          </a:ln>
        </p:spPr>
      </p:cxnSp>
      <p:graphicFrame>
        <p:nvGraphicFramePr>
          <p:cNvPr id="225" name="Google Shape;225;p13"/>
          <p:cNvGraphicFramePr/>
          <p:nvPr/>
        </p:nvGraphicFramePr>
        <p:xfrm>
          <a:off x="4209238" y="1540138"/>
          <a:ext cx="3000000" cy="3000000"/>
        </p:xfrm>
        <a:graphic>
          <a:graphicData uri="http://schemas.openxmlformats.org/drawingml/2006/table">
            <a:tbl>
              <a:tblPr>
                <a:noFill/>
                <a:tableStyleId>{0522C8B3-53B7-4DB1-91CB-C40D2CFB818E}</a:tableStyleId>
              </a:tblPr>
              <a:tblGrid>
                <a:gridCol w="738725"/>
                <a:gridCol w="415500"/>
                <a:gridCol w="39190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     yz</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r>
              <a:tr h="3962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r>
            </a:tbl>
          </a:graphicData>
        </a:graphic>
      </p:graphicFrame>
      <p:sp>
        <p:nvSpPr>
          <p:cNvPr id="226" name="Google Shape;226;p13"/>
          <p:cNvSpPr/>
          <p:nvPr/>
        </p:nvSpPr>
        <p:spPr>
          <a:xfrm rot="5400000">
            <a:off x="5593675" y="3578325"/>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7" name="Google Shape;227;p13"/>
          <p:cNvCxnSpPr/>
          <p:nvPr/>
        </p:nvCxnSpPr>
        <p:spPr>
          <a:xfrm>
            <a:off x="4248325" y="3054825"/>
            <a:ext cx="693300" cy="361800"/>
          </a:xfrm>
          <a:prstGeom prst="straightConnector1">
            <a:avLst/>
          </a:prstGeom>
          <a:noFill/>
          <a:ln cap="flat" cmpd="sng" w="9525">
            <a:solidFill>
              <a:schemeClr val="dk2"/>
            </a:solidFill>
            <a:prstDash val="solid"/>
            <a:round/>
            <a:headEnd len="sm" w="sm" type="none"/>
            <a:tailEnd len="sm" w="sm" type="none"/>
          </a:ln>
        </p:spPr>
      </p:cxnSp>
      <p:graphicFrame>
        <p:nvGraphicFramePr>
          <p:cNvPr id="228" name="Google Shape;228;p13"/>
          <p:cNvGraphicFramePr/>
          <p:nvPr/>
        </p:nvGraphicFramePr>
        <p:xfrm>
          <a:off x="4209238" y="3012725"/>
          <a:ext cx="3000000" cy="3000000"/>
        </p:xfrm>
        <a:graphic>
          <a:graphicData uri="http://schemas.openxmlformats.org/drawingml/2006/table">
            <a:tbl>
              <a:tblPr>
                <a:noFill/>
                <a:tableStyleId>{0522C8B3-53B7-4DB1-91CB-C40D2CFB818E}</a:tableStyleId>
              </a:tblPr>
              <a:tblGrid>
                <a:gridCol w="738725"/>
                <a:gridCol w="415500"/>
                <a:gridCol w="39190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     yz</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a:t>
                      </a:r>
                      <a:endParaRPr sz="1400" u="none" cap="none" strike="noStrike"/>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r>
              <a:tr h="3962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r>
            </a:tbl>
          </a:graphicData>
        </a:graphic>
      </p:graphicFrame>
      <p:sp>
        <p:nvSpPr>
          <p:cNvPr id="229" name="Google Shape;229;p13"/>
          <p:cNvSpPr/>
          <p:nvPr/>
        </p:nvSpPr>
        <p:spPr>
          <a:xfrm>
            <a:off x="5802825" y="2002025"/>
            <a:ext cx="667200" cy="660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4"/>
          <p:cNvSpPr txBox="1"/>
          <p:nvPr>
            <p:ph type="title"/>
          </p:nvPr>
        </p:nvSpPr>
        <p:spPr>
          <a:xfrm>
            <a:off x="6900" y="-12176"/>
            <a:ext cx="7222800" cy="796941"/>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10 - minimizare funcții cu variabile în coloana rezultat</a:t>
            </a:r>
            <a:endParaRPr sz="2000">
              <a:solidFill>
                <a:srgbClr val="0070C0"/>
              </a:solidFill>
            </a:endParaRPr>
          </a:p>
        </p:txBody>
      </p:sp>
      <p:graphicFrame>
        <p:nvGraphicFramePr>
          <p:cNvPr id="235" name="Google Shape;235;p14"/>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236" name="Google Shape;236;p14"/>
          <p:cNvSpPr/>
          <p:nvPr/>
        </p:nvSpPr>
        <p:spPr>
          <a:xfrm>
            <a:off x="5450413" y="4266775"/>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4"/>
          <p:cNvSpPr txBox="1"/>
          <p:nvPr>
            <p:ph idx="1" type="body"/>
          </p:nvPr>
        </p:nvSpPr>
        <p:spPr>
          <a:xfrm>
            <a:off x="0" y="686825"/>
            <a:ext cx="3894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graphicFrame>
        <p:nvGraphicFramePr>
          <p:cNvPr id="238" name="Google Shape;238;p14"/>
          <p:cNvGraphicFramePr/>
          <p:nvPr/>
        </p:nvGraphicFramePr>
        <p:xfrm>
          <a:off x="4109675" y="3066750"/>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bl>
          </a:graphicData>
        </a:graphic>
      </p:graphicFrame>
      <p:cxnSp>
        <p:nvCxnSpPr>
          <p:cNvPr id="239" name="Google Shape;239;p14"/>
          <p:cNvCxnSpPr/>
          <p:nvPr/>
        </p:nvCxnSpPr>
        <p:spPr>
          <a:xfrm>
            <a:off x="3894600" y="828550"/>
            <a:ext cx="976500" cy="399900"/>
          </a:xfrm>
          <a:prstGeom prst="straightConnector1">
            <a:avLst/>
          </a:prstGeom>
          <a:noFill/>
          <a:ln cap="flat" cmpd="sng" w="9525">
            <a:solidFill>
              <a:schemeClr val="dk2"/>
            </a:solidFill>
            <a:prstDash val="solid"/>
            <a:round/>
            <a:headEnd len="sm" w="sm" type="none"/>
            <a:tailEnd len="sm" w="sm" type="none"/>
          </a:ln>
        </p:spPr>
      </p:cxnSp>
      <p:sp>
        <p:nvSpPr>
          <p:cNvPr id="240" name="Google Shape;240;p14"/>
          <p:cNvSpPr txBox="1"/>
          <p:nvPr>
            <p:ph idx="1" type="body"/>
          </p:nvPr>
        </p:nvSpPr>
        <p:spPr>
          <a:xfrm>
            <a:off x="407950" y="1571588"/>
            <a:ext cx="2814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 tA + xyzA</a:t>
            </a:r>
            <a:endParaRPr>
              <a:solidFill>
                <a:srgbClr val="EA9999"/>
              </a:solidFill>
            </a:endParaRPr>
          </a:p>
          <a:p>
            <a:pPr indent="0" lvl="0" marL="0" rtl="0" algn="l">
              <a:lnSpc>
                <a:spcPct val="115000"/>
              </a:lnSpc>
              <a:spcBef>
                <a:spcPts val="1600"/>
              </a:spcBef>
              <a:spcAft>
                <a:spcPts val="1600"/>
              </a:spcAft>
              <a:buSzPts val="1800"/>
              <a:buNone/>
            </a:pPr>
            <a:r>
              <a:t/>
            </a:r>
            <a:endParaRPr/>
          </a:p>
        </p:txBody>
      </p:sp>
      <p:sp>
        <p:nvSpPr>
          <p:cNvPr id="241" name="Google Shape;241;p14"/>
          <p:cNvSpPr txBox="1"/>
          <p:nvPr>
            <p:ph idx="1" type="body"/>
          </p:nvPr>
        </p:nvSpPr>
        <p:spPr>
          <a:xfrm>
            <a:off x="0" y="2075300"/>
            <a:ext cx="4079700" cy="103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=!x!y!zt + !x!yz!t + !xy!z!t + </a:t>
            </a:r>
            <a:endParaRPr>
              <a:solidFill>
                <a:srgbClr val="EA9999"/>
              </a:solidFill>
            </a:endParaRPr>
          </a:p>
          <a:p>
            <a:pPr indent="-342900" lvl="0" marL="457200" rtl="0" algn="l">
              <a:lnSpc>
                <a:spcPct val="115000"/>
              </a:lnSpc>
              <a:spcBef>
                <a:spcPts val="0"/>
              </a:spcBef>
              <a:spcAft>
                <a:spcPts val="0"/>
              </a:spcAft>
              <a:buClr>
                <a:srgbClr val="EA9999"/>
              </a:buClr>
              <a:buSzPts val="1800"/>
              <a:buChar char="+"/>
            </a:pPr>
            <a:r>
              <a:rPr lang="en">
                <a:solidFill>
                  <a:srgbClr val="EA9999"/>
                </a:solidFill>
              </a:rPr>
              <a:t>x!y!z!t + xyt + xzt</a:t>
            </a:r>
            <a:endParaRPr>
              <a:solidFill>
                <a:srgbClr val="EA9999"/>
              </a:solidFill>
            </a:endParaRPr>
          </a:p>
          <a:p>
            <a:pPr indent="0" lvl="0" marL="0" rtl="0" algn="l">
              <a:lnSpc>
                <a:spcPct val="115000"/>
              </a:lnSpc>
              <a:spcBef>
                <a:spcPts val="0"/>
              </a:spcBef>
              <a:spcAft>
                <a:spcPts val="0"/>
              </a:spcAft>
              <a:buSzPts val="1800"/>
              <a:buNone/>
            </a:pPr>
            <a:r>
              <a:rPr lang="en">
                <a:solidFill>
                  <a:srgbClr val="EA9999"/>
                </a:solidFill>
              </a:rPr>
              <a:t>f(x,y,z,t) = f’(x,y,z)  + f”(x,y,z,t) = ...</a:t>
            </a:r>
            <a:endParaRPr>
              <a:solidFill>
                <a:srgbClr val="EA9999"/>
              </a:solidFill>
            </a:endParaRPr>
          </a:p>
          <a:p>
            <a:pPr indent="0" lvl="0" marL="0" rtl="0" algn="l">
              <a:lnSpc>
                <a:spcPct val="115000"/>
              </a:lnSpc>
              <a:spcBef>
                <a:spcPts val="1600"/>
              </a:spcBef>
              <a:spcAft>
                <a:spcPts val="0"/>
              </a:spcAft>
              <a:buClr>
                <a:schemeClr val="dk1"/>
              </a:buClr>
              <a:buSzPts val="1100"/>
              <a:buFont typeface="Arial"/>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graphicFrame>
        <p:nvGraphicFramePr>
          <p:cNvPr id="242" name="Google Shape;242;p14"/>
          <p:cNvGraphicFramePr/>
          <p:nvPr/>
        </p:nvGraphicFramePr>
        <p:xfrm>
          <a:off x="3894588" y="806275"/>
          <a:ext cx="3000000" cy="3000000"/>
        </p:xfrm>
        <a:graphic>
          <a:graphicData uri="http://schemas.openxmlformats.org/drawingml/2006/table">
            <a:tbl>
              <a:tblPr>
                <a:noFill/>
                <a:tableStyleId>{0522C8B3-53B7-4DB1-91CB-C40D2CFB818E}</a:tableStyleId>
              </a:tblPr>
              <a:tblGrid>
                <a:gridCol w="933225"/>
                <a:gridCol w="442575"/>
                <a:gridCol w="468175"/>
                <a:gridCol w="455375"/>
                <a:gridCol w="455375"/>
              </a:tblGrid>
              <a:tr h="609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a:t>
                      </a:r>
                      <a:r>
                        <a:rPr lang="en"/>
                        <a:t>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44077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bl>
          </a:graphicData>
        </a:graphic>
      </p:graphicFrame>
      <p:cxnSp>
        <p:nvCxnSpPr>
          <p:cNvPr id="243" name="Google Shape;243;p14"/>
          <p:cNvCxnSpPr/>
          <p:nvPr/>
        </p:nvCxnSpPr>
        <p:spPr>
          <a:xfrm>
            <a:off x="4083750" y="3066750"/>
            <a:ext cx="976500" cy="399900"/>
          </a:xfrm>
          <a:prstGeom prst="straightConnector1">
            <a:avLst/>
          </a:prstGeom>
          <a:noFill/>
          <a:ln cap="flat" cmpd="sng" w="9525">
            <a:solidFill>
              <a:schemeClr val="dk2"/>
            </a:solidFill>
            <a:prstDash val="solid"/>
            <a:round/>
            <a:headEnd len="sm" w="sm" type="none"/>
            <a:tailEnd len="sm" w="sm" type="none"/>
          </a:ln>
        </p:spPr>
      </p:cxnSp>
      <p:sp>
        <p:nvSpPr>
          <p:cNvPr id="244" name="Google Shape;244;p14"/>
          <p:cNvSpPr/>
          <p:nvPr/>
        </p:nvSpPr>
        <p:spPr>
          <a:xfrm rot="5400000">
            <a:off x="4972975" y="1807350"/>
            <a:ext cx="1557600" cy="7746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4"/>
          <p:cNvSpPr/>
          <p:nvPr/>
        </p:nvSpPr>
        <p:spPr>
          <a:xfrm rot="5400000">
            <a:off x="5706850" y="4454175"/>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4"/>
          <p:cNvSpPr/>
          <p:nvPr/>
        </p:nvSpPr>
        <p:spPr>
          <a:xfrm>
            <a:off x="5787475" y="2252825"/>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4"/>
          <p:cNvSpPr/>
          <p:nvPr/>
        </p:nvSpPr>
        <p:spPr>
          <a:xfrm rot="5400000">
            <a:off x="5078550" y="4633294"/>
            <a:ext cx="36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4"/>
          <p:cNvSpPr/>
          <p:nvPr/>
        </p:nvSpPr>
        <p:spPr>
          <a:xfrm rot="5400000">
            <a:off x="5061800" y="3840869"/>
            <a:ext cx="36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4"/>
          <p:cNvSpPr/>
          <p:nvPr/>
        </p:nvSpPr>
        <p:spPr>
          <a:xfrm rot="5400000">
            <a:off x="5486350" y="3468606"/>
            <a:ext cx="36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4"/>
          <p:cNvSpPr/>
          <p:nvPr/>
        </p:nvSpPr>
        <p:spPr>
          <a:xfrm rot="5400000">
            <a:off x="6278750" y="3468606"/>
            <a:ext cx="36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5"/>
          <p:cNvSpPr txBox="1"/>
          <p:nvPr>
            <p:ph type="title"/>
          </p:nvPr>
        </p:nvSpPr>
        <p:spPr>
          <a:xfrm>
            <a:off x="6900" y="-12175"/>
            <a:ext cx="722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11 - minimizare funcții cu variabile în coloana rezultat - caz special</a:t>
            </a:r>
            <a:endParaRPr sz="2000">
              <a:solidFill>
                <a:srgbClr val="0070C0"/>
              </a:solidFill>
            </a:endParaRPr>
          </a:p>
        </p:txBody>
      </p:sp>
      <p:graphicFrame>
        <p:nvGraphicFramePr>
          <p:cNvPr id="256" name="Google Shape;256;p15"/>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257" name="Google Shape;257;p15"/>
          <p:cNvSpPr/>
          <p:nvPr/>
        </p:nvSpPr>
        <p:spPr>
          <a:xfrm>
            <a:off x="5287350" y="1660325"/>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5"/>
          <p:cNvSpPr txBox="1"/>
          <p:nvPr>
            <p:ph idx="1" type="body"/>
          </p:nvPr>
        </p:nvSpPr>
        <p:spPr>
          <a:xfrm>
            <a:off x="0" y="686825"/>
            <a:ext cx="3894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sp>
        <p:nvSpPr>
          <p:cNvPr id="259" name="Google Shape;259;p15"/>
          <p:cNvSpPr txBox="1"/>
          <p:nvPr>
            <p:ph idx="1" type="body"/>
          </p:nvPr>
        </p:nvSpPr>
        <p:spPr>
          <a:xfrm>
            <a:off x="162875" y="3986775"/>
            <a:ext cx="40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a:t>
            </a:r>
            <a:endParaRPr>
              <a:solidFill>
                <a:srgbClr val="EA9999"/>
              </a:solidFill>
            </a:endParaRPr>
          </a:p>
          <a:p>
            <a:pPr indent="0" lvl="0" marL="0" rtl="0" algn="l">
              <a:lnSpc>
                <a:spcPct val="115000"/>
              </a:lnSpc>
              <a:spcBef>
                <a:spcPts val="1600"/>
              </a:spcBef>
              <a:spcAft>
                <a:spcPts val="0"/>
              </a:spcAft>
              <a:buSzPts val="1800"/>
              <a:buNone/>
            </a:pPr>
            <a:r>
              <a:rPr lang="en">
                <a:solidFill>
                  <a:srgbClr val="EA9999"/>
                </a:solidFill>
              </a:rPr>
              <a:t>f(x,y,z,t) = f’(x,y,z)  + f”(x,y,z,t) =</a:t>
            </a:r>
            <a:endParaRPr>
              <a:solidFill>
                <a:srgbClr val="EA9999"/>
              </a:solidFill>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
        <p:nvSpPr>
          <p:cNvPr id="260" name="Google Shape;260;p15"/>
          <p:cNvSpPr txBox="1"/>
          <p:nvPr>
            <p:ph idx="1" type="body"/>
          </p:nvPr>
        </p:nvSpPr>
        <p:spPr>
          <a:xfrm>
            <a:off x="439525" y="1259513"/>
            <a:ext cx="3311700" cy="113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sz="1400">
              <a:solidFill>
                <a:srgbClr val="000000"/>
              </a:solidFill>
            </a:endParaRPr>
          </a:p>
          <a:p>
            <a:pPr indent="0" lvl="0" marL="0" rtl="0" algn="l">
              <a:lnSpc>
                <a:spcPct val="115000"/>
              </a:lnSpc>
              <a:spcBef>
                <a:spcPts val="0"/>
              </a:spcBef>
              <a:spcAft>
                <a:spcPts val="0"/>
              </a:spcAft>
              <a:buSzPts val="1800"/>
              <a:buNone/>
            </a:pPr>
            <a:r>
              <a:rPr lang="en">
                <a:solidFill>
                  <a:srgbClr val="EA9999"/>
                </a:solidFill>
              </a:rPr>
              <a:t>f’(x,y,z) = !y!zA+!xytA+!x!yz!A+</a:t>
            </a:r>
            <a:endParaRPr>
              <a:solidFill>
                <a:srgbClr val="EA9999"/>
              </a:solidFill>
            </a:endParaRPr>
          </a:p>
          <a:p>
            <a:pPr indent="0" lvl="0" marL="0" rtl="0" algn="l">
              <a:lnSpc>
                <a:spcPct val="115000"/>
              </a:lnSpc>
              <a:spcBef>
                <a:spcPts val="1600"/>
              </a:spcBef>
              <a:spcAft>
                <a:spcPts val="1600"/>
              </a:spcAft>
              <a:buSzPts val="1800"/>
              <a:buNone/>
            </a:pPr>
            <a:r>
              <a:rPr lang="en"/>
              <a:t>+!xy!z!A+xt!A</a:t>
            </a:r>
            <a:endParaRPr/>
          </a:p>
        </p:txBody>
      </p:sp>
      <p:graphicFrame>
        <p:nvGraphicFramePr>
          <p:cNvPr id="261" name="Google Shape;261;p15"/>
          <p:cNvGraphicFramePr/>
          <p:nvPr/>
        </p:nvGraphicFramePr>
        <p:xfrm>
          <a:off x="3953025" y="828550"/>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bl>
          </a:graphicData>
        </a:graphic>
      </p:graphicFrame>
      <p:graphicFrame>
        <p:nvGraphicFramePr>
          <p:cNvPr id="262" name="Google Shape;262;p15"/>
          <p:cNvGraphicFramePr/>
          <p:nvPr/>
        </p:nvGraphicFramePr>
        <p:xfrm>
          <a:off x="3953025" y="2931100"/>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a:t>0</a:t>
                      </a:r>
                      <a:endParaRPr sz="1400" u="none" cap="none" strike="noStrike"/>
                    </a:p>
                  </a:txBody>
                  <a:tcPr marT="91425" marB="91425" marR="91425" marL="91425"/>
                </a:tc>
              </a:tr>
            </a:tbl>
          </a:graphicData>
        </a:graphic>
      </p:graphicFrame>
      <p:cxnSp>
        <p:nvCxnSpPr>
          <p:cNvPr id="263" name="Google Shape;263;p15"/>
          <p:cNvCxnSpPr/>
          <p:nvPr/>
        </p:nvCxnSpPr>
        <p:spPr>
          <a:xfrm>
            <a:off x="3953025" y="2931100"/>
            <a:ext cx="976500" cy="399900"/>
          </a:xfrm>
          <a:prstGeom prst="straightConnector1">
            <a:avLst/>
          </a:prstGeom>
          <a:noFill/>
          <a:ln cap="flat" cmpd="sng" w="9525">
            <a:solidFill>
              <a:schemeClr val="dk2"/>
            </a:solidFill>
            <a:prstDash val="solid"/>
            <a:round/>
            <a:headEnd len="sm" w="sm" type="none"/>
            <a:tailEnd len="sm" w="sm" type="none"/>
          </a:ln>
        </p:spPr>
      </p:cxnSp>
      <p:cxnSp>
        <p:nvCxnSpPr>
          <p:cNvPr id="264" name="Google Shape;264;p15"/>
          <p:cNvCxnSpPr/>
          <p:nvPr/>
        </p:nvCxnSpPr>
        <p:spPr>
          <a:xfrm>
            <a:off x="3953025" y="828550"/>
            <a:ext cx="976500" cy="399900"/>
          </a:xfrm>
          <a:prstGeom prst="straightConnector1">
            <a:avLst/>
          </a:prstGeom>
          <a:noFill/>
          <a:ln cap="flat" cmpd="sng" w="9525">
            <a:solidFill>
              <a:schemeClr val="dk2"/>
            </a:solidFill>
            <a:prstDash val="solid"/>
            <a:round/>
            <a:headEnd len="sm" w="sm" type="none"/>
            <a:tailEnd len="sm" w="sm" type="none"/>
          </a:ln>
        </p:spPr>
      </p:cxnSp>
      <p:sp>
        <p:nvSpPr>
          <p:cNvPr id="265" name="Google Shape;265;p15"/>
          <p:cNvSpPr/>
          <p:nvPr/>
        </p:nvSpPr>
        <p:spPr>
          <a:xfrm rot="-10596172">
            <a:off x="4929506" y="1259861"/>
            <a:ext cx="723972" cy="40032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5"/>
          <p:cNvSpPr/>
          <p:nvPr/>
        </p:nvSpPr>
        <p:spPr>
          <a:xfrm>
            <a:off x="4929475" y="2390300"/>
            <a:ext cx="723900" cy="400500"/>
          </a:xfrm>
          <a:prstGeom prst="round2SameRect">
            <a:avLst>
              <a:gd fmla="val 16667" name="adj1"/>
              <a:gd fmla="val 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5"/>
          <p:cNvSpPr/>
          <p:nvPr/>
        </p:nvSpPr>
        <p:spPr>
          <a:xfrm rot="10800000">
            <a:off x="4929550" y="1660325"/>
            <a:ext cx="7239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5"/>
          <p:cNvSpPr/>
          <p:nvPr/>
        </p:nvSpPr>
        <p:spPr>
          <a:xfrm rot="-1425">
            <a:off x="5303125" y="2047209"/>
            <a:ext cx="723900" cy="6957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5"/>
          <p:cNvSpPr/>
          <p:nvPr/>
        </p:nvSpPr>
        <p:spPr>
          <a:xfrm rot="-10648760">
            <a:off x="5720327" y="1266035"/>
            <a:ext cx="648027" cy="400578"/>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5"/>
          <p:cNvSpPr/>
          <p:nvPr/>
        </p:nvSpPr>
        <p:spPr>
          <a:xfrm rot="10800000">
            <a:off x="1638425" y="2930800"/>
            <a:ext cx="7239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5"/>
          <p:cNvSpPr/>
          <p:nvPr/>
        </p:nvSpPr>
        <p:spPr>
          <a:xfrm rot="10800000">
            <a:off x="1790825" y="3083200"/>
            <a:ext cx="7239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5"/>
          <p:cNvSpPr/>
          <p:nvPr/>
        </p:nvSpPr>
        <p:spPr>
          <a:xfrm rot="10800000">
            <a:off x="1943225" y="3235600"/>
            <a:ext cx="7239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5"/>
          <p:cNvSpPr/>
          <p:nvPr/>
        </p:nvSpPr>
        <p:spPr>
          <a:xfrm rot="10800000">
            <a:off x="4904575" y="3327300"/>
            <a:ext cx="3261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5"/>
          <p:cNvSpPr/>
          <p:nvPr/>
        </p:nvSpPr>
        <p:spPr>
          <a:xfrm rot="10800000">
            <a:off x="5303125" y="3721375"/>
            <a:ext cx="3261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5"/>
          <p:cNvSpPr/>
          <p:nvPr/>
        </p:nvSpPr>
        <p:spPr>
          <a:xfrm rot="10800000">
            <a:off x="6103800" y="3327300"/>
            <a:ext cx="3261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5"/>
          <p:cNvSpPr/>
          <p:nvPr/>
        </p:nvSpPr>
        <p:spPr>
          <a:xfrm rot="10800000">
            <a:off x="6103800" y="4121875"/>
            <a:ext cx="3261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5"/>
          <p:cNvSpPr/>
          <p:nvPr/>
        </p:nvSpPr>
        <p:spPr>
          <a:xfrm rot="10800000">
            <a:off x="5303125" y="4475825"/>
            <a:ext cx="326100" cy="400500"/>
          </a:xfrm>
          <a:prstGeom prst="round2SameRect">
            <a:avLst>
              <a:gd fmla="val 16667" name="adj1"/>
              <a:gd fmla="val 0" name="adj2"/>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6"/>
          <p:cNvSpPr txBox="1"/>
          <p:nvPr>
            <p:ph type="title"/>
          </p:nvPr>
        </p:nvSpPr>
        <p:spPr>
          <a:xfrm>
            <a:off x="6900" y="-12175"/>
            <a:ext cx="722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12 - minimizare funcții cu variabile în coloana rezultat incomplet specificate</a:t>
            </a:r>
            <a:endParaRPr sz="2000">
              <a:solidFill>
                <a:srgbClr val="0070C0"/>
              </a:solidFill>
            </a:endParaRPr>
          </a:p>
        </p:txBody>
      </p:sp>
      <p:graphicFrame>
        <p:nvGraphicFramePr>
          <p:cNvPr id="283" name="Google Shape;283;p16"/>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B</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B</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B</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284" name="Google Shape;284;p16"/>
          <p:cNvSpPr txBox="1"/>
          <p:nvPr>
            <p:ph idx="1" type="body"/>
          </p:nvPr>
        </p:nvSpPr>
        <p:spPr>
          <a:xfrm>
            <a:off x="0" y="686825"/>
            <a:ext cx="3894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sp>
        <p:nvSpPr>
          <p:cNvPr id="285" name="Google Shape;285;p16"/>
          <p:cNvSpPr txBox="1"/>
          <p:nvPr>
            <p:ph idx="1" type="body"/>
          </p:nvPr>
        </p:nvSpPr>
        <p:spPr>
          <a:xfrm>
            <a:off x="162875" y="3986775"/>
            <a:ext cx="4079700" cy="78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a:t>
            </a:r>
            <a:endParaRPr>
              <a:solidFill>
                <a:srgbClr val="EA9999"/>
              </a:solidFill>
            </a:endParaRPr>
          </a:p>
          <a:p>
            <a:pPr indent="0" lvl="0" marL="0" rtl="0" algn="l">
              <a:lnSpc>
                <a:spcPct val="115000"/>
              </a:lnSpc>
              <a:spcBef>
                <a:spcPts val="0"/>
              </a:spcBef>
              <a:spcAft>
                <a:spcPts val="0"/>
              </a:spcAft>
              <a:buSzPts val="1800"/>
              <a:buNone/>
            </a:pPr>
            <a:r>
              <a:rPr lang="en">
                <a:solidFill>
                  <a:srgbClr val="EA9999"/>
                </a:solidFill>
              </a:rPr>
              <a:t>f(x,y,z,t) = f’(x,y,z)  + f”(x,y,z,t) =</a:t>
            </a:r>
            <a:endParaRPr>
              <a:solidFill>
                <a:srgbClr val="EA9999"/>
              </a:solidFill>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cxnSp>
        <p:nvCxnSpPr>
          <p:cNvPr id="286" name="Google Shape;286;p16"/>
          <p:cNvCxnSpPr/>
          <p:nvPr/>
        </p:nvCxnSpPr>
        <p:spPr>
          <a:xfrm>
            <a:off x="4109675" y="3071600"/>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287" name="Google Shape;287;p16"/>
          <p:cNvGraphicFramePr/>
          <p:nvPr/>
        </p:nvGraphicFramePr>
        <p:xfrm>
          <a:off x="4109675" y="3066750"/>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cxnSp>
        <p:nvCxnSpPr>
          <p:cNvPr id="288" name="Google Shape;288;p16"/>
          <p:cNvCxnSpPr/>
          <p:nvPr/>
        </p:nvCxnSpPr>
        <p:spPr>
          <a:xfrm>
            <a:off x="4061175" y="924875"/>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289" name="Google Shape;289;p16"/>
          <p:cNvGraphicFramePr/>
          <p:nvPr/>
        </p:nvGraphicFramePr>
        <p:xfrm>
          <a:off x="4061175" y="920025"/>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txBox="1"/>
          <p:nvPr>
            <p:ph type="title"/>
          </p:nvPr>
        </p:nvSpPr>
        <p:spPr>
          <a:xfrm>
            <a:off x="6900" y="-12175"/>
            <a:ext cx="722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13 - minimizare funcții cu variabile în coloana rezultat incomplet specificate</a:t>
            </a:r>
            <a:endParaRPr sz="2000">
              <a:solidFill>
                <a:srgbClr val="0070C0"/>
              </a:solidFill>
            </a:endParaRPr>
          </a:p>
        </p:txBody>
      </p:sp>
      <p:graphicFrame>
        <p:nvGraphicFramePr>
          <p:cNvPr id="295" name="Google Shape;295;p17"/>
          <p:cNvGraphicFramePr/>
          <p:nvPr/>
        </p:nvGraphicFramePr>
        <p:xfrm>
          <a:off x="7229750" y="0"/>
          <a:ext cx="3000000" cy="3000000"/>
        </p:xfrm>
        <a:graphic>
          <a:graphicData uri="http://schemas.openxmlformats.org/drawingml/2006/table">
            <a:tbl>
              <a:tblPr>
                <a:noFill/>
                <a:tableStyleId>{0522C8B3-53B7-4DB1-91CB-C40D2CFB818E}</a:tableStyleId>
              </a:tblPr>
              <a:tblGrid>
                <a:gridCol w="382850"/>
                <a:gridCol w="382850"/>
                <a:gridCol w="382850"/>
                <a:gridCol w="382850"/>
                <a:gridCol w="382850"/>
              </a:tblGrid>
              <a:tr h="299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x</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y</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z</a:t>
                      </a:r>
                      <a:endParaRPr b="1" sz="8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t</a:t>
                      </a:r>
                      <a:endParaRPr b="1" sz="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f</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solidFill>
                      <a:srgbClr val="00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B</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0</a:t>
                      </a:r>
                      <a:endParaRPr b="1" sz="800" u="none" cap="none" strike="noStrike"/>
                    </a:p>
                  </a:txBody>
                  <a:tcPr marT="91425" marB="91425" marR="91425" marL="91425"/>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B</a:t>
                      </a:r>
                      <a:endParaRPr b="1" sz="800" u="none" cap="none" strike="noStrike"/>
                    </a:p>
                  </a:txBody>
                  <a:tcPr marT="91425" marB="91425" marR="91425" marL="91425">
                    <a:lnL cap="flat" cmpd="sng" w="9525">
                      <a:solidFill>
                        <a:srgbClr val="9E9E9E"/>
                      </a:solidFill>
                      <a:prstDash val="solid"/>
                      <a:round/>
                      <a:headEnd len="sm" w="sm" type="none"/>
                      <a:tailEnd len="sm" w="sm" type="none"/>
                    </a:lnL>
                    <a:solidFill>
                      <a:srgbClr val="00FFFF"/>
                    </a:solidFil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0</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1</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r h="30272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t>1</a:t>
                      </a:r>
                      <a:endParaRPr sz="8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t>*</a:t>
                      </a:r>
                      <a:endParaRPr b="1" sz="8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296" name="Google Shape;296;p17"/>
          <p:cNvSpPr txBox="1"/>
          <p:nvPr>
            <p:ph idx="1" type="body"/>
          </p:nvPr>
        </p:nvSpPr>
        <p:spPr>
          <a:xfrm>
            <a:off x="0" y="686825"/>
            <a:ext cx="3894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800"/>
              <a:buNone/>
            </a:pPr>
            <a:r>
              <a:rPr lang="en"/>
              <a:t>Minimizați funcția dată prin tabelul de adevăr din dreapta:</a:t>
            </a:r>
            <a:endParaRPr/>
          </a:p>
        </p:txBody>
      </p:sp>
      <p:sp>
        <p:nvSpPr>
          <p:cNvPr id="297" name="Google Shape;297;p17"/>
          <p:cNvSpPr txBox="1"/>
          <p:nvPr>
            <p:ph idx="1" type="body"/>
          </p:nvPr>
        </p:nvSpPr>
        <p:spPr>
          <a:xfrm>
            <a:off x="162875" y="3986775"/>
            <a:ext cx="40797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f”(x,y,z,t) =?</a:t>
            </a:r>
            <a:endParaRPr>
              <a:solidFill>
                <a:srgbClr val="EA9999"/>
              </a:solidFill>
            </a:endParaRPr>
          </a:p>
          <a:p>
            <a:pPr indent="0" lvl="0" marL="0" rtl="0" algn="l">
              <a:lnSpc>
                <a:spcPct val="115000"/>
              </a:lnSpc>
              <a:spcBef>
                <a:spcPts val="0"/>
              </a:spcBef>
              <a:spcAft>
                <a:spcPts val="0"/>
              </a:spcAft>
              <a:buSzPts val="1800"/>
              <a:buNone/>
            </a:pPr>
            <a:r>
              <a:rPr lang="en">
                <a:solidFill>
                  <a:srgbClr val="EA9999"/>
                </a:solidFill>
              </a:rPr>
              <a:t>f(x,y,z,t) = f’(x,y,z)  + f”(x,y,z,t) =</a:t>
            </a:r>
            <a:endParaRPr>
              <a:solidFill>
                <a:srgbClr val="EA9999"/>
              </a:solidFill>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
        <p:nvSpPr>
          <p:cNvPr id="298" name="Google Shape;298;p17"/>
          <p:cNvSpPr txBox="1"/>
          <p:nvPr>
            <p:ph idx="1" type="body"/>
          </p:nvPr>
        </p:nvSpPr>
        <p:spPr>
          <a:xfrm>
            <a:off x="384025" y="1697425"/>
            <a:ext cx="35541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EA9999"/>
                </a:solidFill>
              </a:rPr>
              <a:t>f’(x,y,z) =?</a:t>
            </a:r>
            <a:endParaRPr/>
          </a:p>
        </p:txBody>
      </p:sp>
      <p:cxnSp>
        <p:nvCxnSpPr>
          <p:cNvPr id="299" name="Google Shape;299;p17"/>
          <p:cNvCxnSpPr/>
          <p:nvPr/>
        </p:nvCxnSpPr>
        <p:spPr>
          <a:xfrm>
            <a:off x="4061175" y="924875"/>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300" name="Google Shape;300;p17"/>
          <p:cNvGraphicFramePr/>
          <p:nvPr/>
        </p:nvGraphicFramePr>
        <p:xfrm>
          <a:off x="4061175" y="920025"/>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cxnSp>
        <p:nvCxnSpPr>
          <p:cNvPr id="301" name="Google Shape;301;p17"/>
          <p:cNvCxnSpPr/>
          <p:nvPr/>
        </p:nvCxnSpPr>
        <p:spPr>
          <a:xfrm>
            <a:off x="4109675" y="3071600"/>
            <a:ext cx="976500" cy="399900"/>
          </a:xfrm>
          <a:prstGeom prst="straightConnector1">
            <a:avLst/>
          </a:prstGeom>
          <a:noFill/>
          <a:ln cap="flat" cmpd="sng" w="9525">
            <a:solidFill>
              <a:schemeClr val="dk2"/>
            </a:solidFill>
            <a:prstDash val="solid"/>
            <a:round/>
            <a:headEnd len="sm" w="sm" type="none"/>
            <a:tailEnd len="sm" w="sm" type="none"/>
          </a:ln>
        </p:spPr>
      </p:cxnSp>
      <p:graphicFrame>
        <p:nvGraphicFramePr>
          <p:cNvPr id="302" name="Google Shape;302;p17"/>
          <p:cNvGraphicFramePr/>
          <p:nvPr/>
        </p:nvGraphicFramePr>
        <p:xfrm>
          <a:off x="4109675" y="3066750"/>
          <a:ext cx="3000000" cy="3000000"/>
        </p:xfrm>
        <a:graphic>
          <a:graphicData uri="http://schemas.openxmlformats.org/drawingml/2006/table">
            <a:tbl>
              <a:tblPr>
                <a:noFill/>
                <a:tableStyleId>{0522C8B3-53B7-4DB1-91CB-C40D2CFB818E}</a:tableStyleId>
              </a:tblPr>
              <a:tblGrid>
                <a:gridCol w="951475"/>
                <a:gridCol w="382850"/>
                <a:gridCol w="424550"/>
                <a:gridCol w="391900"/>
                <a:gridCol w="395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xy         zt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11</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0000"/>
                          </a:solidFill>
                        </a:rPr>
                        <a:t>10</a:t>
                      </a:r>
                      <a:endParaRPr sz="14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2060"/>
                </a:solidFill>
              </a:rPr>
              <a:t>Exercițiul 14 - implementare folosind porți</a:t>
            </a:r>
            <a:endParaRPr sz="2000">
              <a:solidFill>
                <a:srgbClr val="002060"/>
              </a:solidFill>
            </a:endParaRPr>
          </a:p>
        </p:txBody>
      </p:sp>
      <p:sp>
        <p:nvSpPr>
          <p:cNvPr id="308" name="Google Shape;308;p18"/>
          <p:cNvSpPr/>
          <p:nvPr/>
        </p:nvSpPr>
        <p:spPr>
          <a:xfrm>
            <a:off x="627550" y="1783563"/>
            <a:ext cx="510300" cy="572700"/>
          </a:xfrm>
          <a:prstGeom prst="flowChartDelay">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9" name="Google Shape;309;p18"/>
          <p:cNvCxnSpPr/>
          <p:nvPr/>
        </p:nvCxnSpPr>
        <p:spPr>
          <a:xfrm rot="10800000">
            <a:off x="130750" y="1966875"/>
            <a:ext cx="496800" cy="0"/>
          </a:xfrm>
          <a:prstGeom prst="straightConnector1">
            <a:avLst/>
          </a:prstGeom>
          <a:noFill/>
          <a:ln cap="flat" cmpd="sng" w="9525">
            <a:solidFill>
              <a:schemeClr val="dk2"/>
            </a:solidFill>
            <a:prstDash val="solid"/>
            <a:round/>
            <a:headEnd len="sm" w="sm" type="none"/>
            <a:tailEnd len="sm" w="sm" type="none"/>
          </a:ln>
        </p:spPr>
      </p:cxnSp>
      <p:cxnSp>
        <p:nvCxnSpPr>
          <p:cNvPr id="310" name="Google Shape;310;p18"/>
          <p:cNvCxnSpPr/>
          <p:nvPr/>
        </p:nvCxnSpPr>
        <p:spPr>
          <a:xfrm rot="10800000">
            <a:off x="130750" y="2250225"/>
            <a:ext cx="496800" cy="0"/>
          </a:xfrm>
          <a:prstGeom prst="straightConnector1">
            <a:avLst/>
          </a:prstGeom>
          <a:noFill/>
          <a:ln cap="flat" cmpd="sng" w="9525">
            <a:solidFill>
              <a:schemeClr val="dk2"/>
            </a:solidFill>
            <a:prstDash val="solid"/>
            <a:round/>
            <a:headEnd len="sm" w="sm" type="none"/>
            <a:tailEnd len="sm" w="sm" type="none"/>
          </a:ln>
        </p:spPr>
      </p:cxnSp>
      <p:cxnSp>
        <p:nvCxnSpPr>
          <p:cNvPr id="311" name="Google Shape;311;p18"/>
          <p:cNvCxnSpPr/>
          <p:nvPr/>
        </p:nvCxnSpPr>
        <p:spPr>
          <a:xfrm flipH="1">
            <a:off x="1137950" y="2089550"/>
            <a:ext cx="931500" cy="15900"/>
          </a:xfrm>
          <a:prstGeom prst="straightConnector1">
            <a:avLst/>
          </a:prstGeom>
          <a:noFill/>
          <a:ln cap="flat" cmpd="sng" w="9525">
            <a:solidFill>
              <a:schemeClr val="dk2"/>
            </a:solidFill>
            <a:prstDash val="solid"/>
            <a:round/>
            <a:headEnd len="sm" w="sm" type="none"/>
            <a:tailEnd len="sm" w="sm" type="none"/>
          </a:ln>
        </p:spPr>
      </p:cxnSp>
      <p:cxnSp>
        <p:nvCxnSpPr>
          <p:cNvPr id="312" name="Google Shape;312;p18"/>
          <p:cNvCxnSpPr/>
          <p:nvPr/>
        </p:nvCxnSpPr>
        <p:spPr>
          <a:xfrm rot="10800000">
            <a:off x="252538" y="2984863"/>
            <a:ext cx="496800" cy="0"/>
          </a:xfrm>
          <a:prstGeom prst="straightConnector1">
            <a:avLst/>
          </a:prstGeom>
          <a:noFill/>
          <a:ln cap="flat" cmpd="sng" w="9525">
            <a:solidFill>
              <a:schemeClr val="dk2"/>
            </a:solidFill>
            <a:prstDash val="solid"/>
            <a:round/>
            <a:headEnd len="sm" w="sm" type="none"/>
            <a:tailEnd len="sm" w="sm" type="none"/>
          </a:ln>
        </p:spPr>
      </p:cxnSp>
      <p:cxnSp>
        <p:nvCxnSpPr>
          <p:cNvPr id="313" name="Google Shape;313;p18"/>
          <p:cNvCxnSpPr/>
          <p:nvPr/>
        </p:nvCxnSpPr>
        <p:spPr>
          <a:xfrm rot="10800000">
            <a:off x="252538" y="3268213"/>
            <a:ext cx="496800" cy="0"/>
          </a:xfrm>
          <a:prstGeom prst="straightConnector1">
            <a:avLst/>
          </a:prstGeom>
          <a:noFill/>
          <a:ln cap="flat" cmpd="sng" w="9525">
            <a:solidFill>
              <a:schemeClr val="dk2"/>
            </a:solidFill>
            <a:prstDash val="solid"/>
            <a:round/>
            <a:headEnd len="sm" w="sm" type="none"/>
            <a:tailEnd len="sm" w="sm" type="none"/>
          </a:ln>
        </p:spPr>
      </p:cxnSp>
      <p:cxnSp>
        <p:nvCxnSpPr>
          <p:cNvPr id="314" name="Google Shape;314;p18"/>
          <p:cNvCxnSpPr/>
          <p:nvPr/>
        </p:nvCxnSpPr>
        <p:spPr>
          <a:xfrm rot="10800000">
            <a:off x="1016038" y="3123488"/>
            <a:ext cx="496800" cy="0"/>
          </a:xfrm>
          <a:prstGeom prst="straightConnector1">
            <a:avLst/>
          </a:prstGeom>
          <a:noFill/>
          <a:ln cap="flat" cmpd="sng" w="9525">
            <a:solidFill>
              <a:schemeClr val="dk2"/>
            </a:solidFill>
            <a:prstDash val="solid"/>
            <a:round/>
            <a:headEnd len="sm" w="sm" type="none"/>
            <a:tailEnd len="sm" w="sm" type="none"/>
          </a:ln>
        </p:spPr>
      </p:cxnSp>
      <p:sp>
        <p:nvSpPr>
          <p:cNvPr id="315" name="Google Shape;315;p18"/>
          <p:cNvSpPr/>
          <p:nvPr/>
        </p:nvSpPr>
        <p:spPr>
          <a:xfrm rot="10800000">
            <a:off x="558838" y="2777738"/>
            <a:ext cx="457200" cy="6915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8"/>
          <p:cNvSpPr/>
          <p:nvPr/>
        </p:nvSpPr>
        <p:spPr>
          <a:xfrm rot="5400000">
            <a:off x="656107" y="3862138"/>
            <a:ext cx="271475" cy="328600"/>
          </a:xfrm>
          <a:prstGeom prst="flowChartExtra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8"/>
          <p:cNvSpPr/>
          <p:nvPr/>
        </p:nvSpPr>
        <p:spPr>
          <a:xfrm>
            <a:off x="956150" y="3974088"/>
            <a:ext cx="109500" cy="1047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8" name="Google Shape;318;p18"/>
          <p:cNvCxnSpPr/>
          <p:nvPr/>
        </p:nvCxnSpPr>
        <p:spPr>
          <a:xfrm rot="10800000">
            <a:off x="130738" y="4026438"/>
            <a:ext cx="496800" cy="0"/>
          </a:xfrm>
          <a:prstGeom prst="straightConnector1">
            <a:avLst/>
          </a:prstGeom>
          <a:noFill/>
          <a:ln cap="flat" cmpd="sng" w="9525">
            <a:solidFill>
              <a:schemeClr val="dk2"/>
            </a:solidFill>
            <a:prstDash val="solid"/>
            <a:round/>
            <a:headEnd len="sm" w="sm" type="none"/>
            <a:tailEnd len="sm" w="sm" type="none"/>
          </a:ln>
        </p:spPr>
      </p:cxnSp>
      <p:cxnSp>
        <p:nvCxnSpPr>
          <p:cNvPr id="319" name="Google Shape;319;p18"/>
          <p:cNvCxnSpPr/>
          <p:nvPr/>
        </p:nvCxnSpPr>
        <p:spPr>
          <a:xfrm rot="10800000">
            <a:off x="997288" y="4026438"/>
            <a:ext cx="496800" cy="0"/>
          </a:xfrm>
          <a:prstGeom prst="straightConnector1">
            <a:avLst/>
          </a:prstGeom>
          <a:noFill/>
          <a:ln cap="flat" cmpd="sng" w="9525">
            <a:solidFill>
              <a:schemeClr val="dk2"/>
            </a:solidFill>
            <a:prstDash val="solid"/>
            <a:round/>
            <a:headEnd len="sm" w="sm" type="none"/>
            <a:tailEnd len="sm" w="sm" type="none"/>
          </a:ln>
        </p:spPr>
      </p:cxnSp>
      <p:sp>
        <p:nvSpPr>
          <p:cNvPr id="320" name="Google Shape;32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000">
                <a:solidFill>
                  <a:srgbClr val="0070C0"/>
                </a:solidFill>
              </a:rPr>
              <a:t>Exercițiul 15 - implementare folosind porți NAND</a:t>
            </a:r>
            <a:endParaRPr sz="2000">
              <a:solidFill>
                <a:srgbClr val="0070C0"/>
              </a:solidFill>
            </a:endParaRPr>
          </a:p>
          <a:p>
            <a:pPr indent="0" lvl="0" marL="0" rtl="0" algn="l">
              <a:lnSpc>
                <a:spcPct val="100000"/>
              </a:lnSpc>
              <a:spcBef>
                <a:spcPts val="0"/>
              </a:spcBef>
              <a:spcAft>
                <a:spcPts val="0"/>
              </a:spcAft>
              <a:buSzPts val="2800"/>
              <a:buNone/>
            </a:pPr>
            <a:r>
              <a:t/>
            </a:r>
            <a:endParaRPr sz="2000">
              <a:solidFill>
                <a:srgbClr val="0070C0"/>
              </a:solidFill>
            </a:endParaRPr>
          </a:p>
        </p:txBody>
      </p:sp>
      <p:sp>
        <p:nvSpPr>
          <p:cNvPr id="326" name="Google Shape;326;p19"/>
          <p:cNvSpPr txBox="1"/>
          <p:nvPr/>
        </p:nvSpPr>
        <p:spPr>
          <a:xfrm>
            <a:off x="125525" y="1195225"/>
            <a:ext cx="3000000" cy="442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800"/>
              <a:buFont typeface="Arial"/>
              <a:buNone/>
            </a:pPr>
            <a:r>
              <a:rPr b="0" i="0" lang="en" sz="1800" u="none" cap="none" strike="noStrike">
                <a:solidFill>
                  <a:srgbClr val="EA9999"/>
                </a:solidFill>
                <a:latin typeface="Arial"/>
                <a:ea typeface="Arial"/>
                <a:cs typeface="Arial"/>
                <a:sym typeface="Arial"/>
              </a:rPr>
              <a:t>f(x,y,z,t) = </a:t>
            </a:r>
            <a:r>
              <a:rPr lang="en" sz="1800">
                <a:solidFill>
                  <a:srgbClr val="EA9999"/>
                </a:solidFill>
              </a:rPr>
              <a:t>!((!(x*y))*(!(z*t)))</a:t>
            </a:r>
            <a:endParaRPr b="0" i="0" sz="1800" u="none" cap="none" strike="noStrike">
              <a:solidFill>
                <a:srgbClr val="EA9999"/>
              </a:solidFill>
              <a:latin typeface="Arial"/>
              <a:ea typeface="Arial"/>
              <a:cs typeface="Arial"/>
              <a:sym typeface="Arial"/>
            </a:endParaRPr>
          </a:p>
        </p:txBody>
      </p:sp>
      <p:sp>
        <p:nvSpPr>
          <p:cNvPr id="327" name="Google Shape;327;p19"/>
          <p:cNvSpPr/>
          <p:nvPr/>
        </p:nvSpPr>
        <p:spPr>
          <a:xfrm>
            <a:off x="613050" y="1780800"/>
            <a:ext cx="510300" cy="572700"/>
          </a:xfrm>
          <a:prstGeom prst="flowChartDelay">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28" name="Google Shape;328;p19"/>
          <p:cNvCxnSpPr/>
          <p:nvPr/>
        </p:nvCxnSpPr>
        <p:spPr>
          <a:xfrm rot="10800000">
            <a:off x="116250" y="1928525"/>
            <a:ext cx="496800" cy="0"/>
          </a:xfrm>
          <a:prstGeom prst="straightConnector1">
            <a:avLst/>
          </a:prstGeom>
          <a:noFill/>
          <a:ln cap="flat" cmpd="sng" w="9525">
            <a:solidFill>
              <a:schemeClr val="dk2"/>
            </a:solidFill>
            <a:prstDash val="solid"/>
            <a:round/>
            <a:headEnd len="sm" w="sm" type="none"/>
            <a:tailEnd len="sm" w="sm" type="none"/>
          </a:ln>
        </p:spPr>
      </p:cxnSp>
      <p:cxnSp>
        <p:nvCxnSpPr>
          <p:cNvPr id="329" name="Google Shape;329;p19"/>
          <p:cNvCxnSpPr/>
          <p:nvPr/>
        </p:nvCxnSpPr>
        <p:spPr>
          <a:xfrm rot="10800000">
            <a:off x="116250" y="2211875"/>
            <a:ext cx="496800" cy="0"/>
          </a:xfrm>
          <a:prstGeom prst="straightConnector1">
            <a:avLst/>
          </a:prstGeom>
          <a:noFill/>
          <a:ln cap="flat" cmpd="sng" w="9525">
            <a:solidFill>
              <a:schemeClr val="dk2"/>
            </a:solidFill>
            <a:prstDash val="solid"/>
            <a:round/>
            <a:headEnd len="sm" w="sm" type="none"/>
            <a:tailEnd len="sm" w="sm" type="none"/>
          </a:ln>
        </p:spPr>
      </p:cxnSp>
      <p:cxnSp>
        <p:nvCxnSpPr>
          <p:cNvPr id="330" name="Google Shape;330;p19"/>
          <p:cNvCxnSpPr/>
          <p:nvPr/>
        </p:nvCxnSpPr>
        <p:spPr>
          <a:xfrm rot="10800000">
            <a:off x="1232850" y="2067150"/>
            <a:ext cx="496800" cy="0"/>
          </a:xfrm>
          <a:prstGeom prst="straightConnector1">
            <a:avLst/>
          </a:prstGeom>
          <a:noFill/>
          <a:ln cap="flat" cmpd="sng" w="9525">
            <a:solidFill>
              <a:schemeClr val="dk2"/>
            </a:solidFill>
            <a:prstDash val="solid"/>
            <a:round/>
            <a:headEnd len="sm" w="sm" type="none"/>
            <a:tailEnd len="sm" w="sm" type="none"/>
          </a:ln>
        </p:spPr>
      </p:cxnSp>
      <p:sp>
        <p:nvSpPr>
          <p:cNvPr id="331" name="Google Shape;331;p19"/>
          <p:cNvSpPr/>
          <p:nvPr/>
        </p:nvSpPr>
        <p:spPr>
          <a:xfrm>
            <a:off x="1123350" y="2014803"/>
            <a:ext cx="109500" cy="1047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33" name="Google Shape;333;p19"/>
          <p:cNvSpPr/>
          <p:nvPr/>
        </p:nvSpPr>
        <p:spPr>
          <a:xfrm>
            <a:off x="2967900" y="2285400"/>
            <a:ext cx="510300" cy="572700"/>
          </a:xfrm>
          <a:prstGeom prst="flowChartDelay">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34" name="Google Shape;334;p19"/>
          <p:cNvCxnSpPr/>
          <p:nvPr/>
        </p:nvCxnSpPr>
        <p:spPr>
          <a:xfrm rot="10800000">
            <a:off x="2471100" y="2433125"/>
            <a:ext cx="496800" cy="0"/>
          </a:xfrm>
          <a:prstGeom prst="straightConnector1">
            <a:avLst/>
          </a:prstGeom>
          <a:noFill/>
          <a:ln cap="flat" cmpd="sng" w="9525">
            <a:solidFill>
              <a:schemeClr val="dk2"/>
            </a:solidFill>
            <a:prstDash val="solid"/>
            <a:round/>
            <a:headEnd len="sm" w="sm" type="none"/>
            <a:tailEnd len="sm" w="sm" type="none"/>
          </a:ln>
        </p:spPr>
      </p:cxnSp>
      <p:cxnSp>
        <p:nvCxnSpPr>
          <p:cNvPr id="335" name="Google Shape;335;p19"/>
          <p:cNvCxnSpPr/>
          <p:nvPr/>
        </p:nvCxnSpPr>
        <p:spPr>
          <a:xfrm rot="10800000">
            <a:off x="2471100" y="2716475"/>
            <a:ext cx="496800" cy="0"/>
          </a:xfrm>
          <a:prstGeom prst="straightConnector1">
            <a:avLst/>
          </a:prstGeom>
          <a:noFill/>
          <a:ln cap="flat" cmpd="sng" w="9525">
            <a:solidFill>
              <a:schemeClr val="dk2"/>
            </a:solidFill>
            <a:prstDash val="solid"/>
            <a:round/>
            <a:headEnd len="sm" w="sm" type="none"/>
            <a:tailEnd len="sm" w="sm" type="none"/>
          </a:ln>
        </p:spPr>
      </p:cxnSp>
      <p:cxnSp>
        <p:nvCxnSpPr>
          <p:cNvPr id="336" name="Google Shape;336;p19"/>
          <p:cNvCxnSpPr/>
          <p:nvPr/>
        </p:nvCxnSpPr>
        <p:spPr>
          <a:xfrm rot="10800000">
            <a:off x="3587700" y="2571750"/>
            <a:ext cx="496800" cy="0"/>
          </a:xfrm>
          <a:prstGeom prst="straightConnector1">
            <a:avLst/>
          </a:prstGeom>
          <a:noFill/>
          <a:ln cap="flat" cmpd="sng" w="9525">
            <a:solidFill>
              <a:schemeClr val="dk2"/>
            </a:solidFill>
            <a:prstDash val="solid"/>
            <a:round/>
            <a:headEnd len="sm" w="sm" type="none"/>
            <a:tailEnd len="sm" w="sm" type="none"/>
          </a:ln>
        </p:spPr>
      </p:cxnSp>
      <p:sp>
        <p:nvSpPr>
          <p:cNvPr id="337" name="Google Shape;337;p19"/>
          <p:cNvSpPr/>
          <p:nvPr/>
        </p:nvSpPr>
        <p:spPr>
          <a:xfrm>
            <a:off x="3478200" y="2519388"/>
            <a:ext cx="109500" cy="1047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9"/>
          <p:cNvSpPr/>
          <p:nvPr/>
        </p:nvSpPr>
        <p:spPr>
          <a:xfrm>
            <a:off x="868200" y="3406025"/>
            <a:ext cx="510300" cy="572700"/>
          </a:xfrm>
          <a:prstGeom prst="flowChartDelay">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39" name="Google Shape;339;p19"/>
          <p:cNvCxnSpPr/>
          <p:nvPr/>
        </p:nvCxnSpPr>
        <p:spPr>
          <a:xfrm rot="10800000">
            <a:off x="371400" y="3553750"/>
            <a:ext cx="496800" cy="0"/>
          </a:xfrm>
          <a:prstGeom prst="straightConnector1">
            <a:avLst/>
          </a:prstGeom>
          <a:noFill/>
          <a:ln cap="flat" cmpd="sng" w="9525">
            <a:solidFill>
              <a:schemeClr val="dk2"/>
            </a:solidFill>
            <a:prstDash val="solid"/>
            <a:round/>
            <a:headEnd len="sm" w="sm" type="none"/>
            <a:tailEnd len="sm" w="sm" type="none"/>
          </a:ln>
        </p:spPr>
      </p:cxnSp>
      <p:cxnSp>
        <p:nvCxnSpPr>
          <p:cNvPr id="340" name="Google Shape;340;p19"/>
          <p:cNvCxnSpPr/>
          <p:nvPr/>
        </p:nvCxnSpPr>
        <p:spPr>
          <a:xfrm rot="10800000">
            <a:off x="371400" y="3837100"/>
            <a:ext cx="496800" cy="0"/>
          </a:xfrm>
          <a:prstGeom prst="straightConnector1">
            <a:avLst/>
          </a:prstGeom>
          <a:noFill/>
          <a:ln cap="flat" cmpd="sng" w="9525">
            <a:solidFill>
              <a:schemeClr val="dk2"/>
            </a:solidFill>
            <a:prstDash val="solid"/>
            <a:round/>
            <a:headEnd len="sm" w="sm" type="none"/>
            <a:tailEnd len="sm" w="sm" type="none"/>
          </a:ln>
        </p:spPr>
      </p:cxnSp>
      <p:cxnSp>
        <p:nvCxnSpPr>
          <p:cNvPr id="341" name="Google Shape;341;p19"/>
          <p:cNvCxnSpPr/>
          <p:nvPr/>
        </p:nvCxnSpPr>
        <p:spPr>
          <a:xfrm rot="10800000">
            <a:off x="1488000" y="3692375"/>
            <a:ext cx="496800" cy="0"/>
          </a:xfrm>
          <a:prstGeom prst="straightConnector1">
            <a:avLst/>
          </a:prstGeom>
          <a:noFill/>
          <a:ln cap="flat" cmpd="sng" w="9525">
            <a:solidFill>
              <a:schemeClr val="dk2"/>
            </a:solidFill>
            <a:prstDash val="solid"/>
            <a:round/>
            <a:headEnd len="sm" w="sm" type="none"/>
            <a:tailEnd len="sm" w="sm" type="none"/>
          </a:ln>
        </p:spPr>
      </p:cxnSp>
      <p:sp>
        <p:nvSpPr>
          <p:cNvPr id="342" name="Google Shape;342;p19"/>
          <p:cNvSpPr/>
          <p:nvPr/>
        </p:nvSpPr>
        <p:spPr>
          <a:xfrm>
            <a:off x="1378500" y="3640013"/>
            <a:ext cx="109500" cy="1047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43" name="Google Shape;343;p19"/>
          <p:cNvCxnSpPr/>
          <p:nvPr/>
        </p:nvCxnSpPr>
        <p:spPr>
          <a:xfrm>
            <a:off x="1745825" y="2068150"/>
            <a:ext cx="846000" cy="375900"/>
          </a:xfrm>
          <a:prstGeom prst="curvedConnector3">
            <a:avLst>
              <a:gd fmla="val 50000" name="adj1"/>
            </a:avLst>
          </a:prstGeom>
          <a:noFill/>
          <a:ln cap="flat" cmpd="sng" w="9525">
            <a:solidFill>
              <a:schemeClr val="dk2"/>
            </a:solidFill>
            <a:prstDash val="solid"/>
            <a:round/>
            <a:headEnd len="sm" w="sm" type="none"/>
            <a:tailEnd len="sm" w="sm" type="none"/>
          </a:ln>
        </p:spPr>
      </p:cxnSp>
      <p:cxnSp>
        <p:nvCxnSpPr>
          <p:cNvPr id="344" name="Google Shape;344;p19"/>
          <p:cNvCxnSpPr/>
          <p:nvPr/>
        </p:nvCxnSpPr>
        <p:spPr>
          <a:xfrm rot="-5400000">
            <a:off x="1752525" y="2961200"/>
            <a:ext cx="980400" cy="510300"/>
          </a:xfrm>
          <a:prstGeom prst="curvedConnector3">
            <a:avLst>
              <a:gd fmla="val 50000" name="adj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000">
                <a:solidFill>
                  <a:srgbClr val="0070C0"/>
                </a:solidFill>
              </a:rPr>
              <a:t>Exercițiul 16 - implementare folosind porți NOR</a:t>
            </a:r>
            <a:endParaRPr sz="2000">
              <a:solidFill>
                <a:srgbClr val="0070C0"/>
              </a:solidFill>
            </a:endParaRPr>
          </a:p>
          <a:p>
            <a:pPr indent="0" lvl="0" marL="0" rtl="0" algn="l">
              <a:lnSpc>
                <a:spcPct val="100000"/>
              </a:lnSpc>
              <a:spcBef>
                <a:spcPts val="0"/>
              </a:spcBef>
              <a:spcAft>
                <a:spcPts val="0"/>
              </a:spcAft>
              <a:buSzPts val="2800"/>
              <a:buNone/>
            </a:pPr>
            <a:r>
              <a:t/>
            </a:r>
            <a:endParaRPr sz="2000">
              <a:solidFill>
                <a:srgbClr val="0070C0"/>
              </a:solidFill>
            </a:endParaRPr>
          </a:p>
        </p:txBody>
      </p:sp>
      <p:sp>
        <p:nvSpPr>
          <p:cNvPr id="350" name="Google Shape;350;p20"/>
          <p:cNvSpPr txBox="1"/>
          <p:nvPr/>
        </p:nvSpPr>
        <p:spPr>
          <a:xfrm>
            <a:off x="0" y="1071750"/>
            <a:ext cx="3000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800"/>
              <a:buFont typeface="Arial"/>
              <a:buNone/>
            </a:pPr>
            <a:r>
              <a:rPr b="0" i="0" lang="en" sz="1800" u="none" cap="none" strike="noStrike">
                <a:solidFill>
                  <a:srgbClr val="EA9999"/>
                </a:solidFill>
                <a:latin typeface="Arial"/>
                <a:ea typeface="Arial"/>
                <a:cs typeface="Arial"/>
                <a:sym typeface="Arial"/>
              </a:rPr>
              <a:t>f(x,y,z,t) = !(</a:t>
            </a:r>
            <a:r>
              <a:rPr lang="en" sz="1800">
                <a:solidFill>
                  <a:srgbClr val="EA9999"/>
                </a:solidFill>
              </a:rPr>
              <a:t>x+y</a:t>
            </a:r>
            <a:r>
              <a:rPr b="0" i="0" lang="en" sz="1800" u="none" cap="none" strike="noStrike">
                <a:solidFill>
                  <a:srgbClr val="EA9999"/>
                </a:solidFill>
                <a:latin typeface="Arial"/>
                <a:ea typeface="Arial"/>
                <a:cs typeface="Arial"/>
                <a:sym typeface="Arial"/>
              </a:rPr>
              <a:t>) </a:t>
            </a:r>
            <a:endParaRPr b="0" i="0" sz="1800" u="none" cap="none" strike="noStrike">
              <a:solidFill>
                <a:srgbClr val="EA9999"/>
              </a:solidFill>
              <a:latin typeface="Arial"/>
              <a:ea typeface="Arial"/>
              <a:cs typeface="Arial"/>
              <a:sym typeface="Arial"/>
            </a:endParaRPr>
          </a:p>
        </p:txBody>
      </p:sp>
      <p:sp>
        <p:nvSpPr>
          <p:cNvPr id="351" name="Google Shape;351;p20"/>
          <p:cNvSpPr/>
          <p:nvPr/>
        </p:nvSpPr>
        <p:spPr>
          <a:xfrm>
            <a:off x="894225" y="2014788"/>
            <a:ext cx="109500" cy="1047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52" name="Google Shape;352;p20"/>
          <p:cNvCxnSpPr/>
          <p:nvPr/>
        </p:nvCxnSpPr>
        <p:spPr>
          <a:xfrm rot="10800000">
            <a:off x="130713" y="1928525"/>
            <a:ext cx="496800" cy="0"/>
          </a:xfrm>
          <a:prstGeom prst="straightConnector1">
            <a:avLst/>
          </a:prstGeom>
          <a:noFill/>
          <a:ln cap="flat" cmpd="sng" w="9525">
            <a:solidFill>
              <a:schemeClr val="dk2"/>
            </a:solidFill>
            <a:prstDash val="solid"/>
            <a:round/>
            <a:headEnd len="sm" w="sm" type="none"/>
            <a:tailEnd len="sm" w="sm" type="none"/>
          </a:ln>
        </p:spPr>
      </p:cxnSp>
      <p:cxnSp>
        <p:nvCxnSpPr>
          <p:cNvPr id="353" name="Google Shape;353;p20"/>
          <p:cNvCxnSpPr/>
          <p:nvPr/>
        </p:nvCxnSpPr>
        <p:spPr>
          <a:xfrm rot="10800000">
            <a:off x="130713" y="2211875"/>
            <a:ext cx="496800" cy="0"/>
          </a:xfrm>
          <a:prstGeom prst="straightConnector1">
            <a:avLst/>
          </a:prstGeom>
          <a:noFill/>
          <a:ln cap="flat" cmpd="sng" w="9525">
            <a:solidFill>
              <a:schemeClr val="dk2"/>
            </a:solidFill>
            <a:prstDash val="solid"/>
            <a:round/>
            <a:headEnd len="sm" w="sm" type="none"/>
            <a:tailEnd len="sm" w="sm" type="none"/>
          </a:ln>
        </p:spPr>
      </p:cxnSp>
      <p:cxnSp>
        <p:nvCxnSpPr>
          <p:cNvPr id="354" name="Google Shape;354;p20"/>
          <p:cNvCxnSpPr/>
          <p:nvPr/>
        </p:nvCxnSpPr>
        <p:spPr>
          <a:xfrm rot="10800000">
            <a:off x="1003713" y="2067150"/>
            <a:ext cx="496800" cy="0"/>
          </a:xfrm>
          <a:prstGeom prst="straightConnector1">
            <a:avLst/>
          </a:prstGeom>
          <a:noFill/>
          <a:ln cap="flat" cmpd="sng" w="9525">
            <a:solidFill>
              <a:schemeClr val="dk2"/>
            </a:solidFill>
            <a:prstDash val="solid"/>
            <a:round/>
            <a:headEnd len="sm" w="sm" type="none"/>
            <a:tailEnd len="sm" w="sm" type="none"/>
          </a:ln>
        </p:spPr>
      </p:cxnSp>
      <p:sp>
        <p:nvSpPr>
          <p:cNvPr id="355" name="Google Shape;355;p20"/>
          <p:cNvSpPr/>
          <p:nvPr/>
        </p:nvSpPr>
        <p:spPr>
          <a:xfrm rot="10800000">
            <a:off x="437013" y="1721400"/>
            <a:ext cx="457200" cy="6915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