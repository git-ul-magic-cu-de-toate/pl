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hkpr1Q+5emHvDRA8KYdosnLfM6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E025C39-C3A2-4F16-85EE-CC61BD4F9116}">
  <a:tblStyle styleId="{5E025C39-C3A2-4F16-85EE-CC61BD4F911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lorin-Ioan SUBȚIRICĂ (123781)" userId="43132631-b52f-408f-886a-f88aa68e2550" providerId="ADAL" clId="{111FEE09-8002-4408-83F0-AB1FC91EA2CF}"/>
    <pc:docChg chg="undo custSel modSld">
      <pc:chgData name="Florin-Ioan SUBȚIRICĂ (123781)" userId="43132631-b52f-408f-886a-f88aa68e2550" providerId="ADAL" clId="{111FEE09-8002-4408-83F0-AB1FC91EA2CF}" dt="2021-12-03T18:44:24.772" v="5" actId="1036"/>
      <pc:docMkLst>
        <pc:docMk/>
      </pc:docMkLst>
      <pc:sldChg chg="modSp mod">
        <pc:chgData name="Florin-Ioan SUBȚIRICĂ (123781)" userId="43132631-b52f-408f-886a-f88aa68e2550" providerId="ADAL" clId="{111FEE09-8002-4408-83F0-AB1FC91EA2CF}" dt="2021-12-03T18:44:24.772" v="5" actId="1036"/>
        <pc:sldMkLst>
          <pc:docMk/>
          <pc:sldMk cId="0" sldId="261"/>
        </pc:sldMkLst>
        <pc:spChg chg="mod">
          <ac:chgData name="Florin-Ioan SUBȚIRICĂ (123781)" userId="43132631-b52f-408f-886a-f88aa68e2550" providerId="ADAL" clId="{111FEE09-8002-4408-83F0-AB1FC91EA2CF}" dt="2021-12-03T18:44:24.772" v="5" actId="1036"/>
          <ac:spMkLst>
            <pc:docMk/>
            <pc:sldMk cId="0" sldId="261"/>
            <ac:spMk id="114" creationId="{00000000-0000-0000-0000-000000000000}"/>
          </ac:spMkLst>
        </pc:spChg>
      </pc:sldChg>
      <pc:sldChg chg="modSp mod">
        <pc:chgData name="Florin-Ioan SUBȚIRICĂ (123781)" userId="43132631-b52f-408f-886a-f88aa68e2550" providerId="ADAL" clId="{111FEE09-8002-4408-83F0-AB1FC91EA2CF}" dt="2021-12-03T18:44:24.310" v="3" actId="1035"/>
        <pc:sldMkLst>
          <pc:docMk/>
          <pc:sldMk cId="0" sldId="262"/>
        </pc:sldMkLst>
        <pc:picChg chg="mod">
          <ac:chgData name="Florin-Ioan SUBȚIRICĂ (123781)" userId="43132631-b52f-408f-886a-f88aa68e2550" providerId="ADAL" clId="{111FEE09-8002-4408-83F0-AB1FC91EA2CF}" dt="2021-12-03T18:44:24.310" v="3" actId="1035"/>
          <ac:picMkLst>
            <pc:docMk/>
            <pc:sldMk cId="0" sldId="262"/>
            <ac:picMk id="137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2" name="Google Shape;1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2" name="Google Shape;29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3" name="Google Shape;30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7" name="Google Shape;39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b="0" i="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25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Google Shape;21;p25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body" idx="2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2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3" name="Google Shape;43;p2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4" name="Google Shape;4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7" name="Google Shape;47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1" name="Google Shape;51;p3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2" name="Google Shape;52;p3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6" name="Google Shape;56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9" name="Google Shape;59;p3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diagrams.net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diagrams.net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diagrams.net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alin1popa.github.io/logic-gates-labs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>
            <a:spLocks noGrp="1"/>
          </p:cNvSpPr>
          <p:nvPr>
            <p:ph type="ctrTitle"/>
          </p:nvPr>
        </p:nvSpPr>
        <p:spPr>
          <a:xfrm>
            <a:off x="311700" y="408900"/>
            <a:ext cx="8520600" cy="19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ro" sz="3600" b="1">
                <a:latin typeface="Calibri"/>
                <a:ea typeface="Calibri"/>
                <a:cs typeface="Calibri"/>
                <a:sym typeface="Calibri"/>
              </a:rPr>
              <a:t>Circuite secvențiale. Circuite de tip Mealy. Sinteza numărătoarelor folosind circuite basculante bistabile</a:t>
            </a:r>
            <a:endParaRPr sz="3600" b="1" i="1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"/>
          <p:cNvSpPr txBox="1"/>
          <p:nvPr/>
        </p:nvSpPr>
        <p:spPr>
          <a:xfrm>
            <a:off x="311700" y="2390100"/>
            <a:ext cx="85206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o" sz="2000" b="1" i="0" u="none" strike="noStrike" cap="none">
                <a:solidFill>
                  <a:srgbClr val="EA9999"/>
                </a:solidFill>
                <a:latin typeface="Arial"/>
                <a:ea typeface="Arial"/>
                <a:cs typeface="Arial"/>
                <a:sym typeface="Arial"/>
              </a:rPr>
              <a:t>Scop: Învățarea distincției dintre circuitele combinaționale și cele secvențiale. Învățarea construcției unor circuite de tip Mealy. Învățarea implementării circuitelor secvențiale folosind CBB D. </a:t>
            </a:r>
            <a:endParaRPr sz="2000" b="1" i="0" u="none" strike="noStrike" cap="none">
              <a:solidFill>
                <a:srgbClr val="EA999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o" sz="2000" b="1" i="0" u="none" strike="noStrike" cap="none">
                <a:solidFill>
                  <a:srgbClr val="EA9999"/>
                </a:solidFill>
                <a:latin typeface="Arial"/>
                <a:ea typeface="Arial"/>
                <a:cs typeface="Arial"/>
                <a:sym typeface="Arial"/>
              </a:rPr>
              <a:t>Abilități: Capacitatea de a construi aparate Mealy. Capacitatea de a implementa circuite secvențiale folosind CBB D</a:t>
            </a:r>
            <a:endParaRPr sz="2000" b="1" i="0" u="none" strike="noStrike" cap="none">
              <a:solidFill>
                <a:srgbClr val="EA999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o" sz="2000" b="1" i="0" u="none" strike="noStrike" cap="none">
                <a:solidFill>
                  <a:srgbClr val="EA9999"/>
                </a:solidFill>
                <a:latin typeface="Arial"/>
                <a:ea typeface="Arial"/>
                <a:cs typeface="Arial"/>
                <a:sym typeface="Arial"/>
              </a:rPr>
              <a:t>Documentație: C8, C9, C10, C11</a:t>
            </a:r>
            <a:endParaRPr sz="2000" b="1" i="0" u="none" strike="noStrike" cap="none">
              <a:solidFill>
                <a:srgbClr val="EA999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A4C2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646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o" b="1">
                <a:latin typeface="Calibri"/>
                <a:ea typeface="Calibri"/>
                <a:cs typeface="Calibri"/>
                <a:sym typeface="Calibri"/>
              </a:rPr>
              <a:t>1. Automat secvențial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o" sz="2000" b="1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Automat secvențial</a:t>
            </a:r>
            <a:r>
              <a:rPr lang="ro" sz="20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= circuit caracterizat prin p variabile de stare ce pot lua 2</a:t>
            </a:r>
            <a:r>
              <a:rPr lang="ro" sz="2000" baseline="300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ro" sz="20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forme (combinații diferite ale variabilelor de stare). O combinație distinctă definește starea circuitului.</a:t>
            </a:r>
            <a:endParaRPr sz="20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ro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Trecerea dintr-o stare în alta se numește tranziție.</a:t>
            </a:r>
            <a:r>
              <a:rPr lang="ro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stare a unui circuit este determinată de o secvență anterioară de stări și de combinația intrărilor la momentul respectiv</a:t>
            </a:r>
            <a:r>
              <a:rPr lang="ro" sz="20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. Starea următoare a unui circuit poate fi oricare dintre stările din spațiul stărilor.</a:t>
            </a:r>
            <a:endParaRPr sz="20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ro" sz="20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Un circuit este determinat dacă aflându-se într-o stare și având o configurație de intrare atunci trece într-o stare bine definită.</a:t>
            </a:r>
            <a:endParaRPr sz="20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749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o" sz="2500" b="1">
                <a:latin typeface="Calibri"/>
                <a:ea typeface="Calibri"/>
                <a:cs typeface="Calibri"/>
                <a:sym typeface="Calibri"/>
              </a:rPr>
              <a:t>1.2. Cum deosebim un circuit combinațional de unul secvențial?</a:t>
            </a:r>
            <a:endParaRPr sz="25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 txBox="1">
            <a:spLocks noGrp="1"/>
          </p:cNvSpPr>
          <p:nvPr>
            <p:ph type="body" idx="1"/>
          </p:nvPr>
        </p:nvSpPr>
        <p:spPr>
          <a:xfrm>
            <a:off x="311700" y="1495399"/>
            <a:ext cx="8520600" cy="329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Calibri"/>
              <a:buChar char="●"/>
            </a:pPr>
            <a:r>
              <a:rPr lang="ro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numerotează toate porțile care au ca intrări o submulțime a mulțimii variabilelor de intrare a circuitului logic. </a:t>
            </a:r>
            <a:r>
              <a:rPr lang="ro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Fie numerotarea de la 1 la k.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just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Calibri"/>
              <a:buChar char="●"/>
            </a:pPr>
            <a:r>
              <a:rPr lang="ro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numerotează de la k + 1 porțile care au ca intrări fie intrările circuitului, fie ieșiri ale porților deja numerotate. </a:t>
            </a:r>
            <a:r>
              <a:rPr lang="ro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Dacă toate porțile au fost numerotate, atunci avem de-a face cu un circuit combinațional</a:t>
            </a:r>
            <a:r>
              <a:rPr lang="ro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Dacă rămân porți nenumerotate, atunci avem de-a face cu un </a:t>
            </a:r>
            <a:r>
              <a:rPr lang="ro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circuit secvențial</a:t>
            </a:r>
            <a:r>
              <a:rPr lang="ro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"/>
          <p:cNvSpPr txBox="1">
            <a:spLocks noGrp="1"/>
          </p:cNvSpPr>
          <p:nvPr>
            <p:ph type="title"/>
          </p:nvPr>
        </p:nvSpPr>
        <p:spPr>
          <a:xfrm>
            <a:off x="384725" y="505350"/>
            <a:ext cx="8515800" cy="4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800"/>
              <a:buNone/>
            </a:pPr>
            <a:r>
              <a:rPr lang="ro" sz="2500" b="1">
                <a:latin typeface="Arial"/>
                <a:ea typeface="Arial"/>
                <a:cs typeface="Arial"/>
                <a:sym typeface="Arial"/>
              </a:rPr>
              <a:t>1.1 Circuit combinațional vs circuit secvențial?</a:t>
            </a:r>
            <a:endParaRPr sz="25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6" name="Google Shape;86;p5"/>
          <p:cNvGrpSpPr/>
          <p:nvPr/>
        </p:nvGrpSpPr>
        <p:grpSpPr>
          <a:xfrm>
            <a:off x="1790396" y="1017722"/>
            <a:ext cx="5872313" cy="4125766"/>
            <a:chOff x="1778821" y="1017722"/>
            <a:chExt cx="5872313" cy="4125766"/>
          </a:xfrm>
        </p:grpSpPr>
        <p:sp>
          <p:nvSpPr>
            <p:cNvPr id="87" name="Google Shape;87;p5"/>
            <p:cNvSpPr/>
            <p:nvPr/>
          </p:nvSpPr>
          <p:spPr>
            <a:xfrm>
              <a:off x="3199143" y="4530040"/>
              <a:ext cx="358775" cy="372745"/>
            </a:xfrm>
            <a:custGeom>
              <a:avLst/>
              <a:gdLst/>
              <a:ahLst/>
              <a:cxnLst/>
              <a:rect l="l" t="t" r="r" b="b"/>
              <a:pathLst>
                <a:path w="358775" h="372745" extrusionOk="0">
                  <a:moveTo>
                    <a:pt x="0" y="0"/>
                  </a:moveTo>
                  <a:lnTo>
                    <a:pt x="358499" y="0"/>
                  </a:lnTo>
                  <a:lnTo>
                    <a:pt x="358499" y="372299"/>
                  </a:lnTo>
                  <a:lnTo>
                    <a:pt x="0" y="37229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FF0000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1778821" y="1017722"/>
              <a:ext cx="5872313" cy="4125766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" name="Google Shape;89;p5"/>
          <p:cNvSpPr txBox="1"/>
          <p:nvPr/>
        </p:nvSpPr>
        <p:spPr>
          <a:xfrm>
            <a:off x="2372495" y="1103122"/>
            <a:ext cx="302895" cy="294953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78725" rIns="0" bIns="0" anchor="t" anchorCtr="0">
            <a:spAutoFit/>
          </a:bodyPr>
          <a:lstStyle/>
          <a:p>
            <a:pPr marL="8509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4802365" y="1619971"/>
            <a:ext cx="358775" cy="372744"/>
          </a:xfrm>
          <a:custGeom>
            <a:avLst/>
            <a:gdLst/>
            <a:ahLst/>
            <a:cxnLst/>
            <a:rect l="l" t="t" r="r" b="b"/>
            <a:pathLst>
              <a:path w="358775" h="372744" extrusionOk="0">
                <a:moveTo>
                  <a:pt x="0" y="0"/>
                </a:moveTo>
                <a:lnTo>
                  <a:pt x="358499" y="0"/>
                </a:lnTo>
                <a:lnTo>
                  <a:pt x="358499" y="372299"/>
                </a:lnTo>
                <a:lnTo>
                  <a:pt x="0" y="372299"/>
                </a:lnTo>
                <a:lnTo>
                  <a:pt x="0" y="0"/>
                </a:lnTo>
                <a:close/>
              </a:path>
            </a:pathLst>
          </a:custGeom>
          <a:noFill/>
          <a:ln w="9525" cap="flat" cmpd="sng">
            <a:solidFill>
              <a:srgbClr val="FF0000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3199143" y="2385595"/>
            <a:ext cx="358775" cy="372745"/>
          </a:xfrm>
          <a:custGeom>
            <a:avLst/>
            <a:gdLst/>
            <a:ahLst/>
            <a:cxnLst/>
            <a:rect l="l" t="t" r="r" b="b"/>
            <a:pathLst>
              <a:path w="358775" h="372744" extrusionOk="0">
                <a:moveTo>
                  <a:pt x="0" y="0"/>
                </a:moveTo>
                <a:lnTo>
                  <a:pt x="358499" y="0"/>
                </a:lnTo>
                <a:lnTo>
                  <a:pt x="358499" y="372299"/>
                </a:lnTo>
                <a:lnTo>
                  <a:pt x="0" y="372299"/>
                </a:lnTo>
                <a:lnTo>
                  <a:pt x="0" y="0"/>
                </a:lnTo>
                <a:close/>
              </a:path>
            </a:pathLst>
          </a:custGeom>
          <a:noFill/>
          <a:ln w="9525" cap="flat" cmpd="sng">
            <a:solidFill>
              <a:srgbClr val="FF0000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3199143" y="3488768"/>
            <a:ext cx="358775" cy="372745"/>
          </a:xfrm>
          <a:custGeom>
            <a:avLst/>
            <a:gdLst/>
            <a:ahLst/>
            <a:cxnLst/>
            <a:rect l="l" t="t" r="r" b="b"/>
            <a:pathLst>
              <a:path w="358775" h="372745" extrusionOk="0">
                <a:moveTo>
                  <a:pt x="0" y="0"/>
                </a:moveTo>
                <a:lnTo>
                  <a:pt x="358499" y="0"/>
                </a:lnTo>
                <a:lnTo>
                  <a:pt x="358499" y="372299"/>
                </a:lnTo>
                <a:lnTo>
                  <a:pt x="0" y="372299"/>
                </a:lnTo>
                <a:lnTo>
                  <a:pt x="0" y="0"/>
                </a:lnTo>
                <a:close/>
              </a:path>
            </a:pathLst>
          </a:custGeom>
          <a:noFill/>
          <a:ln w="9525" cap="flat" cmpd="sng">
            <a:solidFill>
              <a:srgbClr val="FF0000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5"/>
          <p:cNvSpPr txBox="1"/>
          <p:nvPr/>
        </p:nvSpPr>
        <p:spPr>
          <a:xfrm>
            <a:off x="6719036" y="3035143"/>
            <a:ext cx="439420" cy="294953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78725" rIns="0" bIns="0" anchor="t" anchorCtr="0">
            <a:spAutoFit/>
          </a:bodyPr>
          <a:lstStyle/>
          <a:p>
            <a:pPr marL="8509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4744290" y="3035143"/>
            <a:ext cx="358775" cy="372745"/>
          </a:xfrm>
          <a:custGeom>
            <a:avLst/>
            <a:gdLst/>
            <a:ahLst/>
            <a:cxnLst/>
            <a:rect l="l" t="t" r="r" b="b"/>
            <a:pathLst>
              <a:path w="358775" h="372745" extrusionOk="0">
                <a:moveTo>
                  <a:pt x="0" y="0"/>
                </a:moveTo>
                <a:lnTo>
                  <a:pt x="358499" y="0"/>
                </a:lnTo>
                <a:lnTo>
                  <a:pt x="358499" y="372299"/>
                </a:lnTo>
                <a:lnTo>
                  <a:pt x="0" y="372299"/>
                </a:lnTo>
                <a:lnTo>
                  <a:pt x="0" y="0"/>
                </a:lnTo>
                <a:close/>
              </a:path>
            </a:pathLst>
          </a:custGeom>
          <a:noFill/>
          <a:ln w="9525" cap="flat" cmpd="sng">
            <a:solidFill>
              <a:srgbClr val="FF0000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5"/>
          <p:cNvSpPr txBox="1"/>
          <p:nvPr/>
        </p:nvSpPr>
        <p:spPr>
          <a:xfrm>
            <a:off x="2311370" y="3647642"/>
            <a:ext cx="303000" cy="2949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78725" rIns="0" bIns="0" anchor="t" anchorCtr="0">
            <a:spAutoFit/>
          </a:bodyPr>
          <a:lstStyle/>
          <a:p>
            <a:pPr marL="8509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3184843" y="4517740"/>
            <a:ext cx="358775" cy="372745"/>
          </a:xfrm>
          <a:custGeom>
            <a:avLst/>
            <a:gdLst/>
            <a:ahLst/>
            <a:cxnLst/>
            <a:rect l="l" t="t" r="r" b="b"/>
            <a:pathLst>
              <a:path w="358775" h="372745" extrusionOk="0">
                <a:moveTo>
                  <a:pt x="0" y="0"/>
                </a:moveTo>
                <a:lnTo>
                  <a:pt x="358499" y="0"/>
                </a:lnTo>
                <a:lnTo>
                  <a:pt x="358499" y="372299"/>
                </a:lnTo>
                <a:lnTo>
                  <a:pt x="0" y="372299"/>
                </a:lnTo>
                <a:lnTo>
                  <a:pt x="0" y="0"/>
                </a:lnTo>
                <a:close/>
              </a:path>
            </a:pathLst>
          </a:custGeom>
          <a:noFill/>
          <a:ln w="9525" cap="flat" cmpd="sng">
            <a:solidFill>
              <a:srgbClr val="FF0000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"/>
          <p:cNvSpPr txBox="1"/>
          <p:nvPr/>
        </p:nvSpPr>
        <p:spPr>
          <a:xfrm>
            <a:off x="2372457" y="4337853"/>
            <a:ext cx="303000" cy="3192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2850" rIns="0" bIns="0" anchor="t" anchorCtr="0">
            <a:spAutoFit/>
          </a:bodyPr>
          <a:lstStyle/>
          <a:p>
            <a:pPr marL="9207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5"/>
          <p:cNvSpPr txBox="1">
            <a:spLocks noGrp="1"/>
          </p:cNvSpPr>
          <p:nvPr>
            <p:ph type="title"/>
          </p:nvPr>
        </p:nvSpPr>
        <p:spPr>
          <a:xfrm>
            <a:off x="6170941" y="1336975"/>
            <a:ext cx="2337900" cy="4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ro" sz="2500" b="1"/>
              <a:t>combinațional</a:t>
            </a:r>
            <a:endParaRPr sz="2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3199140" y="1179871"/>
            <a:ext cx="358775" cy="372744"/>
          </a:xfrm>
          <a:custGeom>
            <a:avLst/>
            <a:gdLst/>
            <a:ahLst/>
            <a:cxnLst/>
            <a:rect l="l" t="t" r="r" b="b"/>
            <a:pathLst>
              <a:path w="358775" h="372744" extrusionOk="0">
                <a:moveTo>
                  <a:pt x="0" y="0"/>
                </a:moveTo>
                <a:lnTo>
                  <a:pt x="358499" y="0"/>
                </a:lnTo>
                <a:lnTo>
                  <a:pt x="358499" y="372299"/>
                </a:lnTo>
                <a:lnTo>
                  <a:pt x="0" y="372299"/>
                </a:lnTo>
                <a:lnTo>
                  <a:pt x="0" y="0"/>
                </a:lnTo>
                <a:close/>
              </a:path>
            </a:pathLst>
          </a:custGeom>
          <a:noFill/>
          <a:ln w="9525" cap="flat" cmpd="sng">
            <a:solidFill>
              <a:srgbClr val="FF0000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"/>
          <p:cNvSpPr txBox="1">
            <a:spLocks noGrp="1"/>
          </p:cNvSpPr>
          <p:nvPr>
            <p:ph type="title"/>
          </p:nvPr>
        </p:nvSpPr>
        <p:spPr>
          <a:xfrm>
            <a:off x="384725" y="505350"/>
            <a:ext cx="8355300" cy="4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800"/>
              <a:buNone/>
            </a:pPr>
            <a:r>
              <a:rPr lang="ro" sz="2500" b="1">
                <a:latin typeface="Arial"/>
                <a:ea typeface="Arial"/>
                <a:cs typeface="Arial"/>
                <a:sym typeface="Arial"/>
              </a:rPr>
              <a:t>1.3 Circuit combinațional vs circuit secvențial?</a:t>
            </a:r>
            <a:endParaRPr sz="2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1928483" y="976813"/>
            <a:ext cx="5260710" cy="405073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2789594" y="3470793"/>
            <a:ext cx="358775" cy="372745"/>
          </a:xfrm>
          <a:custGeom>
            <a:avLst/>
            <a:gdLst/>
            <a:ahLst/>
            <a:cxnLst/>
            <a:rect l="l" t="t" r="r" b="b"/>
            <a:pathLst>
              <a:path w="358775" h="372745" extrusionOk="0">
                <a:moveTo>
                  <a:pt x="0" y="0"/>
                </a:moveTo>
                <a:lnTo>
                  <a:pt x="358499" y="0"/>
                </a:lnTo>
                <a:lnTo>
                  <a:pt x="358499" y="372299"/>
                </a:lnTo>
                <a:lnTo>
                  <a:pt x="0" y="372299"/>
                </a:lnTo>
                <a:lnTo>
                  <a:pt x="0" y="0"/>
                </a:lnTo>
                <a:close/>
              </a:path>
            </a:pathLst>
          </a:custGeom>
          <a:noFill/>
          <a:ln w="9525" cap="flat" cmpd="sng">
            <a:solidFill>
              <a:srgbClr val="FF0000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7"/>
          <p:cNvSpPr txBox="1"/>
          <p:nvPr/>
        </p:nvSpPr>
        <p:spPr>
          <a:xfrm>
            <a:off x="2590444" y="4572540"/>
            <a:ext cx="302895" cy="294953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78725" rIns="0" bIns="0" anchor="t" anchorCtr="0">
            <a:spAutoFit/>
          </a:bodyPr>
          <a:lstStyle/>
          <a:p>
            <a:pPr marL="8572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2789594" y="2369043"/>
            <a:ext cx="358775" cy="372745"/>
          </a:xfrm>
          <a:custGeom>
            <a:avLst/>
            <a:gdLst/>
            <a:ahLst/>
            <a:cxnLst/>
            <a:rect l="l" t="t" r="r" b="b"/>
            <a:pathLst>
              <a:path w="358775" h="372745" extrusionOk="0">
                <a:moveTo>
                  <a:pt x="0" y="0"/>
                </a:moveTo>
                <a:lnTo>
                  <a:pt x="358499" y="0"/>
                </a:lnTo>
                <a:lnTo>
                  <a:pt x="358499" y="372299"/>
                </a:lnTo>
                <a:lnTo>
                  <a:pt x="0" y="372299"/>
                </a:lnTo>
                <a:lnTo>
                  <a:pt x="0" y="0"/>
                </a:lnTo>
                <a:close/>
              </a:path>
            </a:pathLst>
          </a:custGeom>
          <a:noFill/>
          <a:ln w="9525" cap="flat" cmpd="sng">
            <a:solidFill>
              <a:srgbClr val="FF0000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7"/>
          <p:cNvSpPr txBox="1">
            <a:spLocks noGrp="1"/>
          </p:cNvSpPr>
          <p:nvPr>
            <p:ph type="title"/>
          </p:nvPr>
        </p:nvSpPr>
        <p:spPr>
          <a:xfrm>
            <a:off x="7245873" y="1057350"/>
            <a:ext cx="1785300" cy="4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ro" sz="2500" b="1"/>
              <a:t>secvențial</a:t>
            </a:r>
            <a:endParaRPr sz="2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646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o" b="1">
                <a:latin typeface="Calibri"/>
                <a:ea typeface="Calibri"/>
                <a:cs typeface="Calibri"/>
                <a:sym typeface="Calibri"/>
              </a:rPr>
              <a:t>2.2 Automat secvențial cu suprapuneri (3 biți)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9"/>
          <p:cNvSpPr txBox="1">
            <a:spLocks noGrp="1"/>
          </p:cNvSpPr>
          <p:nvPr>
            <p:ph type="body" idx="1"/>
          </p:nvPr>
        </p:nvSpPr>
        <p:spPr>
          <a:xfrm>
            <a:off x="311700" y="1216250"/>
            <a:ext cx="8520600" cy="4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o" dirty="0">
                <a:latin typeface="Calibri"/>
                <a:ea typeface="Calibri"/>
                <a:cs typeface="Calibri"/>
                <a:sym typeface="Calibri"/>
              </a:rPr>
              <a:t>Să se construiască un automat secvențial care recunoaște secvența: </a:t>
            </a:r>
            <a:r>
              <a:rPr lang="ro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000</a:t>
            </a:r>
            <a:endParaRPr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 dirty="0"/>
          </a:p>
        </p:txBody>
      </p:sp>
      <p:sp>
        <p:nvSpPr>
          <p:cNvPr id="116" name="Google Shape;116;p9"/>
          <p:cNvSpPr/>
          <p:nvPr/>
        </p:nvSpPr>
        <p:spPr>
          <a:xfrm>
            <a:off x="6131650" y="3996300"/>
            <a:ext cx="674100" cy="644400"/>
          </a:xfrm>
          <a:prstGeom prst="ellipse">
            <a:avLst/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S?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" name="Google Shape;117;p9"/>
          <p:cNvCxnSpPr/>
          <p:nvPr/>
        </p:nvCxnSpPr>
        <p:spPr>
          <a:xfrm rot="10800000">
            <a:off x="6937275" y="4566550"/>
            <a:ext cx="1232700" cy="84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8" name="Google Shape;118;p9"/>
          <p:cNvCxnSpPr/>
          <p:nvPr/>
        </p:nvCxnSpPr>
        <p:spPr>
          <a:xfrm>
            <a:off x="6946275" y="4312200"/>
            <a:ext cx="1214700" cy="126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9" name="Google Shape;119;p9"/>
          <p:cNvSpPr txBox="1"/>
          <p:nvPr/>
        </p:nvSpPr>
        <p:spPr>
          <a:xfrm>
            <a:off x="7255425" y="3874800"/>
            <a:ext cx="596400" cy="338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?/?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0" name="Google Shape;120;p9"/>
          <p:cNvGraphicFramePr/>
          <p:nvPr/>
        </p:nvGraphicFramePr>
        <p:xfrm>
          <a:off x="0" y="3371988"/>
          <a:ext cx="5003800" cy="1920090"/>
        </p:xfrm>
        <a:graphic>
          <a:graphicData uri="http://schemas.openxmlformats.org/drawingml/2006/table">
            <a:tbl>
              <a:tblPr>
                <a:noFill/>
                <a:tableStyleId>{5E025C39-C3A2-4F16-85EE-CC61BD4F9116}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29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b="1" u="none" strike="noStrike" cap="none"/>
                        <a:t>I</a:t>
                      </a:r>
                      <a:endParaRPr sz="11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/>
                        <a:t>0</a:t>
                      </a:r>
                      <a:endParaRPr sz="11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/>
                        <a:t>1</a:t>
                      </a:r>
                      <a:endParaRPr sz="11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/>
                        <a:t>0</a:t>
                      </a:r>
                      <a:endParaRPr sz="11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/>
                        <a:t>1</a:t>
                      </a:r>
                      <a:endParaRPr sz="11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/>
                        <a:t>0</a:t>
                      </a:r>
                      <a:endParaRPr sz="11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/>
                        <a:t>1</a:t>
                      </a:r>
                      <a:endParaRPr sz="11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/>
                        <a:t>0</a:t>
                      </a:r>
                      <a:endParaRPr sz="11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/>
                        <a:t>0</a:t>
                      </a:r>
                      <a:endParaRPr sz="11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/>
                        <a:t>1</a:t>
                      </a:r>
                      <a:endParaRPr sz="11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/>
                        <a:t>1</a:t>
                      </a:r>
                      <a:endParaRPr sz="11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/>
                        <a:t>0</a:t>
                      </a:r>
                      <a:endParaRPr sz="11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65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↗</a:t>
                      </a:r>
                      <a:r>
                        <a:rPr lang="ro" sz="1100" b="1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↗</a:t>
                      </a:r>
                      <a:r>
                        <a:rPr lang="ro" sz="1100" b="1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↗</a:t>
                      </a:r>
                      <a:r>
                        <a:rPr lang="ro" sz="1100" b="1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↗</a:t>
                      </a:r>
                      <a:r>
                        <a:rPr lang="ro" sz="1100" b="1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↗</a:t>
                      </a:r>
                      <a:r>
                        <a:rPr lang="ro" sz="1100" b="1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↗</a:t>
                      </a:r>
                      <a:r>
                        <a:rPr lang="ro" sz="1100" b="1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↗</a:t>
                      </a:r>
                      <a:r>
                        <a:rPr lang="ro" sz="1100" b="1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↗</a:t>
                      </a:r>
                      <a:r>
                        <a:rPr lang="ro" sz="1100" b="1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↗</a:t>
                      </a:r>
                      <a:r>
                        <a:rPr lang="ro" sz="1100" b="1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↗</a:t>
                      </a:r>
                      <a:r>
                        <a:rPr lang="ro" sz="1100" b="1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↗</a:t>
                      </a:r>
                      <a:r>
                        <a:rPr lang="ro" sz="1100" b="1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b="1" u="none" strike="noStrike" cap="none"/>
                        <a:t>S</a:t>
                      </a:r>
                      <a:endParaRPr sz="11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b="1" u="none" strike="noStrike" cap="none">
                          <a:solidFill>
                            <a:srgbClr val="999999"/>
                          </a:solidFill>
                        </a:rPr>
                        <a:t>S</a:t>
                      </a:r>
                      <a:r>
                        <a:rPr lang="ro" sz="1100" b="1" u="none" strike="noStrike" cap="none" baseline="-25000">
                          <a:solidFill>
                            <a:srgbClr val="999999"/>
                          </a:solidFill>
                        </a:rPr>
                        <a:t>0</a:t>
                      </a:r>
                      <a:endParaRPr sz="1100" b="1" u="none" strike="noStrike" cap="none" baseline="-25000">
                        <a:solidFill>
                          <a:srgbClr val="999999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/>
                        <a:t>S1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/>
                        <a:t>S0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/>
                        <a:t>S1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/>
                        <a:t>S0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/>
                        <a:t>S1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/>
                        <a:t>S0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/>
                        <a:t>S1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/>
                        <a:t>S2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/>
                        <a:t>S0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/>
                        <a:t>S0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/>
                        <a:t>S1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solidFill>
                          <a:srgbClr val="999999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 baseline="-25000"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b="1" u="none" strike="noStrike" cap="none"/>
                        <a:t>O</a:t>
                      </a:r>
                      <a:endParaRPr sz="11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/>
                        <a:t>0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/>
                        <a:t>0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/>
                        <a:t>0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/>
                        <a:t>0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/>
                        <a:t>0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/>
                        <a:t>0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/>
                        <a:t>0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/>
                        <a:t>0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/>
                        <a:t>0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/>
                        <a:t>0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/>
                        <a:t>0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1" name="Google Shape;121;p9"/>
          <p:cNvSpPr txBox="1"/>
          <p:nvPr/>
        </p:nvSpPr>
        <p:spPr>
          <a:xfrm>
            <a:off x="6846900" y="4816700"/>
            <a:ext cx="2297100" cy="3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" sz="1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https://app.diagrams.net/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9"/>
          <p:cNvSpPr txBox="1"/>
          <p:nvPr/>
        </p:nvSpPr>
        <p:spPr>
          <a:xfrm>
            <a:off x="5882875" y="2282425"/>
            <a:ext cx="1596600" cy="1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04400" y="1553700"/>
            <a:ext cx="3455861" cy="226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646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o" b="1">
                <a:latin typeface="Calibri"/>
                <a:ea typeface="Calibri"/>
                <a:cs typeface="Calibri"/>
                <a:sym typeface="Calibri"/>
              </a:rPr>
              <a:t>2.3 Automat secvențial cu suprapuneri (4 biți)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0"/>
          <p:cNvSpPr txBox="1">
            <a:spLocks noGrp="1"/>
          </p:cNvSpPr>
          <p:nvPr>
            <p:ph type="body" idx="1"/>
          </p:nvPr>
        </p:nvSpPr>
        <p:spPr>
          <a:xfrm>
            <a:off x="236700" y="1216775"/>
            <a:ext cx="8520600" cy="4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o">
                <a:latin typeface="Calibri"/>
                <a:ea typeface="Calibri"/>
                <a:cs typeface="Calibri"/>
                <a:sym typeface="Calibri"/>
              </a:rPr>
              <a:t>Să se construiască un automat secvențial care recunoaște secvența: </a:t>
            </a:r>
            <a:r>
              <a:rPr lang="ro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0101</a:t>
            </a:r>
            <a:endParaRPr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/>
          </a:p>
        </p:txBody>
      </p:sp>
      <p:sp>
        <p:nvSpPr>
          <p:cNvPr id="130" name="Google Shape;130;p10"/>
          <p:cNvSpPr/>
          <p:nvPr/>
        </p:nvSpPr>
        <p:spPr>
          <a:xfrm>
            <a:off x="4367275" y="4360900"/>
            <a:ext cx="674100" cy="644400"/>
          </a:xfrm>
          <a:prstGeom prst="ellipse">
            <a:avLst/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10"/>
          <p:cNvCxnSpPr/>
          <p:nvPr/>
        </p:nvCxnSpPr>
        <p:spPr>
          <a:xfrm rot="10800000">
            <a:off x="6937275" y="4566550"/>
            <a:ext cx="1232700" cy="84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2" name="Google Shape;132;p10"/>
          <p:cNvCxnSpPr/>
          <p:nvPr/>
        </p:nvCxnSpPr>
        <p:spPr>
          <a:xfrm>
            <a:off x="6946275" y="4312200"/>
            <a:ext cx="1214700" cy="126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3" name="Google Shape;133;p10"/>
          <p:cNvSpPr txBox="1"/>
          <p:nvPr/>
        </p:nvSpPr>
        <p:spPr>
          <a:xfrm>
            <a:off x="7255425" y="3874800"/>
            <a:ext cx="596400" cy="338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?/?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4" name="Google Shape;134;p10"/>
          <p:cNvGraphicFramePr/>
          <p:nvPr/>
        </p:nvGraphicFramePr>
        <p:xfrm>
          <a:off x="81925" y="2103288"/>
          <a:ext cx="5003800" cy="2011530"/>
        </p:xfrm>
        <a:graphic>
          <a:graphicData uri="http://schemas.openxmlformats.org/drawingml/2006/table">
            <a:tbl>
              <a:tblPr>
                <a:noFill/>
                <a:tableStyleId>{5E025C39-C3A2-4F16-85EE-CC61BD4F9116}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29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b="1" u="none" strike="noStrike" cap="none"/>
                        <a:t>I</a:t>
                      </a:r>
                      <a:endParaRPr sz="11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/>
                        <a:t>0</a:t>
                      </a:r>
                      <a:endParaRPr sz="11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/>
                        <a:t>0</a:t>
                      </a:r>
                      <a:endParaRPr sz="11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/>
                        <a:t>1</a:t>
                      </a:r>
                      <a:endParaRPr sz="11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/>
                        <a:t>0</a:t>
                      </a:r>
                      <a:endParaRPr sz="11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/>
                        <a:t>1</a:t>
                      </a:r>
                      <a:endParaRPr sz="11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/>
                        <a:t>0</a:t>
                      </a:r>
                      <a:endParaRPr sz="11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/>
                        <a:t>1</a:t>
                      </a:r>
                      <a:endParaRPr sz="11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/>
                        <a:t>0</a:t>
                      </a:r>
                      <a:endParaRPr sz="11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/>
                        <a:t>0</a:t>
                      </a:r>
                      <a:endParaRPr sz="11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/>
                        <a:t>1</a:t>
                      </a:r>
                      <a:endParaRPr sz="11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/>
                        <a:t>1</a:t>
                      </a:r>
                      <a:endParaRPr sz="11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65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↗</a:t>
                      </a:r>
                      <a:r>
                        <a:rPr lang="ro" sz="1100" b="1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↗</a:t>
                      </a:r>
                      <a:r>
                        <a:rPr lang="ro" sz="1100" b="1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↗</a:t>
                      </a:r>
                      <a:r>
                        <a:rPr lang="ro" sz="1100" b="1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↗</a:t>
                      </a:r>
                      <a:r>
                        <a:rPr lang="ro" sz="1100" b="1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↗</a:t>
                      </a:r>
                      <a:r>
                        <a:rPr lang="ro" sz="1100" b="1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↗</a:t>
                      </a:r>
                      <a:r>
                        <a:rPr lang="ro" sz="1100" b="1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↗</a:t>
                      </a:r>
                      <a:r>
                        <a:rPr lang="ro" sz="1100" b="1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↗</a:t>
                      </a:r>
                      <a:r>
                        <a:rPr lang="ro" sz="1100" b="1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↗</a:t>
                      </a:r>
                      <a:r>
                        <a:rPr lang="ro" sz="1100" b="1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↗</a:t>
                      </a:r>
                      <a:r>
                        <a:rPr lang="ro" sz="1100" b="1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↗</a:t>
                      </a:r>
                      <a:r>
                        <a:rPr lang="ro" sz="1100" b="1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b="1" u="none" strike="noStrike" cap="none"/>
                        <a:t>S</a:t>
                      </a:r>
                      <a:endParaRPr sz="11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b="1" u="none" strike="noStrike" cap="none">
                          <a:solidFill>
                            <a:srgbClr val="999999"/>
                          </a:solidFill>
                        </a:rPr>
                        <a:t>S</a:t>
                      </a:r>
                      <a:r>
                        <a:rPr lang="ro" sz="1100" b="1" u="none" strike="noStrike" cap="none" baseline="-25000">
                          <a:solidFill>
                            <a:srgbClr val="999999"/>
                          </a:solidFill>
                        </a:rPr>
                        <a:t>0</a:t>
                      </a:r>
                      <a:endParaRPr sz="1100" b="1" u="none" strike="noStrike" cap="none" baseline="-25000">
                        <a:solidFill>
                          <a:srgbClr val="999999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s1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s1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s2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s3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s2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s3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s2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s3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s1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s2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s0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solidFill>
                          <a:srgbClr val="999999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 baseline="-25000"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b="1" u="none" strike="noStrike" cap="none"/>
                        <a:t>O</a:t>
                      </a:r>
                      <a:endParaRPr sz="11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dirty="0"/>
                        <a:t>0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dirty="0"/>
                        <a:t>0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5" name="Google Shape;135;p10"/>
          <p:cNvSpPr txBox="1"/>
          <p:nvPr/>
        </p:nvSpPr>
        <p:spPr>
          <a:xfrm>
            <a:off x="6846900" y="4816700"/>
            <a:ext cx="2297100" cy="3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" sz="1400" b="0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https://app.diagrams.net/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0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o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https://app.diagrams.net/</a:t>
            </a:r>
            <a:endParaRPr/>
          </a:p>
        </p:txBody>
      </p:sp>
      <p:pic>
        <p:nvPicPr>
          <p:cNvPr id="137" name="Google Shape;137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2975" y="1689575"/>
            <a:ext cx="3244324" cy="302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646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o" b="1">
                <a:latin typeface="Calibri"/>
                <a:ea typeface="Calibri"/>
                <a:cs typeface="Calibri"/>
                <a:sym typeface="Calibri"/>
              </a:rPr>
              <a:t>2.4 Automat secvențial cu suprapuneri (4 biți)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1"/>
          <p:cNvSpPr txBox="1">
            <a:spLocks noGrp="1"/>
          </p:cNvSpPr>
          <p:nvPr>
            <p:ph type="body" idx="1"/>
          </p:nvPr>
        </p:nvSpPr>
        <p:spPr>
          <a:xfrm>
            <a:off x="236700" y="1216775"/>
            <a:ext cx="8520600" cy="4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o" dirty="0">
                <a:latin typeface="Calibri"/>
                <a:ea typeface="Calibri"/>
                <a:cs typeface="Calibri"/>
                <a:sym typeface="Calibri"/>
              </a:rPr>
              <a:t>Să se construiască un automat secvențial care recunoaște secvența: </a:t>
            </a:r>
            <a:r>
              <a:rPr lang="ro" b="1" dirty="0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1011</a:t>
            </a:r>
            <a:endParaRPr b="1" dirty="0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 dirty="0"/>
          </a:p>
        </p:txBody>
      </p:sp>
      <p:graphicFrame>
        <p:nvGraphicFramePr>
          <p:cNvPr id="144" name="Google Shape;144;p11"/>
          <p:cNvGraphicFramePr/>
          <p:nvPr/>
        </p:nvGraphicFramePr>
        <p:xfrm>
          <a:off x="155600" y="2428900"/>
          <a:ext cx="5003800" cy="2011530"/>
        </p:xfrm>
        <a:graphic>
          <a:graphicData uri="http://schemas.openxmlformats.org/drawingml/2006/table">
            <a:tbl>
              <a:tblPr>
                <a:noFill/>
                <a:tableStyleId>{5E025C39-C3A2-4F16-85EE-CC61BD4F9116}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29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b="1" u="none" strike="noStrike" cap="none"/>
                        <a:t>I</a:t>
                      </a:r>
                      <a:endParaRPr sz="11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/>
                        <a:t>0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/>
                        <a:t>1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/>
                        <a:t>0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/>
                        <a:t>1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/>
                        <a:t>0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/>
                        <a:t>1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/>
                        <a:t>0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/>
                        <a:t>0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/>
                        <a:t>1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/>
                        <a:t>1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/>
                        <a:t>0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65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↗</a:t>
                      </a:r>
                      <a:r>
                        <a:rPr lang="ro" sz="1100" b="1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↗</a:t>
                      </a:r>
                      <a:r>
                        <a:rPr lang="ro" sz="1100" b="1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↗</a:t>
                      </a:r>
                      <a:r>
                        <a:rPr lang="ro" sz="1100" b="1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↗</a:t>
                      </a:r>
                      <a:r>
                        <a:rPr lang="ro" sz="1100" b="1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↗</a:t>
                      </a:r>
                      <a:r>
                        <a:rPr lang="ro" sz="1100" b="1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↗</a:t>
                      </a:r>
                      <a:r>
                        <a:rPr lang="ro" sz="1100" b="1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↗</a:t>
                      </a:r>
                      <a:r>
                        <a:rPr lang="ro" sz="1100" b="1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↗</a:t>
                      </a:r>
                      <a:r>
                        <a:rPr lang="ro" sz="1100" b="1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↗</a:t>
                      </a:r>
                      <a:r>
                        <a:rPr lang="ro" sz="1100" b="1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↗</a:t>
                      </a:r>
                      <a:r>
                        <a:rPr lang="ro" sz="1100" b="1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↗</a:t>
                      </a:r>
                      <a:r>
                        <a:rPr lang="ro" sz="1100" b="1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b="1" u="none" strike="noStrike" cap="none"/>
                        <a:t>S</a:t>
                      </a:r>
                      <a:endParaRPr sz="11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b="1" u="none" strike="noStrike" cap="none">
                          <a:solidFill>
                            <a:srgbClr val="999999"/>
                          </a:solidFill>
                        </a:rPr>
                        <a:t>S</a:t>
                      </a:r>
                      <a:r>
                        <a:rPr lang="ro" sz="1100" b="1" u="none" strike="noStrike" cap="none" baseline="-25000">
                          <a:solidFill>
                            <a:srgbClr val="999999"/>
                          </a:solidFill>
                        </a:rPr>
                        <a:t>0</a:t>
                      </a:r>
                      <a:endParaRPr sz="1100" b="1" u="none" strike="noStrike" cap="none" baseline="-25000">
                        <a:solidFill>
                          <a:srgbClr val="999999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s0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s1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s2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s3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s2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s3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s2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s0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s1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s1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s2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>
                        <a:solidFill>
                          <a:srgbClr val="999999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 baseline="-25000"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u="none" strike="noStrike" cap="none">
                          <a:solidFill>
                            <a:srgbClr val="434343"/>
                          </a:solidFill>
                        </a:rPr>
                        <a:t>↓</a:t>
                      </a:r>
                      <a:endParaRPr sz="1100" u="none" strike="noStrike" cap="none"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o" sz="1100" b="1" u="none" strike="noStrike" cap="none"/>
                        <a:t>O</a:t>
                      </a:r>
                      <a:endParaRPr sz="11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5" name="Google Shape;145;p11"/>
          <p:cNvSpPr txBox="1"/>
          <p:nvPr/>
        </p:nvSpPr>
        <p:spPr>
          <a:xfrm>
            <a:off x="6906100" y="4816700"/>
            <a:ext cx="2297100" cy="3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" sz="1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https://app.diagrams.net/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1800" y="1841975"/>
            <a:ext cx="3656194" cy="282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646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o" b="1">
                <a:latin typeface="Calibri"/>
                <a:ea typeface="Calibri"/>
                <a:cs typeface="Calibri"/>
                <a:sym typeface="Calibri"/>
              </a:rPr>
              <a:t>3. Circuite basculante bistabile (CBB)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o" sz="2000" b="1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Circuitele basculante bistabile</a:t>
            </a:r>
            <a:r>
              <a:rPr lang="ro" sz="20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sunt circuite secvențiale sincrone (au intrare de ceas).</a:t>
            </a:r>
            <a:endParaRPr sz="20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 sz="20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038" y="2342423"/>
            <a:ext cx="1251325" cy="103650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4" name="Google Shape;154;p12"/>
          <p:cNvGraphicFramePr/>
          <p:nvPr/>
        </p:nvGraphicFramePr>
        <p:xfrm>
          <a:off x="640675" y="3467250"/>
          <a:ext cx="1004050" cy="1005750"/>
        </p:xfrm>
        <a:graphic>
          <a:graphicData uri="http://schemas.openxmlformats.org/drawingml/2006/table">
            <a:tbl>
              <a:tblPr>
                <a:noFill/>
                <a:tableStyleId>{5E025C39-C3A2-4F16-85EE-CC61BD4F9116}</a:tableStyleId>
              </a:tblPr>
              <a:tblGrid>
                <a:gridCol w="50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1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o" sz="1000" b="1" u="none" strike="noStrike" cap="none"/>
                        <a:t>D</a:t>
                      </a:r>
                      <a:endParaRPr sz="1000" b="1" u="none" strike="noStrike" cap="none"/>
                    </a:p>
                  </a:txBody>
                  <a:tcPr marL="91425" marR="91425" marT="91425" marB="91425"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o" sz="1000" b="1" u="none" strike="noStrike" cap="none"/>
                        <a:t>Q</a:t>
                      </a:r>
                      <a:r>
                        <a:rPr lang="ro" sz="1000" b="1" u="none" strike="noStrike" cap="none" baseline="30000"/>
                        <a:t>t+1</a:t>
                      </a:r>
                      <a:endParaRPr sz="1000" b="1" u="none" strike="noStrike" cap="none" baseline="30000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o" sz="1000" u="none" strike="noStrike" cap="none"/>
                        <a:t>0</a:t>
                      </a:r>
                      <a:endParaRPr sz="1000" u="none" strike="noStrike" cap="none"/>
                    </a:p>
                  </a:txBody>
                  <a:tcPr marL="91425" marR="91425" marT="91425" marB="91425"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o" sz="1000" u="none" strike="noStrike" cap="none"/>
                        <a:t>0</a:t>
                      </a:r>
                      <a:endParaRPr sz="10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o" sz="1000" u="none" strike="noStrike" cap="none"/>
                        <a:t>1</a:t>
                      </a:r>
                      <a:endParaRPr sz="1000" u="none" strike="noStrike" cap="none"/>
                    </a:p>
                  </a:txBody>
                  <a:tcPr marL="91425" marR="91425" marT="91425" marB="91425"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o" sz="1000" u="none" strike="noStrike" cap="none"/>
                        <a:t>1</a:t>
                      </a:r>
                      <a:endParaRPr sz="10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55" name="Google Shape;155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69325" y="2430975"/>
            <a:ext cx="1004050" cy="1107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56598" y="2431475"/>
            <a:ext cx="1058575" cy="11069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7" name="Google Shape;157;p12"/>
          <p:cNvGraphicFramePr/>
          <p:nvPr/>
        </p:nvGraphicFramePr>
        <p:xfrm>
          <a:off x="3199125" y="3467250"/>
          <a:ext cx="1973500" cy="1676250"/>
        </p:xfrm>
        <a:graphic>
          <a:graphicData uri="http://schemas.openxmlformats.org/drawingml/2006/table">
            <a:tbl>
              <a:tblPr>
                <a:noFill/>
                <a:tableStyleId>{5E025C39-C3A2-4F16-85EE-CC61BD4F9116}</a:tableStyleId>
              </a:tblPr>
              <a:tblGrid>
                <a:gridCol w="493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3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9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o" sz="1000" b="1" u="none" strike="noStrike" cap="none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ro" sz="1000" b="1" u="none" strike="noStrike" cap="none" baseline="30000">
                          <a:solidFill>
                            <a:schemeClr val="dk1"/>
                          </a:solidFill>
                        </a:rPr>
                        <a:t>t</a:t>
                      </a:r>
                      <a:endParaRPr sz="1000" b="1" u="none" strike="noStrike" cap="none"/>
                    </a:p>
                  </a:txBody>
                  <a:tcPr marL="91425" marR="91425" marT="91425" marB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o" sz="1000" b="1" u="none" strike="noStrike" cap="none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ro" sz="1000" b="1" u="none" strike="noStrike" cap="none" baseline="30000">
                          <a:solidFill>
                            <a:schemeClr val="dk1"/>
                          </a:solidFill>
                        </a:rPr>
                        <a:t>t+1</a:t>
                      </a:r>
                      <a:endParaRPr sz="1000" b="1" u="none" strike="noStrike" cap="none"/>
                    </a:p>
                  </a:txBody>
                  <a:tcPr marL="91425" marR="91425" marT="91425" marB="91425"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o" sz="1000" b="1" u="none" strike="noStrike" cap="none"/>
                        <a:t>J</a:t>
                      </a:r>
                      <a:endParaRPr sz="10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o" sz="1000" b="1" u="none" strike="noStrike" cap="none"/>
                        <a:t>K</a:t>
                      </a:r>
                      <a:endParaRPr sz="1000" b="1" u="none" strike="noStrike" cap="none" baseline="30000"/>
                    </a:p>
                  </a:txBody>
                  <a:tcPr marL="91425" marR="91425" marT="91425" marB="91425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o" sz="1000" u="none" strike="noStrike" cap="none"/>
                        <a:t>0</a:t>
                      </a:r>
                      <a:endParaRPr sz="10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o" sz="1000" u="none" strike="noStrike" cap="none"/>
                        <a:t>0</a:t>
                      </a:r>
                      <a:endParaRPr sz="1000" u="none" strike="noStrike" cap="none"/>
                    </a:p>
                  </a:txBody>
                  <a:tcPr marL="91425" marR="91425" marT="91425" marB="91425"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o" sz="1000" u="none" strike="noStrike" cap="none"/>
                        <a:t>0</a:t>
                      </a:r>
                      <a:endParaRPr sz="10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o" sz="1000" u="none" strike="noStrike" cap="none"/>
                        <a:t>-</a:t>
                      </a:r>
                      <a:endParaRPr sz="10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o" sz="1000" u="none" strike="noStrike" cap="none"/>
                        <a:t>0</a:t>
                      </a:r>
                      <a:endParaRPr sz="10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o" sz="1000" u="none" strike="noStrike" cap="none"/>
                        <a:t>1</a:t>
                      </a:r>
                      <a:endParaRPr sz="1000" u="none" strike="noStrike" cap="none"/>
                    </a:p>
                  </a:txBody>
                  <a:tcPr marL="91425" marR="91425" marT="91425" marB="91425"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o" sz="1000" u="none" strike="noStrike" cap="none"/>
                        <a:t>1</a:t>
                      </a:r>
                      <a:endParaRPr sz="10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o" sz="1000" u="none" strike="noStrike" cap="none"/>
                        <a:t>-</a:t>
                      </a:r>
                      <a:endParaRPr sz="10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o" sz="1000" u="none" strike="noStrike" cap="none"/>
                        <a:t>1</a:t>
                      </a:r>
                      <a:endParaRPr sz="10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o" sz="1000" u="none" strike="noStrike" cap="none"/>
                        <a:t>0</a:t>
                      </a:r>
                      <a:endParaRPr sz="1000" u="none" strike="noStrike" cap="none"/>
                    </a:p>
                  </a:txBody>
                  <a:tcPr marL="91425" marR="91425" marT="91425" marB="91425"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o" sz="1000" u="none" strike="noStrike" cap="none"/>
                        <a:t>-</a:t>
                      </a:r>
                      <a:endParaRPr sz="10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o" sz="1000" u="none" strike="noStrike" cap="none"/>
                        <a:t>1</a:t>
                      </a:r>
                      <a:endParaRPr sz="10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o" sz="1000" u="none" strike="noStrike" cap="none"/>
                        <a:t>1</a:t>
                      </a:r>
                      <a:endParaRPr sz="10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o" sz="1000" u="none" strike="noStrike" cap="none"/>
                        <a:t>1</a:t>
                      </a:r>
                      <a:endParaRPr sz="1000" u="none" strike="noStrike" cap="none"/>
                    </a:p>
                  </a:txBody>
                  <a:tcPr marL="91425" marR="91425" marT="91425" marB="91425"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o" sz="1000" u="none" strike="noStrike" cap="none"/>
                        <a:t>-</a:t>
                      </a:r>
                      <a:endParaRPr sz="10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o" sz="1000" u="none" strike="noStrike" cap="none"/>
                        <a:t>0</a:t>
                      </a:r>
                      <a:endParaRPr sz="10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8" name="Google Shape;158;p12"/>
          <p:cNvSpPr txBox="1"/>
          <p:nvPr/>
        </p:nvSpPr>
        <p:spPr>
          <a:xfrm>
            <a:off x="311713" y="2089775"/>
            <a:ext cx="1662000" cy="4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AutoNum type="arabicParenR"/>
            </a:pPr>
            <a:r>
              <a:rPr lang="ro" sz="1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CBB tip D</a:t>
            </a:r>
            <a:endParaRPr sz="14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2"/>
          <p:cNvSpPr txBox="1"/>
          <p:nvPr/>
        </p:nvSpPr>
        <p:spPr>
          <a:xfrm>
            <a:off x="3345625" y="2089775"/>
            <a:ext cx="1662000" cy="4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AutoNum type="arabicParenR" startAt="2"/>
            </a:pPr>
            <a:r>
              <a:rPr lang="ro" sz="1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CBB tip JK</a:t>
            </a:r>
            <a:endParaRPr sz="14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2"/>
          <p:cNvSpPr txBox="1"/>
          <p:nvPr/>
        </p:nvSpPr>
        <p:spPr>
          <a:xfrm>
            <a:off x="6531000" y="2089775"/>
            <a:ext cx="1662000" cy="4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AutoNum type="arabicParenR" startAt="3"/>
            </a:pPr>
            <a:r>
              <a:rPr lang="ro" sz="1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CBB tip RS</a:t>
            </a:r>
            <a:endParaRPr sz="14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1" name="Google Shape;161;p12"/>
          <p:cNvGraphicFramePr/>
          <p:nvPr/>
        </p:nvGraphicFramePr>
        <p:xfrm>
          <a:off x="6584600" y="3467250"/>
          <a:ext cx="1973500" cy="1676250"/>
        </p:xfrm>
        <a:graphic>
          <a:graphicData uri="http://schemas.openxmlformats.org/drawingml/2006/table">
            <a:tbl>
              <a:tblPr>
                <a:noFill/>
                <a:tableStyleId>{5E025C39-C3A2-4F16-85EE-CC61BD4F9116}</a:tableStyleId>
              </a:tblPr>
              <a:tblGrid>
                <a:gridCol w="493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3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9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o" sz="1000" b="1" u="none" strike="noStrike" cap="none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ro" sz="1000" b="1" u="none" strike="noStrike" cap="none" baseline="30000">
                          <a:solidFill>
                            <a:schemeClr val="dk1"/>
                          </a:solidFill>
                        </a:rPr>
                        <a:t>t</a:t>
                      </a:r>
                      <a:endParaRPr sz="1000" b="1" u="none" strike="noStrike" cap="none"/>
                    </a:p>
                  </a:txBody>
                  <a:tcPr marL="91425" marR="91425" marT="91425" marB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o" sz="1000" b="1" u="none" strike="noStrike" cap="none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ro" sz="1000" b="1" u="none" strike="noStrike" cap="none" baseline="30000">
                          <a:solidFill>
                            <a:schemeClr val="dk1"/>
                          </a:solidFill>
                        </a:rPr>
                        <a:t>t+1</a:t>
                      </a:r>
                      <a:endParaRPr sz="1000" b="1" u="none" strike="noStrike" cap="none"/>
                    </a:p>
                  </a:txBody>
                  <a:tcPr marL="91425" marR="91425" marT="91425" marB="91425"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o" sz="1000" b="1" u="none" strike="noStrike" cap="none"/>
                        <a:t>R</a:t>
                      </a:r>
                      <a:endParaRPr sz="10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o" sz="1000" b="1" u="none" strike="noStrike" cap="none"/>
                        <a:t>S</a:t>
                      </a:r>
                      <a:endParaRPr sz="1000" b="1" u="none" strike="noStrike" cap="none" baseline="30000"/>
                    </a:p>
                  </a:txBody>
                  <a:tcPr marL="91425" marR="91425" marT="91425" marB="91425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o" sz="1000" u="none" strike="noStrike" cap="none"/>
                        <a:t>0</a:t>
                      </a:r>
                      <a:endParaRPr sz="10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o" sz="1000" u="none" strike="noStrike" cap="none"/>
                        <a:t>0</a:t>
                      </a:r>
                      <a:endParaRPr sz="1000" u="none" strike="noStrike" cap="none"/>
                    </a:p>
                  </a:txBody>
                  <a:tcPr marL="91425" marR="91425" marT="91425" marB="91425"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o" sz="1000" u="none" strike="noStrike" cap="none"/>
                        <a:t>-</a:t>
                      </a:r>
                      <a:endParaRPr sz="10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o" sz="1000" u="none" strike="noStrike" cap="none"/>
                        <a:t>0</a:t>
                      </a:r>
                      <a:endParaRPr sz="10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o" sz="1000" u="none" strike="noStrike" cap="none"/>
                        <a:t>0</a:t>
                      </a:r>
                      <a:endParaRPr sz="10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o" sz="1000" u="none" strike="noStrike" cap="none"/>
                        <a:t>1</a:t>
                      </a:r>
                      <a:endParaRPr sz="1000" u="none" strike="noStrike" cap="none"/>
                    </a:p>
                  </a:txBody>
                  <a:tcPr marL="91425" marR="91425" marT="91425" marB="91425"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o" sz="1000" u="none" strike="noStrike" cap="none"/>
                        <a:t>0</a:t>
                      </a:r>
                      <a:endParaRPr sz="10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o" sz="1000" u="none" strike="noStrike" cap="none"/>
                        <a:t>1</a:t>
                      </a:r>
                      <a:endParaRPr sz="10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o" sz="1000" u="none" strike="noStrike" cap="none"/>
                        <a:t>1</a:t>
                      </a:r>
                      <a:endParaRPr sz="10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o" sz="1000" u="none" strike="noStrike" cap="none"/>
                        <a:t>0</a:t>
                      </a:r>
                      <a:endParaRPr sz="1000" u="none" strike="noStrike" cap="none"/>
                    </a:p>
                  </a:txBody>
                  <a:tcPr marL="91425" marR="91425" marT="91425" marB="91425"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o" sz="1000" u="none" strike="noStrike" cap="none"/>
                        <a:t>1</a:t>
                      </a:r>
                      <a:endParaRPr sz="10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o" sz="1000" u="none" strike="noStrike" cap="none"/>
                        <a:t>0</a:t>
                      </a:r>
                      <a:endParaRPr sz="10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o" sz="1000" u="none" strike="noStrike" cap="none"/>
                        <a:t>1</a:t>
                      </a:r>
                      <a:endParaRPr sz="10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o" sz="1000" u="none" strike="noStrike" cap="none"/>
                        <a:t>1</a:t>
                      </a:r>
                      <a:endParaRPr sz="1000" u="none" strike="noStrike" cap="none"/>
                    </a:p>
                  </a:txBody>
                  <a:tcPr marL="91425" marR="91425" marT="91425" marB="91425"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o" sz="1000" u="none" strike="noStrike" cap="none"/>
                        <a:t>0</a:t>
                      </a:r>
                      <a:endParaRPr sz="10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o" sz="1000" u="none" strike="noStrike" cap="none"/>
                        <a:t>-</a:t>
                      </a:r>
                      <a:endParaRPr sz="10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2" name="Google Shape;162;p12"/>
          <p:cNvSpPr txBox="1"/>
          <p:nvPr/>
        </p:nvSpPr>
        <p:spPr>
          <a:xfrm>
            <a:off x="311688" y="4561325"/>
            <a:ext cx="1662000" cy="4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 = Q</a:t>
            </a:r>
            <a:r>
              <a:rPr lang="ro" sz="1400" b="0" i="0" u="none" strike="noStrike" cap="none" baseline="30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t+1</a:t>
            </a:r>
            <a:endParaRPr sz="1400" b="0" i="0" u="none" strike="noStrike" cap="none" baseline="30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646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o" b="1">
                <a:latin typeface="Calibri"/>
                <a:ea typeface="Calibri"/>
                <a:cs typeface="Calibri"/>
                <a:sym typeface="Calibri"/>
              </a:rPr>
              <a:t>Aplicație: Sinteza numărătoarelor folosind CBB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o" sz="20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Să se realizeze sinteza logică a unui numărător </a:t>
            </a:r>
            <a:r>
              <a:rPr lang="ro" sz="2000" b="1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modulo 6</a:t>
            </a:r>
            <a:r>
              <a:rPr lang="ro" sz="20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folosind circuite basculante bistabile. Să se implementeze Q</a:t>
            </a:r>
            <a:r>
              <a:rPr lang="ro" sz="2000" baseline="-250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ro" sz="20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, Q</a:t>
            </a:r>
            <a:r>
              <a:rPr lang="ro" sz="2000" baseline="-250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ro" sz="20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și Q</a:t>
            </a:r>
            <a:r>
              <a:rPr lang="ro" sz="2000" baseline="-250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ro" sz="20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astfel:</a:t>
            </a:r>
            <a:endParaRPr sz="20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Calibri"/>
              <a:buChar char="●"/>
            </a:pPr>
            <a:r>
              <a:rPr lang="ro" sz="20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ro" sz="2000" baseline="-250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ro" sz="20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→ CBB de tip D și porți logice</a:t>
            </a:r>
            <a:endParaRPr sz="20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Calibri"/>
              <a:buChar char="●"/>
            </a:pPr>
            <a:r>
              <a:rPr lang="ro" sz="20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ro" sz="2000" baseline="-250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ro" sz="20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→ CBB de tip D și MUX 4:1</a:t>
            </a:r>
            <a:endParaRPr sz="20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Calibri"/>
              <a:buChar char="●"/>
            </a:pPr>
            <a:r>
              <a:rPr lang="ro" sz="20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ro" sz="2000" baseline="-250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ro" sz="20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→ CBB de tip D și MUX 2:1</a:t>
            </a:r>
            <a:endParaRPr sz="20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 sz="20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6100" y="3435700"/>
            <a:ext cx="8417801" cy="147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646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o" b="1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Numărător modulo 6 folosind CBB: </a:t>
            </a:r>
            <a:r>
              <a:rPr lang="ro" b="1">
                <a:latin typeface="Calibri"/>
                <a:ea typeface="Calibri"/>
                <a:cs typeface="Calibri"/>
                <a:sym typeface="Calibri"/>
              </a:rPr>
              <a:t>Diagrama tranzițiilor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5" name="Google Shape;175;p14"/>
          <p:cNvGraphicFramePr/>
          <p:nvPr/>
        </p:nvGraphicFramePr>
        <p:xfrm>
          <a:off x="5414025" y="1197202"/>
          <a:ext cx="3544275" cy="3779250"/>
        </p:xfrm>
        <a:graphic>
          <a:graphicData uri="http://schemas.openxmlformats.org/drawingml/2006/table">
            <a:tbl>
              <a:tblPr>
                <a:noFill/>
                <a:tableStyleId>{5E025C39-C3A2-4F16-85EE-CC61BD4F9116}</a:tableStyleId>
              </a:tblPr>
              <a:tblGrid>
                <a:gridCol w="50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6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6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6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63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4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b="1" u="none" strike="noStrike" cap="none"/>
                        <a:t>Q</a:t>
                      </a:r>
                      <a:r>
                        <a:rPr lang="ro" sz="1400" b="1" u="none" strike="noStrike" cap="none" baseline="-25000"/>
                        <a:t>2</a:t>
                      </a:r>
                      <a:r>
                        <a:rPr lang="ro" sz="1400" b="1" u="none" strike="noStrike" cap="none" baseline="30000"/>
                        <a:t>t</a:t>
                      </a:r>
                      <a:endParaRPr sz="1400" b="1" u="none" strike="noStrike" cap="none" baseline="30000"/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b="1" u="none" strike="noStrike" cap="none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ro" sz="1400" b="1" u="none" strike="noStrike" cap="none" baseline="-25000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lang="ro" sz="1400" b="1" u="none" strike="noStrike" cap="none" baseline="30000">
                          <a:solidFill>
                            <a:schemeClr val="dk1"/>
                          </a:solidFill>
                        </a:rPr>
                        <a:t>t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b="1" u="none" strike="noStrike" cap="none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ro" sz="1400" b="1" u="none" strike="noStrike" cap="none" baseline="-25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ro" sz="1400" b="1" u="none" strike="noStrike" cap="none" baseline="30000">
                          <a:solidFill>
                            <a:schemeClr val="dk1"/>
                          </a:solidFill>
                        </a:rPr>
                        <a:t>t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b="1" u="none" strike="noStrike" cap="none"/>
                        <a:t>Q</a:t>
                      </a:r>
                      <a:r>
                        <a:rPr lang="ro" sz="1400" b="1" u="none" strike="noStrike" cap="none" baseline="-25000"/>
                        <a:t>2</a:t>
                      </a:r>
                      <a:r>
                        <a:rPr lang="ro" sz="1400" b="1" u="none" strike="noStrike" cap="none" baseline="30000"/>
                        <a:t>t+1</a:t>
                      </a:r>
                      <a:endParaRPr sz="1400" b="1" u="none" strike="noStrike" cap="none" baseline="30000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b="1" u="none" strike="noStrike" cap="none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ro" sz="1400" b="1" u="none" strike="noStrike" cap="none" baseline="-25000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lang="ro" sz="1400" b="1" u="none" strike="noStrike" cap="none" baseline="30000">
                          <a:solidFill>
                            <a:schemeClr val="dk1"/>
                          </a:solidFill>
                        </a:rPr>
                        <a:t>t+1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b="1" u="none" strike="noStrike" cap="none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ro" sz="1400" b="1" u="none" strike="noStrike" cap="none" baseline="-25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ro" sz="1400" b="1" u="none" strike="noStrike" cap="none" baseline="30000">
                          <a:solidFill>
                            <a:schemeClr val="dk1"/>
                          </a:solidFill>
                        </a:rPr>
                        <a:t>t+1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b="1" u="none" strike="noStrike" cap="none"/>
                        <a:t>Z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*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*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*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*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7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*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*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*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*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176" name="Google Shape;176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5375" y="2134750"/>
            <a:ext cx="4987975" cy="87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o" b="1">
                <a:latin typeface="Calibri"/>
                <a:ea typeface="Calibri"/>
                <a:cs typeface="Calibri"/>
                <a:sym typeface="Calibri"/>
              </a:rPr>
              <a:t>Implementare Q</a:t>
            </a:r>
            <a:r>
              <a:rPr lang="ro" b="1" baseline="-2500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ro" b="1">
                <a:latin typeface="Calibri"/>
                <a:ea typeface="Calibri"/>
                <a:cs typeface="Calibri"/>
                <a:sym typeface="Calibri"/>
              </a:rPr>
              <a:t> folosind CBB tip D și porți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5"/>
          <p:cNvSpPr txBox="1">
            <a:spLocks noGrp="1"/>
          </p:cNvSpPr>
          <p:nvPr>
            <p:ph type="body" idx="1"/>
          </p:nvPr>
        </p:nvSpPr>
        <p:spPr>
          <a:xfrm>
            <a:off x="66750" y="3025048"/>
            <a:ext cx="40617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ro"/>
              <a:t>D2 =!Q0*Q2+Q0Q1</a:t>
            </a:r>
            <a:endParaRPr/>
          </a:p>
        </p:txBody>
      </p:sp>
      <p:graphicFrame>
        <p:nvGraphicFramePr>
          <p:cNvPr id="183" name="Google Shape;183;p15"/>
          <p:cNvGraphicFramePr/>
          <p:nvPr/>
        </p:nvGraphicFramePr>
        <p:xfrm>
          <a:off x="311700" y="1581300"/>
          <a:ext cx="2418600" cy="1257300"/>
        </p:xfrm>
        <a:graphic>
          <a:graphicData uri="http://schemas.openxmlformats.org/drawingml/2006/table">
            <a:tbl>
              <a:tblPr>
                <a:noFill/>
                <a:tableStyleId>{5E025C39-C3A2-4F16-85EE-CC61BD4F9116}</a:tableStyleId>
              </a:tblPr>
              <a:tblGrid>
                <a:gridCol w="54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o" sz="1000" u="none" strike="noStrike" cap="none"/>
                        <a:t>   </a:t>
                      </a:r>
                      <a:r>
                        <a:rPr lang="ro" sz="1000" b="1" u="none" strike="noStrike" cap="none"/>
                        <a:t>   Q</a:t>
                      </a:r>
                      <a:r>
                        <a:rPr lang="ro" sz="1000" b="1" u="none" strike="noStrike" cap="none" baseline="-25000"/>
                        <a:t>2</a:t>
                      </a:r>
                      <a:r>
                        <a:rPr lang="ro" sz="1000" b="1" u="none" strike="noStrike" cap="none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ro" sz="1000" b="1" u="none" strike="noStrike" cap="none" baseline="-25000">
                          <a:solidFill>
                            <a:schemeClr val="dk1"/>
                          </a:solidFill>
                        </a:rPr>
                        <a:t>1</a:t>
                      </a:r>
                      <a:endParaRPr sz="1000" b="1" u="none" strike="noStrike" cap="none" baseline="-250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o" sz="1000" b="1" u="none" strike="noStrike" cap="none"/>
                        <a:t> Q</a:t>
                      </a:r>
                      <a:r>
                        <a:rPr lang="ro" sz="1000" b="1" u="none" strike="noStrike" cap="none" baseline="-25000"/>
                        <a:t>0</a:t>
                      </a:r>
                      <a:endParaRPr sz="1000" b="1" u="none" strike="noStrike" cap="none" baseline="-25000"/>
                    </a:p>
                  </a:txBody>
                  <a:tcPr marL="0" marR="0" marT="0" marB="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00</a:t>
                      </a:r>
                      <a:endParaRPr sz="1400" u="none" strike="noStrike" cap="none"/>
                    </a:p>
                  </a:txBody>
                  <a:tcPr marL="91425" marR="0" marT="91425" marB="91425"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01</a:t>
                      </a:r>
                      <a:endParaRPr sz="1400" u="none" strike="noStrike" cap="none"/>
                    </a:p>
                  </a:txBody>
                  <a:tcPr marL="91425" marR="0" marT="91425" marB="91425"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11</a:t>
                      </a:r>
                      <a:endParaRPr sz="1400" u="none" strike="noStrike" cap="none"/>
                    </a:p>
                  </a:txBody>
                  <a:tcPr marL="91425" marR="0" marT="91425" marB="91425"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10</a:t>
                      </a:r>
                      <a:endParaRPr sz="1400" u="none" strike="noStrike" cap="none"/>
                    </a:p>
                  </a:txBody>
                  <a:tcPr marL="91425" marR="0" marT="91425" marB="91425"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0" marT="91425" marB="91425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0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0" marT="91425" marB="91425"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*</a:t>
                      </a:r>
                      <a:endParaRPr sz="1400" u="none" strike="noStrike" cap="none"/>
                    </a:p>
                  </a:txBody>
                  <a:tcPr marL="91425" marR="0" marT="91425" marB="91425"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1</a:t>
                      </a:r>
                      <a:endParaRPr sz="1400" u="none" strike="noStrike" cap="none"/>
                    </a:p>
                  </a:txBody>
                  <a:tcPr marL="91425" marR="0" marT="91425" marB="91425"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0" marT="91425" marB="91425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0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1</a:t>
                      </a:r>
                      <a:endParaRPr sz="1400" u="none" strike="noStrike" cap="none"/>
                    </a:p>
                  </a:txBody>
                  <a:tcPr marL="91425" marR="0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*</a:t>
                      </a:r>
                      <a:endParaRPr sz="1400" u="none" strike="noStrike" cap="none"/>
                    </a:p>
                  </a:txBody>
                  <a:tcPr marL="91425" marR="0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0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84" name="Google Shape;184;p15"/>
          <p:cNvCxnSpPr/>
          <p:nvPr/>
        </p:nvCxnSpPr>
        <p:spPr>
          <a:xfrm>
            <a:off x="324900" y="1581425"/>
            <a:ext cx="530100" cy="404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185" name="Google Shape;185;p15"/>
          <p:cNvGraphicFramePr/>
          <p:nvPr/>
        </p:nvGraphicFramePr>
        <p:xfrm>
          <a:off x="5105215" y="1157150"/>
          <a:ext cx="3853850" cy="3779250"/>
        </p:xfrm>
        <a:graphic>
          <a:graphicData uri="http://schemas.openxmlformats.org/drawingml/2006/table">
            <a:tbl>
              <a:tblPr>
                <a:noFill/>
                <a:tableStyleId>{5E025C39-C3A2-4F16-85EE-CC61BD4F9116}</a:tableStyleId>
              </a:tblPr>
              <a:tblGrid>
                <a:gridCol w="55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0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0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0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0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05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74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b="1" u="none" strike="noStrike" cap="none"/>
                        <a:t>Q</a:t>
                      </a:r>
                      <a:r>
                        <a:rPr lang="ro" sz="1400" b="1" u="none" strike="noStrike" cap="none" baseline="-25000"/>
                        <a:t>2</a:t>
                      </a:r>
                      <a:r>
                        <a:rPr lang="ro" sz="1400" b="1" u="none" strike="noStrike" cap="none" baseline="30000"/>
                        <a:t>t</a:t>
                      </a:r>
                      <a:endParaRPr sz="1400" b="1" u="none" strike="noStrike" cap="none" baseline="30000"/>
                    </a:p>
                  </a:txBody>
                  <a:tcPr marL="91425" marR="91425" marT="91425" marB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b="1" u="none" strike="noStrike" cap="none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ro" sz="1400" b="1" u="none" strike="noStrike" cap="none" baseline="-25000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lang="ro" sz="1400" b="1" u="none" strike="noStrike" cap="none" baseline="30000">
                          <a:solidFill>
                            <a:schemeClr val="dk1"/>
                          </a:solidFill>
                        </a:rPr>
                        <a:t>t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b="1" u="none" strike="noStrike" cap="none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ro" sz="1400" b="1" u="none" strike="noStrike" cap="none" baseline="-25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ro" sz="1400" b="1" u="none" strike="noStrike" cap="none" baseline="30000">
                          <a:solidFill>
                            <a:schemeClr val="dk1"/>
                          </a:solidFill>
                        </a:rPr>
                        <a:t>t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Q2t+1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b="1" u="none" strike="noStrike" cap="none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ro" sz="1400" b="1" u="none" strike="noStrike" cap="none" baseline="-25000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lang="ro" sz="1400" b="1" u="none" strike="noStrike" cap="none" baseline="30000">
                          <a:solidFill>
                            <a:schemeClr val="dk1"/>
                          </a:solidFill>
                        </a:rPr>
                        <a:t>t+1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b="1" u="none" strike="noStrike" cap="none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ro" sz="1400" b="1" u="none" strike="noStrike" cap="none" baseline="-25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ro" sz="1400" b="1" u="none" strike="noStrike" cap="none" baseline="30000">
                          <a:solidFill>
                            <a:schemeClr val="dk1"/>
                          </a:solidFill>
                        </a:rPr>
                        <a:t>t+1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b="1" u="none" strike="noStrike" cap="none"/>
                        <a:t>Z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*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*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*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*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*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*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*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*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6" name="Google Shape;186;p15"/>
          <p:cNvSpPr txBox="1">
            <a:spLocks noGrp="1"/>
          </p:cNvSpPr>
          <p:nvPr>
            <p:ph type="body" idx="1"/>
          </p:nvPr>
        </p:nvSpPr>
        <p:spPr>
          <a:xfrm>
            <a:off x="9144000" y="1581300"/>
            <a:ext cx="886800" cy="19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ro" sz="1400"/>
              <a:t>(în acest tabel, se copiază valorile de pe slideul anterior, pentru a fi mai ușor de urmărit)</a:t>
            </a:r>
            <a:endParaRPr sz="1400"/>
          </a:p>
        </p:txBody>
      </p:sp>
      <p:sp>
        <p:nvSpPr>
          <p:cNvPr id="187" name="Google Shape;187;p15"/>
          <p:cNvSpPr/>
          <p:nvPr/>
        </p:nvSpPr>
        <p:spPr>
          <a:xfrm>
            <a:off x="1848600" y="2009700"/>
            <a:ext cx="781500" cy="400500"/>
          </a:xfrm>
          <a:prstGeom prst="round2SameRect">
            <a:avLst>
              <a:gd name="adj1" fmla="val 16667"/>
              <a:gd name="adj2" fmla="val 0"/>
            </a:avLst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5"/>
          <p:cNvSpPr/>
          <p:nvPr/>
        </p:nvSpPr>
        <p:spPr>
          <a:xfrm rot="10800000">
            <a:off x="1425190" y="2419498"/>
            <a:ext cx="723900" cy="400500"/>
          </a:xfrm>
          <a:prstGeom prst="round2SameRect">
            <a:avLst>
              <a:gd name="adj1" fmla="val 16667"/>
              <a:gd name="adj2" fmla="val 0"/>
            </a:avLst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9" name="Google Shape;189;p15"/>
          <p:cNvGrpSpPr/>
          <p:nvPr/>
        </p:nvGrpSpPr>
        <p:grpSpPr>
          <a:xfrm>
            <a:off x="324900" y="3562200"/>
            <a:ext cx="1100300" cy="572700"/>
            <a:chOff x="844300" y="1149025"/>
            <a:chExt cx="1100300" cy="572700"/>
          </a:xfrm>
        </p:grpSpPr>
        <p:sp>
          <p:nvSpPr>
            <p:cNvPr id="190" name="Google Shape;190;p15"/>
            <p:cNvSpPr/>
            <p:nvPr/>
          </p:nvSpPr>
          <p:spPr>
            <a:xfrm>
              <a:off x="1229400" y="1149025"/>
              <a:ext cx="538200" cy="572700"/>
            </a:xfrm>
            <a:prstGeom prst="flowChartDelay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1" name="Google Shape;191;p15"/>
            <p:cNvCxnSpPr/>
            <p:nvPr/>
          </p:nvCxnSpPr>
          <p:spPr>
            <a:xfrm flipH="1">
              <a:off x="844300" y="1273300"/>
              <a:ext cx="387600" cy="21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2" name="Google Shape;192;p15"/>
            <p:cNvCxnSpPr/>
            <p:nvPr/>
          </p:nvCxnSpPr>
          <p:spPr>
            <a:xfrm flipH="1">
              <a:off x="844300" y="1579950"/>
              <a:ext cx="387600" cy="21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3" name="Google Shape;193;p15"/>
            <p:cNvCxnSpPr>
              <a:stCxn id="190" idx="3"/>
            </p:cNvCxnSpPr>
            <p:nvPr/>
          </p:nvCxnSpPr>
          <p:spPr>
            <a:xfrm>
              <a:off x="1767600" y="1435375"/>
              <a:ext cx="177000" cy="3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94" name="Google Shape;194;p15"/>
          <p:cNvGrpSpPr/>
          <p:nvPr/>
        </p:nvGrpSpPr>
        <p:grpSpPr>
          <a:xfrm>
            <a:off x="1486550" y="3796300"/>
            <a:ext cx="1100450" cy="572700"/>
            <a:chOff x="7152400" y="610750"/>
            <a:chExt cx="1100450" cy="572700"/>
          </a:xfrm>
        </p:grpSpPr>
        <p:cxnSp>
          <p:nvCxnSpPr>
            <p:cNvPr id="195" name="Google Shape;195;p15"/>
            <p:cNvCxnSpPr/>
            <p:nvPr/>
          </p:nvCxnSpPr>
          <p:spPr>
            <a:xfrm flipH="1">
              <a:off x="7152400" y="741600"/>
              <a:ext cx="584700" cy="36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6" name="Google Shape;196;p15"/>
            <p:cNvCxnSpPr/>
            <p:nvPr/>
          </p:nvCxnSpPr>
          <p:spPr>
            <a:xfrm rot="10800000">
              <a:off x="7152650" y="1051600"/>
              <a:ext cx="594300" cy="2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97" name="Google Shape;197;p15"/>
            <p:cNvSpPr/>
            <p:nvPr/>
          </p:nvSpPr>
          <p:spPr>
            <a:xfrm flipH="1">
              <a:off x="7537650" y="610750"/>
              <a:ext cx="538200" cy="572700"/>
            </a:xfrm>
            <a:prstGeom prst="moon">
              <a:avLst>
                <a:gd name="adj" fmla="val 50000"/>
              </a:avLst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8" name="Google Shape;198;p15"/>
            <p:cNvCxnSpPr/>
            <p:nvPr/>
          </p:nvCxnSpPr>
          <p:spPr>
            <a:xfrm>
              <a:off x="8075850" y="860475"/>
              <a:ext cx="177000" cy="3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99" name="Google Shape;199;p15"/>
          <p:cNvGrpSpPr/>
          <p:nvPr/>
        </p:nvGrpSpPr>
        <p:grpSpPr>
          <a:xfrm>
            <a:off x="2587000" y="3402163"/>
            <a:ext cx="2356200" cy="1561512"/>
            <a:chOff x="6476100" y="82663"/>
            <a:chExt cx="2356200" cy="1561512"/>
          </a:xfrm>
        </p:grpSpPr>
        <p:grpSp>
          <p:nvGrpSpPr>
            <p:cNvPr id="200" name="Google Shape;200;p15"/>
            <p:cNvGrpSpPr/>
            <p:nvPr/>
          </p:nvGrpSpPr>
          <p:grpSpPr>
            <a:xfrm>
              <a:off x="6476100" y="82663"/>
              <a:ext cx="2356200" cy="1220100"/>
              <a:chOff x="2835000" y="1160300"/>
              <a:chExt cx="2356200" cy="1220100"/>
            </a:xfrm>
          </p:grpSpPr>
          <p:sp>
            <p:nvSpPr>
              <p:cNvPr id="201" name="Google Shape;201;p15"/>
              <p:cNvSpPr/>
              <p:nvPr/>
            </p:nvSpPr>
            <p:spPr>
              <a:xfrm>
                <a:off x="3373200" y="1160300"/>
                <a:ext cx="1279800" cy="1220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15"/>
              <p:cNvSpPr txBox="1"/>
              <p:nvPr/>
            </p:nvSpPr>
            <p:spPr>
              <a:xfrm>
                <a:off x="3373200" y="1572950"/>
                <a:ext cx="311100" cy="39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ro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03" name="Google Shape;203;p15"/>
              <p:cNvCxnSpPr/>
              <p:nvPr/>
            </p:nvCxnSpPr>
            <p:spPr>
              <a:xfrm>
                <a:off x="4653000" y="1484825"/>
                <a:ext cx="538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4" name="Google Shape;204;p15"/>
              <p:cNvCxnSpPr/>
              <p:nvPr/>
            </p:nvCxnSpPr>
            <p:spPr>
              <a:xfrm>
                <a:off x="4653000" y="2055875"/>
                <a:ext cx="538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5" name="Google Shape;205;p15"/>
              <p:cNvCxnSpPr/>
              <p:nvPr/>
            </p:nvCxnSpPr>
            <p:spPr>
              <a:xfrm>
                <a:off x="2835000" y="1770350"/>
                <a:ext cx="538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06" name="Google Shape;206;p15"/>
              <p:cNvSpPr txBox="1"/>
              <p:nvPr/>
            </p:nvSpPr>
            <p:spPr>
              <a:xfrm>
                <a:off x="4341900" y="1287425"/>
                <a:ext cx="311100" cy="39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ro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Q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15"/>
              <p:cNvSpPr txBox="1"/>
              <p:nvPr/>
            </p:nvSpPr>
            <p:spPr>
              <a:xfrm>
                <a:off x="4288200" y="1858475"/>
                <a:ext cx="418500" cy="39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ro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!Q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15"/>
              <p:cNvSpPr txBox="1"/>
              <p:nvPr/>
            </p:nvSpPr>
            <p:spPr>
              <a:xfrm>
                <a:off x="3675150" y="1484825"/>
                <a:ext cx="675900" cy="39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ro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CBB</a:t>
                </a:r>
                <a:br>
                  <a:rPr lang="ro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lang="ro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09" name="Google Shape;209;p15"/>
            <p:cNvCxnSpPr>
              <a:stCxn id="201" idx="2"/>
            </p:cNvCxnSpPr>
            <p:nvPr/>
          </p:nvCxnSpPr>
          <p:spPr>
            <a:xfrm>
              <a:off x="7654200" y="1302763"/>
              <a:ext cx="1200" cy="28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10" name="Google Shape;210;p15"/>
            <p:cNvSpPr txBox="1"/>
            <p:nvPr/>
          </p:nvSpPr>
          <p:spPr>
            <a:xfrm>
              <a:off x="7715250" y="1249375"/>
              <a:ext cx="610200" cy="39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CLK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1" name="Google Shape;211;p15"/>
          <p:cNvGrpSpPr/>
          <p:nvPr/>
        </p:nvGrpSpPr>
        <p:grpSpPr>
          <a:xfrm>
            <a:off x="324900" y="4369000"/>
            <a:ext cx="1100300" cy="572700"/>
            <a:chOff x="844300" y="1149025"/>
            <a:chExt cx="1100300" cy="572700"/>
          </a:xfrm>
        </p:grpSpPr>
        <p:sp>
          <p:nvSpPr>
            <p:cNvPr id="212" name="Google Shape;212;p15"/>
            <p:cNvSpPr/>
            <p:nvPr/>
          </p:nvSpPr>
          <p:spPr>
            <a:xfrm>
              <a:off x="1229400" y="1149025"/>
              <a:ext cx="538200" cy="572700"/>
            </a:xfrm>
            <a:prstGeom prst="flowChartDelay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3" name="Google Shape;213;p15"/>
            <p:cNvCxnSpPr/>
            <p:nvPr/>
          </p:nvCxnSpPr>
          <p:spPr>
            <a:xfrm flipH="1">
              <a:off x="844300" y="1273300"/>
              <a:ext cx="387600" cy="21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4" name="Google Shape;214;p15"/>
            <p:cNvCxnSpPr/>
            <p:nvPr/>
          </p:nvCxnSpPr>
          <p:spPr>
            <a:xfrm flipH="1">
              <a:off x="844300" y="1579950"/>
              <a:ext cx="387600" cy="21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5" name="Google Shape;215;p15"/>
            <p:cNvCxnSpPr>
              <a:stCxn id="212" idx="3"/>
            </p:cNvCxnSpPr>
            <p:nvPr/>
          </p:nvCxnSpPr>
          <p:spPr>
            <a:xfrm>
              <a:off x="1767600" y="1435375"/>
              <a:ext cx="177000" cy="3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16" name="Google Shape;216;p15"/>
          <p:cNvSpPr txBox="1">
            <a:spLocks noGrp="1"/>
          </p:cNvSpPr>
          <p:nvPr>
            <p:ph type="body" idx="1"/>
          </p:nvPr>
        </p:nvSpPr>
        <p:spPr>
          <a:xfrm>
            <a:off x="-27675" y="3343900"/>
            <a:ext cx="723900" cy="15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o"/>
              <a:t>!Q0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o"/>
              <a:t>Q2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o"/>
              <a:t>Q0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o"/>
              <a:t>Q1 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o"/>
              <a:t> 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ro"/>
              <a:t>    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o" b="1">
                <a:latin typeface="Calibri"/>
                <a:ea typeface="Calibri"/>
                <a:cs typeface="Calibri"/>
                <a:sym typeface="Calibri"/>
              </a:rPr>
              <a:t>Implementare Q</a:t>
            </a:r>
            <a:r>
              <a:rPr lang="ro" b="1" baseline="-25000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ro" b="1">
                <a:latin typeface="Calibri"/>
                <a:ea typeface="Calibri"/>
                <a:cs typeface="Calibri"/>
                <a:sym typeface="Calibri"/>
              </a:rPr>
              <a:t> folosind CBB tip D și MUX 4:1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graphicFrame>
        <p:nvGraphicFramePr>
          <p:cNvPr id="222" name="Google Shape;222;p16"/>
          <p:cNvGraphicFramePr/>
          <p:nvPr/>
        </p:nvGraphicFramePr>
        <p:xfrm>
          <a:off x="311700" y="1581300"/>
          <a:ext cx="2418600" cy="1257300"/>
        </p:xfrm>
        <a:graphic>
          <a:graphicData uri="http://schemas.openxmlformats.org/drawingml/2006/table">
            <a:tbl>
              <a:tblPr>
                <a:noFill/>
                <a:tableStyleId>{5E025C39-C3A2-4F16-85EE-CC61BD4F9116}</a:tableStyleId>
              </a:tblPr>
              <a:tblGrid>
                <a:gridCol w="54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o" sz="1000" u="none" strike="noStrike" cap="none"/>
                        <a:t>   </a:t>
                      </a:r>
                      <a:r>
                        <a:rPr lang="ro" sz="1000" b="1" u="none" strike="noStrike" cap="none"/>
                        <a:t>   Q</a:t>
                      </a:r>
                      <a:r>
                        <a:rPr lang="ro" sz="1000" b="1" u="none" strike="noStrike" cap="none" baseline="-25000"/>
                        <a:t>2</a:t>
                      </a:r>
                      <a:r>
                        <a:rPr lang="ro" sz="1000" b="1" u="none" strike="noStrike" cap="none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ro" sz="1000" b="1" u="none" strike="noStrike" cap="none" baseline="-25000">
                          <a:solidFill>
                            <a:schemeClr val="dk1"/>
                          </a:solidFill>
                        </a:rPr>
                        <a:t>1</a:t>
                      </a:r>
                      <a:endParaRPr sz="1000" b="1" u="none" strike="noStrike" cap="none" baseline="-250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o" sz="1000" b="1" u="none" strike="noStrike" cap="none"/>
                        <a:t> Q</a:t>
                      </a:r>
                      <a:r>
                        <a:rPr lang="ro" sz="1000" b="1" u="none" strike="noStrike" cap="none" baseline="-25000"/>
                        <a:t>0</a:t>
                      </a:r>
                      <a:endParaRPr sz="1000" b="1" u="none" strike="noStrike" cap="none" baseline="-25000"/>
                    </a:p>
                  </a:txBody>
                  <a:tcPr marL="0" marR="0" marT="0" marB="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00</a:t>
                      </a:r>
                      <a:endParaRPr sz="1400" u="none" strike="noStrike" cap="none"/>
                    </a:p>
                  </a:txBody>
                  <a:tcPr marL="91425" marR="0" marT="91425" marB="91425"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01</a:t>
                      </a:r>
                      <a:endParaRPr sz="1400" u="none" strike="noStrike" cap="none"/>
                    </a:p>
                  </a:txBody>
                  <a:tcPr marL="91425" marR="0" marT="91425" marB="91425"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11</a:t>
                      </a:r>
                      <a:endParaRPr sz="1400" u="none" strike="noStrike" cap="none"/>
                    </a:p>
                  </a:txBody>
                  <a:tcPr marL="91425" marR="0" marT="91425" marB="91425"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10</a:t>
                      </a:r>
                      <a:endParaRPr sz="1400" u="none" strike="noStrike" cap="none"/>
                    </a:p>
                  </a:txBody>
                  <a:tcPr marL="91425" marR="0" marT="91425" marB="91425"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0" marT="91425" marB="91425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0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1</a:t>
                      </a:r>
                      <a:endParaRPr sz="1400" u="none" strike="noStrike" cap="none"/>
                    </a:p>
                  </a:txBody>
                  <a:tcPr marL="91425" marR="0" marT="91425" marB="91425"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*</a:t>
                      </a:r>
                      <a:endParaRPr sz="1400" u="none" strike="noStrike" cap="none"/>
                    </a:p>
                  </a:txBody>
                  <a:tcPr marL="91425" marR="0" marT="91425" marB="91425"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0" marT="91425" marB="91425"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0" marT="91425" marB="91425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1</a:t>
                      </a:r>
                      <a:endParaRPr sz="1400" u="none" strike="noStrike" cap="none"/>
                    </a:p>
                  </a:txBody>
                  <a:tcPr marL="91425" marR="0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0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*</a:t>
                      </a:r>
                      <a:endParaRPr sz="1400" u="none" strike="noStrike" cap="none"/>
                    </a:p>
                  </a:txBody>
                  <a:tcPr marL="91425" marR="0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0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223" name="Google Shape;223;p16"/>
          <p:cNvCxnSpPr/>
          <p:nvPr/>
        </p:nvCxnSpPr>
        <p:spPr>
          <a:xfrm>
            <a:off x="324900" y="1581425"/>
            <a:ext cx="530100" cy="404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24" name="Google Shape;224;p16"/>
          <p:cNvGraphicFramePr/>
          <p:nvPr/>
        </p:nvGraphicFramePr>
        <p:xfrm>
          <a:off x="4978450" y="1157150"/>
          <a:ext cx="3853850" cy="3779250"/>
        </p:xfrm>
        <a:graphic>
          <a:graphicData uri="http://schemas.openxmlformats.org/drawingml/2006/table">
            <a:tbl>
              <a:tblPr>
                <a:noFill/>
                <a:tableStyleId>{5E025C39-C3A2-4F16-85EE-CC61BD4F9116}</a:tableStyleId>
              </a:tblPr>
              <a:tblGrid>
                <a:gridCol w="55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0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0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0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0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05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74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b="1" u="none" strike="noStrike" cap="none"/>
                        <a:t>Q</a:t>
                      </a:r>
                      <a:r>
                        <a:rPr lang="ro" sz="1400" b="1" u="none" strike="noStrike" cap="none" baseline="-25000"/>
                        <a:t>2</a:t>
                      </a:r>
                      <a:r>
                        <a:rPr lang="ro" sz="1400" b="1" u="none" strike="noStrike" cap="none" baseline="30000"/>
                        <a:t>t</a:t>
                      </a:r>
                      <a:endParaRPr sz="1400" b="1" u="none" strike="noStrike" cap="none" baseline="30000"/>
                    </a:p>
                  </a:txBody>
                  <a:tcPr marL="91425" marR="91425" marT="91425" marB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b="1" u="none" strike="noStrike" cap="none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ro" sz="1400" b="1" u="none" strike="noStrike" cap="none" baseline="-25000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lang="ro" sz="1400" b="1" u="none" strike="noStrike" cap="none" baseline="30000">
                          <a:solidFill>
                            <a:schemeClr val="dk1"/>
                          </a:solidFill>
                        </a:rPr>
                        <a:t>t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b="1" u="none" strike="noStrike" cap="none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ro" sz="1400" b="1" u="none" strike="noStrike" cap="none" baseline="-25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ro" sz="1400" b="1" u="none" strike="noStrike" cap="none" baseline="30000">
                          <a:solidFill>
                            <a:schemeClr val="dk1"/>
                          </a:solidFill>
                        </a:rPr>
                        <a:t>t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b="1" u="none" strike="noStrike" cap="none"/>
                        <a:t>Q</a:t>
                      </a:r>
                      <a:r>
                        <a:rPr lang="ro" sz="1400" b="1" u="none" strike="noStrike" cap="none" baseline="-25000"/>
                        <a:t>2</a:t>
                      </a:r>
                      <a:r>
                        <a:rPr lang="ro" sz="1400" b="1" u="none" strike="noStrike" cap="none" baseline="30000"/>
                        <a:t>t+1</a:t>
                      </a:r>
                      <a:endParaRPr sz="1400" b="1" u="none" strike="noStrike" cap="none" baseline="30000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b="1" u="none" strike="noStrike" cap="none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ro" sz="1400" b="1" u="none" strike="noStrike" cap="none" baseline="-25000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lang="ro" sz="1400" b="1" u="none" strike="noStrike" cap="none" baseline="30000">
                          <a:solidFill>
                            <a:schemeClr val="dk1"/>
                          </a:solidFill>
                        </a:rPr>
                        <a:t>t+1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b="1" u="none" strike="noStrike" cap="none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ro" sz="1400" b="1" u="none" strike="noStrike" cap="none" baseline="-25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ro" sz="1400" b="1" u="none" strike="noStrike" cap="none" baseline="30000">
                          <a:solidFill>
                            <a:schemeClr val="dk1"/>
                          </a:solidFill>
                        </a:rPr>
                        <a:t>t+1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b="1" u="none" strike="noStrike" cap="none"/>
                        <a:t>Z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*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*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*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*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*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*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*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*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5" name="Google Shape;225;p16"/>
          <p:cNvSpPr txBox="1">
            <a:spLocks noGrp="1"/>
          </p:cNvSpPr>
          <p:nvPr>
            <p:ph type="body" idx="1"/>
          </p:nvPr>
        </p:nvSpPr>
        <p:spPr>
          <a:xfrm>
            <a:off x="9144000" y="1581300"/>
            <a:ext cx="886800" cy="19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ro" sz="1400"/>
              <a:t>(în acest tabel, se copiază valorile de pe slideul anterior, pentru a fi mai ușor de urmărit)</a:t>
            </a:r>
            <a:endParaRPr sz="1400"/>
          </a:p>
        </p:txBody>
      </p:sp>
      <p:grpSp>
        <p:nvGrpSpPr>
          <p:cNvPr id="226" name="Google Shape;226;p16"/>
          <p:cNvGrpSpPr/>
          <p:nvPr/>
        </p:nvGrpSpPr>
        <p:grpSpPr>
          <a:xfrm>
            <a:off x="112200" y="3194613"/>
            <a:ext cx="1822413" cy="1418375"/>
            <a:chOff x="627000" y="1297263"/>
            <a:chExt cx="1822413" cy="1418375"/>
          </a:xfrm>
        </p:grpSpPr>
        <p:sp>
          <p:nvSpPr>
            <p:cNvPr id="227" name="Google Shape;227;p16"/>
            <p:cNvSpPr/>
            <p:nvPr/>
          </p:nvSpPr>
          <p:spPr>
            <a:xfrm rot="5400000">
              <a:off x="1081725" y="1440363"/>
              <a:ext cx="1256700" cy="970500"/>
            </a:xfrm>
            <a:prstGeom prst="trapezoid">
              <a:avLst>
                <a:gd name="adj" fmla="val 25000"/>
              </a:avLst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16"/>
            <p:cNvSpPr txBox="1"/>
            <p:nvPr/>
          </p:nvSpPr>
          <p:spPr>
            <a:xfrm>
              <a:off x="1436138" y="1590663"/>
              <a:ext cx="588600" cy="6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MUX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4:1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16"/>
            <p:cNvSpPr txBox="1"/>
            <p:nvPr/>
          </p:nvSpPr>
          <p:spPr>
            <a:xfrm>
              <a:off x="1228000" y="1381700"/>
              <a:ext cx="424200" cy="105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194000" bIns="91425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0" name="Google Shape;230;p16"/>
            <p:cNvCxnSpPr/>
            <p:nvPr/>
          </p:nvCxnSpPr>
          <p:spPr>
            <a:xfrm rot="10800000">
              <a:off x="1092388" y="1582913"/>
              <a:ext cx="135600" cy="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1" name="Google Shape;231;p16"/>
            <p:cNvCxnSpPr/>
            <p:nvPr/>
          </p:nvCxnSpPr>
          <p:spPr>
            <a:xfrm rot="10800000">
              <a:off x="1092388" y="1825863"/>
              <a:ext cx="135600" cy="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2" name="Google Shape;232;p16"/>
            <p:cNvCxnSpPr/>
            <p:nvPr/>
          </p:nvCxnSpPr>
          <p:spPr>
            <a:xfrm rot="10800000">
              <a:off x="1092388" y="2068813"/>
              <a:ext cx="135600" cy="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3" name="Google Shape;233;p16"/>
            <p:cNvCxnSpPr/>
            <p:nvPr/>
          </p:nvCxnSpPr>
          <p:spPr>
            <a:xfrm rot="10800000">
              <a:off x="1092388" y="2311763"/>
              <a:ext cx="135600" cy="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34" name="Google Shape;234;p16"/>
            <p:cNvSpPr txBox="1"/>
            <p:nvPr/>
          </p:nvSpPr>
          <p:spPr>
            <a:xfrm rot="-782417">
              <a:off x="1406597" y="2079678"/>
              <a:ext cx="761847" cy="3267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S1  S0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5" name="Google Shape;235;p16"/>
            <p:cNvCxnSpPr/>
            <p:nvPr/>
          </p:nvCxnSpPr>
          <p:spPr>
            <a:xfrm>
              <a:off x="1652288" y="2456688"/>
              <a:ext cx="4800" cy="258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6" name="Google Shape;236;p16"/>
            <p:cNvCxnSpPr/>
            <p:nvPr/>
          </p:nvCxnSpPr>
          <p:spPr>
            <a:xfrm>
              <a:off x="1943288" y="2379938"/>
              <a:ext cx="8100" cy="3357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7" name="Google Shape;237;p16"/>
            <p:cNvCxnSpPr/>
            <p:nvPr/>
          </p:nvCxnSpPr>
          <p:spPr>
            <a:xfrm>
              <a:off x="2195313" y="1925613"/>
              <a:ext cx="254100" cy="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38" name="Google Shape;238;p16"/>
            <p:cNvSpPr txBox="1"/>
            <p:nvPr/>
          </p:nvSpPr>
          <p:spPr>
            <a:xfrm>
              <a:off x="1939025" y="1733113"/>
              <a:ext cx="217500" cy="2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16"/>
            <p:cNvSpPr txBox="1"/>
            <p:nvPr/>
          </p:nvSpPr>
          <p:spPr>
            <a:xfrm>
              <a:off x="627000" y="1381700"/>
              <a:ext cx="530100" cy="1118700"/>
            </a:xfrm>
            <a:prstGeom prst="rect">
              <a:avLst/>
            </a:prstGeom>
            <a:noFill/>
            <a:ln w="9525" cap="flat" cmpd="sng">
              <a:solidFill>
                <a:srgbClr val="B7B7B7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194000" bIns="91425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/>
                <a:t>Q0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/>
                <a:t>!Q0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/>
                <a:t>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/>
                <a:t>*(0)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0" name="Google Shape;240;p16"/>
          <p:cNvSpPr txBox="1"/>
          <p:nvPr/>
        </p:nvSpPr>
        <p:spPr>
          <a:xfrm flipH="1">
            <a:off x="1034750" y="4613000"/>
            <a:ext cx="1054800" cy="2820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0" tIns="91425" rIns="194000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Q2 Q1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1" name="Google Shape;241;p16"/>
          <p:cNvGrpSpPr/>
          <p:nvPr/>
        </p:nvGrpSpPr>
        <p:grpSpPr>
          <a:xfrm>
            <a:off x="1934625" y="3194625"/>
            <a:ext cx="2356200" cy="1561512"/>
            <a:chOff x="6476100" y="82663"/>
            <a:chExt cx="2356200" cy="1561512"/>
          </a:xfrm>
        </p:grpSpPr>
        <p:grpSp>
          <p:nvGrpSpPr>
            <p:cNvPr id="242" name="Google Shape;242;p16"/>
            <p:cNvGrpSpPr/>
            <p:nvPr/>
          </p:nvGrpSpPr>
          <p:grpSpPr>
            <a:xfrm>
              <a:off x="6476100" y="82663"/>
              <a:ext cx="2356200" cy="1220100"/>
              <a:chOff x="2835000" y="1160300"/>
              <a:chExt cx="2356200" cy="1220100"/>
            </a:xfrm>
          </p:grpSpPr>
          <p:sp>
            <p:nvSpPr>
              <p:cNvPr id="243" name="Google Shape;243;p16"/>
              <p:cNvSpPr/>
              <p:nvPr/>
            </p:nvSpPr>
            <p:spPr>
              <a:xfrm>
                <a:off x="3373200" y="1160300"/>
                <a:ext cx="1279800" cy="1220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16"/>
              <p:cNvSpPr txBox="1"/>
              <p:nvPr/>
            </p:nvSpPr>
            <p:spPr>
              <a:xfrm>
                <a:off x="3373200" y="1572950"/>
                <a:ext cx="311100" cy="39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ro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45" name="Google Shape;245;p16"/>
              <p:cNvCxnSpPr/>
              <p:nvPr/>
            </p:nvCxnSpPr>
            <p:spPr>
              <a:xfrm>
                <a:off x="4653000" y="1484825"/>
                <a:ext cx="538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46" name="Google Shape;246;p16"/>
              <p:cNvCxnSpPr/>
              <p:nvPr/>
            </p:nvCxnSpPr>
            <p:spPr>
              <a:xfrm>
                <a:off x="4653000" y="2055875"/>
                <a:ext cx="538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47" name="Google Shape;247;p16"/>
              <p:cNvCxnSpPr/>
              <p:nvPr/>
            </p:nvCxnSpPr>
            <p:spPr>
              <a:xfrm>
                <a:off x="2835000" y="1770350"/>
                <a:ext cx="538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48" name="Google Shape;248;p16"/>
              <p:cNvSpPr txBox="1"/>
              <p:nvPr/>
            </p:nvSpPr>
            <p:spPr>
              <a:xfrm>
                <a:off x="4341900" y="1287425"/>
                <a:ext cx="311100" cy="39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ro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Q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16"/>
              <p:cNvSpPr txBox="1"/>
              <p:nvPr/>
            </p:nvSpPr>
            <p:spPr>
              <a:xfrm>
                <a:off x="4288200" y="1858475"/>
                <a:ext cx="418500" cy="39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ro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!Q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16"/>
              <p:cNvSpPr txBox="1"/>
              <p:nvPr/>
            </p:nvSpPr>
            <p:spPr>
              <a:xfrm>
                <a:off x="3675150" y="1484825"/>
                <a:ext cx="675900" cy="39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ro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CBB</a:t>
                </a:r>
                <a:br>
                  <a:rPr lang="ro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lang="ro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51" name="Google Shape;251;p16"/>
            <p:cNvCxnSpPr>
              <a:stCxn id="243" idx="2"/>
            </p:cNvCxnSpPr>
            <p:nvPr/>
          </p:nvCxnSpPr>
          <p:spPr>
            <a:xfrm>
              <a:off x="7654200" y="1302763"/>
              <a:ext cx="1200" cy="28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52" name="Google Shape;252;p16"/>
            <p:cNvSpPr txBox="1"/>
            <p:nvPr/>
          </p:nvSpPr>
          <p:spPr>
            <a:xfrm>
              <a:off x="7715250" y="1249375"/>
              <a:ext cx="610200" cy="39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CLK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o" b="1">
                <a:latin typeface="Calibri"/>
                <a:ea typeface="Calibri"/>
                <a:cs typeface="Calibri"/>
                <a:sym typeface="Calibri"/>
              </a:rPr>
              <a:t>Implementare Q</a:t>
            </a:r>
            <a:r>
              <a:rPr lang="ro" b="1" baseline="-25000"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ro" b="1">
                <a:latin typeface="Calibri"/>
                <a:ea typeface="Calibri"/>
                <a:cs typeface="Calibri"/>
                <a:sym typeface="Calibri"/>
              </a:rPr>
              <a:t> folosind CBB tip D și MUX 2:1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graphicFrame>
        <p:nvGraphicFramePr>
          <p:cNvPr id="258" name="Google Shape;258;p17"/>
          <p:cNvGraphicFramePr/>
          <p:nvPr/>
        </p:nvGraphicFramePr>
        <p:xfrm>
          <a:off x="311700" y="1581300"/>
          <a:ext cx="2418600" cy="1234410"/>
        </p:xfrm>
        <a:graphic>
          <a:graphicData uri="http://schemas.openxmlformats.org/drawingml/2006/table">
            <a:tbl>
              <a:tblPr>
                <a:noFill/>
                <a:tableStyleId>{5E025C39-C3A2-4F16-85EE-CC61BD4F9116}</a:tableStyleId>
              </a:tblPr>
              <a:tblGrid>
                <a:gridCol w="54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o" sz="1000" u="none" strike="noStrike" cap="none"/>
                        <a:t>   </a:t>
                      </a:r>
                      <a:r>
                        <a:rPr lang="ro" sz="1000" b="1" u="none" strike="noStrike" cap="none"/>
                        <a:t>   Q</a:t>
                      </a:r>
                      <a:r>
                        <a:rPr lang="ro" sz="1000" b="1" u="none" strike="noStrike" cap="none" baseline="-25000"/>
                        <a:t>2</a:t>
                      </a:r>
                      <a:r>
                        <a:rPr lang="ro" sz="1000" b="1" u="none" strike="noStrike" cap="none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ro" sz="1000" b="1" u="none" strike="noStrike" cap="none" baseline="-25000">
                          <a:solidFill>
                            <a:schemeClr val="dk1"/>
                          </a:solidFill>
                        </a:rPr>
                        <a:t>1</a:t>
                      </a:r>
                      <a:endParaRPr sz="1000" b="1" u="none" strike="noStrike" cap="none" baseline="-250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o" sz="1000" b="1" u="none" strike="noStrike" cap="none"/>
                        <a:t> Q</a:t>
                      </a:r>
                      <a:r>
                        <a:rPr lang="ro" sz="1000" b="1" u="none" strike="noStrike" cap="none" baseline="-25000"/>
                        <a:t>0</a:t>
                      </a:r>
                      <a:endParaRPr sz="1000" b="1" u="none" strike="noStrike" cap="none" baseline="-25000"/>
                    </a:p>
                  </a:txBody>
                  <a:tcPr marL="0" marR="0" marT="0" marB="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00</a:t>
                      </a:r>
                      <a:endParaRPr sz="1400" u="none" strike="noStrike" cap="none"/>
                    </a:p>
                  </a:txBody>
                  <a:tcPr marL="91425" marR="0" marT="91425" marB="91425"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01</a:t>
                      </a:r>
                      <a:endParaRPr sz="1400" u="none" strike="noStrike" cap="none"/>
                    </a:p>
                  </a:txBody>
                  <a:tcPr marL="91425" marR="0" marT="91425" marB="91425"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11</a:t>
                      </a:r>
                      <a:endParaRPr sz="1400" u="none" strike="noStrike" cap="none"/>
                    </a:p>
                  </a:txBody>
                  <a:tcPr marL="91425" marR="0" marT="91425" marB="91425"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10</a:t>
                      </a:r>
                      <a:endParaRPr sz="1400" u="none" strike="noStrike" cap="none"/>
                    </a:p>
                  </a:txBody>
                  <a:tcPr marL="91425" marR="0" marT="91425" marB="91425"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0" marT="91425" marB="91425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1</a:t>
                      </a:r>
                      <a:endParaRPr sz="1400" u="none" strike="noStrike" cap="none"/>
                    </a:p>
                  </a:txBody>
                  <a:tcPr marL="91425" marR="0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1</a:t>
                      </a:r>
                      <a:endParaRPr sz="1400" u="none" strike="noStrike" cap="none"/>
                    </a:p>
                  </a:txBody>
                  <a:tcPr marL="91425" marR="0" marT="91425" marB="91425"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*</a:t>
                      </a:r>
                      <a:endParaRPr sz="1400" u="none" strike="noStrike" cap="none"/>
                    </a:p>
                  </a:txBody>
                  <a:tcPr marL="91425" marR="0" marT="91425" marB="91425"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1</a:t>
                      </a:r>
                      <a:endParaRPr sz="1400" u="none" strike="noStrike" cap="none"/>
                    </a:p>
                  </a:txBody>
                  <a:tcPr marL="91425" marR="0" marT="91425" marB="91425"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0" marT="91425" marB="91425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0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0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*</a:t>
                      </a:r>
                      <a:endParaRPr sz="1400" u="none" strike="noStrike" cap="none"/>
                    </a:p>
                  </a:txBody>
                  <a:tcPr marL="91425" marR="0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0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259" name="Google Shape;259;p17"/>
          <p:cNvCxnSpPr/>
          <p:nvPr/>
        </p:nvCxnSpPr>
        <p:spPr>
          <a:xfrm>
            <a:off x="324900" y="1581425"/>
            <a:ext cx="530100" cy="404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60" name="Google Shape;260;p17"/>
          <p:cNvGraphicFramePr/>
          <p:nvPr/>
        </p:nvGraphicFramePr>
        <p:xfrm>
          <a:off x="5197683" y="1157150"/>
          <a:ext cx="3853850" cy="3779250"/>
        </p:xfrm>
        <a:graphic>
          <a:graphicData uri="http://schemas.openxmlformats.org/drawingml/2006/table">
            <a:tbl>
              <a:tblPr>
                <a:noFill/>
                <a:tableStyleId>{5E025C39-C3A2-4F16-85EE-CC61BD4F9116}</a:tableStyleId>
              </a:tblPr>
              <a:tblGrid>
                <a:gridCol w="55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0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0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0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0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05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74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b="1" u="none" strike="noStrike" cap="none"/>
                        <a:t>Q</a:t>
                      </a:r>
                      <a:r>
                        <a:rPr lang="ro" sz="1400" b="1" u="none" strike="noStrike" cap="none" baseline="-25000"/>
                        <a:t>2</a:t>
                      </a:r>
                      <a:r>
                        <a:rPr lang="ro" sz="1400" b="1" u="none" strike="noStrike" cap="none" baseline="30000"/>
                        <a:t>t</a:t>
                      </a:r>
                      <a:endParaRPr sz="1400" b="1" u="none" strike="noStrike" cap="none" baseline="30000"/>
                    </a:p>
                  </a:txBody>
                  <a:tcPr marL="91425" marR="91425" marT="91425" marB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b="1" u="none" strike="noStrike" cap="none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ro" sz="1400" b="1" u="none" strike="noStrike" cap="none" baseline="-25000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lang="ro" sz="1400" b="1" u="none" strike="noStrike" cap="none" baseline="30000">
                          <a:solidFill>
                            <a:schemeClr val="dk1"/>
                          </a:solidFill>
                        </a:rPr>
                        <a:t>t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b="1" u="none" strike="noStrike" cap="none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ro" sz="1400" b="1" u="none" strike="noStrike" cap="none" baseline="-25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ro" sz="1400" b="1" u="none" strike="noStrike" cap="none" baseline="30000">
                          <a:solidFill>
                            <a:schemeClr val="dk1"/>
                          </a:solidFill>
                        </a:rPr>
                        <a:t>t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b="1" u="none" strike="noStrike" cap="none"/>
                        <a:t>Q</a:t>
                      </a:r>
                      <a:r>
                        <a:rPr lang="ro" sz="1400" b="1" u="none" strike="noStrike" cap="none" baseline="-25000"/>
                        <a:t>2</a:t>
                      </a:r>
                      <a:r>
                        <a:rPr lang="ro" sz="1400" b="1" u="none" strike="noStrike" cap="none" baseline="30000"/>
                        <a:t>t+1</a:t>
                      </a:r>
                      <a:endParaRPr sz="1400" b="1" u="none" strike="noStrike" cap="none" baseline="30000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b="1" u="none" strike="noStrike" cap="none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ro" sz="1400" b="1" u="none" strike="noStrike" cap="none" baseline="-25000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lang="ro" sz="1400" b="1" u="none" strike="noStrike" cap="none" baseline="30000">
                          <a:solidFill>
                            <a:schemeClr val="dk1"/>
                          </a:solidFill>
                        </a:rPr>
                        <a:t>t+1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b="1" u="none" strike="noStrike" cap="none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ro" sz="1400" b="1" u="none" strike="noStrike" cap="none" baseline="-25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ro" sz="1400" b="1" u="none" strike="noStrike" cap="none" baseline="30000">
                          <a:solidFill>
                            <a:schemeClr val="dk1"/>
                          </a:solidFill>
                        </a:rPr>
                        <a:t>t+1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b="1" u="none" strike="noStrike" cap="none"/>
                        <a:t>Z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*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*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*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*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*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*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*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*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61" name="Google Shape;261;p17"/>
          <p:cNvSpPr txBox="1">
            <a:spLocks noGrp="1"/>
          </p:cNvSpPr>
          <p:nvPr>
            <p:ph type="body" idx="1"/>
          </p:nvPr>
        </p:nvSpPr>
        <p:spPr>
          <a:xfrm>
            <a:off x="9144000" y="1581300"/>
            <a:ext cx="886800" cy="19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ro" sz="1400"/>
              <a:t>(în acest tabel, se copiază valorile de pe slideul anterior, pentru a fi mai ușor de urmărit)</a:t>
            </a:r>
            <a:endParaRPr sz="1400"/>
          </a:p>
        </p:txBody>
      </p:sp>
      <p:grpSp>
        <p:nvGrpSpPr>
          <p:cNvPr id="262" name="Google Shape;262;p17"/>
          <p:cNvGrpSpPr/>
          <p:nvPr/>
        </p:nvGrpSpPr>
        <p:grpSpPr>
          <a:xfrm>
            <a:off x="13600" y="3440588"/>
            <a:ext cx="1739100" cy="1100625"/>
            <a:chOff x="659000" y="2973563"/>
            <a:chExt cx="1739100" cy="1100625"/>
          </a:xfrm>
        </p:grpSpPr>
        <p:sp>
          <p:nvSpPr>
            <p:cNvPr id="263" name="Google Shape;263;p17"/>
            <p:cNvSpPr/>
            <p:nvPr/>
          </p:nvSpPr>
          <p:spPr>
            <a:xfrm rot="5400000">
              <a:off x="1230800" y="2984063"/>
              <a:ext cx="923700" cy="902700"/>
            </a:xfrm>
            <a:prstGeom prst="trapezoid">
              <a:avLst>
                <a:gd name="adj" fmla="val 25000"/>
              </a:avLst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17"/>
            <p:cNvSpPr txBox="1"/>
            <p:nvPr/>
          </p:nvSpPr>
          <p:spPr>
            <a:xfrm>
              <a:off x="1461250" y="3124013"/>
              <a:ext cx="588600" cy="6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MUX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2:1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17"/>
            <p:cNvSpPr txBox="1"/>
            <p:nvPr/>
          </p:nvSpPr>
          <p:spPr>
            <a:xfrm>
              <a:off x="1205800" y="3118125"/>
              <a:ext cx="464400" cy="55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194000" bIns="91425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6" name="Google Shape;266;p17"/>
            <p:cNvCxnSpPr/>
            <p:nvPr/>
          </p:nvCxnSpPr>
          <p:spPr>
            <a:xfrm rot="10800000">
              <a:off x="1111100" y="3305513"/>
              <a:ext cx="135600" cy="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7" name="Google Shape;267;p17"/>
            <p:cNvCxnSpPr/>
            <p:nvPr/>
          </p:nvCxnSpPr>
          <p:spPr>
            <a:xfrm rot="10800000">
              <a:off x="1111100" y="3548463"/>
              <a:ext cx="135600" cy="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8" name="Google Shape;268;p17"/>
            <p:cNvSpPr txBox="1"/>
            <p:nvPr/>
          </p:nvSpPr>
          <p:spPr>
            <a:xfrm rot="-781890">
              <a:off x="1333820" y="3529799"/>
              <a:ext cx="419093" cy="2490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9" name="Google Shape;269;p17"/>
            <p:cNvCxnSpPr/>
            <p:nvPr/>
          </p:nvCxnSpPr>
          <p:spPr>
            <a:xfrm>
              <a:off x="1573400" y="3815288"/>
              <a:ext cx="4800" cy="258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0" name="Google Shape;270;p17"/>
            <p:cNvCxnSpPr/>
            <p:nvPr/>
          </p:nvCxnSpPr>
          <p:spPr>
            <a:xfrm>
              <a:off x="2144000" y="3444213"/>
              <a:ext cx="254100" cy="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71" name="Google Shape;271;p17"/>
            <p:cNvSpPr txBox="1"/>
            <p:nvPr/>
          </p:nvSpPr>
          <p:spPr>
            <a:xfrm>
              <a:off x="1897688" y="3240763"/>
              <a:ext cx="217500" cy="2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17"/>
            <p:cNvSpPr txBox="1"/>
            <p:nvPr/>
          </p:nvSpPr>
          <p:spPr>
            <a:xfrm>
              <a:off x="659000" y="3095000"/>
              <a:ext cx="652200" cy="653700"/>
            </a:xfrm>
            <a:prstGeom prst="rect">
              <a:avLst/>
            </a:prstGeom>
            <a:noFill/>
            <a:ln w="9525" cap="flat" cmpd="sng">
              <a:solidFill>
                <a:srgbClr val="B7B7B7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194000" bIns="91425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/>
                <a:t>!Q0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/>
                <a:t>!Q0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3" name="Google Shape;273;p17"/>
          <p:cNvGrpSpPr/>
          <p:nvPr/>
        </p:nvGrpSpPr>
        <p:grpSpPr>
          <a:xfrm>
            <a:off x="1752700" y="3305125"/>
            <a:ext cx="2356200" cy="1561512"/>
            <a:chOff x="6476100" y="82663"/>
            <a:chExt cx="2356200" cy="1561512"/>
          </a:xfrm>
        </p:grpSpPr>
        <p:grpSp>
          <p:nvGrpSpPr>
            <p:cNvPr id="274" name="Google Shape;274;p17"/>
            <p:cNvGrpSpPr/>
            <p:nvPr/>
          </p:nvGrpSpPr>
          <p:grpSpPr>
            <a:xfrm>
              <a:off x="6476100" y="82663"/>
              <a:ext cx="2356200" cy="1220100"/>
              <a:chOff x="2835000" y="1160300"/>
              <a:chExt cx="2356200" cy="1220100"/>
            </a:xfrm>
          </p:grpSpPr>
          <p:sp>
            <p:nvSpPr>
              <p:cNvPr id="275" name="Google Shape;275;p17"/>
              <p:cNvSpPr/>
              <p:nvPr/>
            </p:nvSpPr>
            <p:spPr>
              <a:xfrm>
                <a:off x="3373200" y="1160300"/>
                <a:ext cx="1279800" cy="1220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17"/>
              <p:cNvSpPr txBox="1"/>
              <p:nvPr/>
            </p:nvSpPr>
            <p:spPr>
              <a:xfrm>
                <a:off x="3373200" y="1572950"/>
                <a:ext cx="311100" cy="39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ro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77" name="Google Shape;277;p17"/>
              <p:cNvCxnSpPr/>
              <p:nvPr/>
            </p:nvCxnSpPr>
            <p:spPr>
              <a:xfrm>
                <a:off x="4653000" y="1484825"/>
                <a:ext cx="538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78" name="Google Shape;278;p17"/>
              <p:cNvCxnSpPr/>
              <p:nvPr/>
            </p:nvCxnSpPr>
            <p:spPr>
              <a:xfrm>
                <a:off x="4653000" y="2055875"/>
                <a:ext cx="538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79" name="Google Shape;279;p17"/>
              <p:cNvCxnSpPr/>
              <p:nvPr/>
            </p:nvCxnSpPr>
            <p:spPr>
              <a:xfrm>
                <a:off x="2835000" y="1770350"/>
                <a:ext cx="538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80" name="Google Shape;280;p17"/>
              <p:cNvSpPr txBox="1"/>
              <p:nvPr/>
            </p:nvSpPr>
            <p:spPr>
              <a:xfrm>
                <a:off x="4341900" y="1287425"/>
                <a:ext cx="311100" cy="39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ro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Q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17"/>
              <p:cNvSpPr txBox="1"/>
              <p:nvPr/>
            </p:nvSpPr>
            <p:spPr>
              <a:xfrm>
                <a:off x="4288200" y="1858475"/>
                <a:ext cx="418500" cy="39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ro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!Q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" name="Google Shape;282;p17"/>
              <p:cNvSpPr txBox="1"/>
              <p:nvPr/>
            </p:nvSpPr>
            <p:spPr>
              <a:xfrm>
                <a:off x="3675150" y="1484825"/>
                <a:ext cx="675900" cy="39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ro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CBB</a:t>
                </a:r>
                <a:br>
                  <a:rPr lang="ro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lang="ro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83" name="Google Shape;283;p17"/>
            <p:cNvCxnSpPr>
              <a:stCxn id="275" idx="2"/>
            </p:cNvCxnSpPr>
            <p:nvPr/>
          </p:nvCxnSpPr>
          <p:spPr>
            <a:xfrm>
              <a:off x="7654200" y="1302763"/>
              <a:ext cx="1200" cy="28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84" name="Google Shape;284;p17"/>
            <p:cNvSpPr txBox="1"/>
            <p:nvPr/>
          </p:nvSpPr>
          <p:spPr>
            <a:xfrm>
              <a:off x="7715250" y="1249375"/>
              <a:ext cx="610200" cy="39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CLK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5" name="Google Shape;285;p17"/>
          <p:cNvSpPr txBox="1"/>
          <p:nvPr/>
        </p:nvSpPr>
        <p:spPr>
          <a:xfrm flipH="1">
            <a:off x="680350" y="4541225"/>
            <a:ext cx="530100" cy="2820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0" tIns="91425" rIns="194000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Q1  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7"/>
          <p:cNvSpPr/>
          <p:nvPr/>
        </p:nvSpPr>
        <p:spPr>
          <a:xfrm>
            <a:off x="1394731" y="2028913"/>
            <a:ext cx="723900" cy="400500"/>
          </a:xfrm>
          <a:prstGeom prst="round2SameRect">
            <a:avLst>
              <a:gd name="adj1" fmla="val 16667"/>
              <a:gd name="adj2" fmla="val 0"/>
            </a:avLst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7"/>
          <p:cNvSpPr/>
          <p:nvPr/>
        </p:nvSpPr>
        <p:spPr>
          <a:xfrm rot="10800000">
            <a:off x="3839800" y="1628413"/>
            <a:ext cx="345600" cy="400500"/>
          </a:xfrm>
          <a:prstGeom prst="round2SameRect">
            <a:avLst>
              <a:gd name="adj1" fmla="val 16667"/>
              <a:gd name="adj2" fmla="val 0"/>
            </a:avLst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7"/>
          <p:cNvSpPr/>
          <p:nvPr/>
        </p:nvSpPr>
        <p:spPr>
          <a:xfrm rot="-5400000">
            <a:off x="2384411" y="2028923"/>
            <a:ext cx="291300" cy="400500"/>
          </a:xfrm>
          <a:prstGeom prst="round2SameRect">
            <a:avLst>
              <a:gd name="adj1" fmla="val 16667"/>
              <a:gd name="adj2" fmla="val 0"/>
            </a:avLst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7"/>
          <p:cNvSpPr/>
          <p:nvPr/>
        </p:nvSpPr>
        <p:spPr>
          <a:xfrm rot="5400000">
            <a:off x="837661" y="2028911"/>
            <a:ext cx="291300" cy="400500"/>
          </a:xfrm>
          <a:prstGeom prst="round2SameRect">
            <a:avLst>
              <a:gd name="adj1" fmla="val 16667"/>
              <a:gd name="adj2" fmla="val 0"/>
            </a:avLst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8"/>
          <p:cNvSpPr txBox="1">
            <a:spLocks noGrp="1"/>
          </p:cNvSpPr>
          <p:nvPr>
            <p:ph type="title"/>
          </p:nvPr>
        </p:nvSpPr>
        <p:spPr>
          <a:xfrm>
            <a:off x="311700" y="328671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o" b="1">
                <a:latin typeface="Calibri"/>
                <a:ea typeface="Calibri"/>
                <a:cs typeface="Calibri"/>
                <a:sym typeface="Calibri"/>
              </a:rPr>
              <a:t>Implementarea iesirii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sp>
        <p:nvSpPr>
          <p:cNvPr id="295" name="Google Shape;295;p18"/>
          <p:cNvSpPr txBox="1">
            <a:spLocks noGrp="1"/>
          </p:cNvSpPr>
          <p:nvPr>
            <p:ph type="body" idx="1"/>
          </p:nvPr>
        </p:nvSpPr>
        <p:spPr>
          <a:xfrm>
            <a:off x="311700" y="2746963"/>
            <a:ext cx="4061700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ro"/>
              <a:t>Z= Q0*Q2</a:t>
            </a:r>
            <a:endParaRPr/>
          </a:p>
        </p:txBody>
      </p:sp>
      <p:graphicFrame>
        <p:nvGraphicFramePr>
          <p:cNvPr id="296" name="Google Shape;296;p18"/>
          <p:cNvGraphicFramePr/>
          <p:nvPr/>
        </p:nvGraphicFramePr>
        <p:xfrm>
          <a:off x="311700" y="1234050"/>
          <a:ext cx="2418600" cy="1257300"/>
        </p:xfrm>
        <a:graphic>
          <a:graphicData uri="http://schemas.openxmlformats.org/drawingml/2006/table">
            <a:tbl>
              <a:tblPr>
                <a:noFill/>
                <a:tableStyleId>{5E025C39-C3A2-4F16-85EE-CC61BD4F9116}</a:tableStyleId>
              </a:tblPr>
              <a:tblGrid>
                <a:gridCol w="54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o" sz="1000" u="none" strike="noStrike" cap="none"/>
                        <a:t>   </a:t>
                      </a:r>
                      <a:r>
                        <a:rPr lang="ro" sz="1000" b="1" u="none" strike="noStrike" cap="none"/>
                        <a:t>   Q</a:t>
                      </a:r>
                      <a:r>
                        <a:rPr lang="ro" sz="1000" b="1" u="none" strike="noStrike" cap="none" baseline="-25000"/>
                        <a:t>2</a:t>
                      </a:r>
                      <a:r>
                        <a:rPr lang="ro" sz="1000" b="1" u="none" strike="noStrike" cap="none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ro" sz="1000" b="1" u="none" strike="noStrike" cap="none" baseline="-25000">
                          <a:solidFill>
                            <a:schemeClr val="dk1"/>
                          </a:solidFill>
                        </a:rPr>
                        <a:t>1</a:t>
                      </a:r>
                      <a:endParaRPr sz="1000" b="1" u="none" strike="noStrike" cap="none" baseline="-250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o" sz="1000" b="1" u="none" strike="noStrike" cap="none"/>
                        <a:t> Q</a:t>
                      </a:r>
                      <a:r>
                        <a:rPr lang="ro" sz="1000" b="1" u="none" strike="noStrike" cap="none" baseline="-25000"/>
                        <a:t>0</a:t>
                      </a:r>
                      <a:endParaRPr sz="1000" b="1" u="none" strike="noStrike" cap="none" baseline="-25000"/>
                    </a:p>
                  </a:txBody>
                  <a:tcPr marL="0" marR="0" marT="0" marB="0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00</a:t>
                      </a:r>
                      <a:endParaRPr sz="1400" u="none" strike="noStrike" cap="none"/>
                    </a:p>
                  </a:txBody>
                  <a:tcPr marL="91425" marR="0" marT="91425" marB="91425"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01</a:t>
                      </a:r>
                      <a:endParaRPr sz="1400" u="none" strike="noStrike" cap="none"/>
                    </a:p>
                  </a:txBody>
                  <a:tcPr marL="91425" marR="0" marT="91425" marB="91425"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11</a:t>
                      </a:r>
                      <a:endParaRPr sz="1400" u="none" strike="noStrike" cap="none"/>
                    </a:p>
                  </a:txBody>
                  <a:tcPr marL="91425" marR="0" marT="91425" marB="91425"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10</a:t>
                      </a:r>
                      <a:endParaRPr sz="1400" u="none" strike="noStrike" cap="none"/>
                    </a:p>
                  </a:txBody>
                  <a:tcPr marL="91425" marR="0" marT="91425" marB="91425"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0" marT="91425" marB="91425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0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0" marT="91425" marB="91425"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*</a:t>
                      </a:r>
                      <a:endParaRPr sz="1400" u="none" strike="noStrike" cap="none"/>
                    </a:p>
                  </a:txBody>
                  <a:tcPr marL="91425" marR="0" marT="91425" marB="91425"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0" marT="91425" marB="91425"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0" marT="91425" marB="91425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0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0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*</a:t>
                      </a:r>
                      <a:endParaRPr sz="1400" u="none" strike="noStrike" cap="none"/>
                    </a:p>
                  </a:txBody>
                  <a:tcPr marL="91425" marR="0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1</a:t>
                      </a:r>
                      <a:endParaRPr sz="1400" u="none" strike="noStrike" cap="none"/>
                    </a:p>
                  </a:txBody>
                  <a:tcPr marL="91425" marR="0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297" name="Google Shape;297;p18"/>
          <p:cNvCxnSpPr/>
          <p:nvPr/>
        </p:nvCxnSpPr>
        <p:spPr>
          <a:xfrm>
            <a:off x="311700" y="1234050"/>
            <a:ext cx="530100" cy="404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98" name="Google Shape;298;p18"/>
          <p:cNvGraphicFramePr/>
          <p:nvPr/>
        </p:nvGraphicFramePr>
        <p:xfrm>
          <a:off x="4653152" y="769766"/>
          <a:ext cx="3853850" cy="3779250"/>
        </p:xfrm>
        <a:graphic>
          <a:graphicData uri="http://schemas.openxmlformats.org/drawingml/2006/table">
            <a:tbl>
              <a:tblPr>
                <a:noFill/>
                <a:tableStyleId>{5E025C39-C3A2-4F16-85EE-CC61BD4F9116}</a:tableStyleId>
              </a:tblPr>
              <a:tblGrid>
                <a:gridCol w="55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0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0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0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0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05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74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b="1" u="none" strike="noStrike" cap="none"/>
                        <a:t>Q</a:t>
                      </a:r>
                      <a:r>
                        <a:rPr lang="ro" sz="1400" b="1" u="none" strike="noStrike" cap="none" baseline="-25000"/>
                        <a:t>2</a:t>
                      </a:r>
                      <a:r>
                        <a:rPr lang="ro" sz="1400" b="1" u="none" strike="noStrike" cap="none" baseline="30000"/>
                        <a:t>t</a:t>
                      </a:r>
                      <a:endParaRPr sz="1400" b="1" u="none" strike="noStrike" cap="none" baseline="30000"/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b="1" u="none" strike="noStrike" cap="none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ro" sz="1400" b="1" u="none" strike="noStrike" cap="none" baseline="-25000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lang="ro" sz="1400" b="1" u="none" strike="noStrike" cap="none" baseline="30000">
                          <a:solidFill>
                            <a:schemeClr val="dk1"/>
                          </a:solidFill>
                        </a:rPr>
                        <a:t>t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b="1" u="none" strike="noStrike" cap="none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ro" sz="1400" b="1" u="none" strike="noStrike" cap="none" baseline="-25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ro" sz="1400" b="1" u="none" strike="noStrike" cap="none" baseline="30000">
                          <a:solidFill>
                            <a:schemeClr val="dk1"/>
                          </a:solidFill>
                        </a:rPr>
                        <a:t>t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b="1" u="none" strike="noStrike" cap="none"/>
                        <a:t>Q</a:t>
                      </a:r>
                      <a:r>
                        <a:rPr lang="ro" sz="1400" b="1" u="none" strike="noStrike" cap="none" baseline="-25000"/>
                        <a:t>2</a:t>
                      </a:r>
                      <a:r>
                        <a:rPr lang="ro" sz="1400" b="1" u="none" strike="noStrike" cap="none" baseline="30000"/>
                        <a:t>t+1</a:t>
                      </a:r>
                      <a:endParaRPr sz="1400" b="1" u="none" strike="noStrike" cap="none" baseline="30000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b="1" u="none" strike="noStrike" cap="none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ro" sz="1400" b="1" u="none" strike="noStrike" cap="none" baseline="-25000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lang="ro" sz="1400" b="1" u="none" strike="noStrike" cap="none" baseline="30000">
                          <a:solidFill>
                            <a:schemeClr val="dk1"/>
                          </a:solidFill>
                        </a:rPr>
                        <a:t>t+1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b="1" u="none" strike="noStrike" cap="none">
                          <a:solidFill>
                            <a:schemeClr val="dk1"/>
                          </a:solidFill>
                        </a:rPr>
                        <a:t>Q</a:t>
                      </a:r>
                      <a:r>
                        <a:rPr lang="ro" sz="1400" b="1" u="none" strike="noStrike" cap="none" baseline="-25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ro" sz="1400" b="1" u="none" strike="noStrike" cap="none" baseline="30000">
                          <a:solidFill>
                            <a:schemeClr val="dk1"/>
                          </a:solidFill>
                        </a:rPr>
                        <a:t>t+1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b="1" u="none" strike="noStrike" cap="none"/>
                        <a:t>Z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0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*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*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*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*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*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*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*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o"/>
                        <a:t>*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99" name="Google Shape;299;p18"/>
          <p:cNvSpPr/>
          <p:nvPr/>
        </p:nvSpPr>
        <p:spPr>
          <a:xfrm>
            <a:off x="3290176" y="1662450"/>
            <a:ext cx="803100" cy="400500"/>
          </a:xfrm>
          <a:prstGeom prst="round2SameRect">
            <a:avLst>
              <a:gd name="adj1" fmla="val 16667"/>
              <a:gd name="adj2" fmla="val 0"/>
            </a:avLst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8"/>
          <p:cNvSpPr/>
          <p:nvPr/>
        </p:nvSpPr>
        <p:spPr>
          <a:xfrm>
            <a:off x="1861926" y="2072250"/>
            <a:ext cx="803100" cy="400500"/>
          </a:xfrm>
          <a:prstGeom prst="round2SameRect">
            <a:avLst>
              <a:gd name="adj1" fmla="val 16667"/>
              <a:gd name="adj2" fmla="val 0"/>
            </a:avLst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oogle Shape;305;p19"/>
          <p:cNvGrpSpPr/>
          <p:nvPr/>
        </p:nvGrpSpPr>
        <p:grpSpPr>
          <a:xfrm>
            <a:off x="875577" y="992457"/>
            <a:ext cx="1100300" cy="572700"/>
            <a:chOff x="844300" y="1149025"/>
            <a:chExt cx="1100300" cy="572700"/>
          </a:xfrm>
        </p:grpSpPr>
        <p:sp>
          <p:nvSpPr>
            <p:cNvPr id="306" name="Google Shape;306;p19"/>
            <p:cNvSpPr/>
            <p:nvPr/>
          </p:nvSpPr>
          <p:spPr>
            <a:xfrm>
              <a:off x="1229400" y="1149025"/>
              <a:ext cx="538200" cy="572700"/>
            </a:xfrm>
            <a:prstGeom prst="flowChartDelay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7" name="Google Shape;307;p19"/>
            <p:cNvCxnSpPr/>
            <p:nvPr/>
          </p:nvCxnSpPr>
          <p:spPr>
            <a:xfrm flipH="1">
              <a:off x="844300" y="1273300"/>
              <a:ext cx="387600" cy="21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8" name="Google Shape;308;p19"/>
            <p:cNvCxnSpPr/>
            <p:nvPr/>
          </p:nvCxnSpPr>
          <p:spPr>
            <a:xfrm flipH="1">
              <a:off x="844300" y="1579950"/>
              <a:ext cx="387600" cy="21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9" name="Google Shape;309;p19"/>
            <p:cNvCxnSpPr>
              <a:stCxn id="306" idx="3"/>
            </p:cNvCxnSpPr>
            <p:nvPr/>
          </p:nvCxnSpPr>
          <p:spPr>
            <a:xfrm>
              <a:off x="1767600" y="1435375"/>
              <a:ext cx="177000" cy="3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310" name="Google Shape;310;p19"/>
          <p:cNvGrpSpPr/>
          <p:nvPr/>
        </p:nvGrpSpPr>
        <p:grpSpPr>
          <a:xfrm>
            <a:off x="1714334" y="638263"/>
            <a:ext cx="1100450" cy="572700"/>
            <a:chOff x="7152400" y="610750"/>
            <a:chExt cx="1100450" cy="572700"/>
          </a:xfrm>
        </p:grpSpPr>
        <p:cxnSp>
          <p:nvCxnSpPr>
            <p:cNvPr id="311" name="Google Shape;311;p19"/>
            <p:cNvCxnSpPr/>
            <p:nvPr/>
          </p:nvCxnSpPr>
          <p:spPr>
            <a:xfrm flipH="1">
              <a:off x="7152400" y="741600"/>
              <a:ext cx="584700" cy="36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2" name="Google Shape;312;p19"/>
            <p:cNvCxnSpPr/>
            <p:nvPr/>
          </p:nvCxnSpPr>
          <p:spPr>
            <a:xfrm rot="10800000">
              <a:off x="7152650" y="1051600"/>
              <a:ext cx="594300" cy="2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13" name="Google Shape;313;p19"/>
            <p:cNvSpPr/>
            <p:nvPr/>
          </p:nvSpPr>
          <p:spPr>
            <a:xfrm flipH="1">
              <a:off x="7537650" y="610750"/>
              <a:ext cx="538200" cy="572700"/>
            </a:xfrm>
            <a:prstGeom prst="moon">
              <a:avLst>
                <a:gd name="adj" fmla="val 50000"/>
              </a:avLst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4" name="Google Shape;314;p19"/>
            <p:cNvCxnSpPr/>
            <p:nvPr/>
          </p:nvCxnSpPr>
          <p:spPr>
            <a:xfrm>
              <a:off x="8075850" y="860475"/>
              <a:ext cx="177000" cy="3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315" name="Google Shape;315;p19"/>
          <p:cNvGrpSpPr/>
          <p:nvPr/>
        </p:nvGrpSpPr>
        <p:grpSpPr>
          <a:xfrm>
            <a:off x="875577" y="246432"/>
            <a:ext cx="1100300" cy="572700"/>
            <a:chOff x="844300" y="1149025"/>
            <a:chExt cx="1100300" cy="572700"/>
          </a:xfrm>
        </p:grpSpPr>
        <p:sp>
          <p:nvSpPr>
            <p:cNvPr id="316" name="Google Shape;316;p19"/>
            <p:cNvSpPr/>
            <p:nvPr/>
          </p:nvSpPr>
          <p:spPr>
            <a:xfrm>
              <a:off x="1229400" y="1149025"/>
              <a:ext cx="538200" cy="572700"/>
            </a:xfrm>
            <a:prstGeom prst="flowChartDelay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7" name="Google Shape;317;p19"/>
            <p:cNvCxnSpPr/>
            <p:nvPr/>
          </p:nvCxnSpPr>
          <p:spPr>
            <a:xfrm flipH="1">
              <a:off x="844300" y="1273300"/>
              <a:ext cx="387600" cy="21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8" name="Google Shape;318;p19"/>
            <p:cNvCxnSpPr/>
            <p:nvPr/>
          </p:nvCxnSpPr>
          <p:spPr>
            <a:xfrm flipH="1">
              <a:off x="844300" y="1579950"/>
              <a:ext cx="387600" cy="21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9" name="Google Shape;319;p19"/>
            <p:cNvCxnSpPr>
              <a:stCxn id="316" idx="3"/>
            </p:cNvCxnSpPr>
            <p:nvPr/>
          </p:nvCxnSpPr>
          <p:spPr>
            <a:xfrm>
              <a:off x="1767600" y="1435375"/>
              <a:ext cx="177000" cy="3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20" name="Google Shape;320;p19"/>
          <p:cNvSpPr txBox="1"/>
          <p:nvPr/>
        </p:nvSpPr>
        <p:spPr>
          <a:xfrm>
            <a:off x="381911" y="103325"/>
            <a:ext cx="528000" cy="2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595959"/>
              </a:buClr>
              <a:buSzPts val="1800"/>
              <a:buFont typeface="Arial"/>
              <a:buNone/>
            </a:pPr>
            <a:r>
              <a:rPr lang="ro"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Q0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9"/>
          <p:cNvSpPr txBox="1"/>
          <p:nvPr/>
        </p:nvSpPr>
        <p:spPr>
          <a:xfrm>
            <a:off x="337325" y="400178"/>
            <a:ext cx="528000" cy="2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595959"/>
              </a:buClr>
              <a:buSzPts val="1800"/>
              <a:buFont typeface="Arial"/>
              <a:buNone/>
            </a:pPr>
            <a:r>
              <a:rPr lang="ro"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Q1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9"/>
          <p:cNvSpPr txBox="1"/>
          <p:nvPr/>
        </p:nvSpPr>
        <p:spPr>
          <a:xfrm>
            <a:off x="174201" y="886912"/>
            <a:ext cx="669900" cy="2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595959"/>
              </a:buClr>
              <a:buSzPts val="1800"/>
              <a:buFont typeface="Arial"/>
              <a:buNone/>
            </a:pPr>
            <a:r>
              <a:rPr lang="ro"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!Q0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9"/>
          <p:cNvSpPr txBox="1"/>
          <p:nvPr/>
        </p:nvSpPr>
        <p:spPr>
          <a:xfrm>
            <a:off x="275935" y="1204613"/>
            <a:ext cx="528000" cy="2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595959"/>
              </a:buClr>
              <a:buSzPts val="1800"/>
              <a:buFont typeface="Arial"/>
              <a:buNone/>
            </a:pPr>
            <a:r>
              <a:rPr lang="ro"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Q2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4" name="Google Shape;324;p19"/>
          <p:cNvGrpSpPr/>
          <p:nvPr/>
        </p:nvGrpSpPr>
        <p:grpSpPr>
          <a:xfrm>
            <a:off x="2650942" y="447912"/>
            <a:ext cx="1399112" cy="1163795"/>
            <a:chOff x="6476100" y="82663"/>
            <a:chExt cx="2356200" cy="1561512"/>
          </a:xfrm>
        </p:grpSpPr>
        <p:grpSp>
          <p:nvGrpSpPr>
            <p:cNvPr id="325" name="Google Shape;325;p19"/>
            <p:cNvGrpSpPr/>
            <p:nvPr/>
          </p:nvGrpSpPr>
          <p:grpSpPr>
            <a:xfrm>
              <a:off x="6476100" y="82663"/>
              <a:ext cx="2356200" cy="1220100"/>
              <a:chOff x="2835000" y="1160300"/>
              <a:chExt cx="2356200" cy="1220100"/>
            </a:xfrm>
          </p:grpSpPr>
          <p:sp>
            <p:nvSpPr>
              <p:cNvPr id="326" name="Google Shape;326;p19"/>
              <p:cNvSpPr/>
              <p:nvPr/>
            </p:nvSpPr>
            <p:spPr>
              <a:xfrm>
                <a:off x="3373200" y="1160300"/>
                <a:ext cx="1279800" cy="1220100"/>
              </a:xfrm>
              <a:prstGeom prst="rect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19"/>
              <p:cNvSpPr txBox="1"/>
              <p:nvPr/>
            </p:nvSpPr>
            <p:spPr>
              <a:xfrm>
                <a:off x="3373200" y="1572950"/>
                <a:ext cx="311100" cy="39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ro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28" name="Google Shape;328;p19"/>
              <p:cNvCxnSpPr/>
              <p:nvPr/>
            </p:nvCxnSpPr>
            <p:spPr>
              <a:xfrm>
                <a:off x="4653000" y="1484825"/>
                <a:ext cx="5382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29" name="Google Shape;329;p19"/>
              <p:cNvCxnSpPr/>
              <p:nvPr/>
            </p:nvCxnSpPr>
            <p:spPr>
              <a:xfrm>
                <a:off x="4653000" y="2055875"/>
                <a:ext cx="5382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30" name="Google Shape;330;p19"/>
              <p:cNvCxnSpPr/>
              <p:nvPr/>
            </p:nvCxnSpPr>
            <p:spPr>
              <a:xfrm>
                <a:off x="2835000" y="1770350"/>
                <a:ext cx="5382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331" name="Google Shape;331;p19"/>
              <p:cNvSpPr txBox="1"/>
              <p:nvPr/>
            </p:nvSpPr>
            <p:spPr>
              <a:xfrm>
                <a:off x="4341900" y="1287425"/>
                <a:ext cx="311100" cy="39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ro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Q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19"/>
              <p:cNvSpPr txBox="1"/>
              <p:nvPr/>
            </p:nvSpPr>
            <p:spPr>
              <a:xfrm>
                <a:off x="4288200" y="1858475"/>
                <a:ext cx="418500" cy="39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ro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!Q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19"/>
              <p:cNvSpPr txBox="1"/>
              <p:nvPr/>
            </p:nvSpPr>
            <p:spPr>
              <a:xfrm>
                <a:off x="3675150" y="1484825"/>
                <a:ext cx="675900" cy="39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ro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CBB</a:t>
                </a:r>
                <a:br>
                  <a:rPr lang="ro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lang="ro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334" name="Google Shape;334;p19"/>
            <p:cNvCxnSpPr>
              <a:stCxn id="326" idx="2"/>
            </p:cNvCxnSpPr>
            <p:nvPr/>
          </p:nvCxnSpPr>
          <p:spPr>
            <a:xfrm>
              <a:off x="7654200" y="1302763"/>
              <a:ext cx="1200" cy="288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35" name="Google Shape;335;p19"/>
            <p:cNvSpPr txBox="1"/>
            <p:nvPr/>
          </p:nvSpPr>
          <p:spPr>
            <a:xfrm>
              <a:off x="7715250" y="1249375"/>
              <a:ext cx="610200" cy="39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CLK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6" name="Google Shape;336;p19"/>
          <p:cNvGrpSpPr/>
          <p:nvPr/>
        </p:nvGrpSpPr>
        <p:grpSpPr>
          <a:xfrm>
            <a:off x="275900" y="1876494"/>
            <a:ext cx="2174347" cy="1288026"/>
            <a:chOff x="751500" y="1297263"/>
            <a:chExt cx="1697913" cy="1418375"/>
          </a:xfrm>
        </p:grpSpPr>
        <p:sp>
          <p:nvSpPr>
            <p:cNvPr id="337" name="Google Shape;337;p19"/>
            <p:cNvSpPr/>
            <p:nvPr/>
          </p:nvSpPr>
          <p:spPr>
            <a:xfrm rot="5400000">
              <a:off x="1081725" y="1440363"/>
              <a:ext cx="1256700" cy="970500"/>
            </a:xfrm>
            <a:prstGeom prst="trapezoid">
              <a:avLst>
                <a:gd name="adj" fmla="val 25000"/>
              </a:avLst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19"/>
            <p:cNvSpPr txBox="1"/>
            <p:nvPr/>
          </p:nvSpPr>
          <p:spPr>
            <a:xfrm>
              <a:off x="1436138" y="1590663"/>
              <a:ext cx="588600" cy="6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MUX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4:1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19"/>
            <p:cNvSpPr txBox="1"/>
            <p:nvPr/>
          </p:nvSpPr>
          <p:spPr>
            <a:xfrm>
              <a:off x="1246700" y="1381688"/>
              <a:ext cx="405600" cy="105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194000" bIns="91425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0" name="Google Shape;340;p19"/>
            <p:cNvCxnSpPr/>
            <p:nvPr/>
          </p:nvCxnSpPr>
          <p:spPr>
            <a:xfrm rot="10800000">
              <a:off x="1092388" y="1582913"/>
              <a:ext cx="135600" cy="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1" name="Google Shape;341;p19"/>
            <p:cNvCxnSpPr/>
            <p:nvPr/>
          </p:nvCxnSpPr>
          <p:spPr>
            <a:xfrm rot="10800000">
              <a:off x="1092388" y="1825863"/>
              <a:ext cx="135600" cy="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2" name="Google Shape;342;p19"/>
            <p:cNvCxnSpPr/>
            <p:nvPr/>
          </p:nvCxnSpPr>
          <p:spPr>
            <a:xfrm rot="10800000">
              <a:off x="1092388" y="2068813"/>
              <a:ext cx="135600" cy="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3" name="Google Shape;343;p19"/>
            <p:cNvCxnSpPr/>
            <p:nvPr/>
          </p:nvCxnSpPr>
          <p:spPr>
            <a:xfrm rot="10800000">
              <a:off x="1092388" y="2311763"/>
              <a:ext cx="135600" cy="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44" name="Google Shape;344;p19"/>
            <p:cNvSpPr txBox="1"/>
            <p:nvPr/>
          </p:nvSpPr>
          <p:spPr>
            <a:xfrm rot="-782417">
              <a:off x="1406597" y="2079678"/>
              <a:ext cx="761847" cy="3267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S1  S0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5" name="Google Shape;345;p19"/>
            <p:cNvCxnSpPr/>
            <p:nvPr/>
          </p:nvCxnSpPr>
          <p:spPr>
            <a:xfrm>
              <a:off x="1652288" y="2456688"/>
              <a:ext cx="4800" cy="258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6" name="Google Shape;346;p19"/>
            <p:cNvCxnSpPr/>
            <p:nvPr/>
          </p:nvCxnSpPr>
          <p:spPr>
            <a:xfrm>
              <a:off x="1943288" y="2379938"/>
              <a:ext cx="8100" cy="3357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7" name="Google Shape;347;p19"/>
            <p:cNvCxnSpPr/>
            <p:nvPr/>
          </p:nvCxnSpPr>
          <p:spPr>
            <a:xfrm>
              <a:off x="2195313" y="1925613"/>
              <a:ext cx="254100" cy="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48" name="Google Shape;348;p19"/>
            <p:cNvSpPr txBox="1"/>
            <p:nvPr/>
          </p:nvSpPr>
          <p:spPr>
            <a:xfrm>
              <a:off x="1939025" y="1733113"/>
              <a:ext cx="217500" cy="2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19"/>
            <p:cNvSpPr txBox="1"/>
            <p:nvPr/>
          </p:nvSpPr>
          <p:spPr>
            <a:xfrm>
              <a:off x="751500" y="1381688"/>
              <a:ext cx="405600" cy="1118700"/>
            </a:xfrm>
            <a:prstGeom prst="rect">
              <a:avLst/>
            </a:prstGeom>
            <a:noFill/>
            <a:ln w="9525" cap="flat" cmpd="sng">
              <a:solidFill>
                <a:srgbClr val="B7B7B7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194000" bIns="91425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!Q0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0" name="Google Shape;350;p19"/>
          <p:cNvGrpSpPr/>
          <p:nvPr/>
        </p:nvGrpSpPr>
        <p:grpSpPr>
          <a:xfrm>
            <a:off x="2367723" y="2041602"/>
            <a:ext cx="1967427" cy="1071197"/>
            <a:chOff x="6476100" y="82663"/>
            <a:chExt cx="2356200" cy="1561512"/>
          </a:xfrm>
        </p:grpSpPr>
        <p:grpSp>
          <p:nvGrpSpPr>
            <p:cNvPr id="351" name="Google Shape;351;p19"/>
            <p:cNvGrpSpPr/>
            <p:nvPr/>
          </p:nvGrpSpPr>
          <p:grpSpPr>
            <a:xfrm>
              <a:off x="6476100" y="82663"/>
              <a:ext cx="2356200" cy="1220100"/>
              <a:chOff x="2835000" y="1160300"/>
              <a:chExt cx="2356200" cy="1220100"/>
            </a:xfrm>
          </p:grpSpPr>
          <p:sp>
            <p:nvSpPr>
              <p:cNvPr id="352" name="Google Shape;352;p19"/>
              <p:cNvSpPr/>
              <p:nvPr/>
            </p:nvSpPr>
            <p:spPr>
              <a:xfrm>
                <a:off x="3373200" y="1160300"/>
                <a:ext cx="1279800" cy="1220100"/>
              </a:xfrm>
              <a:prstGeom prst="rect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19"/>
              <p:cNvSpPr txBox="1"/>
              <p:nvPr/>
            </p:nvSpPr>
            <p:spPr>
              <a:xfrm>
                <a:off x="3373200" y="1572950"/>
                <a:ext cx="311100" cy="39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ro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54" name="Google Shape;354;p19"/>
              <p:cNvCxnSpPr/>
              <p:nvPr/>
            </p:nvCxnSpPr>
            <p:spPr>
              <a:xfrm>
                <a:off x="4653000" y="1484825"/>
                <a:ext cx="5382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5" name="Google Shape;355;p19"/>
              <p:cNvCxnSpPr/>
              <p:nvPr/>
            </p:nvCxnSpPr>
            <p:spPr>
              <a:xfrm>
                <a:off x="4653000" y="2055875"/>
                <a:ext cx="5382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6" name="Google Shape;356;p19"/>
              <p:cNvCxnSpPr/>
              <p:nvPr/>
            </p:nvCxnSpPr>
            <p:spPr>
              <a:xfrm>
                <a:off x="2835000" y="1770350"/>
                <a:ext cx="5382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357" name="Google Shape;357;p19"/>
              <p:cNvSpPr txBox="1"/>
              <p:nvPr/>
            </p:nvSpPr>
            <p:spPr>
              <a:xfrm>
                <a:off x="4341900" y="1287425"/>
                <a:ext cx="311100" cy="39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ro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Q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19"/>
              <p:cNvSpPr txBox="1"/>
              <p:nvPr/>
            </p:nvSpPr>
            <p:spPr>
              <a:xfrm>
                <a:off x="4288200" y="1858475"/>
                <a:ext cx="418500" cy="39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ro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!Q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19"/>
              <p:cNvSpPr txBox="1"/>
              <p:nvPr/>
            </p:nvSpPr>
            <p:spPr>
              <a:xfrm>
                <a:off x="3675150" y="1484825"/>
                <a:ext cx="675900" cy="39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ro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CBB</a:t>
                </a:r>
                <a:br>
                  <a:rPr lang="ro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lang="ro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360" name="Google Shape;360;p19"/>
            <p:cNvCxnSpPr>
              <a:stCxn id="352" idx="2"/>
            </p:cNvCxnSpPr>
            <p:nvPr/>
          </p:nvCxnSpPr>
          <p:spPr>
            <a:xfrm>
              <a:off x="7654200" y="1302763"/>
              <a:ext cx="1200" cy="288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61" name="Google Shape;361;p19"/>
            <p:cNvSpPr txBox="1"/>
            <p:nvPr/>
          </p:nvSpPr>
          <p:spPr>
            <a:xfrm>
              <a:off x="7715250" y="1249375"/>
              <a:ext cx="610200" cy="39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CLK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2" name="Google Shape;362;p19"/>
          <p:cNvSpPr txBox="1"/>
          <p:nvPr/>
        </p:nvSpPr>
        <p:spPr>
          <a:xfrm>
            <a:off x="1127678" y="3083787"/>
            <a:ext cx="972000" cy="2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o"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Q2 Q1</a:t>
            </a:r>
            <a:endParaRPr sz="18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9"/>
          <p:cNvSpPr txBox="1"/>
          <p:nvPr/>
        </p:nvSpPr>
        <p:spPr>
          <a:xfrm>
            <a:off x="1093936" y="4715307"/>
            <a:ext cx="552000" cy="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595959"/>
              </a:buClr>
              <a:buSzPts val="1800"/>
              <a:buFont typeface="Arial"/>
              <a:buNone/>
            </a:pPr>
            <a:r>
              <a:rPr lang="ro"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Q1</a:t>
            </a:r>
            <a:endParaRPr sz="18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4" name="Google Shape;364;p19"/>
          <p:cNvGrpSpPr/>
          <p:nvPr/>
        </p:nvGrpSpPr>
        <p:grpSpPr>
          <a:xfrm>
            <a:off x="376237" y="3656519"/>
            <a:ext cx="1761472" cy="722890"/>
            <a:chOff x="664197" y="2973563"/>
            <a:chExt cx="1733903" cy="1100625"/>
          </a:xfrm>
        </p:grpSpPr>
        <p:sp>
          <p:nvSpPr>
            <p:cNvPr id="365" name="Google Shape;365;p19"/>
            <p:cNvSpPr/>
            <p:nvPr/>
          </p:nvSpPr>
          <p:spPr>
            <a:xfrm rot="5400000">
              <a:off x="1230800" y="2984063"/>
              <a:ext cx="923700" cy="902700"/>
            </a:xfrm>
            <a:prstGeom prst="trapezoid">
              <a:avLst>
                <a:gd name="adj" fmla="val 25000"/>
              </a:avLst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19"/>
            <p:cNvSpPr txBox="1"/>
            <p:nvPr/>
          </p:nvSpPr>
          <p:spPr>
            <a:xfrm>
              <a:off x="1461250" y="3124013"/>
              <a:ext cx="588600" cy="6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MUX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2:1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19"/>
            <p:cNvSpPr txBox="1"/>
            <p:nvPr/>
          </p:nvSpPr>
          <p:spPr>
            <a:xfrm>
              <a:off x="1264675" y="3118113"/>
              <a:ext cx="405600" cy="55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194000" bIns="91425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68" name="Google Shape;368;p19"/>
            <p:cNvCxnSpPr/>
            <p:nvPr/>
          </p:nvCxnSpPr>
          <p:spPr>
            <a:xfrm rot="10800000">
              <a:off x="1111100" y="3305513"/>
              <a:ext cx="135600" cy="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9" name="Google Shape;369;p19"/>
            <p:cNvCxnSpPr/>
            <p:nvPr/>
          </p:nvCxnSpPr>
          <p:spPr>
            <a:xfrm rot="10800000">
              <a:off x="1111100" y="3548463"/>
              <a:ext cx="135600" cy="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70" name="Google Shape;370;p19"/>
            <p:cNvSpPr txBox="1"/>
            <p:nvPr/>
          </p:nvSpPr>
          <p:spPr>
            <a:xfrm rot="-781890">
              <a:off x="1333820" y="3529799"/>
              <a:ext cx="419093" cy="2490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1" name="Google Shape;371;p19"/>
            <p:cNvCxnSpPr/>
            <p:nvPr/>
          </p:nvCxnSpPr>
          <p:spPr>
            <a:xfrm>
              <a:off x="1573400" y="3815288"/>
              <a:ext cx="4800" cy="258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2" name="Google Shape;372;p19"/>
            <p:cNvCxnSpPr/>
            <p:nvPr/>
          </p:nvCxnSpPr>
          <p:spPr>
            <a:xfrm>
              <a:off x="2144000" y="3444213"/>
              <a:ext cx="254100" cy="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73" name="Google Shape;373;p19"/>
            <p:cNvSpPr txBox="1"/>
            <p:nvPr/>
          </p:nvSpPr>
          <p:spPr>
            <a:xfrm>
              <a:off x="1897688" y="3240763"/>
              <a:ext cx="217500" cy="2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19"/>
            <p:cNvSpPr txBox="1"/>
            <p:nvPr/>
          </p:nvSpPr>
          <p:spPr>
            <a:xfrm>
              <a:off x="664197" y="3094988"/>
              <a:ext cx="525000" cy="653700"/>
            </a:xfrm>
            <a:prstGeom prst="rect">
              <a:avLst/>
            </a:prstGeom>
            <a:noFill/>
            <a:ln w="9525" cap="flat" cmpd="sng">
              <a:solidFill>
                <a:srgbClr val="B7B7B7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194000" bIns="91425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!Q0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!Q0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5" name="Google Shape;375;p19"/>
          <p:cNvGrpSpPr/>
          <p:nvPr/>
        </p:nvGrpSpPr>
        <p:grpSpPr>
          <a:xfrm>
            <a:off x="2047660" y="3500572"/>
            <a:ext cx="2322742" cy="959861"/>
            <a:chOff x="6476100" y="82663"/>
            <a:chExt cx="2356200" cy="1561512"/>
          </a:xfrm>
        </p:grpSpPr>
        <p:grpSp>
          <p:nvGrpSpPr>
            <p:cNvPr id="376" name="Google Shape;376;p19"/>
            <p:cNvGrpSpPr/>
            <p:nvPr/>
          </p:nvGrpSpPr>
          <p:grpSpPr>
            <a:xfrm>
              <a:off x="6476100" y="82663"/>
              <a:ext cx="2356200" cy="1220100"/>
              <a:chOff x="2835000" y="1160300"/>
              <a:chExt cx="2356200" cy="1220100"/>
            </a:xfrm>
          </p:grpSpPr>
          <p:sp>
            <p:nvSpPr>
              <p:cNvPr id="377" name="Google Shape;377;p19"/>
              <p:cNvSpPr/>
              <p:nvPr/>
            </p:nvSpPr>
            <p:spPr>
              <a:xfrm>
                <a:off x="3373200" y="1160300"/>
                <a:ext cx="1279800" cy="1220100"/>
              </a:xfrm>
              <a:prstGeom prst="rect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" name="Google Shape;378;p19"/>
              <p:cNvSpPr txBox="1"/>
              <p:nvPr/>
            </p:nvSpPr>
            <p:spPr>
              <a:xfrm>
                <a:off x="3373200" y="1572950"/>
                <a:ext cx="311100" cy="39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ro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79" name="Google Shape;379;p19"/>
              <p:cNvCxnSpPr/>
              <p:nvPr/>
            </p:nvCxnSpPr>
            <p:spPr>
              <a:xfrm>
                <a:off x="4653000" y="1484825"/>
                <a:ext cx="5382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80" name="Google Shape;380;p19"/>
              <p:cNvCxnSpPr/>
              <p:nvPr/>
            </p:nvCxnSpPr>
            <p:spPr>
              <a:xfrm>
                <a:off x="4653000" y="2055875"/>
                <a:ext cx="5382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81" name="Google Shape;381;p19"/>
              <p:cNvCxnSpPr/>
              <p:nvPr/>
            </p:nvCxnSpPr>
            <p:spPr>
              <a:xfrm>
                <a:off x="2835000" y="1770350"/>
                <a:ext cx="5382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382" name="Google Shape;382;p19"/>
              <p:cNvSpPr txBox="1"/>
              <p:nvPr/>
            </p:nvSpPr>
            <p:spPr>
              <a:xfrm>
                <a:off x="4341881" y="1287440"/>
                <a:ext cx="481800" cy="39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ro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Q0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" name="Google Shape;383;p19"/>
              <p:cNvSpPr txBox="1"/>
              <p:nvPr/>
            </p:nvSpPr>
            <p:spPr>
              <a:xfrm>
                <a:off x="4288200" y="1875044"/>
                <a:ext cx="535500" cy="37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ro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!Q0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" name="Google Shape;384;p19"/>
              <p:cNvSpPr txBox="1"/>
              <p:nvPr/>
            </p:nvSpPr>
            <p:spPr>
              <a:xfrm>
                <a:off x="3675150" y="1484825"/>
                <a:ext cx="675900" cy="39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ro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CBB</a:t>
                </a:r>
                <a:br>
                  <a:rPr lang="ro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lang="ro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385" name="Google Shape;385;p19"/>
            <p:cNvCxnSpPr>
              <a:stCxn id="377" idx="2"/>
            </p:cNvCxnSpPr>
            <p:nvPr/>
          </p:nvCxnSpPr>
          <p:spPr>
            <a:xfrm>
              <a:off x="7654200" y="1302763"/>
              <a:ext cx="1200" cy="288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86" name="Google Shape;386;p19"/>
            <p:cNvSpPr txBox="1"/>
            <p:nvPr/>
          </p:nvSpPr>
          <p:spPr>
            <a:xfrm>
              <a:off x="7715250" y="1249375"/>
              <a:ext cx="610200" cy="39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CLK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7" name="Google Shape;387;p19"/>
          <p:cNvGrpSpPr/>
          <p:nvPr/>
        </p:nvGrpSpPr>
        <p:grpSpPr>
          <a:xfrm>
            <a:off x="4739260" y="1317515"/>
            <a:ext cx="3204734" cy="2001987"/>
            <a:chOff x="844300" y="1149025"/>
            <a:chExt cx="1100300" cy="572700"/>
          </a:xfrm>
        </p:grpSpPr>
        <p:sp>
          <p:nvSpPr>
            <p:cNvPr id="388" name="Google Shape;388;p19"/>
            <p:cNvSpPr/>
            <p:nvPr/>
          </p:nvSpPr>
          <p:spPr>
            <a:xfrm>
              <a:off x="1229400" y="1149025"/>
              <a:ext cx="538200" cy="572700"/>
            </a:xfrm>
            <a:prstGeom prst="flowChartDelay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89" name="Google Shape;389;p19"/>
            <p:cNvCxnSpPr/>
            <p:nvPr/>
          </p:nvCxnSpPr>
          <p:spPr>
            <a:xfrm flipH="1">
              <a:off x="844300" y="1273300"/>
              <a:ext cx="387600" cy="21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0" name="Google Shape;390;p19"/>
            <p:cNvCxnSpPr/>
            <p:nvPr/>
          </p:nvCxnSpPr>
          <p:spPr>
            <a:xfrm flipH="1">
              <a:off x="844300" y="1579950"/>
              <a:ext cx="387600" cy="21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1" name="Google Shape;391;p19"/>
            <p:cNvCxnSpPr>
              <a:stCxn id="388" idx="3"/>
            </p:cNvCxnSpPr>
            <p:nvPr/>
          </p:nvCxnSpPr>
          <p:spPr>
            <a:xfrm>
              <a:off x="1767600" y="1435375"/>
              <a:ext cx="177000" cy="3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392" name="Google Shape;392;p19"/>
          <p:cNvCxnSpPr/>
          <p:nvPr/>
        </p:nvCxnSpPr>
        <p:spPr>
          <a:xfrm>
            <a:off x="4068600" y="693175"/>
            <a:ext cx="713400" cy="1085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3" name="Google Shape;393;p19"/>
          <p:cNvCxnSpPr/>
          <p:nvPr/>
        </p:nvCxnSpPr>
        <p:spPr>
          <a:xfrm rot="10800000" flipH="1">
            <a:off x="4369975" y="2832900"/>
            <a:ext cx="371700" cy="864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4" name="Google Shape;394;p19"/>
          <p:cNvCxnSpPr>
            <a:stCxn id="388" idx="1"/>
          </p:cNvCxnSpPr>
          <p:nvPr/>
        </p:nvCxnSpPr>
        <p:spPr>
          <a:xfrm rot="10800000">
            <a:off x="4241202" y="2281309"/>
            <a:ext cx="1619700" cy="37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o" b="1">
                <a:latin typeface="Calibri"/>
                <a:ea typeface="Calibri"/>
                <a:cs typeface="Calibri"/>
                <a:sym typeface="Calibri"/>
              </a:rPr>
              <a:t>Implementarea circuitului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sp>
        <p:nvSpPr>
          <p:cNvPr id="400" name="Google Shape;400;p20"/>
          <p:cNvSpPr txBox="1"/>
          <p:nvPr/>
        </p:nvSpPr>
        <p:spPr>
          <a:xfrm>
            <a:off x="5394700" y="4748700"/>
            <a:ext cx="3749400" cy="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" sz="1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https://alin1popa.github.io/logic-gates-labs/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1" name="Google Shape;401;p20"/>
          <p:cNvGrpSpPr/>
          <p:nvPr/>
        </p:nvGrpSpPr>
        <p:grpSpPr>
          <a:xfrm>
            <a:off x="5095425" y="302925"/>
            <a:ext cx="1100300" cy="572700"/>
            <a:chOff x="844300" y="1149025"/>
            <a:chExt cx="1100300" cy="572700"/>
          </a:xfrm>
        </p:grpSpPr>
        <p:sp>
          <p:nvSpPr>
            <p:cNvPr id="402" name="Google Shape;402;p20"/>
            <p:cNvSpPr/>
            <p:nvPr/>
          </p:nvSpPr>
          <p:spPr>
            <a:xfrm>
              <a:off x="1229400" y="1149025"/>
              <a:ext cx="538200" cy="572700"/>
            </a:xfrm>
            <a:prstGeom prst="flowChartDelay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3" name="Google Shape;403;p20"/>
            <p:cNvCxnSpPr/>
            <p:nvPr/>
          </p:nvCxnSpPr>
          <p:spPr>
            <a:xfrm flipH="1">
              <a:off x="844300" y="1273300"/>
              <a:ext cx="387600" cy="21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4" name="Google Shape;404;p20"/>
            <p:cNvCxnSpPr/>
            <p:nvPr/>
          </p:nvCxnSpPr>
          <p:spPr>
            <a:xfrm flipH="1">
              <a:off x="844300" y="1579950"/>
              <a:ext cx="387600" cy="21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5" name="Google Shape;405;p20"/>
            <p:cNvCxnSpPr>
              <a:stCxn id="402" idx="3"/>
            </p:cNvCxnSpPr>
            <p:nvPr/>
          </p:nvCxnSpPr>
          <p:spPr>
            <a:xfrm>
              <a:off x="1767600" y="1435375"/>
              <a:ext cx="177000" cy="3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406" name="Google Shape;406;p20"/>
          <p:cNvGrpSpPr/>
          <p:nvPr/>
        </p:nvGrpSpPr>
        <p:grpSpPr>
          <a:xfrm>
            <a:off x="5095350" y="1210150"/>
            <a:ext cx="1100450" cy="572700"/>
            <a:chOff x="7152400" y="610750"/>
            <a:chExt cx="1100450" cy="572700"/>
          </a:xfrm>
        </p:grpSpPr>
        <p:cxnSp>
          <p:nvCxnSpPr>
            <p:cNvPr id="407" name="Google Shape;407;p20"/>
            <p:cNvCxnSpPr/>
            <p:nvPr/>
          </p:nvCxnSpPr>
          <p:spPr>
            <a:xfrm flipH="1">
              <a:off x="7152400" y="741600"/>
              <a:ext cx="584700" cy="36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8" name="Google Shape;408;p20"/>
            <p:cNvCxnSpPr/>
            <p:nvPr/>
          </p:nvCxnSpPr>
          <p:spPr>
            <a:xfrm rot="10800000">
              <a:off x="7152650" y="1051600"/>
              <a:ext cx="594300" cy="2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09" name="Google Shape;409;p20"/>
            <p:cNvSpPr/>
            <p:nvPr/>
          </p:nvSpPr>
          <p:spPr>
            <a:xfrm flipH="1">
              <a:off x="7537650" y="610750"/>
              <a:ext cx="538200" cy="572700"/>
            </a:xfrm>
            <a:prstGeom prst="moon">
              <a:avLst>
                <a:gd name="adj" fmla="val 50000"/>
              </a:avLst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10" name="Google Shape;410;p20"/>
            <p:cNvCxnSpPr/>
            <p:nvPr/>
          </p:nvCxnSpPr>
          <p:spPr>
            <a:xfrm>
              <a:off x="8075850" y="860475"/>
              <a:ext cx="177000" cy="3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411" name="Google Shape;411;p20"/>
          <p:cNvGrpSpPr/>
          <p:nvPr/>
        </p:nvGrpSpPr>
        <p:grpSpPr>
          <a:xfrm>
            <a:off x="6476100" y="82663"/>
            <a:ext cx="2356200" cy="1561512"/>
            <a:chOff x="6476100" y="82663"/>
            <a:chExt cx="2356200" cy="1561512"/>
          </a:xfrm>
        </p:grpSpPr>
        <p:grpSp>
          <p:nvGrpSpPr>
            <p:cNvPr id="412" name="Google Shape;412;p20"/>
            <p:cNvGrpSpPr/>
            <p:nvPr/>
          </p:nvGrpSpPr>
          <p:grpSpPr>
            <a:xfrm>
              <a:off x="6476100" y="82663"/>
              <a:ext cx="2356200" cy="1220100"/>
              <a:chOff x="2835000" y="1160300"/>
              <a:chExt cx="2356200" cy="1220100"/>
            </a:xfrm>
          </p:grpSpPr>
          <p:sp>
            <p:nvSpPr>
              <p:cNvPr id="413" name="Google Shape;413;p20"/>
              <p:cNvSpPr/>
              <p:nvPr/>
            </p:nvSpPr>
            <p:spPr>
              <a:xfrm>
                <a:off x="3373200" y="1160300"/>
                <a:ext cx="1279800" cy="1220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4" name="Google Shape;414;p20"/>
              <p:cNvSpPr txBox="1"/>
              <p:nvPr/>
            </p:nvSpPr>
            <p:spPr>
              <a:xfrm>
                <a:off x="3373200" y="1572950"/>
                <a:ext cx="311100" cy="39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ro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15" name="Google Shape;415;p20"/>
              <p:cNvCxnSpPr/>
              <p:nvPr/>
            </p:nvCxnSpPr>
            <p:spPr>
              <a:xfrm>
                <a:off x="4653000" y="1484825"/>
                <a:ext cx="538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16" name="Google Shape;416;p20"/>
              <p:cNvCxnSpPr/>
              <p:nvPr/>
            </p:nvCxnSpPr>
            <p:spPr>
              <a:xfrm>
                <a:off x="4653000" y="2055875"/>
                <a:ext cx="538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17" name="Google Shape;417;p20"/>
              <p:cNvCxnSpPr/>
              <p:nvPr/>
            </p:nvCxnSpPr>
            <p:spPr>
              <a:xfrm>
                <a:off x="2835000" y="1770350"/>
                <a:ext cx="538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418" name="Google Shape;418;p20"/>
              <p:cNvSpPr txBox="1"/>
              <p:nvPr/>
            </p:nvSpPr>
            <p:spPr>
              <a:xfrm>
                <a:off x="4341900" y="1287425"/>
                <a:ext cx="311100" cy="39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ro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Q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20"/>
              <p:cNvSpPr txBox="1"/>
              <p:nvPr/>
            </p:nvSpPr>
            <p:spPr>
              <a:xfrm>
                <a:off x="4288200" y="1858475"/>
                <a:ext cx="418500" cy="39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ro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!Q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20"/>
              <p:cNvSpPr txBox="1"/>
              <p:nvPr/>
            </p:nvSpPr>
            <p:spPr>
              <a:xfrm>
                <a:off x="3675150" y="1484825"/>
                <a:ext cx="675900" cy="39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ro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CBB</a:t>
                </a:r>
                <a:br>
                  <a:rPr lang="ro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lang="ro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421" name="Google Shape;421;p20"/>
            <p:cNvCxnSpPr>
              <a:stCxn id="413" idx="2"/>
            </p:cNvCxnSpPr>
            <p:nvPr/>
          </p:nvCxnSpPr>
          <p:spPr>
            <a:xfrm>
              <a:off x="7654200" y="1302763"/>
              <a:ext cx="1200" cy="28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22" name="Google Shape;422;p20"/>
            <p:cNvSpPr txBox="1"/>
            <p:nvPr/>
          </p:nvSpPr>
          <p:spPr>
            <a:xfrm>
              <a:off x="7715250" y="1249375"/>
              <a:ext cx="610200" cy="39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CLK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3" name="Google Shape;423;p20"/>
          <p:cNvGrpSpPr/>
          <p:nvPr/>
        </p:nvGrpSpPr>
        <p:grpSpPr>
          <a:xfrm>
            <a:off x="6570525" y="2466838"/>
            <a:ext cx="2356200" cy="1675363"/>
            <a:chOff x="6476100" y="1787725"/>
            <a:chExt cx="2356200" cy="1675363"/>
          </a:xfrm>
        </p:grpSpPr>
        <p:grpSp>
          <p:nvGrpSpPr>
            <p:cNvPr id="424" name="Google Shape;424;p20"/>
            <p:cNvGrpSpPr/>
            <p:nvPr/>
          </p:nvGrpSpPr>
          <p:grpSpPr>
            <a:xfrm>
              <a:off x="6476100" y="1787725"/>
              <a:ext cx="2356200" cy="1240913"/>
              <a:chOff x="2835000" y="1287425"/>
              <a:chExt cx="2356200" cy="1240913"/>
            </a:xfrm>
          </p:grpSpPr>
          <p:sp>
            <p:nvSpPr>
              <p:cNvPr id="425" name="Google Shape;425;p20"/>
              <p:cNvSpPr/>
              <p:nvPr/>
            </p:nvSpPr>
            <p:spPr>
              <a:xfrm>
                <a:off x="3373200" y="1308238"/>
                <a:ext cx="1279800" cy="1220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6" name="Google Shape;426;p20"/>
              <p:cNvSpPr txBox="1"/>
              <p:nvPr/>
            </p:nvSpPr>
            <p:spPr>
              <a:xfrm>
                <a:off x="3373200" y="1297800"/>
                <a:ext cx="311100" cy="39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ro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J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20"/>
              <p:cNvSpPr txBox="1"/>
              <p:nvPr/>
            </p:nvSpPr>
            <p:spPr>
              <a:xfrm>
                <a:off x="3335250" y="1858475"/>
                <a:ext cx="311100" cy="39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ro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K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28" name="Google Shape;428;p20"/>
              <p:cNvCxnSpPr/>
              <p:nvPr/>
            </p:nvCxnSpPr>
            <p:spPr>
              <a:xfrm>
                <a:off x="4653000" y="1484825"/>
                <a:ext cx="538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29" name="Google Shape;429;p20"/>
              <p:cNvCxnSpPr/>
              <p:nvPr/>
            </p:nvCxnSpPr>
            <p:spPr>
              <a:xfrm>
                <a:off x="4653000" y="2055875"/>
                <a:ext cx="538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30" name="Google Shape;430;p20"/>
              <p:cNvCxnSpPr/>
              <p:nvPr/>
            </p:nvCxnSpPr>
            <p:spPr>
              <a:xfrm>
                <a:off x="2835000" y="1484825"/>
                <a:ext cx="538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31" name="Google Shape;431;p20"/>
              <p:cNvCxnSpPr/>
              <p:nvPr/>
            </p:nvCxnSpPr>
            <p:spPr>
              <a:xfrm>
                <a:off x="2835000" y="2055875"/>
                <a:ext cx="538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432" name="Google Shape;432;p20"/>
              <p:cNvSpPr txBox="1"/>
              <p:nvPr/>
            </p:nvSpPr>
            <p:spPr>
              <a:xfrm>
                <a:off x="4341900" y="1287425"/>
                <a:ext cx="311100" cy="39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ro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Q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p20"/>
              <p:cNvSpPr txBox="1"/>
              <p:nvPr/>
            </p:nvSpPr>
            <p:spPr>
              <a:xfrm>
                <a:off x="4288200" y="1858475"/>
                <a:ext cx="418500" cy="39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ro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!Q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p20"/>
              <p:cNvSpPr txBox="1"/>
              <p:nvPr/>
            </p:nvSpPr>
            <p:spPr>
              <a:xfrm>
                <a:off x="3675150" y="1484825"/>
                <a:ext cx="675900" cy="39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ro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CBB</a:t>
                </a:r>
                <a:br>
                  <a:rPr lang="ro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lang="ro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JK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5" name="Google Shape;435;p20"/>
            <p:cNvGrpSpPr/>
            <p:nvPr/>
          </p:nvGrpSpPr>
          <p:grpSpPr>
            <a:xfrm>
              <a:off x="7653600" y="3028638"/>
              <a:ext cx="611400" cy="434450"/>
              <a:chOff x="7644750" y="1154263"/>
              <a:chExt cx="611400" cy="434450"/>
            </a:xfrm>
          </p:grpSpPr>
          <p:cxnSp>
            <p:nvCxnSpPr>
              <p:cNvPr id="436" name="Google Shape;436;p20"/>
              <p:cNvCxnSpPr/>
              <p:nvPr/>
            </p:nvCxnSpPr>
            <p:spPr>
              <a:xfrm>
                <a:off x="7644750" y="1154263"/>
                <a:ext cx="1200" cy="28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437" name="Google Shape;437;p20"/>
              <p:cNvSpPr txBox="1"/>
              <p:nvPr/>
            </p:nvSpPr>
            <p:spPr>
              <a:xfrm>
                <a:off x="7645950" y="1193913"/>
                <a:ext cx="610200" cy="39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ro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CLK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38" name="Google Shape;438;p20"/>
          <p:cNvGrpSpPr/>
          <p:nvPr/>
        </p:nvGrpSpPr>
        <p:grpSpPr>
          <a:xfrm>
            <a:off x="4616700" y="1975263"/>
            <a:ext cx="1697913" cy="1418375"/>
            <a:chOff x="751500" y="1297263"/>
            <a:chExt cx="1697913" cy="1418375"/>
          </a:xfrm>
        </p:grpSpPr>
        <p:sp>
          <p:nvSpPr>
            <p:cNvPr id="439" name="Google Shape;439;p20"/>
            <p:cNvSpPr/>
            <p:nvPr/>
          </p:nvSpPr>
          <p:spPr>
            <a:xfrm rot="5400000">
              <a:off x="1081725" y="1440363"/>
              <a:ext cx="1256700" cy="970500"/>
            </a:xfrm>
            <a:prstGeom prst="trapezoid">
              <a:avLst>
                <a:gd name="adj" fmla="val 25000"/>
              </a:avLst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20"/>
            <p:cNvSpPr txBox="1"/>
            <p:nvPr/>
          </p:nvSpPr>
          <p:spPr>
            <a:xfrm>
              <a:off x="1436138" y="1590663"/>
              <a:ext cx="588600" cy="6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MUX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4:1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20"/>
            <p:cNvSpPr txBox="1"/>
            <p:nvPr/>
          </p:nvSpPr>
          <p:spPr>
            <a:xfrm>
              <a:off x="1246700" y="1381688"/>
              <a:ext cx="405600" cy="105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194000" bIns="91425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2" name="Google Shape;442;p20"/>
            <p:cNvCxnSpPr/>
            <p:nvPr/>
          </p:nvCxnSpPr>
          <p:spPr>
            <a:xfrm rot="10800000">
              <a:off x="1092388" y="1582913"/>
              <a:ext cx="135600" cy="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43" name="Google Shape;443;p20"/>
            <p:cNvCxnSpPr/>
            <p:nvPr/>
          </p:nvCxnSpPr>
          <p:spPr>
            <a:xfrm rot="10800000">
              <a:off x="1092388" y="1825863"/>
              <a:ext cx="135600" cy="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44" name="Google Shape;444;p20"/>
            <p:cNvCxnSpPr/>
            <p:nvPr/>
          </p:nvCxnSpPr>
          <p:spPr>
            <a:xfrm rot="10800000">
              <a:off x="1092388" y="2068813"/>
              <a:ext cx="135600" cy="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45" name="Google Shape;445;p20"/>
            <p:cNvCxnSpPr/>
            <p:nvPr/>
          </p:nvCxnSpPr>
          <p:spPr>
            <a:xfrm rot="10800000">
              <a:off x="1092388" y="2311763"/>
              <a:ext cx="135600" cy="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46" name="Google Shape;446;p20"/>
            <p:cNvSpPr txBox="1"/>
            <p:nvPr/>
          </p:nvSpPr>
          <p:spPr>
            <a:xfrm rot="-782417">
              <a:off x="1406552" y="2079688"/>
              <a:ext cx="761847" cy="3266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S1  S0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7" name="Google Shape;447;p20"/>
            <p:cNvCxnSpPr/>
            <p:nvPr/>
          </p:nvCxnSpPr>
          <p:spPr>
            <a:xfrm>
              <a:off x="1652288" y="2456688"/>
              <a:ext cx="4800" cy="258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48" name="Google Shape;448;p20"/>
            <p:cNvCxnSpPr/>
            <p:nvPr/>
          </p:nvCxnSpPr>
          <p:spPr>
            <a:xfrm>
              <a:off x="1943288" y="2379938"/>
              <a:ext cx="8100" cy="3357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49" name="Google Shape;449;p20"/>
            <p:cNvCxnSpPr/>
            <p:nvPr/>
          </p:nvCxnSpPr>
          <p:spPr>
            <a:xfrm>
              <a:off x="2195313" y="1925613"/>
              <a:ext cx="254100" cy="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50" name="Google Shape;450;p20"/>
            <p:cNvSpPr txBox="1"/>
            <p:nvPr/>
          </p:nvSpPr>
          <p:spPr>
            <a:xfrm>
              <a:off x="1939025" y="1733113"/>
              <a:ext cx="217500" cy="2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20"/>
            <p:cNvSpPr txBox="1"/>
            <p:nvPr/>
          </p:nvSpPr>
          <p:spPr>
            <a:xfrm>
              <a:off x="751500" y="1381688"/>
              <a:ext cx="405600" cy="1118700"/>
            </a:xfrm>
            <a:prstGeom prst="rect">
              <a:avLst/>
            </a:prstGeom>
            <a:noFill/>
            <a:ln w="9525" cap="flat" cmpd="sng">
              <a:solidFill>
                <a:srgbClr val="B7B7B7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194000" bIns="91425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?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?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?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?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2" name="Google Shape;452;p20"/>
          <p:cNvGrpSpPr/>
          <p:nvPr/>
        </p:nvGrpSpPr>
        <p:grpSpPr>
          <a:xfrm>
            <a:off x="4648700" y="3651563"/>
            <a:ext cx="1614600" cy="1100625"/>
            <a:chOff x="783500" y="2973563"/>
            <a:chExt cx="1614600" cy="1100625"/>
          </a:xfrm>
        </p:grpSpPr>
        <p:sp>
          <p:nvSpPr>
            <p:cNvPr id="453" name="Google Shape;453;p20"/>
            <p:cNvSpPr/>
            <p:nvPr/>
          </p:nvSpPr>
          <p:spPr>
            <a:xfrm rot="5400000">
              <a:off x="1230800" y="2984063"/>
              <a:ext cx="923700" cy="902700"/>
            </a:xfrm>
            <a:prstGeom prst="trapezoid">
              <a:avLst>
                <a:gd name="adj" fmla="val 25000"/>
              </a:avLst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20"/>
            <p:cNvSpPr txBox="1"/>
            <p:nvPr/>
          </p:nvSpPr>
          <p:spPr>
            <a:xfrm>
              <a:off x="1461250" y="3124013"/>
              <a:ext cx="588600" cy="6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MUX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2:1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20"/>
            <p:cNvSpPr txBox="1"/>
            <p:nvPr/>
          </p:nvSpPr>
          <p:spPr>
            <a:xfrm>
              <a:off x="1264675" y="3118113"/>
              <a:ext cx="405600" cy="55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194000" bIns="91425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56" name="Google Shape;456;p20"/>
            <p:cNvCxnSpPr/>
            <p:nvPr/>
          </p:nvCxnSpPr>
          <p:spPr>
            <a:xfrm rot="10800000">
              <a:off x="1111100" y="3305513"/>
              <a:ext cx="135600" cy="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57" name="Google Shape;457;p20"/>
            <p:cNvCxnSpPr/>
            <p:nvPr/>
          </p:nvCxnSpPr>
          <p:spPr>
            <a:xfrm rot="10800000">
              <a:off x="1111100" y="3548463"/>
              <a:ext cx="135600" cy="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58" name="Google Shape;458;p20"/>
            <p:cNvSpPr txBox="1"/>
            <p:nvPr/>
          </p:nvSpPr>
          <p:spPr>
            <a:xfrm rot="-781890">
              <a:off x="1333854" y="3529791"/>
              <a:ext cx="419093" cy="2490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59" name="Google Shape;459;p20"/>
            <p:cNvCxnSpPr/>
            <p:nvPr/>
          </p:nvCxnSpPr>
          <p:spPr>
            <a:xfrm>
              <a:off x="1573400" y="3815288"/>
              <a:ext cx="4800" cy="258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0" name="Google Shape;460;p20"/>
            <p:cNvCxnSpPr/>
            <p:nvPr/>
          </p:nvCxnSpPr>
          <p:spPr>
            <a:xfrm>
              <a:off x="2144000" y="3444213"/>
              <a:ext cx="254100" cy="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61" name="Google Shape;461;p20"/>
            <p:cNvSpPr txBox="1"/>
            <p:nvPr/>
          </p:nvSpPr>
          <p:spPr>
            <a:xfrm>
              <a:off x="1897688" y="3240763"/>
              <a:ext cx="217500" cy="2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20"/>
            <p:cNvSpPr txBox="1"/>
            <p:nvPr/>
          </p:nvSpPr>
          <p:spPr>
            <a:xfrm>
              <a:off x="783500" y="3094988"/>
              <a:ext cx="405600" cy="653700"/>
            </a:xfrm>
            <a:prstGeom prst="rect">
              <a:avLst/>
            </a:prstGeom>
            <a:noFill/>
            <a:ln w="9525" cap="flat" cmpd="sng">
              <a:solidFill>
                <a:srgbClr val="B7B7B7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194000" bIns="91425" anchor="t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?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ro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?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3" name="Google Shape;463;p20"/>
          <p:cNvGrpSpPr/>
          <p:nvPr/>
        </p:nvGrpSpPr>
        <p:grpSpPr>
          <a:xfrm>
            <a:off x="3647975" y="1071475"/>
            <a:ext cx="1100300" cy="572700"/>
            <a:chOff x="844300" y="1149025"/>
            <a:chExt cx="1100300" cy="572700"/>
          </a:xfrm>
        </p:grpSpPr>
        <p:sp>
          <p:nvSpPr>
            <p:cNvPr id="464" name="Google Shape;464;p20"/>
            <p:cNvSpPr/>
            <p:nvPr/>
          </p:nvSpPr>
          <p:spPr>
            <a:xfrm>
              <a:off x="1229400" y="1149025"/>
              <a:ext cx="538200" cy="572700"/>
            </a:xfrm>
            <a:prstGeom prst="flowChartDelay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5" name="Google Shape;465;p20"/>
            <p:cNvCxnSpPr/>
            <p:nvPr/>
          </p:nvCxnSpPr>
          <p:spPr>
            <a:xfrm flipH="1">
              <a:off x="844300" y="1273300"/>
              <a:ext cx="387600" cy="21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6" name="Google Shape;466;p20"/>
            <p:cNvCxnSpPr/>
            <p:nvPr/>
          </p:nvCxnSpPr>
          <p:spPr>
            <a:xfrm flipH="1">
              <a:off x="844300" y="1579950"/>
              <a:ext cx="387600" cy="21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7" name="Google Shape;467;p20"/>
            <p:cNvCxnSpPr>
              <a:stCxn id="464" idx="3"/>
            </p:cNvCxnSpPr>
            <p:nvPr/>
          </p:nvCxnSpPr>
          <p:spPr>
            <a:xfrm>
              <a:off x="1767600" y="1435375"/>
              <a:ext cx="177000" cy="3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68" name="Google Shape;468;p20"/>
            <p:cNvSpPr/>
            <p:nvPr/>
          </p:nvSpPr>
          <p:spPr>
            <a:xfrm>
              <a:off x="1767600" y="1400725"/>
              <a:ext cx="64200" cy="723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1401</Words>
  <Application>Microsoft Office PowerPoint</Application>
  <PresentationFormat>On-screen Show (16:9)</PresentationFormat>
  <Paragraphs>801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Simple Light</vt:lpstr>
      <vt:lpstr>Circuite secvențiale. Circuite de tip Mealy. Sinteza numărătoarelor folosind circuite basculante bistabile</vt:lpstr>
      <vt:lpstr>1. Automat secvențial</vt:lpstr>
      <vt:lpstr>1.2. Cum deosebim un circuit combinațional de unul secvențial?</vt:lpstr>
      <vt:lpstr>1.1 Circuit combinațional vs circuit secvențial?</vt:lpstr>
      <vt:lpstr>1.3 Circuit combinațional vs circuit secvențial?</vt:lpstr>
      <vt:lpstr>2.2 Automat secvențial cu suprapuneri (3 biți)</vt:lpstr>
      <vt:lpstr>2.3 Automat secvențial cu suprapuneri (4 biți)</vt:lpstr>
      <vt:lpstr>2.4 Automat secvențial cu suprapuneri (4 biți)</vt:lpstr>
      <vt:lpstr>3. Circuite basculante bistabile (CBB)</vt:lpstr>
      <vt:lpstr>Aplicație: Sinteza numărătoarelor folosind CBB</vt:lpstr>
      <vt:lpstr>Numărător modulo 6 folosind CBB: Diagrama tranzițiilor</vt:lpstr>
      <vt:lpstr>Implementare Q2 folosind CBB tip D și porți</vt:lpstr>
      <vt:lpstr>Implementare Q1 folosind CBB tip D și MUX 4:1 </vt:lpstr>
      <vt:lpstr>Implementare Q0 folosind CBB tip D și MUX 2:1 </vt:lpstr>
      <vt:lpstr>Implementarea iesirii </vt:lpstr>
      <vt:lpstr>PowerPoint Presentation</vt:lpstr>
      <vt:lpstr>Implementarea circuitului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Circuite secvențiale. Circuite de tip Mealy. Sinteza numărătoarelor folosind circuite basculante bistabile</dc:title>
  <cp:lastModifiedBy>Florin-Ioan SUBȚIRICĂ (123781)</cp:lastModifiedBy>
  <cp:revision>1</cp:revision>
  <dcterms:modified xsi:type="dcterms:W3CDTF">2021-12-03T18:44:30Z</dcterms:modified>
</cp:coreProperties>
</file>