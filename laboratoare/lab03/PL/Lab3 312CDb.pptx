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2" roundtripDataSignature="AMtx7mivWntxY5VXQLO+o6rlH0RwRxmN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0B8FFC-4525-418F-BF23-08BCD64D8F8A}">
  <a:tblStyle styleId="{F50B8FFC-4525-418F-BF23-08BCD64D8F8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EBC59BA7-1B1F-48BF-ACA1-400B6FD23CA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a6af45c67b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a6af45c67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a6af45c67b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a6af45c67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9f5344dd6c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g9f5344dd6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5" name="Google Shape;675;p3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8" name="Google Shape;728;p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2" name="Google Shape;792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5" name="Google Shape;8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3" name="Google Shape;8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8" name="Google Shape;95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0" name="Google Shape;101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-GB" sz="4700"/>
              <a:t>Implementarea funcțiilor logice folosind porți logice și circuite MSI</a:t>
            </a:r>
            <a:endParaRPr b="1" sz="4700"/>
          </a:p>
        </p:txBody>
      </p:sp>
      <p:sp>
        <p:nvSpPr>
          <p:cNvPr id="55" name="Google Shape;55;p1"/>
          <p:cNvSpPr txBox="1"/>
          <p:nvPr>
            <p:ph idx="4294967295" type="body"/>
          </p:nvPr>
        </p:nvSpPr>
        <p:spPr>
          <a:xfrm>
            <a:off x="5592726" y="3853384"/>
            <a:ext cx="2780676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GB" sz="1000">
                <a:solidFill>
                  <a:srgbClr val="0070C0"/>
                </a:solidFill>
              </a:rPr>
              <a:t>Asistent: Arsene Diana-Andreea</a:t>
            </a:r>
            <a:endParaRPr b="1" sz="1000">
              <a:solidFill>
                <a:srgbClr val="0070C0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GB" sz="1000">
                <a:solidFill>
                  <a:srgbClr val="0070C0"/>
                </a:solidFill>
              </a:rPr>
              <a:t>E-mail: arsene.diana.andreea@gmail.com</a:t>
            </a:r>
            <a:endParaRPr sz="1000">
              <a:solidFill>
                <a:srgbClr val="0070C0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/>
              <a:t>Exercițiul 1 - porți</a:t>
            </a:r>
            <a:endParaRPr b="1"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076275"/>
            <a:ext cx="6859800" cy="10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Implementați funcția de mai jos folosind porți: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SzPts val="1800"/>
              <a:buNone/>
            </a:pPr>
            <a:r>
              <a:rPr lang="en-GB"/>
              <a:t>f(x,y,z) = </a:t>
            </a:r>
            <a:endParaRPr/>
          </a:p>
        </p:txBody>
      </p:sp>
      <p:sp>
        <p:nvSpPr>
          <p:cNvPr id="62" name="Google Shape;62;p2"/>
          <p:cNvSpPr txBox="1"/>
          <p:nvPr/>
        </p:nvSpPr>
        <p:spPr>
          <a:xfrm>
            <a:off x="-28275" y="4658625"/>
            <a:ext cx="2320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https://logic.ly/demo</a:t>
            </a:r>
            <a:endParaRPr b="0" i="0" sz="18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1575" y="1820725"/>
            <a:ext cx="1070775" cy="26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5625" y="1963300"/>
            <a:ext cx="5027549" cy="2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/>
              <a:t>Exercițiul 2 - porți NAND</a:t>
            </a:r>
            <a:endParaRPr b="1"/>
          </a:p>
        </p:txBody>
      </p:sp>
      <p:sp>
        <p:nvSpPr>
          <p:cNvPr id="70" name="Google Shape;70;p3"/>
          <p:cNvSpPr txBox="1"/>
          <p:nvPr>
            <p:ph idx="1" type="body"/>
          </p:nvPr>
        </p:nvSpPr>
        <p:spPr>
          <a:xfrm>
            <a:off x="311700" y="1076275"/>
            <a:ext cx="8639100" cy="3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Implementați funcția de mai jos folosind circuite de tip NAND: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f(x,y,z) =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-GB"/>
              <a:t>f(x,y,z)=!(!(!xy)*!(x!yz))</a:t>
            </a:r>
            <a:endParaRPr/>
          </a:p>
        </p:txBody>
      </p:sp>
      <p:sp>
        <p:nvSpPr>
          <p:cNvPr id="71" name="Google Shape;71;p3"/>
          <p:cNvSpPr txBox="1"/>
          <p:nvPr/>
        </p:nvSpPr>
        <p:spPr>
          <a:xfrm>
            <a:off x="0" y="4701000"/>
            <a:ext cx="2320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https://logic.ly/demo</a:t>
            </a:r>
            <a:endParaRPr b="0" i="0" sz="18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1575" y="1820725"/>
            <a:ext cx="1070775" cy="26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5550" y="1921725"/>
            <a:ext cx="4537924" cy="256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/>
              <a:t>Exercițiul 3 - porți NAND</a:t>
            </a:r>
            <a:endParaRPr b="1"/>
          </a:p>
        </p:txBody>
      </p:sp>
      <p:sp>
        <p:nvSpPr>
          <p:cNvPr id="79" name="Google Shape;79;p4"/>
          <p:cNvSpPr txBox="1"/>
          <p:nvPr>
            <p:ph idx="1" type="body"/>
          </p:nvPr>
        </p:nvSpPr>
        <p:spPr>
          <a:xfrm>
            <a:off x="311700" y="904850"/>
            <a:ext cx="6859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Implementați funcția folosind circuite de tip NAND:</a:t>
            </a:r>
            <a:endParaRPr/>
          </a:p>
        </p:txBody>
      </p:sp>
      <p:graphicFrame>
        <p:nvGraphicFramePr>
          <p:cNvPr id="80" name="Google Shape;80;p4"/>
          <p:cNvGraphicFramePr/>
          <p:nvPr/>
        </p:nvGraphicFramePr>
        <p:xfrm>
          <a:off x="7259500" y="123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96775"/>
                <a:gridCol w="3967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y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z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f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GB" sz="1400" u="none" cap="none" strike="noStrike"/>
                        <a:t>0</a:t>
                      </a:r>
                      <a:endParaRPr i="1"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*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GB" sz="1400" u="none" cap="none" strike="noStrike"/>
                        <a:t>0</a:t>
                      </a:r>
                      <a:endParaRPr i="1"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GB" sz="1400" u="none" cap="none" strike="noStrike"/>
                        <a:t>0</a:t>
                      </a:r>
                      <a:endParaRPr i="1"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*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81" name="Google Shape;81;p4"/>
          <p:cNvSpPr txBox="1"/>
          <p:nvPr/>
        </p:nvSpPr>
        <p:spPr>
          <a:xfrm>
            <a:off x="58150" y="4030885"/>
            <a:ext cx="6859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EA9999"/>
                </a:solidFill>
                <a:latin typeface="Arial"/>
                <a:ea typeface="Arial"/>
                <a:cs typeface="Arial"/>
                <a:sym typeface="Arial"/>
              </a:rPr>
              <a:t>f(x,y,z) = z + !x!y = !</a:t>
            </a:r>
            <a:r>
              <a:rPr lang="en-GB" sz="1800">
                <a:solidFill>
                  <a:srgbClr val="EA9999"/>
                </a:solidFill>
              </a:rPr>
              <a:t>(!(z +!x!y)) = !( !z * !(!x!y) )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2" name="Google Shape;82;p4"/>
          <p:cNvGraphicFramePr/>
          <p:nvPr/>
        </p:nvGraphicFramePr>
        <p:xfrm>
          <a:off x="4756500" y="3503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483050"/>
                <a:gridCol w="442175"/>
                <a:gridCol w="410825"/>
                <a:gridCol w="410825"/>
                <a:gridCol w="414575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     xy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z</a:t>
                      </a:r>
                      <a:endParaRPr sz="14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cxnSp>
        <p:nvCxnSpPr>
          <p:cNvPr id="83" name="Google Shape;83;p4"/>
          <p:cNvCxnSpPr/>
          <p:nvPr/>
        </p:nvCxnSpPr>
        <p:spPr>
          <a:xfrm>
            <a:off x="4810475" y="3503550"/>
            <a:ext cx="463800" cy="42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4"/>
          <p:cNvSpPr/>
          <p:nvPr/>
        </p:nvSpPr>
        <p:spPr>
          <a:xfrm>
            <a:off x="5274275" y="4349350"/>
            <a:ext cx="155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274275" y="4006025"/>
            <a:ext cx="276000" cy="72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572475" y="2562175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0" y="4701000"/>
            <a:ext cx="2320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https://logic.ly/demo</a:t>
            </a:r>
            <a:endParaRPr b="0" i="0" sz="18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600" y="2225275"/>
            <a:ext cx="4079400" cy="158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/>
              <a:t>Exercițiul 4 - porți NOR</a:t>
            </a:r>
            <a:endParaRPr b="1"/>
          </a:p>
        </p:txBody>
      </p:sp>
      <p:sp>
        <p:nvSpPr>
          <p:cNvPr id="94" name="Google Shape;94;p5"/>
          <p:cNvSpPr txBox="1"/>
          <p:nvPr>
            <p:ph idx="1" type="body"/>
          </p:nvPr>
        </p:nvSpPr>
        <p:spPr>
          <a:xfrm>
            <a:off x="311700" y="1076275"/>
            <a:ext cx="8520600" cy="29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Implementați funcția de mai jos folosind circuite de tip NOR: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f(x,y,z) =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-GB"/>
              <a:t>f(x,y,z) =!!(!x*y + x!yz) =  !( (x+!y) * (!x+y+!z) ) = ( !(x+!y) + !(!x+y+!z) )</a:t>
            </a:r>
            <a:endParaRPr/>
          </a:p>
        </p:txBody>
      </p:sp>
      <p:sp>
        <p:nvSpPr>
          <p:cNvPr id="95" name="Google Shape;95;p5"/>
          <p:cNvSpPr txBox="1"/>
          <p:nvPr/>
        </p:nvSpPr>
        <p:spPr>
          <a:xfrm>
            <a:off x="0" y="4701000"/>
            <a:ext cx="23205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https://logic.ly/demo</a:t>
            </a:r>
            <a:endParaRPr b="0" i="0" sz="18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1575" y="1820725"/>
            <a:ext cx="1070775" cy="2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/>
              <a:t>Exercițiul 5 - MUX 8:1</a:t>
            </a:r>
            <a:endParaRPr b="1"/>
          </a:p>
        </p:txBody>
      </p:sp>
      <p:sp>
        <p:nvSpPr>
          <p:cNvPr id="102" name="Google Shape;102;p6"/>
          <p:cNvSpPr txBox="1"/>
          <p:nvPr>
            <p:ph idx="1" type="body"/>
          </p:nvPr>
        </p:nvSpPr>
        <p:spPr>
          <a:xfrm>
            <a:off x="311700" y="1052250"/>
            <a:ext cx="6918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/>
              <a:t>Implementați funcția folosind un MUX 8:1:</a:t>
            </a:r>
            <a:endParaRPr/>
          </a:p>
        </p:txBody>
      </p:sp>
      <p:graphicFrame>
        <p:nvGraphicFramePr>
          <p:cNvPr id="103" name="Google Shape;103;p6"/>
          <p:cNvGraphicFramePr/>
          <p:nvPr/>
        </p:nvGraphicFramePr>
        <p:xfrm>
          <a:off x="7259500" y="123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96775"/>
                <a:gridCol w="3967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y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z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f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04" name="Google Shape;104;p6"/>
          <p:cNvSpPr/>
          <p:nvPr/>
        </p:nvSpPr>
        <p:spPr>
          <a:xfrm rot="5400000">
            <a:off x="2348975" y="2569500"/>
            <a:ext cx="2257200" cy="1204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3130575" y="2836800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2895423" y="2117100"/>
            <a:ext cx="521718" cy="21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6"/>
          <p:cNvCxnSpPr/>
          <p:nvPr/>
        </p:nvCxnSpPr>
        <p:spPr>
          <a:xfrm rot="10800000">
            <a:off x="2742800" y="2328800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6"/>
          <p:cNvCxnSpPr/>
          <p:nvPr/>
        </p:nvCxnSpPr>
        <p:spPr>
          <a:xfrm rot="10800000">
            <a:off x="2742800" y="2571750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6"/>
          <p:cNvCxnSpPr/>
          <p:nvPr/>
        </p:nvCxnSpPr>
        <p:spPr>
          <a:xfrm rot="10800000">
            <a:off x="2742800" y="2814700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6"/>
          <p:cNvCxnSpPr/>
          <p:nvPr/>
        </p:nvCxnSpPr>
        <p:spPr>
          <a:xfrm rot="10800000">
            <a:off x="2742800" y="3057650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6"/>
          <p:cNvCxnSpPr/>
          <p:nvPr/>
        </p:nvCxnSpPr>
        <p:spPr>
          <a:xfrm rot="10800000">
            <a:off x="2742800" y="3315050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6"/>
          <p:cNvCxnSpPr/>
          <p:nvPr/>
        </p:nvCxnSpPr>
        <p:spPr>
          <a:xfrm rot="10800000">
            <a:off x="2742800" y="3568642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6"/>
          <p:cNvCxnSpPr/>
          <p:nvPr/>
        </p:nvCxnSpPr>
        <p:spPr>
          <a:xfrm rot="10800000">
            <a:off x="2742800" y="3822233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6"/>
          <p:cNvCxnSpPr/>
          <p:nvPr/>
        </p:nvCxnSpPr>
        <p:spPr>
          <a:xfrm rot="10800000">
            <a:off x="2742800" y="4075825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6"/>
          <p:cNvSpPr txBox="1"/>
          <p:nvPr/>
        </p:nvSpPr>
        <p:spPr>
          <a:xfrm rot="-781861">
            <a:off x="3102491" y="3794698"/>
            <a:ext cx="1061742" cy="326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S2  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6"/>
          <p:cNvCxnSpPr/>
          <p:nvPr/>
        </p:nvCxnSpPr>
        <p:spPr>
          <a:xfrm>
            <a:off x="3328750" y="4190525"/>
            <a:ext cx="0" cy="282329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6"/>
          <p:cNvCxnSpPr/>
          <p:nvPr/>
        </p:nvCxnSpPr>
        <p:spPr>
          <a:xfrm>
            <a:off x="3619750" y="4113775"/>
            <a:ext cx="13612" cy="359079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6"/>
          <p:cNvCxnSpPr/>
          <p:nvPr/>
        </p:nvCxnSpPr>
        <p:spPr>
          <a:xfrm>
            <a:off x="3949100" y="4033850"/>
            <a:ext cx="39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6"/>
          <p:cNvCxnSpPr>
            <a:stCxn id="104" idx="0"/>
          </p:cNvCxnSpPr>
          <p:nvPr/>
        </p:nvCxnSpPr>
        <p:spPr>
          <a:xfrm>
            <a:off x="4079825" y="3171750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6"/>
          <p:cNvSpPr txBox="1"/>
          <p:nvPr/>
        </p:nvSpPr>
        <p:spPr>
          <a:xfrm>
            <a:off x="3819475" y="2970450"/>
            <a:ext cx="2175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2364325" y="2117100"/>
            <a:ext cx="405600" cy="2109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0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*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0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*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22" name="Google Shape;122;p6"/>
          <p:cNvGraphicFramePr/>
          <p:nvPr/>
        </p:nvGraphicFramePr>
        <p:xfrm>
          <a:off x="5338925" y="129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96775"/>
                <a:gridCol w="3967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y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z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f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A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23" name="Google Shape;123;p6"/>
          <p:cNvSpPr txBox="1"/>
          <p:nvPr/>
        </p:nvSpPr>
        <p:spPr>
          <a:xfrm rot="971">
            <a:off x="3102524" y="4409522"/>
            <a:ext cx="10617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    z     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a6af45c67b_0_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/>
              <a:t>Exercițiul 6 - MUX 16:1</a:t>
            </a:r>
            <a:endParaRPr b="1"/>
          </a:p>
        </p:txBody>
      </p:sp>
      <p:graphicFrame>
        <p:nvGraphicFramePr>
          <p:cNvPr id="129" name="Google Shape;129;ga6af45c67b_0_3"/>
          <p:cNvGraphicFramePr/>
          <p:nvPr/>
        </p:nvGraphicFramePr>
        <p:xfrm>
          <a:off x="7171800" y="4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x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y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z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t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f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*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A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*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A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7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B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ga6af45c67b_0_3"/>
          <p:cNvSpPr/>
          <p:nvPr/>
        </p:nvSpPr>
        <p:spPr>
          <a:xfrm rot="5400000">
            <a:off x="3762400" y="1396581"/>
            <a:ext cx="4245600" cy="17004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a6af45c67b_0_3"/>
          <p:cNvSpPr txBox="1"/>
          <p:nvPr/>
        </p:nvSpPr>
        <p:spPr>
          <a:xfrm>
            <a:off x="5592525" y="1953144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a6af45c67b_0_3"/>
          <p:cNvSpPr txBox="1"/>
          <p:nvPr/>
        </p:nvSpPr>
        <p:spPr>
          <a:xfrm>
            <a:off x="5056975" y="208406"/>
            <a:ext cx="588600" cy="4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ga6af45c67b_0_3"/>
          <p:cNvCxnSpPr/>
          <p:nvPr/>
        </p:nvCxnSpPr>
        <p:spPr>
          <a:xfrm rot="10800000">
            <a:off x="4902663" y="409619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ga6af45c67b_0_3"/>
          <p:cNvCxnSpPr/>
          <p:nvPr/>
        </p:nvCxnSpPr>
        <p:spPr>
          <a:xfrm rot="10800000">
            <a:off x="4902663" y="652569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ga6af45c67b_0_3"/>
          <p:cNvCxnSpPr/>
          <p:nvPr/>
        </p:nvCxnSpPr>
        <p:spPr>
          <a:xfrm rot="10800000">
            <a:off x="4902663" y="895519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ga6af45c67b_0_3"/>
          <p:cNvCxnSpPr/>
          <p:nvPr/>
        </p:nvCxnSpPr>
        <p:spPr>
          <a:xfrm rot="10800000">
            <a:off x="4902663" y="1138469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ga6af45c67b_0_3"/>
          <p:cNvCxnSpPr/>
          <p:nvPr/>
        </p:nvCxnSpPr>
        <p:spPr>
          <a:xfrm rot="10800000">
            <a:off x="4902663" y="1395869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ga6af45c67b_0_3"/>
          <p:cNvCxnSpPr/>
          <p:nvPr/>
        </p:nvCxnSpPr>
        <p:spPr>
          <a:xfrm rot="10800000">
            <a:off x="4902663" y="1649460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ga6af45c67b_0_3"/>
          <p:cNvCxnSpPr/>
          <p:nvPr/>
        </p:nvCxnSpPr>
        <p:spPr>
          <a:xfrm rot="10800000">
            <a:off x="4902663" y="1903052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ga6af45c67b_0_3"/>
          <p:cNvCxnSpPr/>
          <p:nvPr/>
        </p:nvCxnSpPr>
        <p:spPr>
          <a:xfrm rot="10800000">
            <a:off x="4902663" y="2156644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ga6af45c67b_0_3"/>
          <p:cNvSpPr txBox="1"/>
          <p:nvPr/>
        </p:nvSpPr>
        <p:spPr>
          <a:xfrm rot="-1386">
            <a:off x="5277183" y="4554853"/>
            <a:ext cx="14880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  t  x  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ga6af45c67b_0_3"/>
          <p:cNvCxnSpPr/>
          <p:nvPr/>
        </p:nvCxnSpPr>
        <p:spPr>
          <a:xfrm>
            <a:off x="5462563" y="4267731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ga6af45c67b_0_3"/>
          <p:cNvCxnSpPr/>
          <p:nvPr/>
        </p:nvCxnSpPr>
        <p:spPr>
          <a:xfrm>
            <a:off x="5753563" y="4190981"/>
            <a:ext cx="81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ga6af45c67b_0_3"/>
          <p:cNvCxnSpPr/>
          <p:nvPr/>
        </p:nvCxnSpPr>
        <p:spPr>
          <a:xfrm>
            <a:off x="6082913" y="4111056"/>
            <a:ext cx="39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ga6af45c67b_0_3"/>
          <p:cNvCxnSpPr>
            <a:stCxn id="130" idx="0"/>
          </p:cNvCxnSpPr>
          <p:nvPr/>
        </p:nvCxnSpPr>
        <p:spPr>
          <a:xfrm>
            <a:off x="6735400" y="2246781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ga6af45c67b_0_3"/>
          <p:cNvSpPr txBox="1"/>
          <p:nvPr/>
        </p:nvSpPr>
        <p:spPr>
          <a:xfrm>
            <a:off x="6421288" y="2034906"/>
            <a:ext cx="2175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ga6af45c67b_0_3"/>
          <p:cNvCxnSpPr/>
          <p:nvPr/>
        </p:nvCxnSpPr>
        <p:spPr>
          <a:xfrm rot="10800000">
            <a:off x="4902663" y="2364031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ga6af45c67b_0_3"/>
          <p:cNvCxnSpPr/>
          <p:nvPr/>
        </p:nvCxnSpPr>
        <p:spPr>
          <a:xfrm rot="10800000">
            <a:off x="4902663" y="2606981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ga6af45c67b_0_3"/>
          <p:cNvCxnSpPr/>
          <p:nvPr/>
        </p:nvCxnSpPr>
        <p:spPr>
          <a:xfrm rot="10800000">
            <a:off x="4902663" y="2849931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ga6af45c67b_0_3"/>
          <p:cNvCxnSpPr/>
          <p:nvPr/>
        </p:nvCxnSpPr>
        <p:spPr>
          <a:xfrm rot="10800000">
            <a:off x="4902663" y="3092881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ga6af45c67b_0_3"/>
          <p:cNvCxnSpPr/>
          <p:nvPr/>
        </p:nvCxnSpPr>
        <p:spPr>
          <a:xfrm rot="10800000">
            <a:off x="4902663" y="3350281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ga6af45c67b_0_3"/>
          <p:cNvCxnSpPr/>
          <p:nvPr/>
        </p:nvCxnSpPr>
        <p:spPr>
          <a:xfrm rot="10800000">
            <a:off x="4902663" y="3603873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ga6af45c67b_0_3"/>
          <p:cNvCxnSpPr/>
          <p:nvPr/>
        </p:nvCxnSpPr>
        <p:spPr>
          <a:xfrm rot="10800000">
            <a:off x="4902663" y="3857464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ga6af45c67b_0_3"/>
          <p:cNvCxnSpPr/>
          <p:nvPr/>
        </p:nvCxnSpPr>
        <p:spPr>
          <a:xfrm rot="10800000">
            <a:off x="4902663" y="4111056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ga6af45c67b_0_3"/>
          <p:cNvCxnSpPr/>
          <p:nvPr/>
        </p:nvCxnSpPr>
        <p:spPr>
          <a:xfrm>
            <a:off x="6421300" y="4021581"/>
            <a:ext cx="600" cy="50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ga6af45c67b_0_3"/>
          <p:cNvSpPr txBox="1"/>
          <p:nvPr/>
        </p:nvSpPr>
        <p:spPr>
          <a:xfrm>
            <a:off x="4572000" y="219006"/>
            <a:ext cx="405600" cy="411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a6af45c67b_0_3"/>
          <p:cNvSpPr txBox="1"/>
          <p:nvPr>
            <p:ph idx="1" type="body"/>
          </p:nvPr>
        </p:nvSpPr>
        <p:spPr>
          <a:xfrm>
            <a:off x="311700" y="1152475"/>
            <a:ext cx="2773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/>
              <a:t>Implementați funcția dată folosind un MUX 16:1 având variabilele de selecție z, t,x, y</a:t>
            </a:r>
            <a:endParaRPr/>
          </a:p>
        </p:txBody>
      </p:sp>
      <p:sp>
        <p:nvSpPr>
          <p:cNvPr id="158" name="Google Shape;158;ga6af45c67b_0_3"/>
          <p:cNvSpPr txBox="1"/>
          <p:nvPr/>
        </p:nvSpPr>
        <p:spPr>
          <a:xfrm rot="-781651">
            <a:off x="5415508" y="3955478"/>
            <a:ext cx="1487896" cy="326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 S2  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Google Shape;163;p7"/>
          <p:cNvGraphicFramePr/>
          <p:nvPr/>
        </p:nvGraphicFramePr>
        <p:xfrm>
          <a:off x="2488150" y="1377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z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t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x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y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f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A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7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A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B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64" name="Google Shape;164;p7"/>
          <p:cNvSpPr/>
          <p:nvPr/>
        </p:nvSpPr>
        <p:spPr>
          <a:xfrm rot="5400000">
            <a:off x="3762400" y="1396581"/>
            <a:ext cx="4245600" cy="17004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5592525" y="1953144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5056975" y="208406"/>
            <a:ext cx="588600" cy="4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p7"/>
          <p:cNvCxnSpPr/>
          <p:nvPr/>
        </p:nvCxnSpPr>
        <p:spPr>
          <a:xfrm rot="10800000">
            <a:off x="4902663" y="409619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7"/>
          <p:cNvCxnSpPr/>
          <p:nvPr/>
        </p:nvCxnSpPr>
        <p:spPr>
          <a:xfrm rot="10800000">
            <a:off x="4902663" y="652569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7"/>
          <p:cNvCxnSpPr/>
          <p:nvPr/>
        </p:nvCxnSpPr>
        <p:spPr>
          <a:xfrm rot="10800000">
            <a:off x="4902663" y="895519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7"/>
          <p:cNvCxnSpPr/>
          <p:nvPr/>
        </p:nvCxnSpPr>
        <p:spPr>
          <a:xfrm rot="10800000">
            <a:off x="4902663" y="1138469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7"/>
          <p:cNvCxnSpPr/>
          <p:nvPr/>
        </p:nvCxnSpPr>
        <p:spPr>
          <a:xfrm rot="10800000">
            <a:off x="4902663" y="1395869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7"/>
          <p:cNvCxnSpPr/>
          <p:nvPr/>
        </p:nvCxnSpPr>
        <p:spPr>
          <a:xfrm rot="10800000">
            <a:off x="4902663" y="1649460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7"/>
          <p:cNvCxnSpPr/>
          <p:nvPr/>
        </p:nvCxnSpPr>
        <p:spPr>
          <a:xfrm rot="10800000">
            <a:off x="4902663" y="1903052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7"/>
          <p:cNvCxnSpPr/>
          <p:nvPr/>
        </p:nvCxnSpPr>
        <p:spPr>
          <a:xfrm rot="10800000">
            <a:off x="4902663" y="2156644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7"/>
          <p:cNvSpPr txBox="1"/>
          <p:nvPr/>
        </p:nvSpPr>
        <p:spPr>
          <a:xfrm rot="-1386">
            <a:off x="5277183" y="4554853"/>
            <a:ext cx="14880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      t     x     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7"/>
          <p:cNvCxnSpPr/>
          <p:nvPr/>
        </p:nvCxnSpPr>
        <p:spPr>
          <a:xfrm>
            <a:off x="5462563" y="4267731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7"/>
          <p:cNvCxnSpPr/>
          <p:nvPr/>
        </p:nvCxnSpPr>
        <p:spPr>
          <a:xfrm>
            <a:off x="5753563" y="4190981"/>
            <a:ext cx="81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7"/>
          <p:cNvCxnSpPr/>
          <p:nvPr/>
        </p:nvCxnSpPr>
        <p:spPr>
          <a:xfrm>
            <a:off x="6082913" y="4111056"/>
            <a:ext cx="39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7"/>
          <p:cNvCxnSpPr>
            <a:stCxn id="164" idx="0"/>
          </p:cNvCxnSpPr>
          <p:nvPr/>
        </p:nvCxnSpPr>
        <p:spPr>
          <a:xfrm>
            <a:off x="6735400" y="2246781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7"/>
          <p:cNvSpPr txBox="1"/>
          <p:nvPr/>
        </p:nvSpPr>
        <p:spPr>
          <a:xfrm>
            <a:off x="6421288" y="2034906"/>
            <a:ext cx="2175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7"/>
          <p:cNvCxnSpPr/>
          <p:nvPr/>
        </p:nvCxnSpPr>
        <p:spPr>
          <a:xfrm rot="10800000">
            <a:off x="4902663" y="2364031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7"/>
          <p:cNvCxnSpPr/>
          <p:nvPr/>
        </p:nvCxnSpPr>
        <p:spPr>
          <a:xfrm rot="10800000">
            <a:off x="4902663" y="2606981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7"/>
          <p:cNvCxnSpPr/>
          <p:nvPr/>
        </p:nvCxnSpPr>
        <p:spPr>
          <a:xfrm rot="10800000">
            <a:off x="4902663" y="2849931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7"/>
          <p:cNvCxnSpPr/>
          <p:nvPr/>
        </p:nvCxnSpPr>
        <p:spPr>
          <a:xfrm rot="10800000">
            <a:off x="4902663" y="3092881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7"/>
          <p:cNvCxnSpPr/>
          <p:nvPr/>
        </p:nvCxnSpPr>
        <p:spPr>
          <a:xfrm rot="10800000">
            <a:off x="4902663" y="3350281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7"/>
          <p:cNvCxnSpPr/>
          <p:nvPr/>
        </p:nvCxnSpPr>
        <p:spPr>
          <a:xfrm rot="10800000">
            <a:off x="4902663" y="3603873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7"/>
          <p:cNvCxnSpPr/>
          <p:nvPr/>
        </p:nvCxnSpPr>
        <p:spPr>
          <a:xfrm rot="10800000">
            <a:off x="4902663" y="3857464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7"/>
          <p:cNvCxnSpPr/>
          <p:nvPr/>
        </p:nvCxnSpPr>
        <p:spPr>
          <a:xfrm rot="10800000">
            <a:off x="4902663" y="4111056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7"/>
          <p:cNvCxnSpPr/>
          <p:nvPr/>
        </p:nvCxnSpPr>
        <p:spPr>
          <a:xfrm>
            <a:off x="6421300" y="4021581"/>
            <a:ext cx="600" cy="50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7"/>
          <p:cNvSpPr txBox="1"/>
          <p:nvPr/>
        </p:nvSpPr>
        <p:spPr>
          <a:xfrm>
            <a:off x="4636963" y="208399"/>
            <a:ext cx="405600" cy="4565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0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0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0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0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*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*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91" name="Google Shape;191;p7"/>
          <p:cNvGraphicFramePr/>
          <p:nvPr/>
        </p:nvGraphicFramePr>
        <p:xfrm>
          <a:off x="341225" y="137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x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y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z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t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f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*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A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*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A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7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B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/>
              <a:t>Exercițiul 7 - MUX în cascadă</a:t>
            </a:r>
            <a:endParaRPr b="1"/>
          </a:p>
        </p:txBody>
      </p:sp>
      <p:sp>
        <p:nvSpPr>
          <p:cNvPr id="197" name="Google Shape;197;p8"/>
          <p:cNvSpPr txBox="1"/>
          <p:nvPr>
            <p:ph idx="1" type="body"/>
          </p:nvPr>
        </p:nvSpPr>
        <p:spPr>
          <a:xfrm>
            <a:off x="311700" y="1000075"/>
            <a:ext cx="69180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/>
              <a:t>Implementați funcția dată folosind MUX în cascadă, cu variabilele </a:t>
            </a:r>
            <a:r>
              <a:rPr b="1" lang="en-GB"/>
              <a:t>x, z</a:t>
            </a:r>
            <a:r>
              <a:rPr lang="en-GB"/>
              <a:t> pe primul nivel și </a:t>
            </a:r>
            <a:r>
              <a:rPr b="1" lang="en-GB"/>
              <a:t>y</a:t>
            </a:r>
            <a:r>
              <a:rPr lang="en-GB"/>
              <a:t> pe al doilea nivel.</a:t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 rot="5400000">
            <a:off x="1258500" y="221523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1612913" y="236553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1423475" y="2156563"/>
            <a:ext cx="517538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8"/>
          <p:cNvCxnSpPr/>
          <p:nvPr/>
        </p:nvCxnSpPr>
        <p:spPr>
          <a:xfrm rot="10800000">
            <a:off x="1269163" y="23577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8"/>
          <p:cNvCxnSpPr/>
          <p:nvPr/>
        </p:nvCxnSpPr>
        <p:spPr>
          <a:xfrm rot="10800000">
            <a:off x="1269163" y="26007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8"/>
          <p:cNvCxnSpPr/>
          <p:nvPr/>
        </p:nvCxnSpPr>
        <p:spPr>
          <a:xfrm rot="10800000">
            <a:off x="1269163" y="28436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8"/>
          <p:cNvCxnSpPr/>
          <p:nvPr/>
        </p:nvCxnSpPr>
        <p:spPr>
          <a:xfrm rot="10800000">
            <a:off x="1269163" y="30866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8"/>
          <p:cNvSpPr txBox="1"/>
          <p:nvPr/>
        </p:nvSpPr>
        <p:spPr>
          <a:xfrm rot="-782417">
            <a:off x="1583327" y="2854563"/>
            <a:ext cx="761847" cy="326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8"/>
          <p:cNvCxnSpPr/>
          <p:nvPr/>
        </p:nvCxnSpPr>
        <p:spPr>
          <a:xfrm>
            <a:off x="1830750" y="3224825"/>
            <a:ext cx="2100" cy="2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8"/>
          <p:cNvCxnSpPr/>
          <p:nvPr/>
        </p:nvCxnSpPr>
        <p:spPr>
          <a:xfrm>
            <a:off x="2123650" y="3148200"/>
            <a:ext cx="4200" cy="43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p8"/>
          <p:cNvCxnSpPr/>
          <p:nvPr/>
        </p:nvCxnSpPr>
        <p:spPr>
          <a:xfrm>
            <a:off x="2372088" y="27004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p8"/>
          <p:cNvSpPr txBox="1"/>
          <p:nvPr/>
        </p:nvSpPr>
        <p:spPr>
          <a:xfrm>
            <a:off x="2115800" y="250798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928275" y="2156563"/>
            <a:ext cx="4056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0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0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*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0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*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1" name="Google Shape;211;p8"/>
          <p:cNvSpPr/>
          <p:nvPr/>
        </p:nvSpPr>
        <p:spPr>
          <a:xfrm rot="5400000">
            <a:off x="1258500" y="354423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1612913" y="369453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1423474" y="3485563"/>
            <a:ext cx="526001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8"/>
          <p:cNvCxnSpPr/>
          <p:nvPr/>
        </p:nvCxnSpPr>
        <p:spPr>
          <a:xfrm rot="10800000">
            <a:off x="1269163" y="36867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8"/>
          <p:cNvCxnSpPr/>
          <p:nvPr/>
        </p:nvCxnSpPr>
        <p:spPr>
          <a:xfrm rot="10800000">
            <a:off x="1269163" y="39297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8"/>
          <p:cNvCxnSpPr/>
          <p:nvPr/>
        </p:nvCxnSpPr>
        <p:spPr>
          <a:xfrm rot="10800000">
            <a:off x="1269163" y="41726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8"/>
          <p:cNvCxnSpPr/>
          <p:nvPr/>
        </p:nvCxnSpPr>
        <p:spPr>
          <a:xfrm rot="10800000">
            <a:off x="1269163" y="44156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8"/>
          <p:cNvSpPr txBox="1"/>
          <p:nvPr/>
        </p:nvSpPr>
        <p:spPr>
          <a:xfrm rot="-782417">
            <a:off x="1583327" y="4183563"/>
            <a:ext cx="761847" cy="326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8"/>
          <p:cNvCxnSpPr/>
          <p:nvPr/>
        </p:nvCxnSpPr>
        <p:spPr>
          <a:xfrm>
            <a:off x="1829063" y="4560563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8"/>
          <p:cNvCxnSpPr/>
          <p:nvPr/>
        </p:nvCxnSpPr>
        <p:spPr>
          <a:xfrm>
            <a:off x="2120063" y="4483813"/>
            <a:ext cx="81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8"/>
          <p:cNvCxnSpPr/>
          <p:nvPr/>
        </p:nvCxnSpPr>
        <p:spPr>
          <a:xfrm>
            <a:off x="2372088" y="40294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8"/>
          <p:cNvSpPr txBox="1"/>
          <p:nvPr/>
        </p:nvSpPr>
        <p:spPr>
          <a:xfrm>
            <a:off x="2115800" y="383698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879250" y="3470138"/>
            <a:ext cx="4056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/>
          <p:nvPr/>
        </p:nvSpPr>
        <p:spPr>
          <a:xfrm rot="5400000">
            <a:off x="3457475" y="2889213"/>
            <a:ext cx="923700" cy="9027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3687925" y="3029163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3491350" y="3023263"/>
            <a:ext cx="51096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" name="Google Shape;227;p8"/>
          <p:cNvCxnSpPr/>
          <p:nvPr/>
        </p:nvCxnSpPr>
        <p:spPr>
          <a:xfrm rot="10800000">
            <a:off x="3337775" y="3210663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8"/>
          <p:cNvCxnSpPr/>
          <p:nvPr/>
        </p:nvCxnSpPr>
        <p:spPr>
          <a:xfrm rot="10800000">
            <a:off x="3337775" y="3453613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8"/>
          <p:cNvSpPr txBox="1"/>
          <p:nvPr/>
        </p:nvSpPr>
        <p:spPr>
          <a:xfrm rot="-781890">
            <a:off x="3560529" y="3434941"/>
            <a:ext cx="419093" cy="249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" name="Google Shape;230;p8"/>
          <p:cNvCxnSpPr/>
          <p:nvPr/>
        </p:nvCxnSpPr>
        <p:spPr>
          <a:xfrm>
            <a:off x="3800075" y="3720438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8"/>
          <p:cNvCxnSpPr/>
          <p:nvPr/>
        </p:nvCxnSpPr>
        <p:spPr>
          <a:xfrm>
            <a:off x="4370675" y="3349363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8"/>
          <p:cNvSpPr txBox="1"/>
          <p:nvPr/>
        </p:nvSpPr>
        <p:spPr>
          <a:xfrm>
            <a:off x="4124363" y="3145913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8"/>
          <p:cNvCxnSpPr/>
          <p:nvPr/>
        </p:nvCxnSpPr>
        <p:spPr>
          <a:xfrm>
            <a:off x="2626525" y="2700350"/>
            <a:ext cx="712800" cy="512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8"/>
          <p:cNvCxnSpPr/>
          <p:nvPr/>
        </p:nvCxnSpPr>
        <p:spPr>
          <a:xfrm flipH="1" rot="10800000">
            <a:off x="2623375" y="3452575"/>
            <a:ext cx="718200" cy="577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8"/>
          <p:cNvSpPr txBox="1"/>
          <p:nvPr/>
        </p:nvSpPr>
        <p:spPr>
          <a:xfrm>
            <a:off x="1671300" y="4730150"/>
            <a:ext cx="815910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x    z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3610025" y="4000725"/>
            <a:ext cx="464400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7" name="Google Shape;237;p8"/>
          <p:cNvGraphicFramePr/>
          <p:nvPr/>
        </p:nvGraphicFramePr>
        <p:xfrm>
          <a:off x="7428250" y="125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96775"/>
                <a:gridCol w="3967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y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z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f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GB" sz="1400" u="none" cap="none" strike="noStrike"/>
                        <a:t>0</a:t>
                      </a:r>
                      <a:endParaRPr i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*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GB" sz="1400" u="none" cap="none" strike="noStrike"/>
                        <a:t>0</a:t>
                      </a:r>
                      <a:endParaRPr i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GB" sz="1400" u="none" cap="none" strike="noStrike"/>
                        <a:t>0</a:t>
                      </a:r>
                      <a:endParaRPr i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*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238" name="Google Shape;238;p8"/>
          <p:cNvSpPr txBox="1"/>
          <p:nvPr/>
        </p:nvSpPr>
        <p:spPr>
          <a:xfrm>
            <a:off x="3010025" y="2817075"/>
            <a:ext cx="791100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y=0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2966650" y="3453625"/>
            <a:ext cx="791100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y=1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0" name="Google Shape;240;p8"/>
          <p:cNvGraphicFramePr/>
          <p:nvPr/>
        </p:nvGraphicFramePr>
        <p:xfrm>
          <a:off x="5544175" y="153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96775"/>
                <a:gridCol w="3967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y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z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f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/>
              <a:t>Exercițiul 8.1 - MUX în cascadă</a:t>
            </a:r>
            <a:endParaRPr b="1"/>
          </a:p>
        </p:txBody>
      </p:sp>
      <p:sp>
        <p:nvSpPr>
          <p:cNvPr id="246" name="Google Shape;246;p9"/>
          <p:cNvSpPr txBox="1"/>
          <p:nvPr>
            <p:ph idx="1" type="body"/>
          </p:nvPr>
        </p:nvSpPr>
        <p:spPr>
          <a:xfrm>
            <a:off x="-18575" y="1339749"/>
            <a:ext cx="16197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/>
              <a:t>Implementați funcția dată folosind MUX 2:1 în cascadă: x pe primul nivel, z pe al 2-lea, y pe al 3-lea</a:t>
            </a:r>
            <a:endParaRPr/>
          </a:p>
        </p:txBody>
      </p:sp>
      <p:graphicFrame>
        <p:nvGraphicFramePr>
          <p:cNvPr id="247" name="Google Shape;247;p9"/>
          <p:cNvGraphicFramePr/>
          <p:nvPr/>
        </p:nvGraphicFramePr>
        <p:xfrm>
          <a:off x="7428250" y="125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96775"/>
                <a:gridCol w="3967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y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z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f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0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1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-GB" sz="1400" u="none" cap="none" strike="noStrike"/>
                        <a:t>1</a:t>
                      </a:r>
                      <a:endParaRPr b="1" i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0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-GB" sz="1400" u="none" cap="none" strike="noStrike"/>
                        <a:t>*</a:t>
                      </a:r>
                      <a:endParaRPr b="1" i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A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-GB" sz="1400" u="none" cap="none" strike="noStrike"/>
                        <a:t>1</a:t>
                      </a:r>
                      <a:endParaRPr b="1" i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*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248" name="Google Shape;248;p9"/>
          <p:cNvSpPr/>
          <p:nvPr/>
        </p:nvSpPr>
        <p:spPr>
          <a:xfrm rot="5400000">
            <a:off x="4749100" y="2427976"/>
            <a:ext cx="923700" cy="9027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4979550" y="2567926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4782975" y="2562025"/>
            <a:ext cx="4644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p9"/>
          <p:cNvCxnSpPr/>
          <p:nvPr/>
        </p:nvCxnSpPr>
        <p:spPr>
          <a:xfrm rot="10800000">
            <a:off x="4629400" y="2749426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9"/>
          <p:cNvCxnSpPr/>
          <p:nvPr/>
        </p:nvCxnSpPr>
        <p:spPr>
          <a:xfrm rot="10800000">
            <a:off x="4629400" y="2992376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9"/>
          <p:cNvSpPr txBox="1"/>
          <p:nvPr/>
        </p:nvSpPr>
        <p:spPr>
          <a:xfrm rot="-781890">
            <a:off x="4852120" y="2973711"/>
            <a:ext cx="419093" cy="249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p9"/>
          <p:cNvCxnSpPr/>
          <p:nvPr/>
        </p:nvCxnSpPr>
        <p:spPr>
          <a:xfrm>
            <a:off x="5091700" y="3259200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9"/>
          <p:cNvCxnSpPr/>
          <p:nvPr/>
        </p:nvCxnSpPr>
        <p:spPr>
          <a:xfrm>
            <a:off x="5987750" y="2873976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9"/>
          <p:cNvSpPr txBox="1"/>
          <p:nvPr/>
        </p:nvSpPr>
        <p:spPr>
          <a:xfrm>
            <a:off x="5741438" y="2670526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 txBox="1"/>
          <p:nvPr/>
        </p:nvSpPr>
        <p:spPr>
          <a:xfrm>
            <a:off x="4875850" y="3539463"/>
            <a:ext cx="464400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/>
          <p:nvPr/>
        </p:nvSpPr>
        <p:spPr>
          <a:xfrm rot="5400000">
            <a:off x="3444125" y="1866376"/>
            <a:ext cx="923700" cy="9027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3674575" y="2006326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3478000" y="2000425"/>
            <a:ext cx="5097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p9"/>
          <p:cNvCxnSpPr/>
          <p:nvPr/>
        </p:nvCxnSpPr>
        <p:spPr>
          <a:xfrm rot="10800000">
            <a:off x="3324425" y="2187826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9"/>
          <p:cNvCxnSpPr/>
          <p:nvPr/>
        </p:nvCxnSpPr>
        <p:spPr>
          <a:xfrm rot="10800000">
            <a:off x="3324425" y="2430776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9"/>
          <p:cNvSpPr txBox="1"/>
          <p:nvPr/>
        </p:nvSpPr>
        <p:spPr>
          <a:xfrm rot="-781890">
            <a:off x="3547145" y="2412111"/>
            <a:ext cx="419093" cy="249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9"/>
          <p:cNvCxnSpPr/>
          <p:nvPr/>
        </p:nvCxnSpPr>
        <p:spPr>
          <a:xfrm>
            <a:off x="3786725" y="2697601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9"/>
          <p:cNvCxnSpPr/>
          <p:nvPr/>
        </p:nvCxnSpPr>
        <p:spPr>
          <a:xfrm>
            <a:off x="4357325" y="2326526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9"/>
          <p:cNvSpPr txBox="1"/>
          <p:nvPr/>
        </p:nvSpPr>
        <p:spPr>
          <a:xfrm>
            <a:off x="4111013" y="2123076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/>
          <p:nvPr/>
        </p:nvSpPr>
        <p:spPr>
          <a:xfrm rot="5400000">
            <a:off x="3444125" y="2848851"/>
            <a:ext cx="923700" cy="9027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3674575" y="2988801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/>
          <p:cNvSpPr txBox="1"/>
          <p:nvPr/>
        </p:nvSpPr>
        <p:spPr>
          <a:xfrm>
            <a:off x="3478000" y="2982900"/>
            <a:ext cx="5097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9"/>
          <p:cNvCxnSpPr/>
          <p:nvPr/>
        </p:nvCxnSpPr>
        <p:spPr>
          <a:xfrm rot="10800000">
            <a:off x="3324425" y="3170300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9"/>
          <p:cNvCxnSpPr/>
          <p:nvPr/>
        </p:nvCxnSpPr>
        <p:spPr>
          <a:xfrm rot="10800000">
            <a:off x="3324425" y="3413250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9"/>
          <p:cNvSpPr txBox="1"/>
          <p:nvPr/>
        </p:nvSpPr>
        <p:spPr>
          <a:xfrm rot="-781890">
            <a:off x="3547145" y="3394586"/>
            <a:ext cx="419093" cy="249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9"/>
          <p:cNvCxnSpPr/>
          <p:nvPr/>
        </p:nvCxnSpPr>
        <p:spPr>
          <a:xfrm>
            <a:off x="3786725" y="3680075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9"/>
          <p:cNvCxnSpPr/>
          <p:nvPr/>
        </p:nvCxnSpPr>
        <p:spPr>
          <a:xfrm>
            <a:off x="4357325" y="3309000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9"/>
          <p:cNvSpPr txBox="1"/>
          <p:nvPr/>
        </p:nvSpPr>
        <p:spPr>
          <a:xfrm>
            <a:off x="4111013" y="3105551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3589075" y="3960363"/>
            <a:ext cx="464400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z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/>
          <p:nvPr/>
        </p:nvSpPr>
        <p:spPr>
          <a:xfrm rot="5400000">
            <a:off x="1975413" y="907750"/>
            <a:ext cx="923700" cy="9027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2205863" y="1047700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 txBox="1"/>
          <p:nvPr/>
        </p:nvSpPr>
        <p:spPr>
          <a:xfrm>
            <a:off x="2009303" y="1041813"/>
            <a:ext cx="5097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p9"/>
          <p:cNvCxnSpPr/>
          <p:nvPr/>
        </p:nvCxnSpPr>
        <p:spPr>
          <a:xfrm rot="10800000">
            <a:off x="1855713" y="1229200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9"/>
          <p:cNvCxnSpPr/>
          <p:nvPr/>
        </p:nvCxnSpPr>
        <p:spPr>
          <a:xfrm rot="10800000">
            <a:off x="1855713" y="1472150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9"/>
          <p:cNvSpPr txBox="1"/>
          <p:nvPr/>
        </p:nvSpPr>
        <p:spPr>
          <a:xfrm rot="-781890">
            <a:off x="2078432" y="1453486"/>
            <a:ext cx="419093" cy="249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3" name="Google Shape;283;p9"/>
          <p:cNvCxnSpPr/>
          <p:nvPr/>
        </p:nvCxnSpPr>
        <p:spPr>
          <a:xfrm>
            <a:off x="2318013" y="1738976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9"/>
          <p:cNvCxnSpPr/>
          <p:nvPr/>
        </p:nvCxnSpPr>
        <p:spPr>
          <a:xfrm>
            <a:off x="2888613" y="1367900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9"/>
          <p:cNvSpPr txBox="1"/>
          <p:nvPr/>
        </p:nvSpPr>
        <p:spPr>
          <a:xfrm>
            <a:off x="2642300" y="1164450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/>
          <p:nvPr/>
        </p:nvSpPr>
        <p:spPr>
          <a:xfrm rot="5400000">
            <a:off x="1975413" y="1890226"/>
            <a:ext cx="923700" cy="9027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2205863" y="2030176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 txBox="1"/>
          <p:nvPr/>
        </p:nvSpPr>
        <p:spPr>
          <a:xfrm>
            <a:off x="2009302" y="2024288"/>
            <a:ext cx="5097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9"/>
          <p:cNvCxnSpPr/>
          <p:nvPr/>
        </p:nvCxnSpPr>
        <p:spPr>
          <a:xfrm rot="10800000">
            <a:off x="1855713" y="2211676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9"/>
          <p:cNvCxnSpPr/>
          <p:nvPr/>
        </p:nvCxnSpPr>
        <p:spPr>
          <a:xfrm rot="10800000">
            <a:off x="1855713" y="2454626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9"/>
          <p:cNvSpPr txBox="1"/>
          <p:nvPr/>
        </p:nvSpPr>
        <p:spPr>
          <a:xfrm rot="-781890">
            <a:off x="2078432" y="2435961"/>
            <a:ext cx="419093" cy="249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9"/>
          <p:cNvCxnSpPr/>
          <p:nvPr/>
        </p:nvCxnSpPr>
        <p:spPr>
          <a:xfrm>
            <a:off x="2318013" y="2721451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9"/>
          <p:cNvCxnSpPr/>
          <p:nvPr/>
        </p:nvCxnSpPr>
        <p:spPr>
          <a:xfrm>
            <a:off x="2888613" y="2350376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9"/>
          <p:cNvSpPr txBox="1"/>
          <p:nvPr/>
        </p:nvSpPr>
        <p:spPr>
          <a:xfrm>
            <a:off x="2642300" y="2146926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/>
          <p:nvPr/>
        </p:nvSpPr>
        <p:spPr>
          <a:xfrm rot="5400000">
            <a:off x="1987475" y="2872701"/>
            <a:ext cx="923700" cy="9027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"/>
          <p:cNvSpPr txBox="1"/>
          <p:nvPr/>
        </p:nvSpPr>
        <p:spPr>
          <a:xfrm>
            <a:off x="2217925" y="3012651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2021350" y="3006763"/>
            <a:ext cx="4644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" name="Google Shape;298;p9"/>
          <p:cNvCxnSpPr/>
          <p:nvPr/>
        </p:nvCxnSpPr>
        <p:spPr>
          <a:xfrm rot="10800000">
            <a:off x="1867775" y="3194150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9"/>
          <p:cNvCxnSpPr/>
          <p:nvPr/>
        </p:nvCxnSpPr>
        <p:spPr>
          <a:xfrm rot="10800000">
            <a:off x="1867775" y="3437100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9"/>
          <p:cNvSpPr txBox="1"/>
          <p:nvPr/>
        </p:nvSpPr>
        <p:spPr>
          <a:xfrm rot="-781890">
            <a:off x="2090495" y="3418436"/>
            <a:ext cx="419093" cy="249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" name="Google Shape;301;p9"/>
          <p:cNvCxnSpPr/>
          <p:nvPr/>
        </p:nvCxnSpPr>
        <p:spPr>
          <a:xfrm>
            <a:off x="2330075" y="3703925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9"/>
          <p:cNvCxnSpPr/>
          <p:nvPr/>
        </p:nvCxnSpPr>
        <p:spPr>
          <a:xfrm>
            <a:off x="2900675" y="3332850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9"/>
          <p:cNvSpPr txBox="1"/>
          <p:nvPr/>
        </p:nvSpPr>
        <p:spPr>
          <a:xfrm>
            <a:off x="2654363" y="3129401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/>
          <p:nvPr/>
        </p:nvSpPr>
        <p:spPr>
          <a:xfrm rot="5400000">
            <a:off x="1987475" y="3855175"/>
            <a:ext cx="923700" cy="9027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2217925" y="3995125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2021350" y="3989238"/>
            <a:ext cx="5097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9"/>
          <p:cNvCxnSpPr/>
          <p:nvPr/>
        </p:nvCxnSpPr>
        <p:spPr>
          <a:xfrm rot="10800000">
            <a:off x="1867775" y="4176625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9"/>
          <p:cNvCxnSpPr/>
          <p:nvPr/>
        </p:nvCxnSpPr>
        <p:spPr>
          <a:xfrm rot="10800000">
            <a:off x="1867775" y="4419575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9"/>
          <p:cNvSpPr txBox="1"/>
          <p:nvPr/>
        </p:nvSpPr>
        <p:spPr>
          <a:xfrm rot="-781890">
            <a:off x="2090495" y="4400911"/>
            <a:ext cx="419093" cy="249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p9"/>
          <p:cNvCxnSpPr/>
          <p:nvPr/>
        </p:nvCxnSpPr>
        <p:spPr>
          <a:xfrm>
            <a:off x="2330075" y="4686400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9"/>
          <p:cNvCxnSpPr/>
          <p:nvPr/>
        </p:nvCxnSpPr>
        <p:spPr>
          <a:xfrm>
            <a:off x="2900675" y="4315325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9"/>
          <p:cNvSpPr txBox="1"/>
          <p:nvPr/>
        </p:nvSpPr>
        <p:spPr>
          <a:xfrm>
            <a:off x="2654363" y="4111875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2518850" y="4663238"/>
            <a:ext cx="464400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1528150" y="1032250"/>
            <a:ext cx="405600" cy="653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0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*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1528150" y="2006301"/>
            <a:ext cx="405600" cy="653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1528150" y="2919451"/>
            <a:ext cx="405600" cy="653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7" name="Google Shape;317;p9"/>
          <p:cNvSpPr txBox="1"/>
          <p:nvPr/>
        </p:nvSpPr>
        <p:spPr>
          <a:xfrm>
            <a:off x="1604350" y="3893500"/>
            <a:ext cx="405600" cy="653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0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*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18" name="Google Shape;318;p9"/>
          <p:cNvCxnSpPr/>
          <p:nvPr/>
        </p:nvCxnSpPr>
        <p:spPr>
          <a:xfrm flipH="1" rot="-5400000">
            <a:off x="2825525" y="1683113"/>
            <a:ext cx="818700" cy="190500"/>
          </a:xfrm>
          <a:prstGeom prst="bentConnector3">
            <a:avLst>
              <a:gd fmla="val 10018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9"/>
          <p:cNvCxnSpPr/>
          <p:nvPr/>
        </p:nvCxnSpPr>
        <p:spPr>
          <a:xfrm>
            <a:off x="3130475" y="2352338"/>
            <a:ext cx="199800" cy="79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9"/>
          <p:cNvCxnSpPr/>
          <p:nvPr/>
        </p:nvCxnSpPr>
        <p:spPr>
          <a:xfrm flipH="1" rot="10800000">
            <a:off x="3148775" y="3172488"/>
            <a:ext cx="183000" cy="163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9"/>
          <p:cNvCxnSpPr/>
          <p:nvPr/>
        </p:nvCxnSpPr>
        <p:spPr>
          <a:xfrm rot="-5400000">
            <a:off x="2789075" y="3774763"/>
            <a:ext cx="900900" cy="181500"/>
          </a:xfrm>
          <a:prstGeom prst="bentConnector3">
            <a:avLst>
              <a:gd fmla="val 10018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9"/>
          <p:cNvCxnSpPr/>
          <p:nvPr/>
        </p:nvCxnSpPr>
        <p:spPr>
          <a:xfrm flipH="1" rot="-5400000">
            <a:off x="4408000" y="2525138"/>
            <a:ext cx="423000" cy="26700"/>
          </a:xfrm>
          <a:prstGeom prst="bentConnector3">
            <a:avLst>
              <a:gd fmla="val 9997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9"/>
          <p:cNvCxnSpPr/>
          <p:nvPr/>
        </p:nvCxnSpPr>
        <p:spPr>
          <a:xfrm rot="-5400000">
            <a:off x="4462175" y="3139388"/>
            <a:ext cx="317100" cy="24300"/>
          </a:xfrm>
          <a:prstGeom prst="bentConnector3">
            <a:avLst>
              <a:gd fmla="val 10002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24" name="Google Shape;324;p9"/>
          <p:cNvGraphicFramePr/>
          <p:nvPr/>
        </p:nvGraphicFramePr>
        <p:xfrm>
          <a:off x="5815925" y="139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96775"/>
                <a:gridCol w="3967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y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z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f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A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"/>
          <p:cNvSpPr txBox="1"/>
          <p:nvPr>
            <p:ph type="title"/>
          </p:nvPr>
        </p:nvSpPr>
        <p:spPr>
          <a:xfrm>
            <a:off x="2796275" y="102750"/>
            <a:ext cx="438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/>
              <a:t>Exercițiul 8.2 - MUX 4:1 în cascadă</a:t>
            </a:r>
            <a:endParaRPr b="1"/>
          </a:p>
        </p:txBody>
      </p:sp>
      <p:graphicFrame>
        <p:nvGraphicFramePr>
          <p:cNvPr id="330" name="Google Shape;330;p10"/>
          <p:cNvGraphicFramePr/>
          <p:nvPr/>
        </p:nvGraphicFramePr>
        <p:xfrm>
          <a:off x="7171800" y="4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x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y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z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t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f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*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A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*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A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7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B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331" name="Google Shape;331;p10"/>
          <p:cNvSpPr txBox="1"/>
          <p:nvPr>
            <p:ph idx="1" type="body"/>
          </p:nvPr>
        </p:nvSpPr>
        <p:spPr>
          <a:xfrm>
            <a:off x="5242875" y="1065900"/>
            <a:ext cx="1757400" cy="15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/>
              <a:t>Implementați funcția dată folosind MUX 4:1 cuplate în cascadă având variabilele zx pe primul nivel și ty pe al doilea</a:t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 rot="5400000">
            <a:off x="1258500" y="274863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0"/>
          <p:cNvSpPr txBox="1"/>
          <p:nvPr/>
        </p:nvSpPr>
        <p:spPr>
          <a:xfrm>
            <a:off x="1612913" y="289893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0"/>
          <p:cNvSpPr txBox="1"/>
          <p:nvPr/>
        </p:nvSpPr>
        <p:spPr>
          <a:xfrm>
            <a:off x="1423475" y="2689963"/>
            <a:ext cx="50875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10"/>
          <p:cNvCxnSpPr/>
          <p:nvPr/>
        </p:nvCxnSpPr>
        <p:spPr>
          <a:xfrm rot="10800000">
            <a:off x="1269163" y="28911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10"/>
          <p:cNvCxnSpPr/>
          <p:nvPr/>
        </p:nvCxnSpPr>
        <p:spPr>
          <a:xfrm rot="10800000">
            <a:off x="1269163" y="3134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10"/>
          <p:cNvCxnSpPr/>
          <p:nvPr/>
        </p:nvCxnSpPr>
        <p:spPr>
          <a:xfrm rot="10800000">
            <a:off x="1269163" y="33770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10"/>
          <p:cNvCxnSpPr/>
          <p:nvPr/>
        </p:nvCxnSpPr>
        <p:spPr>
          <a:xfrm rot="10800000">
            <a:off x="1269163" y="36200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10"/>
          <p:cNvSpPr txBox="1"/>
          <p:nvPr/>
        </p:nvSpPr>
        <p:spPr>
          <a:xfrm rot="-782417">
            <a:off x="1583327" y="3387963"/>
            <a:ext cx="761847" cy="326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10"/>
          <p:cNvCxnSpPr/>
          <p:nvPr/>
        </p:nvCxnSpPr>
        <p:spPr>
          <a:xfrm>
            <a:off x="1830750" y="3758225"/>
            <a:ext cx="2100" cy="2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10"/>
          <p:cNvCxnSpPr/>
          <p:nvPr/>
        </p:nvCxnSpPr>
        <p:spPr>
          <a:xfrm>
            <a:off x="2123650" y="3681600"/>
            <a:ext cx="4200" cy="43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10"/>
          <p:cNvCxnSpPr/>
          <p:nvPr/>
        </p:nvCxnSpPr>
        <p:spPr>
          <a:xfrm>
            <a:off x="2372088" y="32338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10"/>
          <p:cNvSpPr txBox="1"/>
          <p:nvPr/>
        </p:nvSpPr>
        <p:spPr>
          <a:xfrm>
            <a:off x="2115800" y="304138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"/>
          <p:cNvSpPr txBox="1"/>
          <p:nvPr/>
        </p:nvSpPr>
        <p:spPr>
          <a:xfrm>
            <a:off x="928275" y="2689963"/>
            <a:ext cx="4056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/>
          <p:nvPr/>
        </p:nvSpPr>
        <p:spPr>
          <a:xfrm rot="5400000">
            <a:off x="1258500" y="407763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1612913" y="422793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1423475" y="4018963"/>
            <a:ext cx="474168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10"/>
          <p:cNvCxnSpPr/>
          <p:nvPr/>
        </p:nvCxnSpPr>
        <p:spPr>
          <a:xfrm rot="10800000">
            <a:off x="1269163" y="42201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p10"/>
          <p:cNvCxnSpPr/>
          <p:nvPr/>
        </p:nvCxnSpPr>
        <p:spPr>
          <a:xfrm rot="10800000">
            <a:off x="1269163" y="4463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0" name="Google Shape;350;p10"/>
          <p:cNvCxnSpPr/>
          <p:nvPr/>
        </p:nvCxnSpPr>
        <p:spPr>
          <a:xfrm rot="10800000">
            <a:off x="1269163" y="47060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10"/>
          <p:cNvSpPr/>
          <p:nvPr/>
        </p:nvSpPr>
        <p:spPr>
          <a:xfrm rot="5400000">
            <a:off x="3846263" y="215258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0"/>
          <p:cNvSpPr txBox="1"/>
          <p:nvPr/>
        </p:nvSpPr>
        <p:spPr>
          <a:xfrm>
            <a:off x="4200675" y="230288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0"/>
          <p:cNvSpPr txBox="1"/>
          <p:nvPr/>
        </p:nvSpPr>
        <p:spPr>
          <a:xfrm>
            <a:off x="4011238" y="2093913"/>
            <a:ext cx="52865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10"/>
          <p:cNvCxnSpPr/>
          <p:nvPr/>
        </p:nvCxnSpPr>
        <p:spPr>
          <a:xfrm rot="10800000">
            <a:off x="3856925" y="2295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p10"/>
          <p:cNvCxnSpPr/>
          <p:nvPr/>
        </p:nvCxnSpPr>
        <p:spPr>
          <a:xfrm rot="10800000">
            <a:off x="3856925" y="25380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10"/>
          <p:cNvCxnSpPr/>
          <p:nvPr/>
        </p:nvCxnSpPr>
        <p:spPr>
          <a:xfrm rot="10800000">
            <a:off x="3856925" y="27810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10"/>
          <p:cNvCxnSpPr/>
          <p:nvPr/>
        </p:nvCxnSpPr>
        <p:spPr>
          <a:xfrm rot="10800000">
            <a:off x="3856925" y="30239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10"/>
          <p:cNvSpPr txBox="1"/>
          <p:nvPr/>
        </p:nvSpPr>
        <p:spPr>
          <a:xfrm rot="-782417">
            <a:off x="4171089" y="2791913"/>
            <a:ext cx="761847" cy="326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" name="Google Shape;359;p10"/>
          <p:cNvCxnSpPr/>
          <p:nvPr/>
        </p:nvCxnSpPr>
        <p:spPr>
          <a:xfrm>
            <a:off x="4418513" y="3162175"/>
            <a:ext cx="2100" cy="2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10"/>
          <p:cNvCxnSpPr/>
          <p:nvPr/>
        </p:nvCxnSpPr>
        <p:spPr>
          <a:xfrm>
            <a:off x="4711413" y="3085550"/>
            <a:ext cx="4200" cy="43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10"/>
          <p:cNvCxnSpPr/>
          <p:nvPr/>
        </p:nvCxnSpPr>
        <p:spPr>
          <a:xfrm>
            <a:off x="4959850" y="263783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10"/>
          <p:cNvSpPr txBox="1"/>
          <p:nvPr/>
        </p:nvSpPr>
        <p:spPr>
          <a:xfrm>
            <a:off x="4703563" y="244533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3" name="Google Shape;363;p10"/>
          <p:cNvCxnSpPr/>
          <p:nvPr/>
        </p:nvCxnSpPr>
        <p:spPr>
          <a:xfrm rot="10800000">
            <a:off x="1269163" y="49490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10"/>
          <p:cNvSpPr txBox="1"/>
          <p:nvPr/>
        </p:nvSpPr>
        <p:spPr>
          <a:xfrm rot="-782417">
            <a:off x="1583327" y="4716963"/>
            <a:ext cx="761847" cy="326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p10"/>
          <p:cNvCxnSpPr/>
          <p:nvPr/>
        </p:nvCxnSpPr>
        <p:spPr>
          <a:xfrm>
            <a:off x="1829063" y="5093963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" name="Google Shape;366;p10"/>
          <p:cNvCxnSpPr/>
          <p:nvPr/>
        </p:nvCxnSpPr>
        <p:spPr>
          <a:xfrm>
            <a:off x="2120063" y="5017213"/>
            <a:ext cx="81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10"/>
          <p:cNvCxnSpPr/>
          <p:nvPr/>
        </p:nvCxnSpPr>
        <p:spPr>
          <a:xfrm>
            <a:off x="2372088" y="45628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10"/>
          <p:cNvSpPr txBox="1"/>
          <p:nvPr/>
        </p:nvSpPr>
        <p:spPr>
          <a:xfrm>
            <a:off x="2115800" y="437038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"/>
          <p:cNvSpPr txBox="1"/>
          <p:nvPr/>
        </p:nvSpPr>
        <p:spPr>
          <a:xfrm>
            <a:off x="928275" y="4018963"/>
            <a:ext cx="4056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10"/>
          <p:cNvCxnSpPr/>
          <p:nvPr/>
        </p:nvCxnSpPr>
        <p:spPr>
          <a:xfrm flipH="1" rot="10800000">
            <a:off x="2626525" y="2791550"/>
            <a:ext cx="1261800" cy="44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10"/>
          <p:cNvCxnSpPr/>
          <p:nvPr/>
        </p:nvCxnSpPr>
        <p:spPr>
          <a:xfrm rot="-5400000">
            <a:off x="2491975" y="3178675"/>
            <a:ext cx="1516500" cy="1253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10"/>
          <p:cNvSpPr txBox="1"/>
          <p:nvPr/>
        </p:nvSpPr>
        <p:spPr>
          <a:xfrm>
            <a:off x="1671300" y="5263550"/>
            <a:ext cx="816000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z    x    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0"/>
          <p:cNvSpPr/>
          <p:nvPr/>
        </p:nvSpPr>
        <p:spPr>
          <a:xfrm rot="5400000">
            <a:off x="1258000" y="12073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0"/>
          <p:cNvSpPr txBox="1"/>
          <p:nvPr/>
        </p:nvSpPr>
        <p:spPr>
          <a:xfrm>
            <a:off x="1612413" y="27103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0"/>
          <p:cNvSpPr txBox="1"/>
          <p:nvPr/>
        </p:nvSpPr>
        <p:spPr>
          <a:xfrm>
            <a:off x="1422975" y="62063"/>
            <a:ext cx="5166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p10"/>
          <p:cNvCxnSpPr/>
          <p:nvPr/>
        </p:nvCxnSpPr>
        <p:spPr>
          <a:xfrm rot="10800000">
            <a:off x="1268663" y="1870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10"/>
          <p:cNvCxnSpPr/>
          <p:nvPr/>
        </p:nvCxnSpPr>
        <p:spPr>
          <a:xfrm rot="10800000">
            <a:off x="1268663" y="4300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10"/>
          <p:cNvCxnSpPr/>
          <p:nvPr/>
        </p:nvCxnSpPr>
        <p:spPr>
          <a:xfrm rot="10800000">
            <a:off x="1268663" y="7491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10"/>
          <p:cNvCxnSpPr/>
          <p:nvPr/>
        </p:nvCxnSpPr>
        <p:spPr>
          <a:xfrm rot="10800000">
            <a:off x="1268663" y="992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0" name="Google Shape;380;p10"/>
          <p:cNvSpPr txBox="1"/>
          <p:nvPr/>
        </p:nvSpPr>
        <p:spPr>
          <a:xfrm rot="-782417">
            <a:off x="1582827" y="760063"/>
            <a:ext cx="761847" cy="326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" name="Google Shape;381;p10"/>
          <p:cNvCxnSpPr/>
          <p:nvPr/>
        </p:nvCxnSpPr>
        <p:spPr>
          <a:xfrm>
            <a:off x="1830250" y="1130325"/>
            <a:ext cx="2100" cy="2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10"/>
          <p:cNvCxnSpPr/>
          <p:nvPr/>
        </p:nvCxnSpPr>
        <p:spPr>
          <a:xfrm>
            <a:off x="2123150" y="1053700"/>
            <a:ext cx="4200" cy="43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10"/>
          <p:cNvCxnSpPr/>
          <p:nvPr/>
        </p:nvCxnSpPr>
        <p:spPr>
          <a:xfrm>
            <a:off x="2371588" y="5297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10"/>
          <p:cNvSpPr txBox="1"/>
          <p:nvPr/>
        </p:nvSpPr>
        <p:spPr>
          <a:xfrm>
            <a:off x="2115300" y="33728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0"/>
          <p:cNvSpPr txBox="1"/>
          <p:nvPr/>
        </p:nvSpPr>
        <p:spPr>
          <a:xfrm>
            <a:off x="927775" y="62063"/>
            <a:ext cx="4056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0"/>
          <p:cNvSpPr/>
          <p:nvPr/>
        </p:nvSpPr>
        <p:spPr>
          <a:xfrm rot="5400000">
            <a:off x="1258000" y="144973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0"/>
          <p:cNvSpPr txBox="1"/>
          <p:nvPr/>
        </p:nvSpPr>
        <p:spPr>
          <a:xfrm>
            <a:off x="1612413" y="160003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0"/>
          <p:cNvSpPr txBox="1"/>
          <p:nvPr/>
        </p:nvSpPr>
        <p:spPr>
          <a:xfrm>
            <a:off x="1422974" y="1391063"/>
            <a:ext cx="484175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" name="Google Shape;389;p10"/>
          <p:cNvCxnSpPr/>
          <p:nvPr/>
        </p:nvCxnSpPr>
        <p:spPr>
          <a:xfrm rot="10800000">
            <a:off x="1268663" y="15922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0" name="Google Shape;390;p10"/>
          <p:cNvCxnSpPr/>
          <p:nvPr/>
        </p:nvCxnSpPr>
        <p:spPr>
          <a:xfrm rot="10800000">
            <a:off x="1268663" y="18352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1" name="Google Shape;391;p10"/>
          <p:cNvCxnSpPr/>
          <p:nvPr/>
        </p:nvCxnSpPr>
        <p:spPr>
          <a:xfrm rot="10800000">
            <a:off x="1268663" y="20781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" name="Google Shape;392;p10"/>
          <p:cNvCxnSpPr/>
          <p:nvPr/>
        </p:nvCxnSpPr>
        <p:spPr>
          <a:xfrm rot="10800000">
            <a:off x="1268663" y="2321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" name="Google Shape;393;p10"/>
          <p:cNvSpPr txBox="1"/>
          <p:nvPr/>
        </p:nvSpPr>
        <p:spPr>
          <a:xfrm rot="-782417">
            <a:off x="1582827" y="2089063"/>
            <a:ext cx="761847" cy="326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4" name="Google Shape;394;p10"/>
          <p:cNvCxnSpPr/>
          <p:nvPr/>
        </p:nvCxnSpPr>
        <p:spPr>
          <a:xfrm>
            <a:off x="1828563" y="2466063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10"/>
          <p:cNvCxnSpPr/>
          <p:nvPr/>
        </p:nvCxnSpPr>
        <p:spPr>
          <a:xfrm>
            <a:off x="2119563" y="2389313"/>
            <a:ext cx="81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10"/>
          <p:cNvCxnSpPr/>
          <p:nvPr/>
        </p:nvCxnSpPr>
        <p:spPr>
          <a:xfrm>
            <a:off x="2371588" y="19349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10"/>
          <p:cNvSpPr txBox="1"/>
          <p:nvPr/>
        </p:nvSpPr>
        <p:spPr>
          <a:xfrm>
            <a:off x="2115300" y="174248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0"/>
          <p:cNvSpPr txBox="1"/>
          <p:nvPr/>
        </p:nvSpPr>
        <p:spPr>
          <a:xfrm>
            <a:off x="927775" y="1391063"/>
            <a:ext cx="4056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" name="Google Shape;399;p10"/>
          <p:cNvCxnSpPr/>
          <p:nvPr/>
        </p:nvCxnSpPr>
        <p:spPr>
          <a:xfrm flipH="1" rot="-5400000">
            <a:off x="2354375" y="780125"/>
            <a:ext cx="1766400" cy="1257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10"/>
          <p:cNvCxnSpPr/>
          <p:nvPr/>
        </p:nvCxnSpPr>
        <p:spPr>
          <a:xfrm>
            <a:off x="2622875" y="1935875"/>
            <a:ext cx="1330500" cy="600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p10"/>
          <p:cNvSpPr txBox="1"/>
          <p:nvPr/>
        </p:nvSpPr>
        <p:spPr>
          <a:xfrm>
            <a:off x="4275563" y="3432834"/>
            <a:ext cx="738575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   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6" name="Google Shape;406;ga6af45c67b_0_43"/>
          <p:cNvGraphicFramePr/>
          <p:nvPr/>
        </p:nvGraphicFramePr>
        <p:xfrm>
          <a:off x="7171800" y="4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x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y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z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t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f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*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A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*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A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7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B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407" name="Google Shape;407;ga6af45c67b_0_43"/>
          <p:cNvSpPr/>
          <p:nvPr/>
        </p:nvSpPr>
        <p:spPr>
          <a:xfrm rot="5400000">
            <a:off x="1258500" y="274863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a6af45c67b_0_43"/>
          <p:cNvSpPr txBox="1"/>
          <p:nvPr/>
        </p:nvSpPr>
        <p:spPr>
          <a:xfrm>
            <a:off x="1612913" y="289893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ga6af45c67b_0_43"/>
          <p:cNvSpPr txBox="1"/>
          <p:nvPr/>
        </p:nvSpPr>
        <p:spPr>
          <a:xfrm>
            <a:off x="1423475" y="2689963"/>
            <a:ext cx="5088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" name="Google Shape;410;ga6af45c67b_0_43"/>
          <p:cNvCxnSpPr/>
          <p:nvPr/>
        </p:nvCxnSpPr>
        <p:spPr>
          <a:xfrm rot="10800000">
            <a:off x="1269163" y="28911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ga6af45c67b_0_43"/>
          <p:cNvCxnSpPr/>
          <p:nvPr/>
        </p:nvCxnSpPr>
        <p:spPr>
          <a:xfrm rot="10800000">
            <a:off x="1269163" y="3134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ga6af45c67b_0_43"/>
          <p:cNvCxnSpPr/>
          <p:nvPr/>
        </p:nvCxnSpPr>
        <p:spPr>
          <a:xfrm rot="10800000">
            <a:off x="1269163" y="33770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ga6af45c67b_0_43"/>
          <p:cNvCxnSpPr/>
          <p:nvPr/>
        </p:nvCxnSpPr>
        <p:spPr>
          <a:xfrm rot="10800000">
            <a:off x="1269163" y="36200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ga6af45c67b_0_43"/>
          <p:cNvSpPr txBox="1"/>
          <p:nvPr/>
        </p:nvSpPr>
        <p:spPr>
          <a:xfrm rot="-782417">
            <a:off x="1583372" y="3387954"/>
            <a:ext cx="761847" cy="3267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5" name="Google Shape;415;ga6af45c67b_0_43"/>
          <p:cNvCxnSpPr/>
          <p:nvPr/>
        </p:nvCxnSpPr>
        <p:spPr>
          <a:xfrm>
            <a:off x="1830750" y="3758225"/>
            <a:ext cx="2100" cy="2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ga6af45c67b_0_43"/>
          <p:cNvCxnSpPr/>
          <p:nvPr/>
        </p:nvCxnSpPr>
        <p:spPr>
          <a:xfrm>
            <a:off x="2123650" y="3681600"/>
            <a:ext cx="4200" cy="43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ga6af45c67b_0_43"/>
          <p:cNvCxnSpPr/>
          <p:nvPr/>
        </p:nvCxnSpPr>
        <p:spPr>
          <a:xfrm>
            <a:off x="2372088" y="32338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ga6af45c67b_0_43"/>
          <p:cNvSpPr txBox="1"/>
          <p:nvPr/>
        </p:nvSpPr>
        <p:spPr>
          <a:xfrm>
            <a:off x="2115800" y="304138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a6af45c67b_0_43"/>
          <p:cNvSpPr txBox="1"/>
          <p:nvPr/>
        </p:nvSpPr>
        <p:spPr>
          <a:xfrm>
            <a:off x="928275" y="2689963"/>
            <a:ext cx="4056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0" name="Google Shape;420;ga6af45c67b_0_43"/>
          <p:cNvSpPr/>
          <p:nvPr/>
        </p:nvSpPr>
        <p:spPr>
          <a:xfrm rot="5400000">
            <a:off x="1258500" y="407763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a6af45c67b_0_43"/>
          <p:cNvSpPr txBox="1"/>
          <p:nvPr/>
        </p:nvSpPr>
        <p:spPr>
          <a:xfrm>
            <a:off x="1612913" y="422793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a6af45c67b_0_43"/>
          <p:cNvSpPr txBox="1"/>
          <p:nvPr/>
        </p:nvSpPr>
        <p:spPr>
          <a:xfrm>
            <a:off x="1423475" y="4018963"/>
            <a:ext cx="4743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3" name="Google Shape;423;ga6af45c67b_0_43"/>
          <p:cNvCxnSpPr/>
          <p:nvPr/>
        </p:nvCxnSpPr>
        <p:spPr>
          <a:xfrm rot="10800000">
            <a:off x="1269163" y="42201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ga6af45c67b_0_43"/>
          <p:cNvCxnSpPr/>
          <p:nvPr/>
        </p:nvCxnSpPr>
        <p:spPr>
          <a:xfrm rot="10800000">
            <a:off x="1269163" y="4463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ga6af45c67b_0_43"/>
          <p:cNvCxnSpPr/>
          <p:nvPr/>
        </p:nvCxnSpPr>
        <p:spPr>
          <a:xfrm rot="10800000">
            <a:off x="1269163" y="47060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6" name="Google Shape;426;ga6af45c67b_0_43"/>
          <p:cNvSpPr/>
          <p:nvPr/>
        </p:nvSpPr>
        <p:spPr>
          <a:xfrm rot="5400000">
            <a:off x="3846263" y="215258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a6af45c67b_0_43"/>
          <p:cNvSpPr txBox="1"/>
          <p:nvPr/>
        </p:nvSpPr>
        <p:spPr>
          <a:xfrm>
            <a:off x="4200675" y="230288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a6af45c67b_0_43"/>
          <p:cNvSpPr txBox="1"/>
          <p:nvPr/>
        </p:nvSpPr>
        <p:spPr>
          <a:xfrm>
            <a:off x="4011238" y="2093913"/>
            <a:ext cx="5286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9" name="Google Shape;429;ga6af45c67b_0_43"/>
          <p:cNvCxnSpPr/>
          <p:nvPr/>
        </p:nvCxnSpPr>
        <p:spPr>
          <a:xfrm rot="10800000">
            <a:off x="3856925" y="2295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ga6af45c67b_0_43"/>
          <p:cNvCxnSpPr/>
          <p:nvPr/>
        </p:nvCxnSpPr>
        <p:spPr>
          <a:xfrm rot="10800000">
            <a:off x="3856925" y="25380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ga6af45c67b_0_43"/>
          <p:cNvCxnSpPr/>
          <p:nvPr/>
        </p:nvCxnSpPr>
        <p:spPr>
          <a:xfrm rot="10800000">
            <a:off x="3856925" y="27810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" name="Google Shape;432;ga6af45c67b_0_43"/>
          <p:cNvCxnSpPr/>
          <p:nvPr/>
        </p:nvCxnSpPr>
        <p:spPr>
          <a:xfrm rot="10800000">
            <a:off x="3856925" y="30239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ga6af45c67b_0_43"/>
          <p:cNvSpPr txBox="1"/>
          <p:nvPr/>
        </p:nvSpPr>
        <p:spPr>
          <a:xfrm rot="-782417">
            <a:off x="4171134" y="2791903"/>
            <a:ext cx="761847" cy="3267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4" name="Google Shape;434;ga6af45c67b_0_43"/>
          <p:cNvCxnSpPr/>
          <p:nvPr/>
        </p:nvCxnSpPr>
        <p:spPr>
          <a:xfrm>
            <a:off x="4418513" y="3162175"/>
            <a:ext cx="2100" cy="2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" name="Google Shape;435;ga6af45c67b_0_43"/>
          <p:cNvCxnSpPr/>
          <p:nvPr/>
        </p:nvCxnSpPr>
        <p:spPr>
          <a:xfrm>
            <a:off x="4711413" y="3085550"/>
            <a:ext cx="4200" cy="43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6" name="Google Shape;436;ga6af45c67b_0_43"/>
          <p:cNvCxnSpPr/>
          <p:nvPr/>
        </p:nvCxnSpPr>
        <p:spPr>
          <a:xfrm>
            <a:off x="4959850" y="263783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7" name="Google Shape;437;ga6af45c67b_0_43"/>
          <p:cNvSpPr txBox="1"/>
          <p:nvPr/>
        </p:nvSpPr>
        <p:spPr>
          <a:xfrm>
            <a:off x="4703563" y="244533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8" name="Google Shape;438;ga6af45c67b_0_43"/>
          <p:cNvCxnSpPr/>
          <p:nvPr/>
        </p:nvCxnSpPr>
        <p:spPr>
          <a:xfrm rot="10800000">
            <a:off x="1269163" y="49490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9" name="Google Shape;439;ga6af45c67b_0_43"/>
          <p:cNvSpPr txBox="1"/>
          <p:nvPr/>
        </p:nvSpPr>
        <p:spPr>
          <a:xfrm rot="-782417">
            <a:off x="1583372" y="4716954"/>
            <a:ext cx="761847" cy="3267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0" name="Google Shape;440;ga6af45c67b_0_43"/>
          <p:cNvCxnSpPr/>
          <p:nvPr/>
        </p:nvCxnSpPr>
        <p:spPr>
          <a:xfrm>
            <a:off x="1829063" y="5093963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ga6af45c67b_0_43"/>
          <p:cNvCxnSpPr/>
          <p:nvPr/>
        </p:nvCxnSpPr>
        <p:spPr>
          <a:xfrm>
            <a:off x="2120063" y="5017213"/>
            <a:ext cx="81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ga6af45c67b_0_43"/>
          <p:cNvCxnSpPr/>
          <p:nvPr/>
        </p:nvCxnSpPr>
        <p:spPr>
          <a:xfrm>
            <a:off x="2372088" y="45628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ga6af45c67b_0_43"/>
          <p:cNvSpPr txBox="1"/>
          <p:nvPr/>
        </p:nvSpPr>
        <p:spPr>
          <a:xfrm>
            <a:off x="2115800" y="437038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a6af45c67b_0_43"/>
          <p:cNvSpPr txBox="1"/>
          <p:nvPr/>
        </p:nvSpPr>
        <p:spPr>
          <a:xfrm>
            <a:off x="928275" y="4018963"/>
            <a:ext cx="4056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0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445" name="Google Shape;445;ga6af45c67b_0_43"/>
          <p:cNvCxnSpPr/>
          <p:nvPr/>
        </p:nvCxnSpPr>
        <p:spPr>
          <a:xfrm flipH="1" rot="10800000">
            <a:off x="2626525" y="2791550"/>
            <a:ext cx="1261800" cy="44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ga6af45c67b_0_43"/>
          <p:cNvCxnSpPr/>
          <p:nvPr/>
        </p:nvCxnSpPr>
        <p:spPr>
          <a:xfrm rot="-5400000">
            <a:off x="2491975" y="3178675"/>
            <a:ext cx="1516500" cy="1253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7" name="Google Shape;447;ga6af45c67b_0_43"/>
          <p:cNvSpPr txBox="1"/>
          <p:nvPr/>
        </p:nvSpPr>
        <p:spPr>
          <a:xfrm>
            <a:off x="1671300" y="5263550"/>
            <a:ext cx="738600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z    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a6af45c67b_0_43"/>
          <p:cNvSpPr/>
          <p:nvPr/>
        </p:nvSpPr>
        <p:spPr>
          <a:xfrm rot="5400000">
            <a:off x="1258000" y="12073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ga6af45c67b_0_43"/>
          <p:cNvSpPr txBox="1"/>
          <p:nvPr/>
        </p:nvSpPr>
        <p:spPr>
          <a:xfrm>
            <a:off x="1612413" y="27103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a6af45c67b_0_43"/>
          <p:cNvSpPr txBox="1"/>
          <p:nvPr/>
        </p:nvSpPr>
        <p:spPr>
          <a:xfrm>
            <a:off x="1422975" y="62063"/>
            <a:ext cx="5166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1" name="Google Shape;451;ga6af45c67b_0_43"/>
          <p:cNvCxnSpPr/>
          <p:nvPr/>
        </p:nvCxnSpPr>
        <p:spPr>
          <a:xfrm rot="10800000">
            <a:off x="1268663" y="1870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2" name="Google Shape;452;ga6af45c67b_0_43"/>
          <p:cNvCxnSpPr/>
          <p:nvPr/>
        </p:nvCxnSpPr>
        <p:spPr>
          <a:xfrm rot="10800000">
            <a:off x="1268663" y="4300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3" name="Google Shape;453;ga6af45c67b_0_43"/>
          <p:cNvCxnSpPr/>
          <p:nvPr/>
        </p:nvCxnSpPr>
        <p:spPr>
          <a:xfrm rot="10800000">
            <a:off x="1268663" y="7491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" name="Google Shape;454;ga6af45c67b_0_43"/>
          <p:cNvCxnSpPr/>
          <p:nvPr/>
        </p:nvCxnSpPr>
        <p:spPr>
          <a:xfrm rot="10800000">
            <a:off x="1268663" y="992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5" name="Google Shape;455;ga6af45c67b_0_43"/>
          <p:cNvSpPr txBox="1"/>
          <p:nvPr/>
        </p:nvSpPr>
        <p:spPr>
          <a:xfrm rot="-782417">
            <a:off x="1582872" y="760054"/>
            <a:ext cx="761847" cy="3267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6" name="Google Shape;456;ga6af45c67b_0_43"/>
          <p:cNvCxnSpPr/>
          <p:nvPr/>
        </p:nvCxnSpPr>
        <p:spPr>
          <a:xfrm>
            <a:off x="1830250" y="1130325"/>
            <a:ext cx="2100" cy="2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7" name="Google Shape;457;ga6af45c67b_0_43"/>
          <p:cNvCxnSpPr/>
          <p:nvPr/>
        </p:nvCxnSpPr>
        <p:spPr>
          <a:xfrm>
            <a:off x="2123150" y="1053700"/>
            <a:ext cx="4200" cy="43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8" name="Google Shape;458;ga6af45c67b_0_43"/>
          <p:cNvCxnSpPr/>
          <p:nvPr/>
        </p:nvCxnSpPr>
        <p:spPr>
          <a:xfrm>
            <a:off x="2371588" y="5297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9" name="Google Shape;459;ga6af45c67b_0_43"/>
          <p:cNvSpPr txBox="1"/>
          <p:nvPr/>
        </p:nvSpPr>
        <p:spPr>
          <a:xfrm>
            <a:off x="2115300" y="33728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a6af45c67b_0_43"/>
          <p:cNvSpPr txBox="1"/>
          <p:nvPr/>
        </p:nvSpPr>
        <p:spPr>
          <a:xfrm>
            <a:off x="927775" y="62063"/>
            <a:ext cx="4056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0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*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1" name="Google Shape;461;ga6af45c67b_0_43"/>
          <p:cNvSpPr/>
          <p:nvPr/>
        </p:nvSpPr>
        <p:spPr>
          <a:xfrm rot="5400000">
            <a:off x="1258000" y="144973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a6af45c67b_0_43"/>
          <p:cNvSpPr txBox="1"/>
          <p:nvPr/>
        </p:nvSpPr>
        <p:spPr>
          <a:xfrm>
            <a:off x="1612413" y="160003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a6af45c67b_0_43"/>
          <p:cNvSpPr txBox="1"/>
          <p:nvPr/>
        </p:nvSpPr>
        <p:spPr>
          <a:xfrm>
            <a:off x="1422974" y="1391063"/>
            <a:ext cx="4842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4" name="Google Shape;464;ga6af45c67b_0_43"/>
          <p:cNvCxnSpPr/>
          <p:nvPr/>
        </p:nvCxnSpPr>
        <p:spPr>
          <a:xfrm rot="10800000">
            <a:off x="1268663" y="15922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ga6af45c67b_0_43"/>
          <p:cNvCxnSpPr/>
          <p:nvPr/>
        </p:nvCxnSpPr>
        <p:spPr>
          <a:xfrm rot="10800000">
            <a:off x="1268663" y="18352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ga6af45c67b_0_43"/>
          <p:cNvCxnSpPr/>
          <p:nvPr/>
        </p:nvCxnSpPr>
        <p:spPr>
          <a:xfrm rot="10800000">
            <a:off x="1268663" y="20781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ga6af45c67b_0_43"/>
          <p:cNvCxnSpPr/>
          <p:nvPr/>
        </p:nvCxnSpPr>
        <p:spPr>
          <a:xfrm rot="10800000">
            <a:off x="1268663" y="2321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ga6af45c67b_0_43"/>
          <p:cNvSpPr txBox="1"/>
          <p:nvPr/>
        </p:nvSpPr>
        <p:spPr>
          <a:xfrm rot="-782417">
            <a:off x="1582872" y="2089053"/>
            <a:ext cx="761847" cy="3267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9" name="Google Shape;469;ga6af45c67b_0_43"/>
          <p:cNvCxnSpPr/>
          <p:nvPr/>
        </p:nvCxnSpPr>
        <p:spPr>
          <a:xfrm>
            <a:off x="1828563" y="2466063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0" name="Google Shape;470;ga6af45c67b_0_43"/>
          <p:cNvCxnSpPr/>
          <p:nvPr/>
        </p:nvCxnSpPr>
        <p:spPr>
          <a:xfrm>
            <a:off x="2119563" y="2389313"/>
            <a:ext cx="81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1" name="Google Shape;471;ga6af45c67b_0_43"/>
          <p:cNvCxnSpPr/>
          <p:nvPr/>
        </p:nvCxnSpPr>
        <p:spPr>
          <a:xfrm>
            <a:off x="2371588" y="19349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2" name="Google Shape;472;ga6af45c67b_0_43"/>
          <p:cNvSpPr txBox="1"/>
          <p:nvPr/>
        </p:nvSpPr>
        <p:spPr>
          <a:xfrm>
            <a:off x="2115300" y="174248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a6af45c67b_0_43"/>
          <p:cNvSpPr txBox="1"/>
          <p:nvPr/>
        </p:nvSpPr>
        <p:spPr>
          <a:xfrm>
            <a:off x="927775" y="1391063"/>
            <a:ext cx="4056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0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0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*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1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474" name="Google Shape;474;ga6af45c67b_0_43"/>
          <p:cNvCxnSpPr/>
          <p:nvPr/>
        </p:nvCxnSpPr>
        <p:spPr>
          <a:xfrm flipH="1" rot="-5400000">
            <a:off x="2354375" y="780125"/>
            <a:ext cx="1766400" cy="1257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5" name="Google Shape;475;ga6af45c67b_0_43"/>
          <p:cNvCxnSpPr/>
          <p:nvPr/>
        </p:nvCxnSpPr>
        <p:spPr>
          <a:xfrm>
            <a:off x="2622875" y="1935875"/>
            <a:ext cx="1330500" cy="600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6" name="Google Shape;476;ga6af45c67b_0_43"/>
          <p:cNvSpPr txBox="1"/>
          <p:nvPr/>
        </p:nvSpPr>
        <p:spPr>
          <a:xfrm>
            <a:off x="4275563" y="3432834"/>
            <a:ext cx="738600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    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7" name="Google Shape;477;ga6af45c67b_0_43"/>
          <p:cNvGraphicFramePr/>
          <p:nvPr/>
        </p:nvGraphicFramePr>
        <p:xfrm>
          <a:off x="5135863" y="6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t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y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z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x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f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A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A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7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B</a:t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1"/>
          <p:cNvSpPr txBox="1"/>
          <p:nvPr>
            <p:ph type="title"/>
          </p:nvPr>
        </p:nvSpPr>
        <p:spPr>
          <a:xfrm>
            <a:off x="2796275" y="102750"/>
            <a:ext cx="438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/>
              <a:t>Exercițiul 8.3 - MUX 4:1 în cascadă</a:t>
            </a:r>
            <a:endParaRPr b="1"/>
          </a:p>
        </p:txBody>
      </p:sp>
      <p:graphicFrame>
        <p:nvGraphicFramePr>
          <p:cNvPr id="483" name="Google Shape;483;p11"/>
          <p:cNvGraphicFramePr/>
          <p:nvPr/>
        </p:nvGraphicFramePr>
        <p:xfrm>
          <a:off x="7171800" y="4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x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y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z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t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f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*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A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*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A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7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B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484" name="Google Shape;484;p11"/>
          <p:cNvSpPr txBox="1"/>
          <p:nvPr>
            <p:ph idx="1" type="body"/>
          </p:nvPr>
        </p:nvSpPr>
        <p:spPr>
          <a:xfrm>
            <a:off x="5242875" y="1065900"/>
            <a:ext cx="1757400" cy="15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/>
              <a:t>Implementați funcția dată folosind MUX 4:1 cuplate în cascadă având variabilele ty pe primul nivel și zx pe al doilea</a:t>
            </a:r>
            <a:endParaRPr/>
          </a:p>
        </p:txBody>
      </p:sp>
      <p:sp>
        <p:nvSpPr>
          <p:cNvPr id="485" name="Google Shape;485;p11"/>
          <p:cNvSpPr/>
          <p:nvPr/>
        </p:nvSpPr>
        <p:spPr>
          <a:xfrm rot="5400000">
            <a:off x="1258500" y="274863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1"/>
          <p:cNvSpPr txBox="1"/>
          <p:nvPr/>
        </p:nvSpPr>
        <p:spPr>
          <a:xfrm>
            <a:off x="1612913" y="289893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1"/>
          <p:cNvSpPr txBox="1"/>
          <p:nvPr/>
        </p:nvSpPr>
        <p:spPr>
          <a:xfrm>
            <a:off x="1423475" y="2689963"/>
            <a:ext cx="474168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8" name="Google Shape;488;p11"/>
          <p:cNvCxnSpPr/>
          <p:nvPr/>
        </p:nvCxnSpPr>
        <p:spPr>
          <a:xfrm rot="10800000">
            <a:off x="1269163" y="28911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11"/>
          <p:cNvCxnSpPr/>
          <p:nvPr/>
        </p:nvCxnSpPr>
        <p:spPr>
          <a:xfrm rot="10800000">
            <a:off x="1269163" y="3134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0" name="Google Shape;490;p11"/>
          <p:cNvCxnSpPr/>
          <p:nvPr/>
        </p:nvCxnSpPr>
        <p:spPr>
          <a:xfrm rot="10800000">
            <a:off x="1269163" y="33770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1" name="Google Shape;491;p11"/>
          <p:cNvCxnSpPr/>
          <p:nvPr/>
        </p:nvCxnSpPr>
        <p:spPr>
          <a:xfrm rot="10800000">
            <a:off x="1269163" y="36200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2" name="Google Shape;492;p11"/>
          <p:cNvSpPr txBox="1"/>
          <p:nvPr/>
        </p:nvSpPr>
        <p:spPr>
          <a:xfrm rot="-782417">
            <a:off x="1583327" y="3387963"/>
            <a:ext cx="761847" cy="326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3" name="Google Shape;493;p11"/>
          <p:cNvCxnSpPr/>
          <p:nvPr/>
        </p:nvCxnSpPr>
        <p:spPr>
          <a:xfrm>
            <a:off x="1830750" y="3758225"/>
            <a:ext cx="2100" cy="2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11"/>
          <p:cNvCxnSpPr/>
          <p:nvPr/>
        </p:nvCxnSpPr>
        <p:spPr>
          <a:xfrm>
            <a:off x="2123650" y="3681600"/>
            <a:ext cx="4200" cy="43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5" name="Google Shape;495;p11"/>
          <p:cNvCxnSpPr/>
          <p:nvPr/>
        </p:nvCxnSpPr>
        <p:spPr>
          <a:xfrm>
            <a:off x="2372088" y="32338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6" name="Google Shape;496;p11"/>
          <p:cNvSpPr txBox="1"/>
          <p:nvPr/>
        </p:nvSpPr>
        <p:spPr>
          <a:xfrm>
            <a:off x="2115800" y="304138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1"/>
          <p:cNvSpPr txBox="1"/>
          <p:nvPr/>
        </p:nvSpPr>
        <p:spPr>
          <a:xfrm>
            <a:off x="928275" y="2689963"/>
            <a:ext cx="4056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1"/>
          <p:cNvSpPr/>
          <p:nvPr/>
        </p:nvSpPr>
        <p:spPr>
          <a:xfrm rot="5400000">
            <a:off x="1258500" y="407763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1"/>
          <p:cNvSpPr txBox="1"/>
          <p:nvPr/>
        </p:nvSpPr>
        <p:spPr>
          <a:xfrm>
            <a:off x="1612913" y="422793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1"/>
          <p:cNvSpPr txBox="1"/>
          <p:nvPr/>
        </p:nvSpPr>
        <p:spPr>
          <a:xfrm>
            <a:off x="1423474" y="4018963"/>
            <a:ext cx="430051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1" name="Google Shape;501;p11"/>
          <p:cNvCxnSpPr/>
          <p:nvPr/>
        </p:nvCxnSpPr>
        <p:spPr>
          <a:xfrm rot="10800000">
            <a:off x="1269163" y="42201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11"/>
          <p:cNvCxnSpPr/>
          <p:nvPr/>
        </p:nvCxnSpPr>
        <p:spPr>
          <a:xfrm rot="10800000">
            <a:off x="1269163" y="4463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p11"/>
          <p:cNvCxnSpPr/>
          <p:nvPr/>
        </p:nvCxnSpPr>
        <p:spPr>
          <a:xfrm rot="10800000">
            <a:off x="1269163" y="47060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11"/>
          <p:cNvSpPr/>
          <p:nvPr/>
        </p:nvSpPr>
        <p:spPr>
          <a:xfrm rot="5400000">
            <a:off x="3846263" y="215258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1"/>
          <p:cNvSpPr txBox="1"/>
          <p:nvPr/>
        </p:nvSpPr>
        <p:spPr>
          <a:xfrm>
            <a:off x="4200675" y="230288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1"/>
          <p:cNvSpPr txBox="1"/>
          <p:nvPr/>
        </p:nvSpPr>
        <p:spPr>
          <a:xfrm>
            <a:off x="4011237" y="2093913"/>
            <a:ext cx="471425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7" name="Google Shape;507;p11"/>
          <p:cNvCxnSpPr/>
          <p:nvPr/>
        </p:nvCxnSpPr>
        <p:spPr>
          <a:xfrm rot="10800000">
            <a:off x="3856925" y="2295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8" name="Google Shape;508;p11"/>
          <p:cNvCxnSpPr/>
          <p:nvPr/>
        </p:nvCxnSpPr>
        <p:spPr>
          <a:xfrm rot="10800000">
            <a:off x="3856925" y="25380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9" name="Google Shape;509;p11"/>
          <p:cNvCxnSpPr/>
          <p:nvPr/>
        </p:nvCxnSpPr>
        <p:spPr>
          <a:xfrm rot="10800000">
            <a:off x="3856925" y="27810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0" name="Google Shape;510;p11"/>
          <p:cNvCxnSpPr/>
          <p:nvPr/>
        </p:nvCxnSpPr>
        <p:spPr>
          <a:xfrm rot="10800000">
            <a:off x="3856925" y="30239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1" name="Google Shape;511;p11"/>
          <p:cNvSpPr txBox="1"/>
          <p:nvPr/>
        </p:nvSpPr>
        <p:spPr>
          <a:xfrm rot="-782417">
            <a:off x="4171089" y="2791913"/>
            <a:ext cx="761847" cy="326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2" name="Google Shape;512;p11"/>
          <p:cNvCxnSpPr/>
          <p:nvPr/>
        </p:nvCxnSpPr>
        <p:spPr>
          <a:xfrm>
            <a:off x="4418513" y="3162175"/>
            <a:ext cx="2100" cy="2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3" name="Google Shape;513;p11"/>
          <p:cNvCxnSpPr/>
          <p:nvPr/>
        </p:nvCxnSpPr>
        <p:spPr>
          <a:xfrm>
            <a:off x="4711413" y="3085550"/>
            <a:ext cx="4200" cy="43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4" name="Google Shape;514;p11"/>
          <p:cNvCxnSpPr/>
          <p:nvPr/>
        </p:nvCxnSpPr>
        <p:spPr>
          <a:xfrm>
            <a:off x="4959850" y="263783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5" name="Google Shape;515;p11"/>
          <p:cNvSpPr txBox="1"/>
          <p:nvPr/>
        </p:nvSpPr>
        <p:spPr>
          <a:xfrm>
            <a:off x="4703563" y="244533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6" name="Google Shape;516;p11"/>
          <p:cNvCxnSpPr/>
          <p:nvPr/>
        </p:nvCxnSpPr>
        <p:spPr>
          <a:xfrm rot="10800000">
            <a:off x="1269163" y="49490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p11"/>
          <p:cNvSpPr txBox="1"/>
          <p:nvPr/>
        </p:nvSpPr>
        <p:spPr>
          <a:xfrm rot="-782417">
            <a:off x="1583327" y="4716963"/>
            <a:ext cx="761847" cy="326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8" name="Google Shape;518;p11"/>
          <p:cNvCxnSpPr/>
          <p:nvPr/>
        </p:nvCxnSpPr>
        <p:spPr>
          <a:xfrm>
            <a:off x="1829063" y="5093963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9" name="Google Shape;519;p11"/>
          <p:cNvCxnSpPr/>
          <p:nvPr/>
        </p:nvCxnSpPr>
        <p:spPr>
          <a:xfrm>
            <a:off x="2120063" y="5017213"/>
            <a:ext cx="81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0" name="Google Shape;520;p11"/>
          <p:cNvCxnSpPr/>
          <p:nvPr/>
        </p:nvCxnSpPr>
        <p:spPr>
          <a:xfrm>
            <a:off x="2372088" y="45628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1" name="Google Shape;521;p11"/>
          <p:cNvSpPr txBox="1"/>
          <p:nvPr/>
        </p:nvSpPr>
        <p:spPr>
          <a:xfrm>
            <a:off x="2115800" y="437038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1"/>
          <p:cNvSpPr txBox="1"/>
          <p:nvPr/>
        </p:nvSpPr>
        <p:spPr>
          <a:xfrm>
            <a:off x="928275" y="4018963"/>
            <a:ext cx="4056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3" name="Google Shape;523;p11"/>
          <p:cNvCxnSpPr/>
          <p:nvPr/>
        </p:nvCxnSpPr>
        <p:spPr>
          <a:xfrm flipH="1" rot="10800000">
            <a:off x="2626525" y="2791550"/>
            <a:ext cx="1261800" cy="44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4" name="Google Shape;524;p11"/>
          <p:cNvCxnSpPr/>
          <p:nvPr/>
        </p:nvCxnSpPr>
        <p:spPr>
          <a:xfrm rot="-5400000">
            <a:off x="2491975" y="3178675"/>
            <a:ext cx="1516500" cy="1253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5" name="Google Shape;525;p11"/>
          <p:cNvSpPr txBox="1"/>
          <p:nvPr/>
        </p:nvSpPr>
        <p:spPr>
          <a:xfrm>
            <a:off x="1671300" y="5263550"/>
            <a:ext cx="661500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    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1"/>
          <p:cNvSpPr/>
          <p:nvPr/>
        </p:nvSpPr>
        <p:spPr>
          <a:xfrm rot="5400000">
            <a:off x="1258000" y="12073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1"/>
          <p:cNvSpPr txBox="1"/>
          <p:nvPr/>
        </p:nvSpPr>
        <p:spPr>
          <a:xfrm>
            <a:off x="1612413" y="27103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1"/>
          <p:cNvSpPr txBox="1"/>
          <p:nvPr/>
        </p:nvSpPr>
        <p:spPr>
          <a:xfrm>
            <a:off x="1422975" y="62063"/>
            <a:ext cx="5208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9" name="Google Shape;529;p11"/>
          <p:cNvCxnSpPr/>
          <p:nvPr/>
        </p:nvCxnSpPr>
        <p:spPr>
          <a:xfrm rot="10800000">
            <a:off x="1268663" y="1870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0" name="Google Shape;530;p11"/>
          <p:cNvCxnSpPr/>
          <p:nvPr/>
        </p:nvCxnSpPr>
        <p:spPr>
          <a:xfrm rot="10800000">
            <a:off x="1268663" y="4300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1" name="Google Shape;531;p11"/>
          <p:cNvCxnSpPr/>
          <p:nvPr/>
        </p:nvCxnSpPr>
        <p:spPr>
          <a:xfrm rot="10800000">
            <a:off x="1268663" y="7491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2" name="Google Shape;532;p11"/>
          <p:cNvCxnSpPr/>
          <p:nvPr/>
        </p:nvCxnSpPr>
        <p:spPr>
          <a:xfrm rot="10800000">
            <a:off x="1268663" y="992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3" name="Google Shape;533;p11"/>
          <p:cNvSpPr txBox="1"/>
          <p:nvPr/>
        </p:nvSpPr>
        <p:spPr>
          <a:xfrm rot="-782417">
            <a:off x="1582827" y="760063"/>
            <a:ext cx="761847" cy="326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4" name="Google Shape;534;p11"/>
          <p:cNvCxnSpPr/>
          <p:nvPr/>
        </p:nvCxnSpPr>
        <p:spPr>
          <a:xfrm>
            <a:off x="1830250" y="1130325"/>
            <a:ext cx="2100" cy="2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5" name="Google Shape;535;p11"/>
          <p:cNvCxnSpPr/>
          <p:nvPr/>
        </p:nvCxnSpPr>
        <p:spPr>
          <a:xfrm>
            <a:off x="2123150" y="1053700"/>
            <a:ext cx="4200" cy="43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6" name="Google Shape;536;p11"/>
          <p:cNvCxnSpPr/>
          <p:nvPr/>
        </p:nvCxnSpPr>
        <p:spPr>
          <a:xfrm>
            <a:off x="2371588" y="5297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7" name="Google Shape;537;p11"/>
          <p:cNvSpPr txBox="1"/>
          <p:nvPr/>
        </p:nvSpPr>
        <p:spPr>
          <a:xfrm>
            <a:off x="2115300" y="33728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1"/>
          <p:cNvSpPr txBox="1"/>
          <p:nvPr/>
        </p:nvSpPr>
        <p:spPr>
          <a:xfrm>
            <a:off x="927775" y="62063"/>
            <a:ext cx="4056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1"/>
          <p:cNvSpPr/>
          <p:nvPr/>
        </p:nvSpPr>
        <p:spPr>
          <a:xfrm rot="5400000">
            <a:off x="1258000" y="144973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1"/>
          <p:cNvSpPr txBox="1"/>
          <p:nvPr/>
        </p:nvSpPr>
        <p:spPr>
          <a:xfrm>
            <a:off x="1612413" y="160003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1"/>
          <p:cNvSpPr txBox="1"/>
          <p:nvPr/>
        </p:nvSpPr>
        <p:spPr>
          <a:xfrm>
            <a:off x="1422974" y="1391063"/>
            <a:ext cx="459113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2" name="Google Shape;542;p11"/>
          <p:cNvCxnSpPr/>
          <p:nvPr/>
        </p:nvCxnSpPr>
        <p:spPr>
          <a:xfrm rot="10800000">
            <a:off x="1268663" y="15922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3" name="Google Shape;543;p11"/>
          <p:cNvCxnSpPr/>
          <p:nvPr/>
        </p:nvCxnSpPr>
        <p:spPr>
          <a:xfrm rot="10800000">
            <a:off x="1268663" y="18352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4" name="Google Shape;544;p11"/>
          <p:cNvCxnSpPr/>
          <p:nvPr/>
        </p:nvCxnSpPr>
        <p:spPr>
          <a:xfrm rot="10800000">
            <a:off x="1268663" y="20781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5" name="Google Shape;545;p11"/>
          <p:cNvCxnSpPr/>
          <p:nvPr/>
        </p:nvCxnSpPr>
        <p:spPr>
          <a:xfrm rot="10800000">
            <a:off x="1268663" y="2321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6" name="Google Shape;546;p11"/>
          <p:cNvSpPr txBox="1"/>
          <p:nvPr/>
        </p:nvSpPr>
        <p:spPr>
          <a:xfrm rot="-782417">
            <a:off x="1582827" y="2089063"/>
            <a:ext cx="761847" cy="326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7" name="Google Shape;547;p11"/>
          <p:cNvCxnSpPr/>
          <p:nvPr/>
        </p:nvCxnSpPr>
        <p:spPr>
          <a:xfrm>
            <a:off x="1828563" y="2466063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8" name="Google Shape;548;p11"/>
          <p:cNvCxnSpPr/>
          <p:nvPr/>
        </p:nvCxnSpPr>
        <p:spPr>
          <a:xfrm>
            <a:off x="2119563" y="2389313"/>
            <a:ext cx="13500" cy="41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9" name="Google Shape;549;p11"/>
          <p:cNvCxnSpPr/>
          <p:nvPr/>
        </p:nvCxnSpPr>
        <p:spPr>
          <a:xfrm>
            <a:off x="2371588" y="19349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0" name="Google Shape;550;p11"/>
          <p:cNvSpPr txBox="1"/>
          <p:nvPr/>
        </p:nvSpPr>
        <p:spPr>
          <a:xfrm>
            <a:off x="2115300" y="174248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1"/>
          <p:cNvSpPr txBox="1"/>
          <p:nvPr/>
        </p:nvSpPr>
        <p:spPr>
          <a:xfrm>
            <a:off x="927775" y="1391063"/>
            <a:ext cx="4056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2" name="Google Shape;552;p11"/>
          <p:cNvCxnSpPr/>
          <p:nvPr/>
        </p:nvCxnSpPr>
        <p:spPr>
          <a:xfrm flipH="1" rot="-5400000">
            <a:off x="2354375" y="780125"/>
            <a:ext cx="1766400" cy="1257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3" name="Google Shape;553;p11"/>
          <p:cNvCxnSpPr/>
          <p:nvPr/>
        </p:nvCxnSpPr>
        <p:spPr>
          <a:xfrm>
            <a:off x="2622875" y="1935875"/>
            <a:ext cx="1330500" cy="600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4" name="Google Shape;554;p11"/>
          <p:cNvSpPr txBox="1"/>
          <p:nvPr/>
        </p:nvSpPr>
        <p:spPr>
          <a:xfrm>
            <a:off x="4221274" y="3423250"/>
            <a:ext cx="738575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z     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9" name="Google Shape;559;g9f5344dd6c_2_0"/>
          <p:cNvGraphicFramePr/>
          <p:nvPr/>
        </p:nvGraphicFramePr>
        <p:xfrm>
          <a:off x="7171800" y="4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x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y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z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t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f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*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A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*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A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7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B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560" name="Google Shape;560;g9f5344dd6c_2_0"/>
          <p:cNvSpPr/>
          <p:nvPr/>
        </p:nvSpPr>
        <p:spPr>
          <a:xfrm rot="5400000">
            <a:off x="1258500" y="274863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9f5344dd6c_2_0"/>
          <p:cNvSpPr txBox="1"/>
          <p:nvPr/>
        </p:nvSpPr>
        <p:spPr>
          <a:xfrm>
            <a:off x="1612913" y="289893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9f5344dd6c_2_0"/>
          <p:cNvSpPr txBox="1"/>
          <p:nvPr/>
        </p:nvSpPr>
        <p:spPr>
          <a:xfrm>
            <a:off x="1423475" y="2689963"/>
            <a:ext cx="5088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3" name="Google Shape;563;g9f5344dd6c_2_0"/>
          <p:cNvCxnSpPr/>
          <p:nvPr/>
        </p:nvCxnSpPr>
        <p:spPr>
          <a:xfrm rot="10800000">
            <a:off x="1269163" y="28911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4" name="Google Shape;564;g9f5344dd6c_2_0"/>
          <p:cNvCxnSpPr/>
          <p:nvPr/>
        </p:nvCxnSpPr>
        <p:spPr>
          <a:xfrm rot="10800000">
            <a:off x="1269163" y="3134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5" name="Google Shape;565;g9f5344dd6c_2_0"/>
          <p:cNvCxnSpPr/>
          <p:nvPr/>
        </p:nvCxnSpPr>
        <p:spPr>
          <a:xfrm rot="10800000">
            <a:off x="1269163" y="33770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6" name="Google Shape;566;g9f5344dd6c_2_0"/>
          <p:cNvCxnSpPr/>
          <p:nvPr/>
        </p:nvCxnSpPr>
        <p:spPr>
          <a:xfrm rot="10800000">
            <a:off x="1269163" y="36200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7" name="Google Shape;567;g9f5344dd6c_2_0"/>
          <p:cNvSpPr txBox="1"/>
          <p:nvPr/>
        </p:nvSpPr>
        <p:spPr>
          <a:xfrm rot="-782417">
            <a:off x="1583409" y="3387945"/>
            <a:ext cx="761847" cy="3267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8" name="Google Shape;568;g9f5344dd6c_2_0"/>
          <p:cNvCxnSpPr/>
          <p:nvPr/>
        </p:nvCxnSpPr>
        <p:spPr>
          <a:xfrm>
            <a:off x="1830750" y="3758225"/>
            <a:ext cx="2100" cy="2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9" name="Google Shape;569;g9f5344dd6c_2_0"/>
          <p:cNvCxnSpPr/>
          <p:nvPr/>
        </p:nvCxnSpPr>
        <p:spPr>
          <a:xfrm>
            <a:off x="2123650" y="3681600"/>
            <a:ext cx="4200" cy="43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0" name="Google Shape;570;g9f5344dd6c_2_0"/>
          <p:cNvCxnSpPr/>
          <p:nvPr/>
        </p:nvCxnSpPr>
        <p:spPr>
          <a:xfrm>
            <a:off x="2372088" y="32338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1" name="Google Shape;571;g9f5344dd6c_2_0"/>
          <p:cNvSpPr txBox="1"/>
          <p:nvPr/>
        </p:nvSpPr>
        <p:spPr>
          <a:xfrm>
            <a:off x="2115800" y="304138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g9f5344dd6c_2_0"/>
          <p:cNvSpPr txBox="1"/>
          <p:nvPr/>
        </p:nvSpPr>
        <p:spPr>
          <a:xfrm>
            <a:off x="928275" y="2689963"/>
            <a:ext cx="4056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9f5344dd6c_2_0"/>
          <p:cNvSpPr/>
          <p:nvPr/>
        </p:nvSpPr>
        <p:spPr>
          <a:xfrm rot="5400000">
            <a:off x="1258500" y="407763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9f5344dd6c_2_0"/>
          <p:cNvSpPr txBox="1"/>
          <p:nvPr/>
        </p:nvSpPr>
        <p:spPr>
          <a:xfrm>
            <a:off x="1612913" y="422793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9f5344dd6c_2_0"/>
          <p:cNvSpPr txBox="1"/>
          <p:nvPr/>
        </p:nvSpPr>
        <p:spPr>
          <a:xfrm>
            <a:off x="1423475" y="4018963"/>
            <a:ext cx="4743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6" name="Google Shape;576;g9f5344dd6c_2_0"/>
          <p:cNvCxnSpPr/>
          <p:nvPr/>
        </p:nvCxnSpPr>
        <p:spPr>
          <a:xfrm rot="10800000">
            <a:off x="1269163" y="42201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g9f5344dd6c_2_0"/>
          <p:cNvCxnSpPr/>
          <p:nvPr/>
        </p:nvCxnSpPr>
        <p:spPr>
          <a:xfrm rot="10800000">
            <a:off x="1269163" y="4463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g9f5344dd6c_2_0"/>
          <p:cNvCxnSpPr/>
          <p:nvPr/>
        </p:nvCxnSpPr>
        <p:spPr>
          <a:xfrm rot="10800000">
            <a:off x="1269163" y="47060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9" name="Google Shape;579;g9f5344dd6c_2_0"/>
          <p:cNvSpPr/>
          <p:nvPr/>
        </p:nvSpPr>
        <p:spPr>
          <a:xfrm rot="5400000">
            <a:off x="3846263" y="215258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9f5344dd6c_2_0"/>
          <p:cNvSpPr txBox="1"/>
          <p:nvPr/>
        </p:nvSpPr>
        <p:spPr>
          <a:xfrm>
            <a:off x="4200675" y="230288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9f5344dd6c_2_0"/>
          <p:cNvSpPr txBox="1"/>
          <p:nvPr/>
        </p:nvSpPr>
        <p:spPr>
          <a:xfrm>
            <a:off x="4011238" y="2093913"/>
            <a:ext cx="5286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2" name="Google Shape;582;g9f5344dd6c_2_0"/>
          <p:cNvCxnSpPr/>
          <p:nvPr/>
        </p:nvCxnSpPr>
        <p:spPr>
          <a:xfrm rot="10800000">
            <a:off x="3856925" y="2295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g9f5344dd6c_2_0"/>
          <p:cNvCxnSpPr/>
          <p:nvPr/>
        </p:nvCxnSpPr>
        <p:spPr>
          <a:xfrm rot="10800000">
            <a:off x="3856925" y="25380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g9f5344dd6c_2_0"/>
          <p:cNvCxnSpPr/>
          <p:nvPr/>
        </p:nvCxnSpPr>
        <p:spPr>
          <a:xfrm rot="10800000">
            <a:off x="3856925" y="27810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5" name="Google Shape;585;g9f5344dd6c_2_0"/>
          <p:cNvCxnSpPr/>
          <p:nvPr/>
        </p:nvCxnSpPr>
        <p:spPr>
          <a:xfrm rot="10800000">
            <a:off x="3856925" y="30239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g9f5344dd6c_2_0"/>
          <p:cNvSpPr txBox="1"/>
          <p:nvPr/>
        </p:nvSpPr>
        <p:spPr>
          <a:xfrm rot="-782417">
            <a:off x="4171172" y="2791894"/>
            <a:ext cx="761847" cy="3267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7" name="Google Shape;587;g9f5344dd6c_2_0"/>
          <p:cNvCxnSpPr/>
          <p:nvPr/>
        </p:nvCxnSpPr>
        <p:spPr>
          <a:xfrm>
            <a:off x="4418513" y="3162175"/>
            <a:ext cx="2100" cy="2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8" name="Google Shape;588;g9f5344dd6c_2_0"/>
          <p:cNvCxnSpPr/>
          <p:nvPr/>
        </p:nvCxnSpPr>
        <p:spPr>
          <a:xfrm>
            <a:off x="4711413" y="3085550"/>
            <a:ext cx="4200" cy="43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9" name="Google Shape;589;g9f5344dd6c_2_0"/>
          <p:cNvCxnSpPr/>
          <p:nvPr/>
        </p:nvCxnSpPr>
        <p:spPr>
          <a:xfrm>
            <a:off x="4959850" y="263783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0" name="Google Shape;590;g9f5344dd6c_2_0"/>
          <p:cNvSpPr txBox="1"/>
          <p:nvPr/>
        </p:nvSpPr>
        <p:spPr>
          <a:xfrm>
            <a:off x="4703563" y="244533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1" name="Google Shape;591;g9f5344dd6c_2_0"/>
          <p:cNvCxnSpPr/>
          <p:nvPr/>
        </p:nvCxnSpPr>
        <p:spPr>
          <a:xfrm rot="10800000">
            <a:off x="1269163" y="49490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2" name="Google Shape;592;g9f5344dd6c_2_0"/>
          <p:cNvSpPr txBox="1"/>
          <p:nvPr/>
        </p:nvSpPr>
        <p:spPr>
          <a:xfrm rot="-782417">
            <a:off x="1583409" y="4716945"/>
            <a:ext cx="761847" cy="3267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3" name="Google Shape;593;g9f5344dd6c_2_0"/>
          <p:cNvCxnSpPr/>
          <p:nvPr/>
        </p:nvCxnSpPr>
        <p:spPr>
          <a:xfrm>
            <a:off x="1829063" y="5093963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4" name="Google Shape;594;g9f5344dd6c_2_0"/>
          <p:cNvCxnSpPr/>
          <p:nvPr/>
        </p:nvCxnSpPr>
        <p:spPr>
          <a:xfrm>
            <a:off x="2120063" y="5017213"/>
            <a:ext cx="81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5" name="Google Shape;595;g9f5344dd6c_2_0"/>
          <p:cNvCxnSpPr/>
          <p:nvPr/>
        </p:nvCxnSpPr>
        <p:spPr>
          <a:xfrm>
            <a:off x="2372088" y="45628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6" name="Google Shape;596;g9f5344dd6c_2_0"/>
          <p:cNvSpPr txBox="1"/>
          <p:nvPr/>
        </p:nvSpPr>
        <p:spPr>
          <a:xfrm>
            <a:off x="2115800" y="437038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9f5344dd6c_2_0"/>
          <p:cNvSpPr txBox="1"/>
          <p:nvPr/>
        </p:nvSpPr>
        <p:spPr>
          <a:xfrm>
            <a:off x="928275" y="4018963"/>
            <a:ext cx="4056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8" name="Google Shape;598;g9f5344dd6c_2_0"/>
          <p:cNvCxnSpPr/>
          <p:nvPr/>
        </p:nvCxnSpPr>
        <p:spPr>
          <a:xfrm flipH="1" rot="10800000">
            <a:off x="2626525" y="2791550"/>
            <a:ext cx="1261800" cy="44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9" name="Google Shape;599;g9f5344dd6c_2_0"/>
          <p:cNvCxnSpPr/>
          <p:nvPr/>
        </p:nvCxnSpPr>
        <p:spPr>
          <a:xfrm rot="-5400000">
            <a:off x="2491975" y="3178675"/>
            <a:ext cx="1516500" cy="1253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0" name="Google Shape;600;g9f5344dd6c_2_0"/>
          <p:cNvSpPr txBox="1"/>
          <p:nvPr/>
        </p:nvSpPr>
        <p:spPr>
          <a:xfrm>
            <a:off x="1671300" y="5263550"/>
            <a:ext cx="738600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    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g9f5344dd6c_2_0"/>
          <p:cNvSpPr/>
          <p:nvPr/>
        </p:nvSpPr>
        <p:spPr>
          <a:xfrm rot="5400000">
            <a:off x="1258000" y="12073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g9f5344dd6c_2_0"/>
          <p:cNvSpPr txBox="1"/>
          <p:nvPr/>
        </p:nvSpPr>
        <p:spPr>
          <a:xfrm>
            <a:off x="1612413" y="27103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g9f5344dd6c_2_0"/>
          <p:cNvSpPr txBox="1"/>
          <p:nvPr/>
        </p:nvSpPr>
        <p:spPr>
          <a:xfrm>
            <a:off x="1422975" y="62063"/>
            <a:ext cx="5166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4" name="Google Shape;604;g9f5344dd6c_2_0"/>
          <p:cNvCxnSpPr/>
          <p:nvPr/>
        </p:nvCxnSpPr>
        <p:spPr>
          <a:xfrm rot="10800000">
            <a:off x="1268663" y="1870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5" name="Google Shape;605;g9f5344dd6c_2_0"/>
          <p:cNvCxnSpPr/>
          <p:nvPr/>
        </p:nvCxnSpPr>
        <p:spPr>
          <a:xfrm rot="10800000">
            <a:off x="1268663" y="4300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6" name="Google Shape;606;g9f5344dd6c_2_0"/>
          <p:cNvCxnSpPr/>
          <p:nvPr/>
        </p:nvCxnSpPr>
        <p:spPr>
          <a:xfrm rot="10800000">
            <a:off x="1268663" y="7491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g9f5344dd6c_2_0"/>
          <p:cNvCxnSpPr/>
          <p:nvPr/>
        </p:nvCxnSpPr>
        <p:spPr>
          <a:xfrm rot="10800000">
            <a:off x="1268663" y="992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8" name="Google Shape;608;g9f5344dd6c_2_0"/>
          <p:cNvSpPr txBox="1"/>
          <p:nvPr/>
        </p:nvSpPr>
        <p:spPr>
          <a:xfrm rot="-782417">
            <a:off x="1582909" y="760045"/>
            <a:ext cx="761847" cy="3267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9" name="Google Shape;609;g9f5344dd6c_2_0"/>
          <p:cNvCxnSpPr/>
          <p:nvPr/>
        </p:nvCxnSpPr>
        <p:spPr>
          <a:xfrm>
            <a:off x="1830250" y="1130325"/>
            <a:ext cx="2100" cy="2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g9f5344dd6c_2_0"/>
          <p:cNvCxnSpPr/>
          <p:nvPr/>
        </p:nvCxnSpPr>
        <p:spPr>
          <a:xfrm>
            <a:off x="2123150" y="1053700"/>
            <a:ext cx="4200" cy="43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g9f5344dd6c_2_0"/>
          <p:cNvCxnSpPr/>
          <p:nvPr/>
        </p:nvCxnSpPr>
        <p:spPr>
          <a:xfrm>
            <a:off x="2371588" y="5297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2" name="Google Shape;612;g9f5344dd6c_2_0"/>
          <p:cNvSpPr txBox="1"/>
          <p:nvPr/>
        </p:nvSpPr>
        <p:spPr>
          <a:xfrm>
            <a:off x="2115300" y="33728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9f5344dd6c_2_0"/>
          <p:cNvSpPr txBox="1"/>
          <p:nvPr/>
        </p:nvSpPr>
        <p:spPr>
          <a:xfrm>
            <a:off x="927775" y="62063"/>
            <a:ext cx="4056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g9f5344dd6c_2_0"/>
          <p:cNvSpPr/>
          <p:nvPr/>
        </p:nvSpPr>
        <p:spPr>
          <a:xfrm rot="5400000">
            <a:off x="1258000" y="144973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g9f5344dd6c_2_0"/>
          <p:cNvSpPr txBox="1"/>
          <p:nvPr/>
        </p:nvSpPr>
        <p:spPr>
          <a:xfrm>
            <a:off x="1612413" y="160003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g9f5344dd6c_2_0"/>
          <p:cNvSpPr txBox="1"/>
          <p:nvPr/>
        </p:nvSpPr>
        <p:spPr>
          <a:xfrm>
            <a:off x="1422974" y="1391063"/>
            <a:ext cx="4842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7" name="Google Shape;617;g9f5344dd6c_2_0"/>
          <p:cNvCxnSpPr/>
          <p:nvPr/>
        </p:nvCxnSpPr>
        <p:spPr>
          <a:xfrm rot="10800000">
            <a:off x="1268663" y="15922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8" name="Google Shape;618;g9f5344dd6c_2_0"/>
          <p:cNvCxnSpPr/>
          <p:nvPr/>
        </p:nvCxnSpPr>
        <p:spPr>
          <a:xfrm rot="10800000">
            <a:off x="1268663" y="18352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9" name="Google Shape;619;g9f5344dd6c_2_0"/>
          <p:cNvCxnSpPr/>
          <p:nvPr/>
        </p:nvCxnSpPr>
        <p:spPr>
          <a:xfrm rot="10800000">
            <a:off x="1268663" y="20781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0" name="Google Shape;620;g9f5344dd6c_2_0"/>
          <p:cNvCxnSpPr/>
          <p:nvPr/>
        </p:nvCxnSpPr>
        <p:spPr>
          <a:xfrm rot="10800000">
            <a:off x="1268663" y="2321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1" name="Google Shape;621;g9f5344dd6c_2_0"/>
          <p:cNvSpPr txBox="1"/>
          <p:nvPr/>
        </p:nvSpPr>
        <p:spPr>
          <a:xfrm rot="-782417">
            <a:off x="1582909" y="2089044"/>
            <a:ext cx="761847" cy="32674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2" name="Google Shape;622;g9f5344dd6c_2_0"/>
          <p:cNvCxnSpPr/>
          <p:nvPr/>
        </p:nvCxnSpPr>
        <p:spPr>
          <a:xfrm>
            <a:off x="1828563" y="2466063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g9f5344dd6c_2_0"/>
          <p:cNvCxnSpPr/>
          <p:nvPr/>
        </p:nvCxnSpPr>
        <p:spPr>
          <a:xfrm>
            <a:off x="2119563" y="2389313"/>
            <a:ext cx="81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g9f5344dd6c_2_0"/>
          <p:cNvCxnSpPr/>
          <p:nvPr/>
        </p:nvCxnSpPr>
        <p:spPr>
          <a:xfrm>
            <a:off x="2371588" y="19349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5" name="Google Shape;625;g9f5344dd6c_2_0"/>
          <p:cNvSpPr txBox="1"/>
          <p:nvPr/>
        </p:nvSpPr>
        <p:spPr>
          <a:xfrm>
            <a:off x="2115300" y="174248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g9f5344dd6c_2_0"/>
          <p:cNvSpPr txBox="1"/>
          <p:nvPr/>
        </p:nvSpPr>
        <p:spPr>
          <a:xfrm>
            <a:off x="927775" y="1391063"/>
            <a:ext cx="4056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7" name="Google Shape;627;g9f5344dd6c_2_0"/>
          <p:cNvCxnSpPr/>
          <p:nvPr/>
        </p:nvCxnSpPr>
        <p:spPr>
          <a:xfrm flipH="1" rot="-5400000">
            <a:off x="2354375" y="780125"/>
            <a:ext cx="1766400" cy="1257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g9f5344dd6c_2_0"/>
          <p:cNvCxnSpPr/>
          <p:nvPr/>
        </p:nvCxnSpPr>
        <p:spPr>
          <a:xfrm>
            <a:off x="2622875" y="1935875"/>
            <a:ext cx="1330500" cy="600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9" name="Google Shape;629;g9f5344dd6c_2_0"/>
          <p:cNvSpPr txBox="1"/>
          <p:nvPr/>
        </p:nvSpPr>
        <p:spPr>
          <a:xfrm>
            <a:off x="4275563" y="3432834"/>
            <a:ext cx="738600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z    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0" name="Google Shape;630;g9f5344dd6c_2_0"/>
          <p:cNvGraphicFramePr/>
          <p:nvPr/>
        </p:nvGraphicFramePr>
        <p:xfrm>
          <a:off x="5135863" y="6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z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x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t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y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f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7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/>
              <a:t>Exercițiul 9 - Multiplexarea intrărilor</a:t>
            </a:r>
            <a:endParaRPr b="1"/>
          </a:p>
        </p:txBody>
      </p:sp>
      <p:sp>
        <p:nvSpPr>
          <p:cNvPr id="636" name="Google Shape;636;p12"/>
          <p:cNvSpPr txBox="1"/>
          <p:nvPr>
            <p:ph idx="1" type="body"/>
          </p:nvPr>
        </p:nvSpPr>
        <p:spPr>
          <a:xfrm>
            <a:off x="311700" y="1152475"/>
            <a:ext cx="3132000" cy="12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/>
              <a:t>Minimizați funcția dată folosind un MUX 8:1 cu variabilele de selecție </a:t>
            </a:r>
            <a:r>
              <a:rPr b="1" lang="en-GB"/>
              <a:t>y, z, t</a:t>
            </a:r>
            <a:r>
              <a:rPr lang="en-GB"/>
              <a:t>:</a:t>
            </a:r>
            <a:endParaRPr/>
          </a:p>
        </p:txBody>
      </p:sp>
      <p:graphicFrame>
        <p:nvGraphicFramePr>
          <p:cNvPr id="637" name="Google Shape;637;p12"/>
          <p:cNvGraphicFramePr/>
          <p:nvPr/>
        </p:nvGraphicFramePr>
        <p:xfrm>
          <a:off x="67800" y="2931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483050"/>
                <a:gridCol w="442175"/>
                <a:gridCol w="410825"/>
                <a:gridCol w="410825"/>
                <a:gridCol w="414575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     xy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zt</a:t>
                      </a:r>
                      <a:endParaRPr sz="14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cxnSp>
        <p:nvCxnSpPr>
          <p:cNvPr id="638" name="Google Shape;638;p12"/>
          <p:cNvCxnSpPr/>
          <p:nvPr/>
        </p:nvCxnSpPr>
        <p:spPr>
          <a:xfrm>
            <a:off x="76075" y="2927788"/>
            <a:ext cx="463800" cy="42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639" name="Google Shape;639;p12"/>
          <p:cNvGraphicFramePr/>
          <p:nvPr/>
        </p:nvGraphicFramePr>
        <p:xfrm>
          <a:off x="7171800" y="4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x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y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z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t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f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0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0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1" lang="en-GB" sz="800" u="none" cap="none" strike="noStrike"/>
                        <a:t>1</a:t>
                      </a:r>
                      <a:endParaRPr b="1"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1" lang="en-GB" sz="800" u="none" cap="none" strike="noStrike"/>
                        <a:t>1</a:t>
                      </a:r>
                      <a:endParaRPr b="1"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0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1" lang="en-GB" sz="800" u="none" cap="none" strike="noStrike"/>
                        <a:t>0</a:t>
                      </a:r>
                      <a:endParaRPr b="1"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0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0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7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1" lang="en-GB" sz="800" u="none" cap="none" strike="noStrike"/>
                        <a:t>1</a:t>
                      </a:r>
                      <a:endParaRPr b="1"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pSp>
        <p:nvGrpSpPr>
          <p:cNvPr id="640" name="Google Shape;640;p12"/>
          <p:cNvGrpSpPr/>
          <p:nvPr/>
        </p:nvGrpSpPr>
        <p:grpSpPr>
          <a:xfrm>
            <a:off x="4122025" y="1171838"/>
            <a:ext cx="2537788" cy="2406325"/>
            <a:chOff x="4122025" y="1171838"/>
            <a:chExt cx="2537788" cy="2406325"/>
          </a:xfrm>
        </p:grpSpPr>
        <p:sp>
          <p:nvSpPr>
            <p:cNvPr id="641" name="Google Shape;641;p12"/>
            <p:cNvSpPr/>
            <p:nvPr/>
          </p:nvSpPr>
          <p:spPr>
            <a:xfrm rot="5400000">
              <a:off x="4674863" y="1698188"/>
              <a:ext cx="2257200" cy="1204500"/>
            </a:xfrm>
            <a:prstGeom prst="trapezoid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2"/>
            <p:cNvSpPr txBox="1"/>
            <p:nvPr/>
          </p:nvSpPr>
          <p:spPr>
            <a:xfrm>
              <a:off x="5456463" y="1965488"/>
              <a:ext cx="588600" cy="6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MUX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8:1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2"/>
            <p:cNvSpPr txBox="1"/>
            <p:nvPr/>
          </p:nvSpPr>
          <p:spPr>
            <a:xfrm>
              <a:off x="5222988" y="1256263"/>
              <a:ext cx="521718" cy="21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194000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000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001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4" name="Google Shape;644;p12"/>
            <p:cNvCxnSpPr/>
            <p:nvPr/>
          </p:nvCxnSpPr>
          <p:spPr>
            <a:xfrm rot="10800000">
              <a:off x="5068688" y="1457488"/>
              <a:ext cx="135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5" name="Google Shape;645;p12"/>
            <p:cNvCxnSpPr/>
            <p:nvPr/>
          </p:nvCxnSpPr>
          <p:spPr>
            <a:xfrm rot="10800000">
              <a:off x="5068688" y="1700438"/>
              <a:ext cx="135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6" name="Google Shape;646;p12"/>
            <p:cNvCxnSpPr/>
            <p:nvPr/>
          </p:nvCxnSpPr>
          <p:spPr>
            <a:xfrm rot="10800000">
              <a:off x="5068688" y="1943388"/>
              <a:ext cx="135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7" name="Google Shape;647;p12"/>
            <p:cNvCxnSpPr/>
            <p:nvPr/>
          </p:nvCxnSpPr>
          <p:spPr>
            <a:xfrm rot="10800000">
              <a:off x="5068688" y="2186338"/>
              <a:ext cx="135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8" name="Google Shape;648;p12"/>
            <p:cNvCxnSpPr/>
            <p:nvPr/>
          </p:nvCxnSpPr>
          <p:spPr>
            <a:xfrm rot="10800000">
              <a:off x="5068688" y="2443738"/>
              <a:ext cx="135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9" name="Google Shape;649;p12"/>
            <p:cNvCxnSpPr/>
            <p:nvPr/>
          </p:nvCxnSpPr>
          <p:spPr>
            <a:xfrm rot="10800000">
              <a:off x="5068688" y="2697329"/>
              <a:ext cx="135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0" name="Google Shape;650;p12"/>
            <p:cNvCxnSpPr/>
            <p:nvPr/>
          </p:nvCxnSpPr>
          <p:spPr>
            <a:xfrm rot="10800000">
              <a:off x="5068688" y="2950921"/>
              <a:ext cx="135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1" name="Google Shape;651;p12"/>
            <p:cNvCxnSpPr/>
            <p:nvPr/>
          </p:nvCxnSpPr>
          <p:spPr>
            <a:xfrm rot="10800000">
              <a:off x="5068688" y="3204513"/>
              <a:ext cx="135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52" name="Google Shape;652;p12"/>
            <p:cNvSpPr txBox="1"/>
            <p:nvPr/>
          </p:nvSpPr>
          <p:spPr>
            <a:xfrm rot="-781861">
              <a:off x="5428379" y="2923386"/>
              <a:ext cx="1061742" cy="3266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S2  S1  S0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3" name="Google Shape;653;p12"/>
            <p:cNvCxnSpPr/>
            <p:nvPr/>
          </p:nvCxnSpPr>
          <p:spPr>
            <a:xfrm>
              <a:off x="5654638" y="3319213"/>
              <a:ext cx="4800" cy="25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4" name="Google Shape;654;p12"/>
            <p:cNvCxnSpPr/>
            <p:nvPr/>
          </p:nvCxnSpPr>
          <p:spPr>
            <a:xfrm>
              <a:off x="5945638" y="3242463"/>
              <a:ext cx="8100" cy="33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5" name="Google Shape;655;p12"/>
            <p:cNvCxnSpPr/>
            <p:nvPr/>
          </p:nvCxnSpPr>
          <p:spPr>
            <a:xfrm>
              <a:off x="6274988" y="3162538"/>
              <a:ext cx="3900" cy="4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6" name="Google Shape;656;p12"/>
            <p:cNvCxnSpPr>
              <a:stCxn id="641" idx="0"/>
            </p:cNvCxnSpPr>
            <p:nvPr/>
          </p:nvCxnSpPr>
          <p:spPr>
            <a:xfrm>
              <a:off x="6405713" y="2300438"/>
              <a:ext cx="254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57" name="Google Shape;657;p12"/>
            <p:cNvSpPr txBox="1"/>
            <p:nvPr/>
          </p:nvSpPr>
          <p:spPr>
            <a:xfrm>
              <a:off x="6145363" y="2099138"/>
              <a:ext cx="217500" cy="2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2"/>
            <p:cNvSpPr txBox="1"/>
            <p:nvPr/>
          </p:nvSpPr>
          <p:spPr>
            <a:xfrm>
              <a:off x="4122025" y="1245800"/>
              <a:ext cx="1024200" cy="2109300"/>
            </a:xfrm>
            <a:prstGeom prst="rect">
              <a:avLst/>
            </a:prstGeom>
            <a:noFill/>
            <a:ln cap="flat" cmpd="sng" w="9525">
              <a:solidFill>
                <a:srgbClr val="B7B7B7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91425" lIns="0" spcFirstLastPara="1" rIns="194000" wrap="square" tIns="91425">
              <a:noAutofit/>
            </a:bodyPr>
            <a:lstStyle/>
            <a:p>
              <a:pPr indent="0" lvl="0" marL="0" marR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>
                  <a:solidFill>
                    <a:schemeClr val="dk1"/>
                  </a:solidFill>
                </a:rPr>
                <a:t>X!</a:t>
              </a:r>
              <a:endParaRPr>
                <a:solidFill>
                  <a:schemeClr val="dk1"/>
                </a:solidFill>
              </a:endParaRPr>
            </a:p>
            <a:p>
              <a:pPr indent="0" lvl="0" marL="0" marR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>
                  <a:solidFill>
                    <a:schemeClr val="dk1"/>
                  </a:solidFill>
                </a:rPr>
                <a:t>0</a:t>
              </a:r>
              <a:endParaRPr>
                <a:solidFill>
                  <a:schemeClr val="dk1"/>
                </a:solidFill>
              </a:endParaRPr>
            </a:p>
            <a:p>
              <a:pPr indent="0" lvl="0" marL="0" marR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>
                  <a:solidFill>
                    <a:schemeClr val="dk1"/>
                  </a:solidFill>
                </a:rPr>
                <a:t>0</a:t>
              </a:r>
              <a:endParaRPr>
                <a:solidFill>
                  <a:schemeClr val="dk1"/>
                </a:solidFill>
              </a:endParaRPr>
            </a:p>
            <a:p>
              <a:pPr indent="0" lvl="0" marL="0" marR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>
                  <a:solidFill>
                    <a:schemeClr val="dk1"/>
                  </a:solidFill>
                </a:rPr>
                <a:t>1</a:t>
              </a:r>
              <a:endParaRPr>
                <a:solidFill>
                  <a:schemeClr val="dk1"/>
                </a:solidFill>
              </a:endParaRPr>
            </a:p>
            <a:p>
              <a:pPr indent="0" lvl="0" marL="0" marR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>
                  <a:solidFill>
                    <a:schemeClr val="dk1"/>
                  </a:solidFill>
                </a:rPr>
                <a:t>1</a:t>
              </a:r>
              <a:endParaRPr>
                <a:solidFill>
                  <a:schemeClr val="dk1"/>
                </a:solidFill>
              </a:endParaRPr>
            </a:p>
            <a:p>
              <a:pPr indent="0" lvl="0" marL="0" marR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>
                  <a:solidFill>
                    <a:schemeClr val="dk1"/>
                  </a:solidFill>
                </a:rPr>
                <a:t>1</a:t>
              </a:r>
              <a:endParaRPr>
                <a:solidFill>
                  <a:schemeClr val="dk1"/>
                </a:solidFill>
              </a:endParaRPr>
            </a:p>
            <a:p>
              <a:pPr indent="0" lvl="0" marL="0" marR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>
                  <a:solidFill>
                    <a:schemeClr val="dk1"/>
                  </a:solidFill>
                </a:rPr>
                <a:t>1</a:t>
              </a:r>
              <a:endParaRPr>
                <a:solidFill>
                  <a:schemeClr val="dk1"/>
                </a:solidFill>
              </a:endParaRPr>
            </a:p>
            <a:p>
              <a:pPr indent="0" lvl="0" marL="0" marR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GB">
                  <a:solidFill>
                    <a:schemeClr val="dk1"/>
                  </a:solidFill>
                </a:rPr>
                <a:t>x</a:t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659" name="Google Shape;659;p12"/>
          <p:cNvSpPr txBox="1"/>
          <p:nvPr/>
        </p:nvSpPr>
        <p:spPr>
          <a:xfrm>
            <a:off x="5483875" y="3578050"/>
            <a:ext cx="1024200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y    z    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2"/>
          <p:cNvSpPr/>
          <p:nvPr/>
        </p:nvSpPr>
        <p:spPr>
          <a:xfrm>
            <a:off x="2761688" y="3172213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2"/>
          <p:cNvSpPr/>
          <p:nvPr/>
        </p:nvSpPr>
        <p:spPr>
          <a:xfrm>
            <a:off x="2914088" y="3324613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2"/>
          <p:cNvSpPr/>
          <p:nvPr/>
        </p:nvSpPr>
        <p:spPr>
          <a:xfrm>
            <a:off x="3066488" y="3477013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2"/>
          <p:cNvSpPr/>
          <p:nvPr/>
        </p:nvSpPr>
        <p:spPr>
          <a:xfrm>
            <a:off x="3218888" y="3629413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2"/>
          <p:cNvSpPr/>
          <p:nvPr/>
        </p:nvSpPr>
        <p:spPr>
          <a:xfrm>
            <a:off x="3371288" y="3781813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2"/>
          <p:cNvSpPr/>
          <p:nvPr/>
        </p:nvSpPr>
        <p:spPr>
          <a:xfrm>
            <a:off x="2761688" y="4696225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2"/>
          <p:cNvSpPr/>
          <p:nvPr/>
        </p:nvSpPr>
        <p:spPr>
          <a:xfrm>
            <a:off x="3926250" y="4391425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2"/>
          <p:cNvSpPr/>
          <p:nvPr/>
        </p:nvSpPr>
        <p:spPr>
          <a:xfrm>
            <a:off x="4078650" y="4543825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2"/>
          <p:cNvSpPr txBox="1"/>
          <p:nvPr/>
        </p:nvSpPr>
        <p:spPr>
          <a:xfrm>
            <a:off x="763000" y="5153425"/>
            <a:ext cx="7978800" cy="18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Cum indicăm zonele dedicate fiecărei intrări din MUX? Două variante: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Facem ca zonele să nu aibă margini interioare: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Selectează toate căsuțele din zonă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pe săgeata mică din dreapta sus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pe “Marginile interioare” (arată ca un ‘+’ încadrat într-un pătrat punctat)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Alege “Border color” transparent din meniul de sus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Facem ca zonele să aibă marginile exterioare colorate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Selectează toate căsuțele din zonă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pe săgeata mică din dreapta sus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pe “Marginile exterioare” (arată ca un pătrat cu un `+` punctat în centru)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Alege “Border color” roșu sau altă culoare vibrantă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2"/>
          <p:cNvSpPr/>
          <p:nvPr/>
        </p:nvSpPr>
        <p:spPr>
          <a:xfrm>
            <a:off x="632900" y="3357800"/>
            <a:ext cx="360000" cy="400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2"/>
          <p:cNvSpPr/>
          <p:nvPr/>
        </p:nvSpPr>
        <p:spPr>
          <a:xfrm rot="-5400000">
            <a:off x="3739100" y="1894725"/>
            <a:ext cx="723900" cy="400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2"/>
          <p:cNvSpPr/>
          <p:nvPr/>
        </p:nvSpPr>
        <p:spPr>
          <a:xfrm>
            <a:off x="3828488" y="4239013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2"/>
          <p:cNvSpPr/>
          <p:nvPr/>
        </p:nvSpPr>
        <p:spPr>
          <a:xfrm>
            <a:off x="1849700" y="3324625"/>
            <a:ext cx="360000" cy="400500"/>
          </a:xfrm>
          <a:prstGeom prst="round2Same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2"/>
          <p:cNvSpPr txBox="1"/>
          <p:nvPr/>
        </p:nvSpPr>
        <p:spPr>
          <a:xfrm>
            <a:off x="2286000" y="2419191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32"/>
          <p:cNvSpPr txBox="1"/>
          <p:nvPr/>
        </p:nvSpPr>
        <p:spPr>
          <a:xfrm>
            <a:off x="2286000" y="2419191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79" name="Google Shape;679;p32"/>
          <p:cNvGraphicFramePr/>
          <p:nvPr/>
        </p:nvGraphicFramePr>
        <p:xfrm>
          <a:off x="4123485" y="3134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{EBC59BA7-1B1F-48BF-ACA1-400B6FD23CA6}</a:tableStyleId>
              </a:tblPr>
              <a:tblGrid>
                <a:gridCol w="289550"/>
                <a:gridCol w="350525"/>
                <a:gridCol w="327650"/>
              </a:tblGrid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 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0" name="Google Shape;680;p32"/>
          <p:cNvGraphicFramePr/>
          <p:nvPr/>
        </p:nvGraphicFramePr>
        <p:xfrm>
          <a:off x="2762605" y="29678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{EBC59BA7-1B1F-48BF-ACA1-400B6FD23CA6}</a:tableStyleId>
              </a:tblPr>
              <a:tblGrid>
                <a:gridCol w="289550"/>
                <a:gridCol w="350525"/>
                <a:gridCol w="327650"/>
              </a:tblGrid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 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1" name="Google Shape;681;p32"/>
          <p:cNvGraphicFramePr/>
          <p:nvPr/>
        </p:nvGraphicFramePr>
        <p:xfrm>
          <a:off x="5553386" y="17633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{EBC59BA7-1B1F-48BF-ACA1-400B6FD23CA6}</a:tableStyleId>
              </a:tblPr>
              <a:tblGrid>
                <a:gridCol w="289550"/>
                <a:gridCol w="350525"/>
                <a:gridCol w="327650"/>
              </a:tblGrid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 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2" name="Google Shape;682;p32"/>
          <p:cNvGraphicFramePr/>
          <p:nvPr/>
        </p:nvGraphicFramePr>
        <p:xfrm>
          <a:off x="4101467" y="16753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{EBC59BA7-1B1F-48BF-ACA1-400B6FD23CA6}</a:tableStyleId>
              </a:tblPr>
              <a:tblGrid>
                <a:gridCol w="289550"/>
                <a:gridCol w="350525"/>
                <a:gridCol w="327650"/>
              </a:tblGrid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 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3" name="Google Shape;683;p32"/>
          <p:cNvGraphicFramePr/>
          <p:nvPr/>
        </p:nvGraphicFramePr>
        <p:xfrm>
          <a:off x="2762605" y="16811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{EBC59BA7-1B1F-48BF-ACA1-400B6FD23CA6}</a:tableStyleId>
              </a:tblPr>
              <a:tblGrid>
                <a:gridCol w="289550"/>
                <a:gridCol w="350525"/>
                <a:gridCol w="327650"/>
              </a:tblGrid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 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4" name="Google Shape;684;p32"/>
          <p:cNvGraphicFramePr/>
          <p:nvPr/>
        </p:nvGraphicFramePr>
        <p:xfrm>
          <a:off x="5484365" y="2788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{EBC59BA7-1B1F-48BF-ACA1-400B6FD23CA6}</a:tableStyleId>
              </a:tblPr>
              <a:tblGrid>
                <a:gridCol w="289550"/>
                <a:gridCol w="350525"/>
                <a:gridCol w="327650"/>
              </a:tblGrid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 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5" name="Google Shape;685;p32"/>
          <p:cNvGraphicFramePr/>
          <p:nvPr/>
        </p:nvGraphicFramePr>
        <p:xfrm>
          <a:off x="4123485" y="2788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{EBC59BA7-1B1F-48BF-ACA1-400B6FD23CA6}</a:tableStyleId>
              </a:tblPr>
              <a:tblGrid>
                <a:gridCol w="289550"/>
                <a:gridCol w="350525"/>
                <a:gridCol w="327650"/>
              </a:tblGrid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 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6" name="Google Shape;686;p32"/>
          <p:cNvGraphicFramePr/>
          <p:nvPr/>
        </p:nvGraphicFramePr>
        <p:xfrm>
          <a:off x="2762605" y="2705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{EBC59BA7-1B1F-48BF-ACA1-400B6FD23CA6}</a:tableStyleId>
              </a:tblPr>
              <a:tblGrid>
                <a:gridCol w="289550"/>
                <a:gridCol w="350525"/>
                <a:gridCol w="327650"/>
              </a:tblGrid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 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GB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76200" marB="76200" marR="9145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7" name="Google Shape;687;p32"/>
          <p:cNvGraphicFramePr/>
          <p:nvPr/>
        </p:nvGraphicFramePr>
        <p:xfrm>
          <a:off x="116375" y="27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483050"/>
                <a:gridCol w="442175"/>
                <a:gridCol w="410825"/>
                <a:gridCol w="410825"/>
                <a:gridCol w="414575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     xy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zt</a:t>
                      </a:r>
                      <a:endParaRPr sz="14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cxnSp>
        <p:nvCxnSpPr>
          <p:cNvPr id="688" name="Google Shape;688;p32"/>
          <p:cNvCxnSpPr/>
          <p:nvPr/>
        </p:nvCxnSpPr>
        <p:spPr>
          <a:xfrm>
            <a:off x="124650" y="270488"/>
            <a:ext cx="463800" cy="42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/>
              <a:t>Exercițiul 10 - Multiplexarea intrărilor</a:t>
            </a:r>
            <a:endParaRPr b="1"/>
          </a:p>
        </p:txBody>
      </p:sp>
      <p:sp>
        <p:nvSpPr>
          <p:cNvPr id="694" name="Google Shape;694;p13"/>
          <p:cNvSpPr txBox="1"/>
          <p:nvPr>
            <p:ph idx="1" type="body"/>
          </p:nvPr>
        </p:nvSpPr>
        <p:spPr>
          <a:xfrm>
            <a:off x="311700" y="1152475"/>
            <a:ext cx="2862300" cy="11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/>
              <a:t>Minimizați funcția dată folosind un MUX 4:1 cu variabilele de selecție </a:t>
            </a:r>
            <a:r>
              <a:rPr b="1" lang="en-GB"/>
              <a:t>y, t</a:t>
            </a:r>
            <a:r>
              <a:rPr lang="en-GB"/>
              <a:t>:</a:t>
            </a:r>
            <a:endParaRPr/>
          </a:p>
        </p:txBody>
      </p:sp>
      <p:graphicFrame>
        <p:nvGraphicFramePr>
          <p:cNvPr id="695" name="Google Shape;695;p13"/>
          <p:cNvGraphicFramePr/>
          <p:nvPr/>
        </p:nvGraphicFramePr>
        <p:xfrm>
          <a:off x="67800" y="2931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483050"/>
                <a:gridCol w="442175"/>
                <a:gridCol w="410825"/>
                <a:gridCol w="410825"/>
                <a:gridCol w="414575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     xy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zt</a:t>
                      </a:r>
                      <a:endParaRPr sz="14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A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A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B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cxnSp>
        <p:nvCxnSpPr>
          <p:cNvPr id="696" name="Google Shape;696;p13"/>
          <p:cNvCxnSpPr/>
          <p:nvPr/>
        </p:nvCxnSpPr>
        <p:spPr>
          <a:xfrm>
            <a:off x="76075" y="2927788"/>
            <a:ext cx="463800" cy="42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697" name="Google Shape;697;p13"/>
          <p:cNvGraphicFramePr/>
          <p:nvPr/>
        </p:nvGraphicFramePr>
        <p:xfrm>
          <a:off x="7171800" y="4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x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y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z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t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f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*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A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*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A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7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B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698" name="Google Shape;698;p13"/>
          <p:cNvSpPr/>
          <p:nvPr/>
        </p:nvSpPr>
        <p:spPr>
          <a:xfrm>
            <a:off x="2726263" y="2998588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3"/>
          <p:cNvSpPr/>
          <p:nvPr/>
        </p:nvSpPr>
        <p:spPr>
          <a:xfrm>
            <a:off x="2761688" y="3172213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3"/>
          <p:cNvSpPr/>
          <p:nvPr/>
        </p:nvSpPr>
        <p:spPr>
          <a:xfrm>
            <a:off x="2914088" y="3324613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13"/>
          <p:cNvSpPr/>
          <p:nvPr/>
        </p:nvSpPr>
        <p:spPr>
          <a:xfrm>
            <a:off x="3066488" y="3477013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3"/>
          <p:cNvSpPr/>
          <p:nvPr/>
        </p:nvSpPr>
        <p:spPr>
          <a:xfrm>
            <a:off x="1056775" y="3853208"/>
            <a:ext cx="688500" cy="669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3"/>
          <p:cNvSpPr/>
          <p:nvPr/>
        </p:nvSpPr>
        <p:spPr>
          <a:xfrm>
            <a:off x="993025" y="3357013"/>
            <a:ext cx="816000" cy="335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3"/>
          <p:cNvSpPr/>
          <p:nvPr/>
        </p:nvSpPr>
        <p:spPr>
          <a:xfrm>
            <a:off x="1022114" y="4690750"/>
            <a:ext cx="785100" cy="335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3"/>
          <p:cNvSpPr txBox="1"/>
          <p:nvPr/>
        </p:nvSpPr>
        <p:spPr>
          <a:xfrm>
            <a:off x="763000" y="5153425"/>
            <a:ext cx="7978800" cy="18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Cum indicăm zonele dedicate fiecărei intrări din MUX? Două variante: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Facem ca zonele să nu aibă margini interioare: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Selectează toate căsuțele din zonă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pe săgeata mică din dreapta sus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pe “Marginile interioare” (arată ca un ‘+’ încadrat într-un pătrat punctat)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Alege “Border color” transparent din meniul de sus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Facem ca zonele să aibă marginile exterioare colorate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Selectează toate căsuțele din zonă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pe săgeata mică din dreapta sus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pe “Marginile exterioare” (arată ca un pătrat cu un `+` punctat în centru)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Alege “Border color” roșu sau altă culoare vibrantă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3"/>
          <p:cNvSpPr/>
          <p:nvPr/>
        </p:nvSpPr>
        <p:spPr>
          <a:xfrm rot="5400000">
            <a:off x="5188550" y="1453988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13"/>
          <p:cNvSpPr txBox="1"/>
          <p:nvPr/>
        </p:nvSpPr>
        <p:spPr>
          <a:xfrm>
            <a:off x="5542963" y="160428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3"/>
          <p:cNvSpPr txBox="1"/>
          <p:nvPr/>
        </p:nvSpPr>
        <p:spPr>
          <a:xfrm>
            <a:off x="5353525" y="1395313"/>
            <a:ext cx="5805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9" name="Google Shape;709;p13"/>
          <p:cNvCxnSpPr/>
          <p:nvPr/>
        </p:nvCxnSpPr>
        <p:spPr>
          <a:xfrm rot="10800000">
            <a:off x="5199213" y="15965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0" name="Google Shape;710;p13"/>
          <p:cNvCxnSpPr/>
          <p:nvPr/>
        </p:nvCxnSpPr>
        <p:spPr>
          <a:xfrm rot="10800000">
            <a:off x="5199213" y="18394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1" name="Google Shape;711;p13"/>
          <p:cNvCxnSpPr/>
          <p:nvPr/>
        </p:nvCxnSpPr>
        <p:spPr>
          <a:xfrm rot="10800000">
            <a:off x="5199213" y="20824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2" name="Google Shape;712;p13"/>
          <p:cNvCxnSpPr/>
          <p:nvPr/>
        </p:nvCxnSpPr>
        <p:spPr>
          <a:xfrm rot="10800000">
            <a:off x="5199213" y="23253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3" name="Google Shape;713;p13"/>
          <p:cNvSpPr txBox="1"/>
          <p:nvPr/>
        </p:nvSpPr>
        <p:spPr>
          <a:xfrm rot="-782417">
            <a:off x="5513377" y="2093313"/>
            <a:ext cx="761847" cy="326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4" name="Google Shape;714;p13"/>
          <p:cNvCxnSpPr/>
          <p:nvPr/>
        </p:nvCxnSpPr>
        <p:spPr>
          <a:xfrm>
            <a:off x="5759113" y="2470313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5" name="Google Shape;715;p13"/>
          <p:cNvCxnSpPr/>
          <p:nvPr/>
        </p:nvCxnSpPr>
        <p:spPr>
          <a:xfrm>
            <a:off x="6050113" y="2393563"/>
            <a:ext cx="81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6" name="Google Shape;716;p13"/>
          <p:cNvCxnSpPr/>
          <p:nvPr/>
        </p:nvCxnSpPr>
        <p:spPr>
          <a:xfrm>
            <a:off x="6302138" y="193923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7" name="Google Shape;717;p13"/>
          <p:cNvSpPr txBox="1"/>
          <p:nvPr/>
        </p:nvSpPr>
        <p:spPr>
          <a:xfrm>
            <a:off x="6045850" y="174673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3"/>
          <p:cNvSpPr txBox="1"/>
          <p:nvPr/>
        </p:nvSpPr>
        <p:spPr>
          <a:xfrm>
            <a:off x="3912875" y="1387225"/>
            <a:ext cx="13941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</a:t>
            </a:r>
            <a:r>
              <a:rPr lang="en-GB">
                <a:solidFill>
                  <a:schemeClr val="dk1"/>
                </a:solidFill>
              </a:rPr>
              <a:t>A+ !x*!z+x*z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              z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Bz + z!x + x!z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9" name="Google Shape;719;p13"/>
          <p:cNvSpPr txBox="1"/>
          <p:nvPr/>
        </p:nvSpPr>
        <p:spPr>
          <a:xfrm>
            <a:off x="5587975" y="2721925"/>
            <a:ext cx="816000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y    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3"/>
          <p:cNvSpPr/>
          <p:nvPr/>
        </p:nvSpPr>
        <p:spPr>
          <a:xfrm>
            <a:off x="2914088" y="3324613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3"/>
          <p:cNvSpPr/>
          <p:nvPr/>
        </p:nvSpPr>
        <p:spPr>
          <a:xfrm>
            <a:off x="550843" y="3324625"/>
            <a:ext cx="4638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3"/>
          <p:cNvSpPr/>
          <p:nvPr/>
        </p:nvSpPr>
        <p:spPr>
          <a:xfrm>
            <a:off x="1732468" y="3399100"/>
            <a:ext cx="4638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3"/>
          <p:cNvSpPr/>
          <p:nvPr/>
        </p:nvSpPr>
        <p:spPr>
          <a:xfrm>
            <a:off x="550843" y="4615100"/>
            <a:ext cx="4638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3"/>
          <p:cNvSpPr/>
          <p:nvPr/>
        </p:nvSpPr>
        <p:spPr>
          <a:xfrm>
            <a:off x="1814668" y="4615100"/>
            <a:ext cx="4638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3"/>
          <p:cNvSpPr txBox="1"/>
          <p:nvPr/>
        </p:nvSpPr>
        <p:spPr>
          <a:xfrm>
            <a:off x="4603600" y="1310906"/>
            <a:ext cx="7851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/>
              <a:t>!x+z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0" name="Google Shape;730;p33"/>
          <p:cNvGraphicFramePr/>
          <p:nvPr/>
        </p:nvGraphicFramePr>
        <p:xfrm>
          <a:off x="2842898" y="2340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483050"/>
                <a:gridCol w="442175"/>
                <a:gridCol w="410825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     x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z</a:t>
                      </a:r>
                      <a:endParaRPr sz="14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graphicFrame>
        <p:nvGraphicFramePr>
          <p:cNvPr id="731" name="Google Shape;731;p33"/>
          <p:cNvGraphicFramePr/>
          <p:nvPr/>
        </p:nvGraphicFramePr>
        <p:xfrm>
          <a:off x="4572000" y="2340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483050"/>
                <a:gridCol w="442175"/>
                <a:gridCol w="410825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     x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z</a:t>
                      </a:r>
                      <a:endParaRPr sz="14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A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A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graphicFrame>
        <p:nvGraphicFramePr>
          <p:cNvPr id="732" name="Google Shape;732;p33"/>
          <p:cNvGraphicFramePr/>
          <p:nvPr/>
        </p:nvGraphicFramePr>
        <p:xfrm>
          <a:off x="4572000" y="23878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483050"/>
                <a:gridCol w="442175"/>
                <a:gridCol w="410825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     x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z</a:t>
                      </a:r>
                      <a:endParaRPr sz="14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B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graphicFrame>
        <p:nvGraphicFramePr>
          <p:cNvPr id="733" name="Google Shape;733;p33"/>
          <p:cNvGraphicFramePr/>
          <p:nvPr/>
        </p:nvGraphicFramePr>
        <p:xfrm>
          <a:off x="2842898" y="23878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483050"/>
                <a:gridCol w="442175"/>
                <a:gridCol w="410825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     x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z</a:t>
                      </a:r>
                      <a:endParaRPr sz="14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sp>
        <p:nvSpPr>
          <p:cNvPr id="734" name="Google Shape;734;p33"/>
          <p:cNvSpPr/>
          <p:nvPr/>
        </p:nvSpPr>
        <p:spPr>
          <a:xfrm>
            <a:off x="4670477" y="1622675"/>
            <a:ext cx="13362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/>
              <a:t>A+ !x*!z+x*z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33"/>
          <p:cNvSpPr/>
          <p:nvPr/>
        </p:nvSpPr>
        <p:spPr>
          <a:xfrm>
            <a:off x="5055050" y="660725"/>
            <a:ext cx="872400" cy="81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33"/>
          <p:cNvSpPr/>
          <p:nvPr/>
        </p:nvSpPr>
        <p:spPr>
          <a:xfrm>
            <a:off x="3325946" y="1079825"/>
            <a:ext cx="7794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33"/>
          <p:cNvSpPr txBox="1"/>
          <p:nvPr/>
        </p:nvSpPr>
        <p:spPr>
          <a:xfrm>
            <a:off x="2801200" y="1607975"/>
            <a:ext cx="1379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/>
              <a:t>!x+z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33"/>
          <p:cNvSpPr txBox="1"/>
          <p:nvPr/>
        </p:nvSpPr>
        <p:spPr>
          <a:xfrm>
            <a:off x="7059050" y="234000"/>
            <a:ext cx="1336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33"/>
          <p:cNvSpPr txBox="1"/>
          <p:nvPr/>
        </p:nvSpPr>
        <p:spPr>
          <a:xfrm>
            <a:off x="2846400" y="3805200"/>
            <a:ext cx="13362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/>
              <a:t>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33"/>
          <p:cNvSpPr txBox="1"/>
          <p:nvPr/>
        </p:nvSpPr>
        <p:spPr>
          <a:xfrm>
            <a:off x="4593950" y="3780500"/>
            <a:ext cx="1794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/>
              <a:t>Bz + z!x + x!z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41" name="Google Shape;741;p33"/>
          <p:cNvGraphicFramePr/>
          <p:nvPr/>
        </p:nvGraphicFramePr>
        <p:xfrm>
          <a:off x="7059125" y="14694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483050"/>
                <a:gridCol w="442175"/>
                <a:gridCol w="410825"/>
              </a:tblGrid>
              <a:tr h="42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     x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z</a:t>
                      </a:r>
                      <a:endParaRPr sz="14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2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sp>
        <p:nvSpPr>
          <p:cNvPr id="742" name="Google Shape;742;p33"/>
          <p:cNvSpPr txBox="1"/>
          <p:nvPr/>
        </p:nvSpPr>
        <p:spPr>
          <a:xfrm>
            <a:off x="7059050" y="2921200"/>
            <a:ext cx="1336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43" name="Google Shape;743;p33"/>
          <p:cNvGraphicFramePr/>
          <p:nvPr/>
        </p:nvGraphicFramePr>
        <p:xfrm>
          <a:off x="7059125" y="35603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483050"/>
                <a:gridCol w="442175"/>
                <a:gridCol w="410825"/>
              </a:tblGrid>
              <a:tr h="42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     x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z</a:t>
                      </a:r>
                      <a:endParaRPr sz="14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2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sp>
        <p:nvSpPr>
          <p:cNvPr id="744" name="Google Shape;744;p33"/>
          <p:cNvSpPr txBox="1"/>
          <p:nvPr/>
        </p:nvSpPr>
        <p:spPr>
          <a:xfrm>
            <a:off x="7059050" y="4849400"/>
            <a:ext cx="1336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45" name="Google Shape;745;p33"/>
          <p:cNvGraphicFramePr/>
          <p:nvPr/>
        </p:nvGraphicFramePr>
        <p:xfrm>
          <a:off x="67800" y="2931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483050"/>
                <a:gridCol w="442175"/>
                <a:gridCol w="410825"/>
                <a:gridCol w="410825"/>
                <a:gridCol w="414575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     xy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zt</a:t>
                      </a:r>
                      <a:endParaRPr sz="14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A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A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B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cxnSp>
        <p:nvCxnSpPr>
          <p:cNvPr id="746" name="Google Shape;746;p33"/>
          <p:cNvCxnSpPr/>
          <p:nvPr/>
        </p:nvCxnSpPr>
        <p:spPr>
          <a:xfrm>
            <a:off x="76075" y="2927788"/>
            <a:ext cx="463800" cy="42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7" name="Google Shape;747;p33"/>
          <p:cNvSpPr/>
          <p:nvPr/>
        </p:nvSpPr>
        <p:spPr>
          <a:xfrm>
            <a:off x="5453018" y="2820113"/>
            <a:ext cx="4812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33"/>
          <p:cNvSpPr/>
          <p:nvPr/>
        </p:nvSpPr>
        <p:spPr>
          <a:xfrm>
            <a:off x="3286913" y="4710963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3"/>
          <p:cNvSpPr/>
          <p:nvPr/>
        </p:nvSpPr>
        <p:spPr>
          <a:xfrm>
            <a:off x="5053173" y="3318125"/>
            <a:ext cx="390600" cy="23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33"/>
          <p:cNvSpPr/>
          <p:nvPr/>
        </p:nvSpPr>
        <p:spPr>
          <a:xfrm>
            <a:off x="2454266" y="3821250"/>
            <a:ext cx="287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33"/>
          <p:cNvSpPr/>
          <p:nvPr/>
        </p:nvSpPr>
        <p:spPr>
          <a:xfrm>
            <a:off x="5129917" y="4541789"/>
            <a:ext cx="417300" cy="9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33"/>
          <p:cNvSpPr/>
          <p:nvPr/>
        </p:nvSpPr>
        <p:spPr>
          <a:xfrm>
            <a:off x="5132525" y="3276725"/>
            <a:ext cx="641400" cy="322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33"/>
          <p:cNvSpPr/>
          <p:nvPr/>
        </p:nvSpPr>
        <p:spPr>
          <a:xfrm>
            <a:off x="5132516" y="666225"/>
            <a:ext cx="2319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33"/>
          <p:cNvSpPr/>
          <p:nvPr/>
        </p:nvSpPr>
        <p:spPr>
          <a:xfrm>
            <a:off x="3286924" y="3237575"/>
            <a:ext cx="8958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33"/>
          <p:cNvSpPr/>
          <p:nvPr/>
        </p:nvSpPr>
        <p:spPr>
          <a:xfrm>
            <a:off x="550843" y="3324625"/>
            <a:ext cx="4638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33"/>
          <p:cNvSpPr/>
          <p:nvPr/>
        </p:nvSpPr>
        <p:spPr>
          <a:xfrm>
            <a:off x="1732468" y="3399100"/>
            <a:ext cx="4638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33"/>
          <p:cNvSpPr/>
          <p:nvPr/>
        </p:nvSpPr>
        <p:spPr>
          <a:xfrm>
            <a:off x="550843" y="4615100"/>
            <a:ext cx="4638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33"/>
          <p:cNvSpPr/>
          <p:nvPr/>
        </p:nvSpPr>
        <p:spPr>
          <a:xfrm>
            <a:off x="1814668" y="4615100"/>
            <a:ext cx="4638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33"/>
          <p:cNvSpPr/>
          <p:nvPr/>
        </p:nvSpPr>
        <p:spPr>
          <a:xfrm>
            <a:off x="3324998" y="739975"/>
            <a:ext cx="331500" cy="729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33"/>
          <p:cNvSpPr/>
          <p:nvPr/>
        </p:nvSpPr>
        <p:spPr>
          <a:xfrm>
            <a:off x="5577666" y="1079825"/>
            <a:ext cx="2319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/>
              <a:t>Exercițiul 11 - Multiplexarea intrărilor</a:t>
            </a:r>
            <a:endParaRPr b="1"/>
          </a:p>
        </p:txBody>
      </p:sp>
      <p:sp>
        <p:nvSpPr>
          <p:cNvPr id="766" name="Google Shape;766;p14"/>
          <p:cNvSpPr txBox="1"/>
          <p:nvPr>
            <p:ph idx="1" type="body"/>
          </p:nvPr>
        </p:nvSpPr>
        <p:spPr>
          <a:xfrm>
            <a:off x="311700" y="1152475"/>
            <a:ext cx="2862300" cy="11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/>
              <a:t>Minimizați funcția dată folosind un MUX 2:1 cu variabila de selecție </a:t>
            </a:r>
            <a:r>
              <a:rPr b="1" lang="en-GB"/>
              <a:t>x</a:t>
            </a:r>
            <a:r>
              <a:rPr lang="en-GB"/>
              <a:t>:</a:t>
            </a:r>
            <a:endParaRPr/>
          </a:p>
        </p:txBody>
      </p:sp>
      <p:graphicFrame>
        <p:nvGraphicFramePr>
          <p:cNvPr id="767" name="Google Shape;767;p14"/>
          <p:cNvGraphicFramePr/>
          <p:nvPr/>
        </p:nvGraphicFramePr>
        <p:xfrm>
          <a:off x="67800" y="2931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483050"/>
                <a:gridCol w="442175"/>
                <a:gridCol w="410825"/>
                <a:gridCol w="410825"/>
                <a:gridCol w="414575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     xy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zt</a:t>
                      </a:r>
                      <a:endParaRPr sz="14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A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A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B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cxnSp>
        <p:nvCxnSpPr>
          <p:cNvPr id="768" name="Google Shape;768;p14"/>
          <p:cNvCxnSpPr/>
          <p:nvPr/>
        </p:nvCxnSpPr>
        <p:spPr>
          <a:xfrm>
            <a:off x="76075" y="2927788"/>
            <a:ext cx="463800" cy="42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769" name="Google Shape;769;p14"/>
          <p:cNvGraphicFramePr/>
          <p:nvPr/>
        </p:nvGraphicFramePr>
        <p:xfrm>
          <a:off x="7171800" y="4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x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y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z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t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f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*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A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*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A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7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B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770" name="Google Shape;770;p14"/>
          <p:cNvSpPr/>
          <p:nvPr/>
        </p:nvSpPr>
        <p:spPr>
          <a:xfrm>
            <a:off x="4837917" y="3381448"/>
            <a:ext cx="360600" cy="33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14"/>
          <p:cNvSpPr/>
          <p:nvPr/>
        </p:nvSpPr>
        <p:spPr>
          <a:xfrm>
            <a:off x="550500" y="3381450"/>
            <a:ext cx="853500" cy="1600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14"/>
          <p:cNvSpPr/>
          <p:nvPr/>
        </p:nvSpPr>
        <p:spPr>
          <a:xfrm>
            <a:off x="2456888" y="4391425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14"/>
          <p:cNvSpPr/>
          <p:nvPr/>
        </p:nvSpPr>
        <p:spPr>
          <a:xfrm>
            <a:off x="2609288" y="4543825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14"/>
          <p:cNvSpPr/>
          <p:nvPr/>
        </p:nvSpPr>
        <p:spPr>
          <a:xfrm>
            <a:off x="2761688" y="4696225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14"/>
          <p:cNvSpPr/>
          <p:nvPr/>
        </p:nvSpPr>
        <p:spPr>
          <a:xfrm>
            <a:off x="3824150" y="3620875"/>
            <a:ext cx="464400" cy="195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4"/>
          <p:cNvSpPr/>
          <p:nvPr/>
        </p:nvSpPr>
        <p:spPr>
          <a:xfrm>
            <a:off x="1403850" y="3381450"/>
            <a:ext cx="853500" cy="1600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14"/>
          <p:cNvSpPr/>
          <p:nvPr/>
        </p:nvSpPr>
        <p:spPr>
          <a:xfrm>
            <a:off x="4231050" y="4696225"/>
            <a:ext cx="1139100" cy="40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14"/>
          <p:cNvSpPr txBox="1"/>
          <p:nvPr/>
        </p:nvSpPr>
        <p:spPr>
          <a:xfrm>
            <a:off x="763000" y="5153425"/>
            <a:ext cx="7978800" cy="18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Cum indicăm zonele dedicate fiecărei intrări din MUX? Două variante: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Facem ca zonele să nu aibă margini interioare: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Selectează toate căsuțele din zonă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pe săgeata mică din dreapta sus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pe “Marginile interioare” (arată ca un ‘+’ încadrat într-un pătrat punctat)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Alege “Border color” transparent din meniul de sus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Facem ca zonele să aibă marginile exterioare colorate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Selectează toate căsuțele din zonă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pe săgeata mică din dreapta sus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pe “Marginile exterioare” (arată ca un pătrat cu un `+` punctat în centru)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-"/>
            </a:pPr>
            <a:r>
              <a:rPr b="0" i="0" lang="en-GB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Alege “Border color” roșu sau altă culoare vibrantă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14"/>
          <p:cNvSpPr/>
          <p:nvPr/>
        </p:nvSpPr>
        <p:spPr>
          <a:xfrm rot="5400000">
            <a:off x="5240325" y="1377038"/>
            <a:ext cx="923700" cy="9027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14"/>
          <p:cNvSpPr txBox="1"/>
          <p:nvPr/>
        </p:nvSpPr>
        <p:spPr>
          <a:xfrm>
            <a:off x="5470775" y="151698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14"/>
          <p:cNvSpPr txBox="1"/>
          <p:nvPr/>
        </p:nvSpPr>
        <p:spPr>
          <a:xfrm>
            <a:off x="5274200" y="1511088"/>
            <a:ext cx="464468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2" name="Google Shape;782;p14"/>
          <p:cNvCxnSpPr/>
          <p:nvPr/>
        </p:nvCxnSpPr>
        <p:spPr>
          <a:xfrm rot="10800000">
            <a:off x="5120625" y="16984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3" name="Google Shape;783;p14"/>
          <p:cNvCxnSpPr/>
          <p:nvPr/>
        </p:nvCxnSpPr>
        <p:spPr>
          <a:xfrm rot="10800000">
            <a:off x="5120625" y="19414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4" name="Google Shape;784;p14"/>
          <p:cNvSpPr txBox="1"/>
          <p:nvPr/>
        </p:nvSpPr>
        <p:spPr>
          <a:xfrm rot="-781890">
            <a:off x="5343379" y="1922766"/>
            <a:ext cx="419093" cy="249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5" name="Google Shape;785;p14"/>
          <p:cNvCxnSpPr/>
          <p:nvPr/>
        </p:nvCxnSpPr>
        <p:spPr>
          <a:xfrm>
            <a:off x="5582925" y="2208263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6" name="Google Shape;786;p14"/>
          <p:cNvCxnSpPr/>
          <p:nvPr/>
        </p:nvCxnSpPr>
        <p:spPr>
          <a:xfrm>
            <a:off x="6153525" y="18371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7" name="Google Shape;787;p14"/>
          <p:cNvSpPr txBox="1"/>
          <p:nvPr/>
        </p:nvSpPr>
        <p:spPr>
          <a:xfrm>
            <a:off x="5907213" y="1633738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14"/>
          <p:cNvSpPr txBox="1"/>
          <p:nvPr/>
        </p:nvSpPr>
        <p:spPr>
          <a:xfrm>
            <a:off x="2914100" y="1487975"/>
            <a:ext cx="2284500" cy="653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14"/>
          <p:cNvSpPr txBox="1"/>
          <p:nvPr/>
        </p:nvSpPr>
        <p:spPr>
          <a:xfrm>
            <a:off x="5402650" y="2467175"/>
            <a:ext cx="464400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x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4" name="Google Shape;794;p34"/>
          <p:cNvGraphicFramePr/>
          <p:nvPr/>
        </p:nvGraphicFramePr>
        <p:xfrm>
          <a:off x="2857074" y="2552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483050"/>
                <a:gridCol w="442175"/>
                <a:gridCol w="410825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     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zt</a:t>
                      </a:r>
                      <a:endParaRPr sz="14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A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graphicFrame>
        <p:nvGraphicFramePr>
          <p:cNvPr id="795" name="Google Shape;795;p34"/>
          <p:cNvGraphicFramePr/>
          <p:nvPr/>
        </p:nvGraphicFramePr>
        <p:xfrm>
          <a:off x="4686269" y="2552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483050"/>
                <a:gridCol w="442175"/>
                <a:gridCol w="410825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      y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 zt</a:t>
                      </a:r>
                      <a:endParaRPr sz="14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sp>
        <p:nvSpPr>
          <p:cNvPr id="796" name="Google Shape;796;p34"/>
          <p:cNvSpPr txBox="1"/>
          <p:nvPr/>
        </p:nvSpPr>
        <p:spPr>
          <a:xfrm>
            <a:off x="880275" y="3827250"/>
            <a:ext cx="18624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4"/>
          <p:cNvSpPr txBox="1"/>
          <p:nvPr/>
        </p:nvSpPr>
        <p:spPr>
          <a:xfrm>
            <a:off x="6649750" y="2487150"/>
            <a:ext cx="23967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98" name="Google Shape;798;p34"/>
          <p:cNvGraphicFramePr/>
          <p:nvPr/>
        </p:nvGraphicFramePr>
        <p:xfrm>
          <a:off x="2883999" y="26532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483050"/>
                <a:gridCol w="442175"/>
                <a:gridCol w="410825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     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zt</a:t>
                      </a:r>
                      <a:endParaRPr sz="14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A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B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graphicFrame>
        <p:nvGraphicFramePr>
          <p:cNvPr id="799" name="Google Shape;799;p34"/>
          <p:cNvGraphicFramePr/>
          <p:nvPr/>
        </p:nvGraphicFramePr>
        <p:xfrm>
          <a:off x="4766869" y="27282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483050"/>
                <a:gridCol w="442175"/>
                <a:gridCol w="410825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      y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chemeClr val="dk1"/>
                          </a:solidFill>
                        </a:rPr>
                        <a:t> zt</a:t>
                      </a:r>
                      <a:endParaRPr sz="14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sp>
        <p:nvSpPr>
          <p:cNvPr id="800" name="Google Shape;800;p34"/>
          <p:cNvSpPr txBox="1"/>
          <p:nvPr/>
        </p:nvSpPr>
        <p:spPr>
          <a:xfrm>
            <a:off x="725000" y="4148725"/>
            <a:ext cx="1379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01" name="Google Shape;801;p34"/>
          <p:cNvGraphicFramePr/>
          <p:nvPr/>
        </p:nvGraphicFramePr>
        <p:xfrm>
          <a:off x="67800" y="2931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483050"/>
                <a:gridCol w="442175"/>
                <a:gridCol w="410825"/>
                <a:gridCol w="410825"/>
                <a:gridCol w="414575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     xy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 zt</a:t>
                      </a:r>
                      <a:endParaRPr sz="1400" u="none" cap="none" strike="noStrike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0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A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11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A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B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>
                          <a:solidFill>
                            <a:srgbClr val="FF0000"/>
                          </a:solidFill>
                        </a:rPr>
                        <a:t>10</a:t>
                      </a:r>
                      <a:endParaRPr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0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0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*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91425" marB="91425" marR="0" marL="91425"/>
                </a:tc>
              </a:tr>
            </a:tbl>
          </a:graphicData>
        </a:graphic>
      </p:graphicFrame>
      <p:cxnSp>
        <p:nvCxnSpPr>
          <p:cNvPr id="802" name="Google Shape;802;p34"/>
          <p:cNvCxnSpPr/>
          <p:nvPr/>
        </p:nvCxnSpPr>
        <p:spPr>
          <a:xfrm>
            <a:off x="76075" y="2927788"/>
            <a:ext cx="463800" cy="42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3" name="Google Shape;803;p34"/>
          <p:cNvSpPr/>
          <p:nvPr/>
        </p:nvSpPr>
        <p:spPr>
          <a:xfrm>
            <a:off x="550500" y="3381450"/>
            <a:ext cx="853500" cy="1600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34"/>
          <p:cNvSpPr/>
          <p:nvPr/>
        </p:nvSpPr>
        <p:spPr>
          <a:xfrm>
            <a:off x="1403850" y="3381450"/>
            <a:ext cx="853500" cy="1600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34"/>
          <p:cNvSpPr/>
          <p:nvPr/>
        </p:nvSpPr>
        <p:spPr>
          <a:xfrm>
            <a:off x="3340125" y="757550"/>
            <a:ext cx="442200" cy="1600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34"/>
          <p:cNvSpPr txBox="1"/>
          <p:nvPr/>
        </p:nvSpPr>
        <p:spPr>
          <a:xfrm>
            <a:off x="170775" y="1346150"/>
            <a:ext cx="252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!y*A+!z!y+yz</a:t>
            </a:r>
            <a:endParaRPr/>
          </a:p>
        </p:txBody>
      </p:sp>
      <p:sp>
        <p:nvSpPr>
          <p:cNvPr id="807" name="Google Shape;807;p34"/>
          <p:cNvSpPr/>
          <p:nvPr/>
        </p:nvSpPr>
        <p:spPr>
          <a:xfrm>
            <a:off x="5169800" y="757550"/>
            <a:ext cx="369000" cy="762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34"/>
          <p:cNvSpPr/>
          <p:nvPr/>
        </p:nvSpPr>
        <p:spPr>
          <a:xfrm>
            <a:off x="5611500" y="1606850"/>
            <a:ext cx="442200" cy="762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34"/>
          <p:cNvSpPr/>
          <p:nvPr/>
        </p:nvSpPr>
        <p:spPr>
          <a:xfrm>
            <a:off x="7715700" y="145550"/>
            <a:ext cx="853500" cy="1600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34"/>
          <p:cNvSpPr/>
          <p:nvPr/>
        </p:nvSpPr>
        <p:spPr>
          <a:xfrm>
            <a:off x="3809225" y="3499050"/>
            <a:ext cx="369000" cy="838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34"/>
          <p:cNvSpPr/>
          <p:nvPr/>
        </p:nvSpPr>
        <p:spPr>
          <a:xfrm>
            <a:off x="3413325" y="3918150"/>
            <a:ext cx="765000" cy="838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34"/>
          <p:cNvSpPr/>
          <p:nvPr/>
        </p:nvSpPr>
        <p:spPr>
          <a:xfrm>
            <a:off x="5700050" y="4068450"/>
            <a:ext cx="369000" cy="762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34"/>
          <p:cNvSpPr txBox="1"/>
          <p:nvPr/>
        </p:nvSpPr>
        <p:spPr>
          <a:xfrm>
            <a:off x="153800" y="2363800"/>
            <a:ext cx="252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A*t*y+B*z*y+!y+y*z+z*!t</a:t>
            </a:r>
            <a:endParaRPr/>
          </a:p>
        </p:txBody>
      </p:sp>
      <p:sp>
        <p:nvSpPr>
          <p:cNvPr id="814" name="Google Shape;814;p34"/>
          <p:cNvSpPr/>
          <p:nvPr/>
        </p:nvSpPr>
        <p:spPr>
          <a:xfrm>
            <a:off x="5244775" y="3615538"/>
            <a:ext cx="369000" cy="328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34"/>
          <p:cNvSpPr/>
          <p:nvPr/>
        </p:nvSpPr>
        <p:spPr>
          <a:xfrm>
            <a:off x="5250400" y="4352550"/>
            <a:ext cx="853500" cy="499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5"/>
          <p:cNvSpPr txBox="1"/>
          <p:nvPr>
            <p:ph type="title"/>
          </p:nvPr>
        </p:nvSpPr>
        <p:spPr>
          <a:xfrm>
            <a:off x="311700" y="445025"/>
            <a:ext cx="555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/>
              <a:t>Exercițiul 12 - Demultiplexoare</a:t>
            </a:r>
            <a:endParaRPr b="1"/>
          </a:p>
        </p:txBody>
      </p:sp>
      <p:sp>
        <p:nvSpPr>
          <p:cNvPr id="821" name="Google Shape;821;p15"/>
          <p:cNvSpPr txBox="1"/>
          <p:nvPr>
            <p:ph idx="1" type="body"/>
          </p:nvPr>
        </p:nvSpPr>
        <p:spPr>
          <a:xfrm>
            <a:off x="311700" y="1152475"/>
            <a:ext cx="1629600" cy="3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/>
              <a:t>Implementați funcția dată folosind un DMUX 1:16 și porți, dacă sunt necesare..</a:t>
            </a:r>
            <a:endParaRPr/>
          </a:p>
        </p:txBody>
      </p:sp>
      <p:graphicFrame>
        <p:nvGraphicFramePr>
          <p:cNvPr id="822" name="Google Shape;822;p15"/>
          <p:cNvGraphicFramePr/>
          <p:nvPr/>
        </p:nvGraphicFramePr>
        <p:xfrm>
          <a:off x="7171800" y="4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x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y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z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t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f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7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823" name="Google Shape;823;p15"/>
          <p:cNvSpPr/>
          <p:nvPr/>
        </p:nvSpPr>
        <p:spPr>
          <a:xfrm flipH="1" rot="-5400000">
            <a:off x="1353126" y="2052175"/>
            <a:ext cx="4245600" cy="1819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15"/>
          <p:cNvSpPr txBox="1"/>
          <p:nvPr/>
        </p:nvSpPr>
        <p:spPr>
          <a:xfrm flipH="1">
            <a:off x="3031499" y="2668300"/>
            <a:ext cx="757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15"/>
          <p:cNvSpPr txBox="1"/>
          <p:nvPr/>
        </p:nvSpPr>
        <p:spPr>
          <a:xfrm flipH="1">
            <a:off x="3990500" y="928600"/>
            <a:ext cx="570666" cy="4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Y12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Y13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Y14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6" name="Google Shape;826;p15"/>
          <p:cNvCxnSpPr/>
          <p:nvPr/>
        </p:nvCxnSpPr>
        <p:spPr>
          <a:xfrm>
            <a:off x="4382043" y="1124763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7" name="Google Shape;827;p15"/>
          <p:cNvCxnSpPr/>
          <p:nvPr/>
        </p:nvCxnSpPr>
        <p:spPr>
          <a:xfrm>
            <a:off x="4382043" y="1367713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8" name="Google Shape;828;p15"/>
          <p:cNvCxnSpPr/>
          <p:nvPr/>
        </p:nvCxnSpPr>
        <p:spPr>
          <a:xfrm>
            <a:off x="4382043" y="1610663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9" name="Google Shape;829;p15"/>
          <p:cNvCxnSpPr/>
          <p:nvPr/>
        </p:nvCxnSpPr>
        <p:spPr>
          <a:xfrm>
            <a:off x="4382043" y="1853613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15"/>
          <p:cNvCxnSpPr/>
          <p:nvPr/>
        </p:nvCxnSpPr>
        <p:spPr>
          <a:xfrm>
            <a:off x="4382043" y="2111013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p15"/>
          <p:cNvCxnSpPr/>
          <p:nvPr/>
        </p:nvCxnSpPr>
        <p:spPr>
          <a:xfrm>
            <a:off x="4382043" y="2364604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2" name="Google Shape;832;p15"/>
          <p:cNvCxnSpPr/>
          <p:nvPr/>
        </p:nvCxnSpPr>
        <p:spPr>
          <a:xfrm>
            <a:off x="4382043" y="2618196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3" name="Google Shape;833;p15"/>
          <p:cNvCxnSpPr/>
          <p:nvPr/>
        </p:nvCxnSpPr>
        <p:spPr>
          <a:xfrm>
            <a:off x="4382043" y="2871788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4" name="Google Shape;834;p15"/>
          <p:cNvSpPr txBox="1"/>
          <p:nvPr/>
        </p:nvSpPr>
        <p:spPr>
          <a:xfrm flipH="1" rot="732131">
            <a:off x="2552002" y="4517614"/>
            <a:ext cx="1586850" cy="3278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 S2  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5" name="Google Shape;835;p15"/>
          <p:cNvCxnSpPr/>
          <p:nvPr/>
        </p:nvCxnSpPr>
        <p:spPr>
          <a:xfrm flipH="1">
            <a:off x="3690135" y="4894475"/>
            <a:ext cx="51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6" name="Google Shape;836;p15"/>
          <p:cNvCxnSpPr/>
          <p:nvPr/>
        </p:nvCxnSpPr>
        <p:spPr>
          <a:xfrm flipH="1">
            <a:off x="3375177" y="4817725"/>
            <a:ext cx="87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7" name="Google Shape;837;p15"/>
          <p:cNvCxnSpPr/>
          <p:nvPr/>
        </p:nvCxnSpPr>
        <p:spPr>
          <a:xfrm flipH="1">
            <a:off x="3027286" y="4737800"/>
            <a:ext cx="42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8" name="Google Shape;838;p15"/>
          <p:cNvCxnSpPr>
            <a:stCxn id="823" idx="0"/>
          </p:cNvCxnSpPr>
          <p:nvPr/>
        </p:nvCxnSpPr>
        <p:spPr>
          <a:xfrm rot="10800000">
            <a:off x="2294376" y="2961925"/>
            <a:ext cx="27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9" name="Google Shape;839;p15"/>
          <p:cNvSpPr txBox="1"/>
          <p:nvPr/>
        </p:nvSpPr>
        <p:spPr>
          <a:xfrm flipH="1">
            <a:off x="2619009" y="2759738"/>
            <a:ext cx="2328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0" name="Google Shape;840;p15"/>
          <p:cNvCxnSpPr/>
          <p:nvPr/>
        </p:nvCxnSpPr>
        <p:spPr>
          <a:xfrm>
            <a:off x="4382043" y="3079175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1" name="Google Shape;841;p15"/>
          <p:cNvCxnSpPr/>
          <p:nvPr/>
        </p:nvCxnSpPr>
        <p:spPr>
          <a:xfrm>
            <a:off x="4382043" y="3322125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2" name="Google Shape;842;p15"/>
          <p:cNvCxnSpPr/>
          <p:nvPr/>
        </p:nvCxnSpPr>
        <p:spPr>
          <a:xfrm>
            <a:off x="4382043" y="3565075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3" name="Google Shape;843;p15"/>
          <p:cNvCxnSpPr/>
          <p:nvPr/>
        </p:nvCxnSpPr>
        <p:spPr>
          <a:xfrm>
            <a:off x="4382043" y="3808025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4" name="Google Shape;844;p15"/>
          <p:cNvCxnSpPr/>
          <p:nvPr/>
        </p:nvCxnSpPr>
        <p:spPr>
          <a:xfrm>
            <a:off x="4382043" y="4065425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5" name="Google Shape;845;p15"/>
          <p:cNvCxnSpPr/>
          <p:nvPr/>
        </p:nvCxnSpPr>
        <p:spPr>
          <a:xfrm>
            <a:off x="4382043" y="4319017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6" name="Google Shape;846;p15"/>
          <p:cNvCxnSpPr/>
          <p:nvPr/>
        </p:nvCxnSpPr>
        <p:spPr>
          <a:xfrm>
            <a:off x="4382043" y="4572608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7" name="Google Shape;847;p15"/>
          <p:cNvCxnSpPr/>
          <p:nvPr/>
        </p:nvCxnSpPr>
        <p:spPr>
          <a:xfrm>
            <a:off x="4382043" y="4826200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8" name="Google Shape;848;p15"/>
          <p:cNvCxnSpPr/>
          <p:nvPr/>
        </p:nvCxnSpPr>
        <p:spPr>
          <a:xfrm flipH="1">
            <a:off x="2668825" y="4648325"/>
            <a:ext cx="600" cy="50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9" name="Google Shape;849;p15"/>
          <p:cNvSpPr txBox="1"/>
          <p:nvPr/>
        </p:nvSpPr>
        <p:spPr>
          <a:xfrm>
            <a:off x="1910325" y="2747500"/>
            <a:ext cx="464400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15"/>
          <p:cNvSpPr txBox="1"/>
          <p:nvPr/>
        </p:nvSpPr>
        <p:spPr>
          <a:xfrm>
            <a:off x="2304150" y="4788775"/>
            <a:ext cx="1611896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x     y    z      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5"/>
          <p:cNvSpPr txBox="1"/>
          <p:nvPr/>
        </p:nvSpPr>
        <p:spPr>
          <a:xfrm>
            <a:off x="4433550" y="927975"/>
            <a:ext cx="464400" cy="41568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52" name="Google Shape;852;p15"/>
          <p:cNvGraphicFramePr/>
          <p:nvPr/>
        </p:nvGraphicFramePr>
        <p:xfrm>
          <a:off x="4581838" y="928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</a:tblGrid>
              <a:tr h="26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6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6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6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6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6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6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solidFill>
                      <a:srgbClr val="F4CCCC"/>
                    </a:solidFill>
                  </a:tcPr>
                </a:tc>
              </a:tr>
              <a:tr h="26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6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6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45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6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6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6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  <a:tr h="26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16"/>
          <p:cNvSpPr txBox="1"/>
          <p:nvPr>
            <p:ph type="title"/>
          </p:nvPr>
        </p:nvSpPr>
        <p:spPr>
          <a:xfrm>
            <a:off x="311700" y="445025"/>
            <a:ext cx="555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/>
              <a:t>Exercițiul 12 - Demultiplexoare</a:t>
            </a:r>
            <a:endParaRPr b="1"/>
          </a:p>
        </p:txBody>
      </p:sp>
      <p:sp>
        <p:nvSpPr>
          <p:cNvPr id="858" name="Google Shape;858;p16"/>
          <p:cNvSpPr txBox="1"/>
          <p:nvPr>
            <p:ph idx="1" type="body"/>
          </p:nvPr>
        </p:nvSpPr>
        <p:spPr>
          <a:xfrm>
            <a:off x="348225" y="1080150"/>
            <a:ext cx="65022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/>
              <a:t>Implementați funcția dată folosind un DMUX 8:1.</a:t>
            </a:r>
            <a:endParaRPr/>
          </a:p>
        </p:txBody>
      </p:sp>
      <p:graphicFrame>
        <p:nvGraphicFramePr>
          <p:cNvPr id="859" name="Google Shape;859;p16"/>
          <p:cNvGraphicFramePr/>
          <p:nvPr/>
        </p:nvGraphicFramePr>
        <p:xfrm>
          <a:off x="7171800" y="4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x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y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z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t</a:t>
                      </a:r>
                      <a:endParaRPr b="1" sz="800" u="none" cap="none" strike="noStrike"/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f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7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GB" sz="800" u="none" cap="none" strike="noStrike"/>
                        <a:t>1</a:t>
                      </a:r>
                      <a:endParaRPr b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0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9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u="none" cap="none" strike="noStrike"/>
                        <a:t>1</a:t>
                      </a:r>
                      <a:endParaRPr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n-GB" sz="800" u="none" cap="none" strike="noStrike"/>
                        <a:t>0</a:t>
                      </a:r>
                      <a:endParaRPr i="1" sz="800" u="none" cap="none" strike="noStrike"/>
                    </a:p>
                  </a:txBody>
                  <a:tcPr marT="45700" marB="45700" marR="45700" marL="457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cxnSp>
        <p:nvCxnSpPr>
          <p:cNvPr id="860" name="Google Shape;860;p16"/>
          <p:cNvCxnSpPr/>
          <p:nvPr/>
        </p:nvCxnSpPr>
        <p:spPr>
          <a:xfrm>
            <a:off x="3501143" y="2354738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1" name="Google Shape;861;p16"/>
          <p:cNvSpPr/>
          <p:nvPr/>
        </p:nvSpPr>
        <p:spPr>
          <a:xfrm flipH="1" rot="-5400000">
            <a:off x="1910080" y="2714688"/>
            <a:ext cx="2257200" cy="9660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16"/>
          <p:cNvSpPr txBox="1"/>
          <p:nvPr/>
        </p:nvSpPr>
        <p:spPr>
          <a:xfrm flipH="1">
            <a:off x="2484475" y="2375175"/>
            <a:ext cx="757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16"/>
          <p:cNvSpPr txBox="1"/>
          <p:nvPr/>
        </p:nvSpPr>
        <p:spPr>
          <a:xfrm flipH="1">
            <a:off x="3179103" y="2153525"/>
            <a:ext cx="474880" cy="21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4" name="Google Shape;864;p16"/>
          <p:cNvCxnSpPr/>
          <p:nvPr/>
        </p:nvCxnSpPr>
        <p:spPr>
          <a:xfrm>
            <a:off x="3519288" y="2597688"/>
            <a:ext cx="10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5" name="Google Shape;865;p16"/>
          <p:cNvCxnSpPr/>
          <p:nvPr/>
        </p:nvCxnSpPr>
        <p:spPr>
          <a:xfrm>
            <a:off x="3519288" y="2840638"/>
            <a:ext cx="10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6" name="Google Shape;866;p16"/>
          <p:cNvCxnSpPr/>
          <p:nvPr/>
        </p:nvCxnSpPr>
        <p:spPr>
          <a:xfrm>
            <a:off x="3519288" y="3083588"/>
            <a:ext cx="10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7" name="Google Shape;867;p16"/>
          <p:cNvCxnSpPr/>
          <p:nvPr/>
        </p:nvCxnSpPr>
        <p:spPr>
          <a:xfrm>
            <a:off x="3519288" y="3340988"/>
            <a:ext cx="10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8" name="Google Shape;868;p16"/>
          <p:cNvCxnSpPr/>
          <p:nvPr/>
        </p:nvCxnSpPr>
        <p:spPr>
          <a:xfrm>
            <a:off x="3519288" y="3594579"/>
            <a:ext cx="10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9" name="Google Shape;869;p16"/>
          <p:cNvCxnSpPr/>
          <p:nvPr/>
        </p:nvCxnSpPr>
        <p:spPr>
          <a:xfrm>
            <a:off x="3519288" y="3848171"/>
            <a:ext cx="10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0" name="Google Shape;870;p16"/>
          <p:cNvCxnSpPr/>
          <p:nvPr/>
        </p:nvCxnSpPr>
        <p:spPr>
          <a:xfrm>
            <a:off x="3519288" y="4101763"/>
            <a:ext cx="10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1" name="Google Shape;871;p16"/>
          <p:cNvSpPr txBox="1"/>
          <p:nvPr/>
        </p:nvSpPr>
        <p:spPr>
          <a:xfrm flipH="1" rot="966133">
            <a:off x="2476996" y="3856822"/>
            <a:ext cx="1114108" cy="3237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S2 S1S0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2" name="Google Shape;872;p16"/>
          <p:cNvCxnSpPr/>
          <p:nvPr/>
        </p:nvCxnSpPr>
        <p:spPr>
          <a:xfrm flipH="1">
            <a:off x="3154183" y="4216463"/>
            <a:ext cx="39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3" name="Google Shape;873;p16"/>
          <p:cNvCxnSpPr/>
          <p:nvPr/>
        </p:nvCxnSpPr>
        <p:spPr>
          <a:xfrm flipH="1">
            <a:off x="2918085" y="4139713"/>
            <a:ext cx="66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4" name="Google Shape;874;p16"/>
          <p:cNvCxnSpPr/>
          <p:nvPr/>
        </p:nvCxnSpPr>
        <p:spPr>
          <a:xfrm flipH="1">
            <a:off x="2657528" y="4059788"/>
            <a:ext cx="30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5" name="Google Shape;875;p16"/>
          <p:cNvCxnSpPr>
            <a:stCxn id="861" idx="0"/>
          </p:cNvCxnSpPr>
          <p:nvPr/>
        </p:nvCxnSpPr>
        <p:spPr>
          <a:xfrm rot="10800000">
            <a:off x="2351980" y="3197688"/>
            <a:ext cx="20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6" name="Google Shape;876;p16"/>
          <p:cNvSpPr txBox="1"/>
          <p:nvPr/>
        </p:nvSpPr>
        <p:spPr>
          <a:xfrm flipH="1">
            <a:off x="2555332" y="2983113"/>
            <a:ext cx="1743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16"/>
          <p:cNvSpPr txBox="1"/>
          <p:nvPr/>
        </p:nvSpPr>
        <p:spPr>
          <a:xfrm>
            <a:off x="1887575" y="3000900"/>
            <a:ext cx="464400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16"/>
          <p:cNvSpPr txBox="1"/>
          <p:nvPr/>
        </p:nvSpPr>
        <p:spPr>
          <a:xfrm>
            <a:off x="2555325" y="4442825"/>
            <a:ext cx="868800" cy="39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?   ?   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79" name="Google Shape;879;p16"/>
          <p:cNvGraphicFramePr/>
          <p:nvPr/>
        </p:nvGraphicFramePr>
        <p:xfrm>
          <a:off x="0" y="161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{F50B8FFC-4525-418F-BF23-08BCD64D8F8A}</a:tableStyleId>
              </a:tblPr>
              <a:tblGrid>
                <a:gridCol w="382850"/>
                <a:gridCol w="396775"/>
                <a:gridCol w="3967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x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y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z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f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880" name="Google Shape;880;p16"/>
          <p:cNvSpPr txBox="1"/>
          <p:nvPr/>
        </p:nvSpPr>
        <p:spPr>
          <a:xfrm flipH="1">
            <a:off x="3614158" y="2143050"/>
            <a:ext cx="474900" cy="21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7"/>
          <p:cNvSpPr txBox="1"/>
          <p:nvPr>
            <p:ph type="title"/>
          </p:nvPr>
        </p:nvSpPr>
        <p:spPr>
          <a:xfrm>
            <a:off x="311700" y="445025"/>
            <a:ext cx="290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/>
              <a:t>Anexa 1 - MUX</a:t>
            </a:r>
            <a:endParaRPr b="1"/>
          </a:p>
        </p:txBody>
      </p:sp>
      <p:sp>
        <p:nvSpPr>
          <p:cNvPr id="886" name="Google Shape;886;p17"/>
          <p:cNvSpPr/>
          <p:nvPr/>
        </p:nvSpPr>
        <p:spPr>
          <a:xfrm rot="5400000">
            <a:off x="3382613" y="1894938"/>
            <a:ext cx="2257200" cy="1204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17"/>
          <p:cNvSpPr txBox="1"/>
          <p:nvPr/>
        </p:nvSpPr>
        <p:spPr>
          <a:xfrm>
            <a:off x="4164213" y="2162238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7"/>
          <p:cNvSpPr txBox="1"/>
          <p:nvPr/>
        </p:nvSpPr>
        <p:spPr>
          <a:xfrm>
            <a:off x="3930738" y="1453013"/>
            <a:ext cx="551774" cy="21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9" name="Google Shape;889;p17"/>
          <p:cNvCxnSpPr/>
          <p:nvPr/>
        </p:nvCxnSpPr>
        <p:spPr>
          <a:xfrm rot="10800000">
            <a:off x="3776438" y="16542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0" name="Google Shape;890;p17"/>
          <p:cNvCxnSpPr/>
          <p:nvPr/>
        </p:nvCxnSpPr>
        <p:spPr>
          <a:xfrm rot="10800000">
            <a:off x="3776438" y="18971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1" name="Google Shape;891;p17"/>
          <p:cNvCxnSpPr/>
          <p:nvPr/>
        </p:nvCxnSpPr>
        <p:spPr>
          <a:xfrm rot="10800000">
            <a:off x="3776438" y="21401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2" name="Google Shape;892;p17"/>
          <p:cNvCxnSpPr/>
          <p:nvPr/>
        </p:nvCxnSpPr>
        <p:spPr>
          <a:xfrm rot="10800000">
            <a:off x="3776438" y="23830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3" name="Google Shape;893;p17"/>
          <p:cNvCxnSpPr/>
          <p:nvPr/>
        </p:nvCxnSpPr>
        <p:spPr>
          <a:xfrm rot="10800000">
            <a:off x="3776438" y="26404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4" name="Google Shape;894;p17"/>
          <p:cNvCxnSpPr/>
          <p:nvPr/>
        </p:nvCxnSpPr>
        <p:spPr>
          <a:xfrm rot="10800000">
            <a:off x="3776438" y="2894079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5" name="Google Shape;895;p17"/>
          <p:cNvCxnSpPr/>
          <p:nvPr/>
        </p:nvCxnSpPr>
        <p:spPr>
          <a:xfrm rot="10800000">
            <a:off x="3776438" y="3147671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6" name="Google Shape;896;p17"/>
          <p:cNvCxnSpPr/>
          <p:nvPr/>
        </p:nvCxnSpPr>
        <p:spPr>
          <a:xfrm rot="10800000">
            <a:off x="3776438" y="3401263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7" name="Google Shape;897;p17"/>
          <p:cNvSpPr txBox="1"/>
          <p:nvPr/>
        </p:nvSpPr>
        <p:spPr>
          <a:xfrm rot="-781861">
            <a:off x="4136129" y="3120136"/>
            <a:ext cx="1061742" cy="326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S2  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8" name="Google Shape;898;p17"/>
          <p:cNvCxnSpPr/>
          <p:nvPr/>
        </p:nvCxnSpPr>
        <p:spPr>
          <a:xfrm>
            <a:off x="4362388" y="3515963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9" name="Google Shape;899;p17"/>
          <p:cNvCxnSpPr/>
          <p:nvPr/>
        </p:nvCxnSpPr>
        <p:spPr>
          <a:xfrm>
            <a:off x="4653388" y="3439213"/>
            <a:ext cx="81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0" name="Google Shape;900;p17"/>
          <p:cNvCxnSpPr/>
          <p:nvPr/>
        </p:nvCxnSpPr>
        <p:spPr>
          <a:xfrm>
            <a:off x="4982738" y="3359288"/>
            <a:ext cx="39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1" name="Google Shape;901;p17"/>
          <p:cNvCxnSpPr>
            <a:stCxn id="886" idx="0"/>
          </p:cNvCxnSpPr>
          <p:nvPr/>
        </p:nvCxnSpPr>
        <p:spPr>
          <a:xfrm>
            <a:off x="5113463" y="2497188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2" name="Google Shape;902;p17"/>
          <p:cNvSpPr txBox="1"/>
          <p:nvPr/>
        </p:nvSpPr>
        <p:spPr>
          <a:xfrm>
            <a:off x="4853113" y="2295888"/>
            <a:ext cx="2175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17"/>
          <p:cNvSpPr/>
          <p:nvPr/>
        </p:nvSpPr>
        <p:spPr>
          <a:xfrm rot="5400000">
            <a:off x="1081725" y="1440363"/>
            <a:ext cx="1256700" cy="970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17"/>
          <p:cNvSpPr txBox="1"/>
          <p:nvPr/>
        </p:nvSpPr>
        <p:spPr>
          <a:xfrm>
            <a:off x="1436138" y="1590663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17"/>
          <p:cNvSpPr txBox="1"/>
          <p:nvPr/>
        </p:nvSpPr>
        <p:spPr>
          <a:xfrm>
            <a:off x="1246699" y="1381688"/>
            <a:ext cx="438225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6" name="Google Shape;906;p17"/>
          <p:cNvCxnSpPr/>
          <p:nvPr/>
        </p:nvCxnSpPr>
        <p:spPr>
          <a:xfrm rot="10800000">
            <a:off x="1092388" y="1582913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7" name="Google Shape;907;p17"/>
          <p:cNvCxnSpPr/>
          <p:nvPr/>
        </p:nvCxnSpPr>
        <p:spPr>
          <a:xfrm rot="10800000">
            <a:off x="1092388" y="1825863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8" name="Google Shape;908;p17"/>
          <p:cNvCxnSpPr/>
          <p:nvPr/>
        </p:nvCxnSpPr>
        <p:spPr>
          <a:xfrm rot="10800000">
            <a:off x="1092388" y="2068813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9" name="Google Shape;909;p17"/>
          <p:cNvCxnSpPr/>
          <p:nvPr/>
        </p:nvCxnSpPr>
        <p:spPr>
          <a:xfrm rot="10800000">
            <a:off x="1092388" y="2311763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0" name="Google Shape;910;p17"/>
          <p:cNvSpPr txBox="1"/>
          <p:nvPr/>
        </p:nvSpPr>
        <p:spPr>
          <a:xfrm rot="-782417">
            <a:off x="1406552" y="2079688"/>
            <a:ext cx="761847" cy="326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1" name="Google Shape;911;p17"/>
          <p:cNvCxnSpPr/>
          <p:nvPr/>
        </p:nvCxnSpPr>
        <p:spPr>
          <a:xfrm>
            <a:off x="1652288" y="2456688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2" name="Google Shape;912;p17"/>
          <p:cNvCxnSpPr/>
          <p:nvPr/>
        </p:nvCxnSpPr>
        <p:spPr>
          <a:xfrm>
            <a:off x="1943288" y="2379938"/>
            <a:ext cx="81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3" name="Google Shape;913;p17"/>
          <p:cNvCxnSpPr/>
          <p:nvPr/>
        </p:nvCxnSpPr>
        <p:spPr>
          <a:xfrm>
            <a:off x="2195313" y="1925613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4" name="Google Shape;914;p17"/>
          <p:cNvSpPr txBox="1"/>
          <p:nvPr/>
        </p:nvSpPr>
        <p:spPr>
          <a:xfrm>
            <a:off x="1939025" y="1733113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17"/>
          <p:cNvSpPr/>
          <p:nvPr/>
        </p:nvSpPr>
        <p:spPr>
          <a:xfrm rot="5400000">
            <a:off x="1230800" y="2984063"/>
            <a:ext cx="923700" cy="9027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17"/>
          <p:cNvSpPr txBox="1"/>
          <p:nvPr/>
        </p:nvSpPr>
        <p:spPr>
          <a:xfrm>
            <a:off x="1461250" y="3124013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17"/>
          <p:cNvSpPr txBox="1"/>
          <p:nvPr/>
        </p:nvSpPr>
        <p:spPr>
          <a:xfrm>
            <a:off x="1264674" y="3118113"/>
            <a:ext cx="482251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8" name="Google Shape;918;p17"/>
          <p:cNvCxnSpPr/>
          <p:nvPr/>
        </p:nvCxnSpPr>
        <p:spPr>
          <a:xfrm rot="10800000">
            <a:off x="1111100" y="3305513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9" name="Google Shape;919;p17"/>
          <p:cNvCxnSpPr/>
          <p:nvPr/>
        </p:nvCxnSpPr>
        <p:spPr>
          <a:xfrm rot="10800000">
            <a:off x="1111100" y="3548463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0" name="Google Shape;920;p17"/>
          <p:cNvSpPr txBox="1"/>
          <p:nvPr/>
        </p:nvSpPr>
        <p:spPr>
          <a:xfrm rot="-781890">
            <a:off x="1333854" y="3529791"/>
            <a:ext cx="419093" cy="2490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1" name="Google Shape;921;p17"/>
          <p:cNvCxnSpPr/>
          <p:nvPr/>
        </p:nvCxnSpPr>
        <p:spPr>
          <a:xfrm>
            <a:off x="1573400" y="3815288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2" name="Google Shape;922;p17"/>
          <p:cNvCxnSpPr/>
          <p:nvPr/>
        </p:nvCxnSpPr>
        <p:spPr>
          <a:xfrm>
            <a:off x="2144000" y="3444213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3" name="Google Shape;923;p17"/>
          <p:cNvSpPr txBox="1"/>
          <p:nvPr/>
        </p:nvSpPr>
        <p:spPr>
          <a:xfrm>
            <a:off x="1897688" y="3240763"/>
            <a:ext cx="2175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17"/>
          <p:cNvSpPr/>
          <p:nvPr/>
        </p:nvSpPr>
        <p:spPr>
          <a:xfrm rot="5400000">
            <a:off x="5432750" y="1560300"/>
            <a:ext cx="4245600" cy="17004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17"/>
          <p:cNvSpPr txBox="1"/>
          <p:nvPr/>
        </p:nvSpPr>
        <p:spPr>
          <a:xfrm>
            <a:off x="7262875" y="2116863"/>
            <a:ext cx="588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16:1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17"/>
          <p:cNvSpPr txBox="1"/>
          <p:nvPr/>
        </p:nvSpPr>
        <p:spPr>
          <a:xfrm>
            <a:off x="6727325" y="372125"/>
            <a:ext cx="588600" cy="4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7" name="Google Shape;927;p17"/>
          <p:cNvCxnSpPr/>
          <p:nvPr/>
        </p:nvCxnSpPr>
        <p:spPr>
          <a:xfrm rot="10800000">
            <a:off x="6573013" y="5733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8" name="Google Shape;928;p17"/>
          <p:cNvCxnSpPr/>
          <p:nvPr/>
        </p:nvCxnSpPr>
        <p:spPr>
          <a:xfrm rot="10800000">
            <a:off x="6573013" y="8162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9" name="Google Shape;929;p17"/>
          <p:cNvCxnSpPr/>
          <p:nvPr/>
        </p:nvCxnSpPr>
        <p:spPr>
          <a:xfrm rot="10800000">
            <a:off x="6573013" y="105923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0" name="Google Shape;930;p17"/>
          <p:cNvCxnSpPr/>
          <p:nvPr/>
        </p:nvCxnSpPr>
        <p:spPr>
          <a:xfrm rot="10800000">
            <a:off x="6573013" y="13021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1" name="Google Shape;931;p17"/>
          <p:cNvCxnSpPr/>
          <p:nvPr/>
        </p:nvCxnSpPr>
        <p:spPr>
          <a:xfrm rot="10800000">
            <a:off x="6573013" y="1559588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2" name="Google Shape;932;p17"/>
          <p:cNvCxnSpPr/>
          <p:nvPr/>
        </p:nvCxnSpPr>
        <p:spPr>
          <a:xfrm rot="10800000">
            <a:off x="6573013" y="1813179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3" name="Google Shape;933;p17"/>
          <p:cNvCxnSpPr/>
          <p:nvPr/>
        </p:nvCxnSpPr>
        <p:spPr>
          <a:xfrm rot="10800000">
            <a:off x="6573013" y="2066771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4" name="Google Shape;934;p17"/>
          <p:cNvCxnSpPr/>
          <p:nvPr/>
        </p:nvCxnSpPr>
        <p:spPr>
          <a:xfrm rot="10800000">
            <a:off x="6573013" y="2320363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5" name="Google Shape;935;p17"/>
          <p:cNvSpPr txBox="1"/>
          <p:nvPr/>
        </p:nvSpPr>
        <p:spPr>
          <a:xfrm rot="-781651">
            <a:off x="6933528" y="3966781"/>
            <a:ext cx="1487896" cy="3266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 S2  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6" name="Google Shape;936;p17"/>
          <p:cNvCxnSpPr/>
          <p:nvPr/>
        </p:nvCxnSpPr>
        <p:spPr>
          <a:xfrm>
            <a:off x="7132913" y="4431450"/>
            <a:ext cx="48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7" name="Google Shape;937;p17"/>
          <p:cNvCxnSpPr/>
          <p:nvPr/>
        </p:nvCxnSpPr>
        <p:spPr>
          <a:xfrm>
            <a:off x="7423913" y="4354700"/>
            <a:ext cx="81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8" name="Google Shape;938;p17"/>
          <p:cNvCxnSpPr/>
          <p:nvPr/>
        </p:nvCxnSpPr>
        <p:spPr>
          <a:xfrm>
            <a:off x="7753263" y="4274775"/>
            <a:ext cx="39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9" name="Google Shape;939;p17"/>
          <p:cNvCxnSpPr>
            <a:stCxn id="924" idx="0"/>
          </p:cNvCxnSpPr>
          <p:nvPr/>
        </p:nvCxnSpPr>
        <p:spPr>
          <a:xfrm>
            <a:off x="8405750" y="2410500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0" name="Google Shape;940;p17"/>
          <p:cNvSpPr txBox="1"/>
          <p:nvPr/>
        </p:nvSpPr>
        <p:spPr>
          <a:xfrm>
            <a:off x="8092238" y="2208313"/>
            <a:ext cx="2175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1" name="Google Shape;941;p17"/>
          <p:cNvCxnSpPr/>
          <p:nvPr/>
        </p:nvCxnSpPr>
        <p:spPr>
          <a:xfrm rot="10800000">
            <a:off x="6573013" y="2527750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2" name="Google Shape;942;p17"/>
          <p:cNvCxnSpPr/>
          <p:nvPr/>
        </p:nvCxnSpPr>
        <p:spPr>
          <a:xfrm rot="10800000">
            <a:off x="6573013" y="2770700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3" name="Google Shape;943;p17"/>
          <p:cNvCxnSpPr/>
          <p:nvPr/>
        </p:nvCxnSpPr>
        <p:spPr>
          <a:xfrm rot="10800000">
            <a:off x="6573013" y="3013650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4" name="Google Shape;944;p17"/>
          <p:cNvCxnSpPr/>
          <p:nvPr/>
        </p:nvCxnSpPr>
        <p:spPr>
          <a:xfrm rot="10800000">
            <a:off x="6573013" y="3256600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5" name="Google Shape;945;p17"/>
          <p:cNvCxnSpPr/>
          <p:nvPr/>
        </p:nvCxnSpPr>
        <p:spPr>
          <a:xfrm rot="10800000">
            <a:off x="6573013" y="3514000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6" name="Google Shape;946;p17"/>
          <p:cNvCxnSpPr/>
          <p:nvPr/>
        </p:nvCxnSpPr>
        <p:spPr>
          <a:xfrm rot="10800000">
            <a:off x="6573013" y="3767592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7" name="Google Shape;947;p17"/>
          <p:cNvCxnSpPr/>
          <p:nvPr/>
        </p:nvCxnSpPr>
        <p:spPr>
          <a:xfrm rot="10800000">
            <a:off x="6573013" y="4021183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8" name="Google Shape;948;p17"/>
          <p:cNvCxnSpPr/>
          <p:nvPr/>
        </p:nvCxnSpPr>
        <p:spPr>
          <a:xfrm rot="10800000">
            <a:off x="6573013" y="4274775"/>
            <a:ext cx="13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9" name="Google Shape;949;p17"/>
          <p:cNvCxnSpPr/>
          <p:nvPr/>
        </p:nvCxnSpPr>
        <p:spPr>
          <a:xfrm>
            <a:off x="8091650" y="4185300"/>
            <a:ext cx="600" cy="50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0" name="Google Shape;950;p17"/>
          <p:cNvSpPr txBox="1"/>
          <p:nvPr/>
        </p:nvSpPr>
        <p:spPr>
          <a:xfrm>
            <a:off x="3448475" y="1442550"/>
            <a:ext cx="405600" cy="2109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17"/>
          <p:cNvSpPr txBox="1"/>
          <p:nvPr/>
        </p:nvSpPr>
        <p:spPr>
          <a:xfrm>
            <a:off x="751500" y="1381688"/>
            <a:ext cx="405600" cy="1118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17"/>
          <p:cNvSpPr txBox="1"/>
          <p:nvPr/>
        </p:nvSpPr>
        <p:spPr>
          <a:xfrm>
            <a:off x="783500" y="3094988"/>
            <a:ext cx="405600" cy="6537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17"/>
          <p:cNvSpPr txBox="1"/>
          <p:nvPr/>
        </p:nvSpPr>
        <p:spPr>
          <a:xfrm>
            <a:off x="6242350" y="382725"/>
            <a:ext cx="405600" cy="411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7"/>
          <p:cNvSpPr txBox="1"/>
          <p:nvPr/>
        </p:nvSpPr>
        <p:spPr>
          <a:xfrm>
            <a:off x="0" y="4095575"/>
            <a:ext cx="5303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Instrucțiuni de utilizare: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Selectați multiplexorul dorit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Paste pe slide-ul dorit; Îl puteți muta imediat după paste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Dacă urmează să trageți fire la intrări, ștergeți chenarul cu `?` din stânga.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17"/>
          <p:cNvSpPr txBox="1"/>
          <p:nvPr/>
        </p:nvSpPr>
        <p:spPr>
          <a:xfrm>
            <a:off x="0" y="0"/>
            <a:ext cx="5303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 MODIFICAȚI ACEST SLIDE</a:t>
            </a:r>
            <a:endParaRPr b="1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18"/>
          <p:cNvSpPr txBox="1"/>
          <p:nvPr>
            <p:ph type="title"/>
          </p:nvPr>
        </p:nvSpPr>
        <p:spPr>
          <a:xfrm>
            <a:off x="311700" y="445025"/>
            <a:ext cx="305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/>
              <a:t>Anexa 2 - DMUX</a:t>
            </a:r>
            <a:endParaRPr b="1"/>
          </a:p>
        </p:txBody>
      </p:sp>
      <p:sp>
        <p:nvSpPr>
          <p:cNvPr id="961" name="Google Shape;961;p18"/>
          <p:cNvSpPr/>
          <p:nvPr/>
        </p:nvSpPr>
        <p:spPr>
          <a:xfrm flipH="1" rot="-5400000">
            <a:off x="1361155" y="1961438"/>
            <a:ext cx="2257200" cy="9660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18"/>
          <p:cNvSpPr txBox="1"/>
          <p:nvPr/>
        </p:nvSpPr>
        <p:spPr>
          <a:xfrm flipH="1">
            <a:off x="1935550" y="1621925"/>
            <a:ext cx="757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18"/>
          <p:cNvSpPr txBox="1"/>
          <p:nvPr/>
        </p:nvSpPr>
        <p:spPr>
          <a:xfrm flipH="1">
            <a:off x="2630177" y="1400275"/>
            <a:ext cx="505899" cy="21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4" name="Google Shape;964;p18"/>
          <p:cNvCxnSpPr/>
          <p:nvPr/>
        </p:nvCxnSpPr>
        <p:spPr>
          <a:xfrm>
            <a:off x="2970363" y="1601488"/>
            <a:ext cx="10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5" name="Google Shape;965;p18"/>
          <p:cNvCxnSpPr/>
          <p:nvPr/>
        </p:nvCxnSpPr>
        <p:spPr>
          <a:xfrm>
            <a:off x="2970363" y="1844438"/>
            <a:ext cx="10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6" name="Google Shape;966;p18"/>
          <p:cNvCxnSpPr/>
          <p:nvPr/>
        </p:nvCxnSpPr>
        <p:spPr>
          <a:xfrm>
            <a:off x="2970363" y="2087388"/>
            <a:ext cx="10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7" name="Google Shape;967;p18"/>
          <p:cNvCxnSpPr/>
          <p:nvPr/>
        </p:nvCxnSpPr>
        <p:spPr>
          <a:xfrm>
            <a:off x="2970363" y="2330338"/>
            <a:ext cx="10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8" name="Google Shape;968;p18"/>
          <p:cNvCxnSpPr/>
          <p:nvPr/>
        </p:nvCxnSpPr>
        <p:spPr>
          <a:xfrm>
            <a:off x="2970363" y="2587738"/>
            <a:ext cx="10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9" name="Google Shape;969;p18"/>
          <p:cNvCxnSpPr/>
          <p:nvPr/>
        </p:nvCxnSpPr>
        <p:spPr>
          <a:xfrm>
            <a:off x="2970363" y="2841329"/>
            <a:ext cx="10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0" name="Google Shape;970;p18"/>
          <p:cNvCxnSpPr/>
          <p:nvPr/>
        </p:nvCxnSpPr>
        <p:spPr>
          <a:xfrm>
            <a:off x="2970363" y="3094921"/>
            <a:ext cx="10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1" name="Google Shape;971;p18"/>
          <p:cNvCxnSpPr/>
          <p:nvPr/>
        </p:nvCxnSpPr>
        <p:spPr>
          <a:xfrm>
            <a:off x="2970363" y="3348513"/>
            <a:ext cx="10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2" name="Google Shape;972;p18"/>
          <p:cNvSpPr txBox="1"/>
          <p:nvPr/>
        </p:nvSpPr>
        <p:spPr>
          <a:xfrm flipH="1" rot="966133">
            <a:off x="1928071" y="3103572"/>
            <a:ext cx="1114108" cy="3237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S2 S1S0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3" name="Google Shape;973;p18"/>
          <p:cNvCxnSpPr/>
          <p:nvPr/>
        </p:nvCxnSpPr>
        <p:spPr>
          <a:xfrm flipH="1">
            <a:off x="2605258" y="3463213"/>
            <a:ext cx="39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4" name="Google Shape;974;p18"/>
          <p:cNvCxnSpPr/>
          <p:nvPr/>
        </p:nvCxnSpPr>
        <p:spPr>
          <a:xfrm flipH="1">
            <a:off x="2369160" y="3386463"/>
            <a:ext cx="66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5" name="Google Shape;975;p18"/>
          <p:cNvCxnSpPr/>
          <p:nvPr/>
        </p:nvCxnSpPr>
        <p:spPr>
          <a:xfrm flipH="1">
            <a:off x="2108603" y="3306538"/>
            <a:ext cx="30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6" name="Google Shape;976;p18"/>
          <p:cNvCxnSpPr>
            <a:stCxn id="961" idx="0"/>
          </p:cNvCxnSpPr>
          <p:nvPr/>
        </p:nvCxnSpPr>
        <p:spPr>
          <a:xfrm rot="10800000">
            <a:off x="1803055" y="2444438"/>
            <a:ext cx="20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7" name="Google Shape;977;p18"/>
          <p:cNvSpPr txBox="1"/>
          <p:nvPr/>
        </p:nvSpPr>
        <p:spPr>
          <a:xfrm flipH="1">
            <a:off x="2006407" y="2229863"/>
            <a:ext cx="1743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18"/>
          <p:cNvSpPr/>
          <p:nvPr/>
        </p:nvSpPr>
        <p:spPr>
          <a:xfrm flipH="1" rot="-5400000">
            <a:off x="4298451" y="1397825"/>
            <a:ext cx="4245600" cy="1819500"/>
          </a:xfrm>
          <a:prstGeom prst="trapezoid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18"/>
          <p:cNvSpPr txBox="1"/>
          <p:nvPr/>
        </p:nvSpPr>
        <p:spPr>
          <a:xfrm flipH="1">
            <a:off x="5976824" y="2013950"/>
            <a:ext cx="757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DMUX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18"/>
          <p:cNvSpPr txBox="1"/>
          <p:nvPr/>
        </p:nvSpPr>
        <p:spPr>
          <a:xfrm flipH="1">
            <a:off x="6935825" y="274250"/>
            <a:ext cx="568826" cy="4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Y9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Y12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Y13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Y14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1" name="Google Shape;981;p18"/>
          <p:cNvCxnSpPr/>
          <p:nvPr/>
        </p:nvCxnSpPr>
        <p:spPr>
          <a:xfrm>
            <a:off x="7327368" y="470413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2" name="Google Shape;982;p18"/>
          <p:cNvCxnSpPr/>
          <p:nvPr/>
        </p:nvCxnSpPr>
        <p:spPr>
          <a:xfrm>
            <a:off x="7327368" y="713363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3" name="Google Shape;983;p18"/>
          <p:cNvCxnSpPr/>
          <p:nvPr/>
        </p:nvCxnSpPr>
        <p:spPr>
          <a:xfrm>
            <a:off x="7327368" y="956313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4" name="Google Shape;984;p18"/>
          <p:cNvCxnSpPr/>
          <p:nvPr/>
        </p:nvCxnSpPr>
        <p:spPr>
          <a:xfrm>
            <a:off x="7327368" y="1199263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5" name="Google Shape;985;p18"/>
          <p:cNvCxnSpPr/>
          <p:nvPr/>
        </p:nvCxnSpPr>
        <p:spPr>
          <a:xfrm>
            <a:off x="7327368" y="1456663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6" name="Google Shape;986;p18"/>
          <p:cNvCxnSpPr/>
          <p:nvPr/>
        </p:nvCxnSpPr>
        <p:spPr>
          <a:xfrm>
            <a:off x="7327368" y="1710254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7" name="Google Shape;987;p18"/>
          <p:cNvCxnSpPr/>
          <p:nvPr/>
        </p:nvCxnSpPr>
        <p:spPr>
          <a:xfrm>
            <a:off x="7327368" y="1963846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8" name="Google Shape;988;p18"/>
          <p:cNvCxnSpPr/>
          <p:nvPr/>
        </p:nvCxnSpPr>
        <p:spPr>
          <a:xfrm>
            <a:off x="7327368" y="2217438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9" name="Google Shape;989;p18"/>
          <p:cNvSpPr txBox="1"/>
          <p:nvPr/>
        </p:nvSpPr>
        <p:spPr>
          <a:xfrm flipH="1" rot="732131">
            <a:off x="5497327" y="3863264"/>
            <a:ext cx="1586850" cy="3278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 S2  S1  S0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0" name="Google Shape;990;p18"/>
          <p:cNvCxnSpPr/>
          <p:nvPr/>
        </p:nvCxnSpPr>
        <p:spPr>
          <a:xfrm flipH="1">
            <a:off x="6635460" y="4240125"/>
            <a:ext cx="5100" cy="2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1" name="Google Shape;991;p18"/>
          <p:cNvCxnSpPr/>
          <p:nvPr/>
        </p:nvCxnSpPr>
        <p:spPr>
          <a:xfrm flipH="1">
            <a:off x="6320502" y="4163375"/>
            <a:ext cx="87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2" name="Google Shape;992;p18"/>
          <p:cNvCxnSpPr/>
          <p:nvPr/>
        </p:nvCxnSpPr>
        <p:spPr>
          <a:xfrm flipH="1">
            <a:off x="5972611" y="4083450"/>
            <a:ext cx="42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3" name="Google Shape;993;p18"/>
          <p:cNvCxnSpPr>
            <a:stCxn id="978" idx="0"/>
          </p:cNvCxnSpPr>
          <p:nvPr/>
        </p:nvCxnSpPr>
        <p:spPr>
          <a:xfrm rot="10800000">
            <a:off x="5239701" y="2307575"/>
            <a:ext cx="27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4" name="Google Shape;994;p18"/>
          <p:cNvSpPr txBox="1"/>
          <p:nvPr/>
        </p:nvSpPr>
        <p:spPr>
          <a:xfrm flipH="1">
            <a:off x="5564334" y="2105388"/>
            <a:ext cx="2328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5" name="Google Shape;995;p18"/>
          <p:cNvCxnSpPr/>
          <p:nvPr/>
        </p:nvCxnSpPr>
        <p:spPr>
          <a:xfrm>
            <a:off x="7327368" y="2424825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6" name="Google Shape;996;p18"/>
          <p:cNvCxnSpPr/>
          <p:nvPr/>
        </p:nvCxnSpPr>
        <p:spPr>
          <a:xfrm>
            <a:off x="7327368" y="2667775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7" name="Google Shape;997;p18"/>
          <p:cNvCxnSpPr/>
          <p:nvPr/>
        </p:nvCxnSpPr>
        <p:spPr>
          <a:xfrm>
            <a:off x="7327368" y="2910725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8" name="Google Shape;998;p18"/>
          <p:cNvCxnSpPr/>
          <p:nvPr/>
        </p:nvCxnSpPr>
        <p:spPr>
          <a:xfrm>
            <a:off x="7327368" y="3153675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9" name="Google Shape;999;p18"/>
          <p:cNvCxnSpPr/>
          <p:nvPr/>
        </p:nvCxnSpPr>
        <p:spPr>
          <a:xfrm>
            <a:off x="7327368" y="3411075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0" name="Google Shape;1000;p18"/>
          <p:cNvCxnSpPr/>
          <p:nvPr/>
        </p:nvCxnSpPr>
        <p:spPr>
          <a:xfrm>
            <a:off x="7327368" y="3664667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1" name="Google Shape;1001;p18"/>
          <p:cNvCxnSpPr/>
          <p:nvPr/>
        </p:nvCxnSpPr>
        <p:spPr>
          <a:xfrm>
            <a:off x="7327368" y="3918258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2" name="Google Shape;1002;p18"/>
          <p:cNvCxnSpPr/>
          <p:nvPr/>
        </p:nvCxnSpPr>
        <p:spPr>
          <a:xfrm>
            <a:off x="7327368" y="4171850"/>
            <a:ext cx="1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3" name="Google Shape;1003;p18"/>
          <p:cNvCxnSpPr/>
          <p:nvPr/>
        </p:nvCxnSpPr>
        <p:spPr>
          <a:xfrm flipH="1">
            <a:off x="5614150" y="3993975"/>
            <a:ext cx="600" cy="50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4" name="Google Shape;1004;p18"/>
          <p:cNvSpPr txBox="1"/>
          <p:nvPr/>
        </p:nvSpPr>
        <p:spPr>
          <a:xfrm flipH="1">
            <a:off x="3088265" y="1400275"/>
            <a:ext cx="325200" cy="21093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18"/>
          <p:cNvSpPr txBox="1"/>
          <p:nvPr/>
        </p:nvSpPr>
        <p:spPr>
          <a:xfrm flipH="1">
            <a:off x="7532025" y="251825"/>
            <a:ext cx="434100" cy="41115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0" spcFirstLastPara="1" rIns="194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18"/>
          <p:cNvSpPr txBox="1"/>
          <p:nvPr/>
        </p:nvSpPr>
        <p:spPr>
          <a:xfrm>
            <a:off x="0" y="4095575"/>
            <a:ext cx="54399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Instrucțiuni de utilizare: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Selectați demultiplexorul dorit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Paste pe slide-ul dorit; Îl puteți muta imediat după paste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Dacă urmează să trageți fire de la ieșiri, ștergeți chenarul cu `?` din dreapta.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18"/>
          <p:cNvSpPr txBox="1"/>
          <p:nvPr/>
        </p:nvSpPr>
        <p:spPr>
          <a:xfrm>
            <a:off x="0" y="0"/>
            <a:ext cx="5303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 MODIFICAȚI ACEST SLIDE</a:t>
            </a:r>
            <a:endParaRPr b="1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9"/>
          <p:cNvSpPr txBox="1"/>
          <p:nvPr>
            <p:ph type="title"/>
          </p:nvPr>
        </p:nvSpPr>
        <p:spPr>
          <a:xfrm>
            <a:off x="311700" y="445025"/>
            <a:ext cx="305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/>
              <a:t>Anexa 3 - Porți</a:t>
            </a:r>
            <a:endParaRPr b="1"/>
          </a:p>
        </p:txBody>
      </p:sp>
      <p:sp>
        <p:nvSpPr>
          <p:cNvPr id="1013" name="Google Shape;1013;p19"/>
          <p:cNvSpPr txBox="1"/>
          <p:nvPr/>
        </p:nvSpPr>
        <p:spPr>
          <a:xfrm>
            <a:off x="0" y="4095575"/>
            <a:ext cx="5303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Instrucțiuni de utilizare: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Selectați poarta dorită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b="0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Paste pe slide-ul dorit; Îl puteți muta imediat după paste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19"/>
          <p:cNvSpPr txBox="1"/>
          <p:nvPr/>
        </p:nvSpPr>
        <p:spPr>
          <a:xfrm>
            <a:off x="0" y="0"/>
            <a:ext cx="5303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 MODIFICAȚI ACEST SLIDE</a:t>
            </a:r>
            <a:endParaRPr b="1" i="0" sz="11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19"/>
          <p:cNvSpPr/>
          <p:nvPr/>
        </p:nvSpPr>
        <p:spPr>
          <a:xfrm>
            <a:off x="1229400" y="1149025"/>
            <a:ext cx="538200" cy="572700"/>
          </a:xfrm>
          <a:prstGeom prst="flowChartDelay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6" name="Google Shape;1016;p19"/>
          <p:cNvCxnSpPr/>
          <p:nvPr/>
        </p:nvCxnSpPr>
        <p:spPr>
          <a:xfrm flipH="1">
            <a:off x="844300" y="1273300"/>
            <a:ext cx="3876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7" name="Google Shape;1017;p19"/>
          <p:cNvCxnSpPr/>
          <p:nvPr/>
        </p:nvCxnSpPr>
        <p:spPr>
          <a:xfrm flipH="1">
            <a:off x="844300" y="1579950"/>
            <a:ext cx="3876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8" name="Google Shape;1018;p19"/>
          <p:cNvSpPr/>
          <p:nvPr/>
        </p:nvSpPr>
        <p:spPr>
          <a:xfrm>
            <a:off x="1229400" y="1886600"/>
            <a:ext cx="538200" cy="656100"/>
          </a:xfrm>
          <a:prstGeom prst="flowChartDelay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9" name="Google Shape;1019;p19"/>
          <p:cNvCxnSpPr/>
          <p:nvPr/>
        </p:nvCxnSpPr>
        <p:spPr>
          <a:xfrm flipH="1">
            <a:off x="844300" y="1953321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0" name="Google Shape;1020;p19"/>
          <p:cNvCxnSpPr/>
          <p:nvPr/>
        </p:nvCxnSpPr>
        <p:spPr>
          <a:xfrm flipH="1">
            <a:off x="844300" y="2125810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1" name="Google Shape;1021;p19"/>
          <p:cNvSpPr/>
          <p:nvPr/>
        </p:nvSpPr>
        <p:spPr>
          <a:xfrm>
            <a:off x="1229400" y="2715525"/>
            <a:ext cx="538200" cy="1331400"/>
          </a:xfrm>
          <a:prstGeom prst="flowChartDelay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2" name="Google Shape;1022;p19"/>
          <p:cNvCxnSpPr/>
          <p:nvPr/>
        </p:nvCxnSpPr>
        <p:spPr>
          <a:xfrm flipH="1">
            <a:off x="844300" y="2280096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3" name="Google Shape;1023;p19"/>
          <p:cNvCxnSpPr/>
          <p:nvPr/>
        </p:nvCxnSpPr>
        <p:spPr>
          <a:xfrm flipH="1">
            <a:off x="844300" y="2452585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4" name="Google Shape;1024;p19"/>
          <p:cNvCxnSpPr/>
          <p:nvPr/>
        </p:nvCxnSpPr>
        <p:spPr>
          <a:xfrm flipH="1">
            <a:off x="844300" y="2779350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5" name="Google Shape;1025;p19"/>
          <p:cNvCxnSpPr/>
          <p:nvPr/>
        </p:nvCxnSpPr>
        <p:spPr>
          <a:xfrm flipH="1">
            <a:off x="844300" y="2957599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6" name="Google Shape;1026;p19"/>
          <p:cNvCxnSpPr/>
          <p:nvPr/>
        </p:nvCxnSpPr>
        <p:spPr>
          <a:xfrm flipH="1">
            <a:off x="844300" y="3117036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7" name="Google Shape;1027;p19"/>
          <p:cNvCxnSpPr/>
          <p:nvPr/>
        </p:nvCxnSpPr>
        <p:spPr>
          <a:xfrm flipH="1">
            <a:off x="844300" y="3295284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8" name="Google Shape;1028;p19"/>
          <p:cNvCxnSpPr/>
          <p:nvPr/>
        </p:nvCxnSpPr>
        <p:spPr>
          <a:xfrm flipH="1">
            <a:off x="844300" y="3459436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9" name="Google Shape;1029;p19"/>
          <p:cNvCxnSpPr/>
          <p:nvPr/>
        </p:nvCxnSpPr>
        <p:spPr>
          <a:xfrm flipH="1">
            <a:off x="844300" y="3637684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0" name="Google Shape;1030;p19"/>
          <p:cNvCxnSpPr/>
          <p:nvPr/>
        </p:nvCxnSpPr>
        <p:spPr>
          <a:xfrm flipH="1">
            <a:off x="844300" y="3797122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1" name="Google Shape;1031;p19"/>
          <p:cNvCxnSpPr/>
          <p:nvPr/>
        </p:nvCxnSpPr>
        <p:spPr>
          <a:xfrm flipH="1">
            <a:off x="844300" y="3975370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2" name="Google Shape;1032;p19"/>
          <p:cNvSpPr/>
          <p:nvPr/>
        </p:nvSpPr>
        <p:spPr>
          <a:xfrm>
            <a:off x="2828400" y="1212200"/>
            <a:ext cx="538200" cy="2688900"/>
          </a:xfrm>
          <a:prstGeom prst="flowChartDelay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3" name="Google Shape;1033;p19"/>
          <p:cNvCxnSpPr/>
          <p:nvPr/>
        </p:nvCxnSpPr>
        <p:spPr>
          <a:xfrm flipH="1">
            <a:off x="2443300" y="1276025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4" name="Google Shape;1034;p19"/>
          <p:cNvCxnSpPr/>
          <p:nvPr/>
        </p:nvCxnSpPr>
        <p:spPr>
          <a:xfrm flipH="1">
            <a:off x="2443300" y="1454274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5" name="Google Shape;1035;p19"/>
          <p:cNvCxnSpPr/>
          <p:nvPr/>
        </p:nvCxnSpPr>
        <p:spPr>
          <a:xfrm flipH="1">
            <a:off x="2443300" y="1613711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6" name="Google Shape;1036;p19"/>
          <p:cNvCxnSpPr/>
          <p:nvPr/>
        </p:nvCxnSpPr>
        <p:spPr>
          <a:xfrm flipH="1">
            <a:off x="2443300" y="1791959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7" name="Google Shape;1037;p19"/>
          <p:cNvCxnSpPr/>
          <p:nvPr/>
        </p:nvCxnSpPr>
        <p:spPr>
          <a:xfrm flipH="1">
            <a:off x="2443300" y="1956111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8" name="Google Shape;1038;p19"/>
          <p:cNvCxnSpPr/>
          <p:nvPr/>
        </p:nvCxnSpPr>
        <p:spPr>
          <a:xfrm flipH="1">
            <a:off x="2443300" y="2134359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9" name="Google Shape;1039;p19"/>
          <p:cNvCxnSpPr/>
          <p:nvPr/>
        </p:nvCxnSpPr>
        <p:spPr>
          <a:xfrm flipH="1">
            <a:off x="2443300" y="2293797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0" name="Google Shape;1040;p19"/>
          <p:cNvCxnSpPr/>
          <p:nvPr/>
        </p:nvCxnSpPr>
        <p:spPr>
          <a:xfrm flipH="1">
            <a:off x="2443300" y="2472045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1" name="Google Shape;1041;p19"/>
          <p:cNvCxnSpPr/>
          <p:nvPr/>
        </p:nvCxnSpPr>
        <p:spPr>
          <a:xfrm flipH="1">
            <a:off x="2443300" y="2631500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2" name="Google Shape;1042;p19"/>
          <p:cNvCxnSpPr/>
          <p:nvPr/>
        </p:nvCxnSpPr>
        <p:spPr>
          <a:xfrm flipH="1">
            <a:off x="2443300" y="2809749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3" name="Google Shape;1043;p19"/>
          <p:cNvCxnSpPr/>
          <p:nvPr/>
        </p:nvCxnSpPr>
        <p:spPr>
          <a:xfrm flipH="1">
            <a:off x="2443300" y="2969186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4" name="Google Shape;1044;p19"/>
          <p:cNvCxnSpPr/>
          <p:nvPr/>
        </p:nvCxnSpPr>
        <p:spPr>
          <a:xfrm flipH="1">
            <a:off x="2443300" y="3147434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5" name="Google Shape;1045;p19"/>
          <p:cNvCxnSpPr/>
          <p:nvPr/>
        </p:nvCxnSpPr>
        <p:spPr>
          <a:xfrm flipH="1">
            <a:off x="2443300" y="3311586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6" name="Google Shape;1046;p19"/>
          <p:cNvCxnSpPr/>
          <p:nvPr/>
        </p:nvCxnSpPr>
        <p:spPr>
          <a:xfrm flipH="1">
            <a:off x="2443300" y="3489834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7" name="Google Shape;1047;p19"/>
          <p:cNvCxnSpPr/>
          <p:nvPr/>
        </p:nvCxnSpPr>
        <p:spPr>
          <a:xfrm flipH="1">
            <a:off x="2443300" y="3649272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8" name="Google Shape;1048;p19"/>
          <p:cNvCxnSpPr/>
          <p:nvPr/>
        </p:nvCxnSpPr>
        <p:spPr>
          <a:xfrm flipH="1">
            <a:off x="2443300" y="3827520"/>
            <a:ext cx="387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9" name="Google Shape;1049;p19"/>
          <p:cNvCxnSpPr/>
          <p:nvPr/>
        </p:nvCxnSpPr>
        <p:spPr>
          <a:xfrm flipH="1">
            <a:off x="5166775" y="1335100"/>
            <a:ext cx="5847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0" name="Google Shape;1050;p19"/>
          <p:cNvCxnSpPr/>
          <p:nvPr/>
        </p:nvCxnSpPr>
        <p:spPr>
          <a:xfrm rot="10800000">
            <a:off x="5167025" y="1645100"/>
            <a:ext cx="5943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1" name="Google Shape;1051;p19"/>
          <p:cNvCxnSpPr/>
          <p:nvPr/>
        </p:nvCxnSpPr>
        <p:spPr>
          <a:xfrm flipH="1">
            <a:off x="5166925" y="2018125"/>
            <a:ext cx="4836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2" name="Google Shape;1052;p19"/>
          <p:cNvCxnSpPr/>
          <p:nvPr/>
        </p:nvCxnSpPr>
        <p:spPr>
          <a:xfrm flipH="1">
            <a:off x="5167025" y="2189475"/>
            <a:ext cx="6363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3" name="Google Shape;1053;p19"/>
          <p:cNvCxnSpPr/>
          <p:nvPr/>
        </p:nvCxnSpPr>
        <p:spPr>
          <a:xfrm flipH="1">
            <a:off x="5166950" y="2344475"/>
            <a:ext cx="6462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4" name="Google Shape;1054;p19"/>
          <p:cNvCxnSpPr/>
          <p:nvPr/>
        </p:nvCxnSpPr>
        <p:spPr>
          <a:xfrm rot="10800000">
            <a:off x="5167000" y="2518025"/>
            <a:ext cx="52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5" name="Google Shape;1055;p19"/>
          <p:cNvCxnSpPr/>
          <p:nvPr/>
        </p:nvCxnSpPr>
        <p:spPr>
          <a:xfrm flipH="1">
            <a:off x="5167050" y="2844375"/>
            <a:ext cx="4431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6" name="Google Shape;1056;p19"/>
          <p:cNvCxnSpPr/>
          <p:nvPr/>
        </p:nvCxnSpPr>
        <p:spPr>
          <a:xfrm flipH="1">
            <a:off x="5167050" y="3021175"/>
            <a:ext cx="5577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7" name="Google Shape;1057;p19"/>
          <p:cNvCxnSpPr/>
          <p:nvPr/>
        </p:nvCxnSpPr>
        <p:spPr>
          <a:xfrm flipH="1">
            <a:off x="5166875" y="3178350"/>
            <a:ext cx="6168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8" name="Google Shape;1058;p19"/>
          <p:cNvCxnSpPr/>
          <p:nvPr/>
        </p:nvCxnSpPr>
        <p:spPr>
          <a:xfrm flipH="1">
            <a:off x="5166925" y="3357350"/>
            <a:ext cx="6495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9" name="Google Shape;1059;p19"/>
          <p:cNvCxnSpPr/>
          <p:nvPr/>
        </p:nvCxnSpPr>
        <p:spPr>
          <a:xfrm flipH="1">
            <a:off x="5167025" y="3522175"/>
            <a:ext cx="6516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0" name="Google Shape;1060;p19"/>
          <p:cNvCxnSpPr/>
          <p:nvPr/>
        </p:nvCxnSpPr>
        <p:spPr>
          <a:xfrm flipH="1">
            <a:off x="5166775" y="3701175"/>
            <a:ext cx="6180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1" name="Google Shape;1061;p19"/>
          <p:cNvCxnSpPr/>
          <p:nvPr/>
        </p:nvCxnSpPr>
        <p:spPr>
          <a:xfrm flipH="1">
            <a:off x="5166925" y="3859425"/>
            <a:ext cx="5622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2" name="Google Shape;1062;p19"/>
          <p:cNvCxnSpPr/>
          <p:nvPr/>
        </p:nvCxnSpPr>
        <p:spPr>
          <a:xfrm flipH="1">
            <a:off x="5166800" y="4039525"/>
            <a:ext cx="4488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3" name="Google Shape;1063;p19"/>
          <p:cNvCxnSpPr/>
          <p:nvPr/>
        </p:nvCxnSpPr>
        <p:spPr>
          <a:xfrm flipH="1">
            <a:off x="6765875" y="1340325"/>
            <a:ext cx="4149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4" name="Google Shape;1064;p19"/>
          <p:cNvCxnSpPr/>
          <p:nvPr/>
        </p:nvCxnSpPr>
        <p:spPr>
          <a:xfrm flipH="1">
            <a:off x="6765800" y="1516050"/>
            <a:ext cx="4881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5" name="Google Shape;1065;p19"/>
          <p:cNvCxnSpPr/>
          <p:nvPr/>
        </p:nvCxnSpPr>
        <p:spPr>
          <a:xfrm flipH="1">
            <a:off x="6766000" y="1675400"/>
            <a:ext cx="5370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6" name="Google Shape;1066;p19"/>
          <p:cNvCxnSpPr/>
          <p:nvPr/>
        </p:nvCxnSpPr>
        <p:spPr>
          <a:xfrm flipH="1">
            <a:off x="6765875" y="1854400"/>
            <a:ext cx="5808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7" name="Google Shape;1067;p19"/>
          <p:cNvCxnSpPr/>
          <p:nvPr/>
        </p:nvCxnSpPr>
        <p:spPr>
          <a:xfrm flipH="1">
            <a:off x="6766050" y="2017025"/>
            <a:ext cx="6090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8" name="Google Shape;1068;p19"/>
          <p:cNvCxnSpPr/>
          <p:nvPr/>
        </p:nvCxnSpPr>
        <p:spPr>
          <a:xfrm flipH="1">
            <a:off x="6765975" y="2198225"/>
            <a:ext cx="6309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9" name="Google Shape;1069;p19"/>
          <p:cNvCxnSpPr/>
          <p:nvPr/>
        </p:nvCxnSpPr>
        <p:spPr>
          <a:xfrm rot="10800000">
            <a:off x="6765850" y="2359350"/>
            <a:ext cx="6474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0" name="Google Shape;1070;p19"/>
          <p:cNvCxnSpPr/>
          <p:nvPr/>
        </p:nvCxnSpPr>
        <p:spPr>
          <a:xfrm rot="10800000">
            <a:off x="6766000" y="2537650"/>
            <a:ext cx="65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1" name="Google Shape;1071;p19"/>
          <p:cNvCxnSpPr/>
          <p:nvPr/>
        </p:nvCxnSpPr>
        <p:spPr>
          <a:xfrm rot="10800000">
            <a:off x="6765900" y="2697200"/>
            <a:ext cx="6528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2" name="Google Shape;1072;p19"/>
          <p:cNvCxnSpPr/>
          <p:nvPr/>
        </p:nvCxnSpPr>
        <p:spPr>
          <a:xfrm flipH="1">
            <a:off x="6766050" y="2872750"/>
            <a:ext cx="648300" cy="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3" name="Google Shape;1073;p19"/>
          <p:cNvCxnSpPr/>
          <p:nvPr/>
        </p:nvCxnSpPr>
        <p:spPr>
          <a:xfrm flipH="1">
            <a:off x="6765875" y="3033200"/>
            <a:ext cx="6321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4" name="Google Shape;1074;p19"/>
          <p:cNvCxnSpPr/>
          <p:nvPr/>
        </p:nvCxnSpPr>
        <p:spPr>
          <a:xfrm flipH="1">
            <a:off x="6765825" y="3212200"/>
            <a:ext cx="61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5" name="Google Shape;1075;p19"/>
          <p:cNvCxnSpPr/>
          <p:nvPr/>
        </p:nvCxnSpPr>
        <p:spPr>
          <a:xfrm rot="10800000">
            <a:off x="6765775" y="3377200"/>
            <a:ext cx="5787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6" name="Google Shape;1076;p19"/>
          <p:cNvCxnSpPr/>
          <p:nvPr/>
        </p:nvCxnSpPr>
        <p:spPr>
          <a:xfrm flipH="1">
            <a:off x="6765800" y="3554900"/>
            <a:ext cx="5394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7" name="Google Shape;1077;p19"/>
          <p:cNvCxnSpPr/>
          <p:nvPr/>
        </p:nvCxnSpPr>
        <p:spPr>
          <a:xfrm flipH="1">
            <a:off x="6765775" y="3714275"/>
            <a:ext cx="4914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8" name="Google Shape;1078;p19"/>
          <p:cNvCxnSpPr/>
          <p:nvPr/>
        </p:nvCxnSpPr>
        <p:spPr>
          <a:xfrm flipH="1">
            <a:off x="6765825" y="3891075"/>
            <a:ext cx="4215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9" name="Google Shape;1079;p19"/>
          <p:cNvSpPr/>
          <p:nvPr/>
        </p:nvSpPr>
        <p:spPr>
          <a:xfrm flipH="1">
            <a:off x="5552025" y="1204250"/>
            <a:ext cx="538200" cy="572700"/>
          </a:xfrm>
          <a:prstGeom prst="mo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0" name="Google Shape;1080;p19"/>
          <p:cNvCxnSpPr>
            <a:stCxn id="1015" idx="3"/>
          </p:cNvCxnSpPr>
          <p:nvPr/>
        </p:nvCxnSpPr>
        <p:spPr>
          <a:xfrm>
            <a:off x="1767600" y="1435375"/>
            <a:ext cx="1770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1" name="Google Shape;1081;p19"/>
          <p:cNvCxnSpPr/>
          <p:nvPr/>
        </p:nvCxnSpPr>
        <p:spPr>
          <a:xfrm>
            <a:off x="1767600" y="2213150"/>
            <a:ext cx="1770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2" name="Google Shape;1082;p19"/>
          <p:cNvCxnSpPr/>
          <p:nvPr/>
        </p:nvCxnSpPr>
        <p:spPr>
          <a:xfrm>
            <a:off x="1767600" y="3379725"/>
            <a:ext cx="1770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3" name="Google Shape;1083;p19"/>
          <p:cNvCxnSpPr/>
          <p:nvPr/>
        </p:nvCxnSpPr>
        <p:spPr>
          <a:xfrm>
            <a:off x="3366600" y="2570250"/>
            <a:ext cx="1770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4" name="Google Shape;1084;p19"/>
          <p:cNvSpPr/>
          <p:nvPr/>
        </p:nvSpPr>
        <p:spPr>
          <a:xfrm flipH="1">
            <a:off x="5552025" y="1958500"/>
            <a:ext cx="538200" cy="647400"/>
          </a:xfrm>
          <a:prstGeom prst="mo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9"/>
          <p:cNvSpPr/>
          <p:nvPr/>
        </p:nvSpPr>
        <p:spPr>
          <a:xfrm flipH="1">
            <a:off x="5552025" y="2777900"/>
            <a:ext cx="538200" cy="1331400"/>
          </a:xfrm>
          <a:prstGeom prst="mo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19"/>
          <p:cNvSpPr/>
          <p:nvPr/>
        </p:nvSpPr>
        <p:spPr>
          <a:xfrm flipH="1">
            <a:off x="7151025" y="1273300"/>
            <a:ext cx="538200" cy="2688900"/>
          </a:xfrm>
          <a:prstGeom prst="mo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7" name="Google Shape;1087;p19"/>
          <p:cNvCxnSpPr/>
          <p:nvPr/>
        </p:nvCxnSpPr>
        <p:spPr>
          <a:xfrm>
            <a:off x="6090225" y="1453975"/>
            <a:ext cx="1770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8" name="Google Shape;1088;p19"/>
          <p:cNvCxnSpPr/>
          <p:nvPr/>
        </p:nvCxnSpPr>
        <p:spPr>
          <a:xfrm>
            <a:off x="6090225" y="2275925"/>
            <a:ext cx="1770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9" name="Google Shape;1089;p19"/>
          <p:cNvCxnSpPr/>
          <p:nvPr/>
        </p:nvCxnSpPr>
        <p:spPr>
          <a:xfrm>
            <a:off x="6090225" y="3442100"/>
            <a:ext cx="1770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0" name="Google Shape;1090;p19"/>
          <p:cNvCxnSpPr/>
          <p:nvPr/>
        </p:nvCxnSpPr>
        <p:spPr>
          <a:xfrm>
            <a:off x="7689225" y="2616250"/>
            <a:ext cx="1770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1" name="Google Shape;1091;p19"/>
          <p:cNvSpPr/>
          <p:nvPr/>
        </p:nvSpPr>
        <p:spPr>
          <a:xfrm>
            <a:off x="4170250" y="1149025"/>
            <a:ext cx="64200" cy="72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Bogdan</dc:creator>
</cp:coreProperties>
</file>