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FBFBD1-2C4D-417D-A9A2-8488B4246F20}">
  <a:tblStyle styleId="{1CFBFBD1-2C4D-417D-A9A2-8488B4246F2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orin-Ioan SUBȚIRICĂ (123781)" userId="43132631-b52f-408f-886a-f88aa68e2550" providerId="ADAL" clId="{B4FA7CD7-BBAA-4281-A2EF-230F8437A6CE}"/>
    <pc:docChg chg="undo custSel modSld">
      <pc:chgData name="Florin-Ioan SUBȚIRICĂ (123781)" userId="43132631-b52f-408f-886a-f88aa68e2550" providerId="ADAL" clId="{B4FA7CD7-BBAA-4281-A2EF-230F8437A6CE}" dt="2021-12-03T21:32:35.578" v="7" actId="20577"/>
      <pc:docMkLst>
        <pc:docMk/>
      </pc:docMkLst>
      <pc:sldChg chg="modSp mod">
        <pc:chgData name="Florin-Ioan SUBȚIRICĂ (123781)" userId="43132631-b52f-408f-886a-f88aa68e2550" providerId="ADAL" clId="{B4FA7CD7-BBAA-4281-A2EF-230F8437A6CE}" dt="2021-12-03T21:32:35.578" v="7" actId="20577"/>
        <pc:sldMkLst>
          <pc:docMk/>
          <pc:sldMk cId="0" sldId="261"/>
        </pc:sldMkLst>
        <pc:spChg chg="mod">
          <ac:chgData name="Florin-Ioan SUBȚIRICĂ (123781)" userId="43132631-b52f-408f-886a-f88aa68e2550" providerId="ADAL" clId="{B4FA7CD7-BBAA-4281-A2EF-230F8437A6CE}" dt="2021-12-03T21:32:35.578" v="7" actId="20577"/>
          <ac:spMkLst>
            <pc:docMk/>
            <pc:sldMk cId="0" sldId="261"/>
            <ac:spMk id="108" creationId="{00000000-0000-0000-0000-000000000000}"/>
          </ac:spMkLst>
        </pc:spChg>
        <pc:spChg chg="mod">
          <ac:chgData name="Florin-Ioan SUBȚIRICĂ (123781)" userId="43132631-b52f-408f-886a-f88aa68e2550" providerId="ADAL" clId="{B4FA7CD7-BBAA-4281-A2EF-230F8437A6CE}" dt="2021-12-03T21:32:30.703" v="1" actId="20577"/>
          <ac:spMkLst>
            <pc:docMk/>
            <pc:sldMk cId="0" sldId="261"/>
            <ac:spMk id="10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a3421c9604_0_10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3421c9604_0_1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a3421c9604_0_10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a3421c9604_0_1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a3421c9604_0_10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a3421c9604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a3421c9604_0_10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a3421c9604_0_1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a3421c9604_0_10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a3421c9604_0_1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a3421c9604_0_1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a3421c9604_0_1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a3421c9604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a3421c9604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a3421c9604_0_1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a3421c9604_0_1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a3421c9604_0_10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a3421c9604_0_1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a3421c9604_0_1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a3421c9604_0_1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a3421c9604_0_1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a3421c9604_0_1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a3421c9604_0_1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a3421c9604_0_1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a3421c9604_0_1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a3421c9604_0_1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a3421c9604_0_1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a3421c9604_0_1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a3421c9604_0_1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a3421c9604_0_1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3421c9604_0_1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3421c9604_0_1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alin1popa.github.io/logic-gates-lab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408900"/>
            <a:ext cx="8520600" cy="127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b="1">
                <a:latin typeface="Calibri"/>
                <a:ea typeface="Calibri"/>
                <a:cs typeface="Calibri"/>
                <a:sym typeface="Calibri"/>
              </a:rPr>
              <a:t>CBB JK</a:t>
            </a:r>
            <a:endParaRPr sz="3600" b="1" i="1">
              <a:solidFill>
                <a:srgbClr val="999999"/>
              </a:solidFill>
              <a:latin typeface="Calibri"/>
              <a:ea typeface="Calibri"/>
              <a:cs typeface="Calibri"/>
              <a:sym typeface="Calibri"/>
            </a:endParaRPr>
          </a:p>
        </p:txBody>
      </p:sp>
      <p:sp>
        <p:nvSpPr>
          <p:cNvPr id="55" name="Google Shape;55;p13"/>
          <p:cNvSpPr txBox="1"/>
          <p:nvPr/>
        </p:nvSpPr>
        <p:spPr>
          <a:xfrm>
            <a:off x="311700" y="2390100"/>
            <a:ext cx="8520600" cy="2296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600"/>
              </a:spcBef>
              <a:spcAft>
                <a:spcPts val="0"/>
              </a:spcAft>
              <a:buNone/>
            </a:pPr>
            <a:r>
              <a:rPr lang="en" sz="2000" b="1">
                <a:solidFill>
                  <a:srgbClr val="EA9999"/>
                </a:solidFill>
              </a:rPr>
              <a:t>Scop: Învățarea implementării circuitelor secvențiale folosind CBB JK. </a:t>
            </a:r>
            <a:endParaRPr sz="2000" b="1">
              <a:solidFill>
                <a:srgbClr val="EA9999"/>
              </a:solidFill>
            </a:endParaRPr>
          </a:p>
          <a:p>
            <a:pPr marL="0" lvl="0" indent="0" algn="ctr" rtl="0">
              <a:lnSpc>
                <a:spcPct val="115000"/>
              </a:lnSpc>
              <a:spcBef>
                <a:spcPts val="1200"/>
              </a:spcBef>
              <a:spcAft>
                <a:spcPts val="0"/>
              </a:spcAft>
              <a:buNone/>
            </a:pPr>
            <a:r>
              <a:rPr lang="en" sz="2000" b="1">
                <a:solidFill>
                  <a:srgbClr val="EA9999"/>
                </a:solidFill>
              </a:rPr>
              <a:t>Abilități: Capacitatea de a implementa circuite secvențiale folosind CBB JK</a:t>
            </a:r>
            <a:endParaRPr sz="2000" b="1">
              <a:solidFill>
                <a:srgbClr val="EA9999"/>
              </a:solidFill>
            </a:endParaRPr>
          </a:p>
          <a:p>
            <a:pPr marL="0" lvl="0" indent="0" algn="ctr" rtl="0">
              <a:lnSpc>
                <a:spcPct val="115000"/>
              </a:lnSpc>
              <a:spcBef>
                <a:spcPts val="1200"/>
              </a:spcBef>
              <a:spcAft>
                <a:spcPts val="0"/>
              </a:spcAft>
              <a:buNone/>
            </a:pPr>
            <a:r>
              <a:rPr lang="en" sz="2000" b="1">
                <a:solidFill>
                  <a:srgbClr val="EA9999"/>
                </a:solidFill>
              </a:rPr>
              <a:t>Documentație: C12 + cursurile anterioare (C8, C9, C10, C11)</a:t>
            </a:r>
            <a:endParaRPr sz="2000" b="1">
              <a:solidFill>
                <a:srgbClr val="EA9999"/>
              </a:solidFill>
            </a:endParaRPr>
          </a:p>
          <a:p>
            <a:pPr marL="0" lvl="0" indent="0" algn="ctr" rtl="0">
              <a:lnSpc>
                <a:spcPct val="115000"/>
              </a:lnSpc>
              <a:spcBef>
                <a:spcPts val="1200"/>
              </a:spcBef>
              <a:spcAft>
                <a:spcPts val="1200"/>
              </a:spcAft>
              <a:buNone/>
            </a:pPr>
            <a:endParaRPr sz="2800">
              <a:solidFill>
                <a:srgbClr val="A4C2F4"/>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16425"/>
            <a:ext cx="8646600" cy="5727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I. Circuite basculante bistabile (CBB)</a:t>
            </a:r>
            <a:endParaRPr b="1">
              <a:latin typeface="Calibri"/>
              <a:ea typeface="Calibri"/>
              <a:cs typeface="Calibri"/>
              <a:sym typeface="Calibri"/>
            </a:endParaRPr>
          </a:p>
        </p:txBody>
      </p:sp>
      <p:sp>
        <p:nvSpPr>
          <p:cNvPr id="61" name="Google Shape;61;p14"/>
          <p:cNvSpPr txBox="1">
            <a:spLocks noGrp="1"/>
          </p:cNvSpPr>
          <p:nvPr>
            <p:ph type="body" idx="1"/>
          </p:nvPr>
        </p:nvSpPr>
        <p:spPr>
          <a:xfrm>
            <a:off x="311700" y="923875"/>
            <a:ext cx="8520600" cy="34164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000" b="1">
                <a:solidFill>
                  <a:srgbClr val="434343"/>
                </a:solidFill>
                <a:latin typeface="Calibri"/>
                <a:ea typeface="Calibri"/>
                <a:cs typeface="Calibri"/>
                <a:sym typeface="Calibri"/>
              </a:rPr>
              <a:t>Circuitele basculante bistabile</a:t>
            </a:r>
            <a:r>
              <a:rPr lang="en" sz="2000">
                <a:solidFill>
                  <a:srgbClr val="434343"/>
                </a:solidFill>
                <a:latin typeface="Calibri"/>
                <a:ea typeface="Calibri"/>
                <a:cs typeface="Calibri"/>
                <a:sym typeface="Calibri"/>
              </a:rPr>
              <a:t> sunt circuite secvențiale sincrone (au intrare de ceas).</a:t>
            </a:r>
            <a:endParaRPr sz="2000">
              <a:solidFill>
                <a:srgbClr val="434343"/>
              </a:solidFill>
              <a:latin typeface="Calibri"/>
              <a:ea typeface="Calibri"/>
              <a:cs typeface="Calibri"/>
              <a:sym typeface="Calibri"/>
            </a:endParaRPr>
          </a:p>
          <a:p>
            <a:pPr marL="0" lvl="0" indent="0" algn="just" rtl="0">
              <a:spcBef>
                <a:spcPts val="1600"/>
              </a:spcBef>
              <a:spcAft>
                <a:spcPts val="1600"/>
              </a:spcAft>
              <a:buNone/>
            </a:pPr>
            <a:endParaRPr sz="2000">
              <a:solidFill>
                <a:srgbClr val="434343"/>
              </a:solidFill>
              <a:latin typeface="Calibri"/>
              <a:ea typeface="Calibri"/>
              <a:cs typeface="Calibri"/>
              <a:sym typeface="Calibri"/>
            </a:endParaRPr>
          </a:p>
        </p:txBody>
      </p:sp>
      <p:pic>
        <p:nvPicPr>
          <p:cNvPr id="62" name="Google Shape;62;p14"/>
          <p:cNvPicPr preferRelativeResize="0"/>
          <p:nvPr/>
        </p:nvPicPr>
        <p:blipFill>
          <a:blip r:embed="rId3">
            <a:alphaModFix/>
          </a:blip>
          <a:stretch>
            <a:fillRect/>
          </a:stretch>
        </p:blipFill>
        <p:spPr>
          <a:xfrm>
            <a:off x="517038" y="2113823"/>
            <a:ext cx="1251325" cy="1036503"/>
          </a:xfrm>
          <a:prstGeom prst="rect">
            <a:avLst/>
          </a:prstGeom>
          <a:noFill/>
          <a:ln>
            <a:noFill/>
          </a:ln>
        </p:spPr>
      </p:pic>
      <p:graphicFrame>
        <p:nvGraphicFramePr>
          <p:cNvPr id="63" name="Google Shape;63;p14"/>
          <p:cNvGraphicFramePr/>
          <p:nvPr/>
        </p:nvGraphicFramePr>
        <p:xfrm>
          <a:off x="640675" y="3238650"/>
          <a:ext cx="1004050" cy="1005750"/>
        </p:xfrm>
        <a:graphic>
          <a:graphicData uri="http://schemas.openxmlformats.org/drawingml/2006/table">
            <a:tbl>
              <a:tblPr>
                <a:noFill/>
                <a:tableStyleId>{1CFBFBD1-2C4D-417D-A9A2-8488B4246F20}</a:tableStyleId>
              </a:tblPr>
              <a:tblGrid>
                <a:gridCol w="502025">
                  <a:extLst>
                    <a:ext uri="{9D8B030D-6E8A-4147-A177-3AD203B41FA5}">
                      <a16:colId xmlns:a16="http://schemas.microsoft.com/office/drawing/2014/main" val="20000"/>
                    </a:ext>
                  </a:extLst>
                </a:gridCol>
                <a:gridCol w="502025">
                  <a:extLst>
                    <a:ext uri="{9D8B030D-6E8A-4147-A177-3AD203B41FA5}">
                      <a16:colId xmlns:a16="http://schemas.microsoft.com/office/drawing/2014/main" val="20001"/>
                    </a:ext>
                  </a:extLst>
                </a:gridCol>
              </a:tblGrid>
              <a:tr h="321200">
                <a:tc>
                  <a:txBody>
                    <a:bodyPr/>
                    <a:lstStyle/>
                    <a:p>
                      <a:pPr marL="0" lvl="0" indent="0" algn="ctr" rtl="0">
                        <a:spcBef>
                          <a:spcPts val="0"/>
                        </a:spcBef>
                        <a:spcAft>
                          <a:spcPts val="0"/>
                        </a:spcAft>
                        <a:buNone/>
                      </a:pPr>
                      <a:r>
                        <a:rPr lang="en" sz="1000" b="1"/>
                        <a:t>D</a:t>
                      </a:r>
                      <a:endParaRPr sz="1000" b="1"/>
                    </a:p>
                  </a:txBody>
                  <a:tcPr marL="91425" marR="91425" marT="91425" marB="91425">
                    <a:lnR w="38100" cap="flat" cmpd="sng">
                      <a:solidFill>
                        <a:srgbClr val="9E9E9E"/>
                      </a:solidFill>
                      <a:prstDash val="solid"/>
                      <a:round/>
                      <a:headEnd type="none" w="sm" len="sm"/>
                      <a:tailEnd type="none" w="sm" len="sm"/>
                    </a:lnR>
                    <a:solidFill>
                      <a:srgbClr val="CCCCCC"/>
                    </a:solidFill>
                  </a:tcPr>
                </a:tc>
                <a:tc>
                  <a:txBody>
                    <a:bodyPr/>
                    <a:lstStyle/>
                    <a:p>
                      <a:pPr marL="0" lvl="0" indent="0" algn="ctr" rtl="0">
                        <a:spcBef>
                          <a:spcPts val="0"/>
                        </a:spcBef>
                        <a:spcAft>
                          <a:spcPts val="0"/>
                        </a:spcAft>
                        <a:buNone/>
                      </a:pPr>
                      <a:r>
                        <a:rPr lang="en" sz="1000" b="1"/>
                        <a:t>Q</a:t>
                      </a:r>
                      <a:r>
                        <a:rPr lang="en" sz="1000" b="1" baseline="30000"/>
                        <a:t>t+1</a:t>
                      </a:r>
                      <a:endParaRPr sz="1000" b="1" baseline="30000"/>
                    </a:p>
                  </a:txBody>
                  <a:tcPr marL="91425" marR="91425" marT="91425" marB="91425">
                    <a:lnL w="38100" cap="flat" cmpd="sng">
                      <a:solidFill>
                        <a:srgbClr val="9E9E9E"/>
                      </a:solidFill>
                      <a:prstDash val="solid"/>
                      <a:round/>
                      <a:headEnd type="none" w="sm" len="sm"/>
                      <a:tailEnd type="none" w="sm" len="sm"/>
                    </a:lnL>
                    <a:solidFill>
                      <a:srgbClr val="CCCCCC"/>
                    </a:solidFill>
                  </a:tcPr>
                </a:tc>
                <a:extLst>
                  <a:ext uri="{0D108BD9-81ED-4DB2-BD59-A6C34878D82A}">
                    <a16:rowId xmlns:a16="http://schemas.microsoft.com/office/drawing/2014/main" val="10000"/>
                  </a:ext>
                </a:extLst>
              </a:tr>
              <a:tr h="321200">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extLst>
                  <a:ext uri="{0D108BD9-81ED-4DB2-BD59-A6C34878D82A}">
                    <a16:rowId xmlns:a16="http://schemas.microsoft.com/office/drawing/2014/main" val="10001"/>
                  </a:ext>
                </a:extLst>
              </a:tr>
              <a:tr h="321200">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1</a:t>
                      </a:r>
                      <a:endParaRPr sz="1000"/>
                    </a:p>
                  </a:txBody>
                  <a:tcPr marL="91425" marR="91425" marT="91425" marB="91425">
                    <a:lnL w="38100" cap="flat" cmpd="sng">
                      <a:solidFill>
                        <a:srgbClr val="9E9E9E"/>
                      </a:solidFill>
                      <a:prstDash val="solid"/>
                      <a:round/>
                      <a:headEnd type="none" w="sm" len="sm"/>
                      <a:tailEnd type="none" w="sm" len="sm"/>
                    </a:lnL>
                  </a:tcPr>
                </a:tc>
                <a:extLst>
                  <a:ext uri="{0D108BD9-81ED-4DB2-BD59-A6C34878D82A}">
                    <a16:rowId xmlns:a16="http://schemas.microsoft.com/office/drawing/2014/main" val="10002"/>
                  </a:ext>
                </a:extLst>
              </a:tr>
            </a:tbl>
          </a:graphicData>
        </a:graphic>
      </p:graphicFrame>
      <p:pic>
        <p:nvPicPr>
          <p:cNvPr id="64" name="Google Shape;64;p14"/>
          <p:cNvPicPr preferRelativeResize="0"/>
          <p:nvPr/>
        </p:nvPicPr>
        <p:blipFill>
          <a:blip r:embed="rId4">
            <a:alphaModFix/>
          </a:blip>
          <a:stretch>
            <a:fillRect/>
          </a:stretch>
        </p:blipFill>
        <p:spPr>
          <a:xfrm>
            <a:off x="7069325" y="2202375"/>
            <a:ext cx="1004050" cy="1107920"/>
          </a:xfrm>
          <a:prstGeom prst="rect">
            <a:avLst/>
          </a:prstGeom>
          <a:noFill/>
          <a:ln>
            <a:noFill/>
          </a:ln>
        </p:spPr>
      </p:pic>
      <p:pic>
        <p:nvPicPr>
          <p:cNvPr id="65" name="Google Shape;65;p14"/>
          <p:cNvPicPr preferRelativeResize="0"/>
          <p:nvPr/>
        </p:nvPicPr>
        <p:blipFill>
          <a:blip r:embed="rId5">
            <a:alphaModFix/>
          </a:blip>
          <a:stretch>
            <a:fillRect/>
          </a:stretch>
        </p:blipFill>
        <p:spPr>
          <a:xfrm>
            <a:off x="3656598" y="2202875"/>
            <a:ext cx="1058575" cy="1106925"/>
          </a:xfrm>
          <a:prstGeom prst="rect">
            <a:avLst/>
          </a:prstGeom>
          <a:noFill/>
          <a:ln>
            <a:noFill/>
          </a:ln>
        </p:spPr>
      </p:pic>
      <p:graphicFrame>
        <p:nvGraphicFramePr>
          <p:cNvPr id="66" name="Google Shape;66;p14"/>
          <p:cNvGraphicFramePr/>
          <p:nvPr/>
        </p:nvGraphicFramePr>
        <p:xfrm>
          <a:off x="3199125" y="3238650"/>
          <a:ext cx="1973500" cy="1676250"/>
        </p:xfrm>
        <a:graphic>
          <a:graphicData uri="http://schemas.openxmlformats.org/drawingml/2006/table">
            <a:tbl>
              <a:tblPr>
                <a:noFill/>
                <a:tableStyleId>{1CFBFBD1-2C4D-417D-A9A2-8488B4246F20}</a:tableStyleId>
              </a:tblPr>
              <a:tblGrid>
                <a:gridCol w="493375">
                  <a:extLst>
                    <a:ext uri="{9D8B030D-6E8A-4147-A177-3AD203B41FA5}">
                      <a16:colId xmlns:a16="http://schemas.microsoft.com/office/drawing/2014/main" val="20000"/>
                    </a:ext>
                  </a:extLst>
                </a:gridCol>
                <a:gridCol w="493375">
                  <a:extLst>
                    <a:ext uri="{9D8B030D-6E8A-4147-A177-3AD203B41FA5}">
                      <a16:colId xmlns:a16="http://schemas.microsoft.com/office/drawing/2014/main" val="20001"/>
                    </a:ext>
                  </a:extLst>
                </a:gridCol>
                <a:gridCol w="493375">
                  <a:extLst>
                    <a:ext uri="{9D8B030D-6E8A-4147-A177-3AD203B41FA5}">
                      <a16:colId xmlns:a16="http://schemas.microsoft.com/office/drawing/2014/main" val="20002"/>
                    </a:ext>
                  </a:extLst>
                </a:gridCol>
                <a:gridCol w="493375">
                  <a:extLst>
                    <a:ext uri="{9D8B030D-6E8A-4147-A177-3AD203B41FA5}">
                      <a16:colId xmlns:a16="http://schemas.microsoft.com/office/drawing/2014/main" val="20003"/>
                    </a:ext>
                  </a:extLst>
                </a:gridCol>
              </a:tblGrid>
              <a:tr h="289750">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a:t>
                      </a:r>
                      <a:endParaRPr sz="1000" b="1"/>
                    </a:p>
                  </a:txBody>
                  <a:tcPr marL="91425" marR="91425" marT="91425" marB="91425">
                    <a:solidFill>
                      <a:srgbClr val="CCCCCC"/>
                    </a:solidFill>
                  </a:tcPr>
                </a:tc>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t+1</a:t>
                      </a:r>
                      <a:endParaRPr sz="1000" b="1"/>
                    </a:p>
                  </a:txBody>
                  <a:tcPr marL="91425" marR="91425" marT="91425" marB="91425">
                    <a:lnR w="38100" cap="flat" cmpd="sng">
                      <a:solidFill>
                        <a:srgbClr val="9E9E9E"/>
                      </a:solidFill>
                      <a:prstDash val="solid"/>
                      <a:round/>
                      <a:headEnd type="none" w="sm" len="sm"/>
                      <a:tailEnd type="none" w="sm" len="sm"/>
                    </a:lnR>
                    <a:solidFill>
                      <a:srgbClr val="CCCCCC"/>
                    </a:solidFill>
                  </a:tcPr>
                </a:tc>
                <a:tc>
                  <a:txBody>
                    <a:bodyPr/>
                    <a:lstStyle/>
                    <a:p>
                      <a:pPr marL="0" lvl="0" indent="0" algn="ctr" rtl="0">
                        <a:spcBef>
                          <a:spcPts val="0"/>
                        </a:spcBef>
                        <a:spcAft>
                          <a:spcPts val="0"/>
                        </a:spcAft>
                        <a:buNone/>
                      </a:pPr>
                      <a:r>
                        <a:rPr lang="en" sz="1000" b="1"/>
                        <a:t>J</a:t>
                      </a:r>
                      <a:endParaRPr sz="1000" b="1"/>
                    </a:p>
                  </a:txBody>
                  <a:tcPr marL="91425" marR="91425" marT="91425" marB="91425">
                    <a:lnL w="38100" cap="flat" cmpd="sng">
                      <a:solidFill>
                        <a:srgbClr val="9E9E9E"/>
                      </a:solidFill>
                      <a:prstDash val="solid"/>
                      <a:round/>
                      <a:headEnd type="none" w="sm" len="sm"/>
                      <a:tailEnd type="none" w="sm" len="sm"/>
                    </a:lnL>
                    <a:solidFill>
                      <a:srgbClr val="CCCCCC"/>
                    </a:solidFill>
                  </a:tcPr>
                </a:tc>
                <a:tc>
                  <a:txBody>
                    <a:bodyPr/>
                    <a:lstStyle/>
                    <a:p>
                      <a:pPr marL="0" lvl="0" indent="0" algn="ctr" rtl="0">
                        <a:spcBef>
                          <a:spcPts val="0"/>
                        </a:spcBef>
                        <a:spcAft>
                          <a:spcPts val="0"/>
                        </a:spcAft>
                        <a:buNone/>
                      </a:pPr>
                      <a:r>
                        <a:rPr lang="en" sz="1000" b="1"/>
                        <a:t>K</a:t>
                      </a:r>
                      <a:endParaRPr sz="1000" b="1" baseline="30000"/>
                    </a:p>
                  </a:txBody>
                  <a:tcPr marL="91425" marR="91425" marT="91425" marB="91425">
                    <a:solidFill>
                      <a:srgbClr val="CCCCCC"/>
                    </a:solidFill>
                  </a:tcPr>
                </a:tc>
                <a:extLst>
                  <a:ext uri="{0D108BD9-81ED-4DB2-BD59-A6C34878D82A}">
                    <a16:rowId xmlns:a16="http://schemas.microsoft.com/office/drawing/2014/main" val="10000"/>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1"/>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1</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2"/>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1</a:t>
                      </a:r>
                      <a:endParaRPr sz="1000"/>
                    </a:p>
                  </a:txBody>
                  <a:tcPr marL="91425" marR="91425" marT="91425" marB="91425"/>
                </a:tc>
                <a:extLst>
                  <a:ext uri="{0D108BD9-81ED-4DB2-BD59-A6C34878D82A}">
                    <a16:rowId xmlns:a16="http://schemas.microsoft.com/office/drawing/2014/main" val="10003"/>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0</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67" name="Google Shape;67;p14"/>
          <p:cNvSpPr txBox="1"/>
          <p:nvPr/>
        </p:nvSpPr>
        <p:spPr>
          <a:xfrm>
            <a:off x="311713" y="1861175"/>
            <a:ext cx="1662000" cy="445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AutoNum type="arabicParenR"/>
            </a:pPr>
            <a:r>
              <a:rPr lang="en" b="1">
                <a:solidFill>
                  <a:schemeClr val="dk2"/>
                </a:solidFill>
              </a:rPr>
              <a:t>CBB tip D</a:t>
            </a:r>
            <a:endParaRPr b="1">
              <a:solidFill>
                <a:schemeClr val="dk2"/>
              </a:solidFill>
            </a:endParaRPr>
          </a:p>
        </p:txBody>
      </p:sp>
      <p:sp>
        <p:nvSpPr>
          <p:cNvPr id="68" name="Google Shape;68;p14"/>
          <p:cNvSpPr txBox="1"/>
          <p:nvPr/>
        </p:nvSpPr>
        <p:spPr>
          <a:xfrm>
            <a:off x="3345625" y="1861175"/>
            <a:ext cx="1662000" cy="445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AutoNum type="arabicParenR" startAt="2"/>
            </a:pPr>
            <a:r>
              <a:rPr lang="en" b="1">
                <a:solidFill>
                  <a:schemeClr val="dk2"/>
                </a:solidFill>
              </a:rPr>
              <a:t>CBB tip JK</a:t>
            </a:r>
            <a:endParaRPr b="1">
              <a:solidFill>
                <a:schemeClr val="dk2"/>
              </a:solidFill>
            </a:endParaRPr>
          </a:p>
        </p:txBody>
      </p:sp>
      <p:sp>
        <p:nvSpPr>
          <p:cNvPr id="69" name="Google Shape;69;p14"/>
          <p:cNvSpPr txBox="1"/>
          <p:nvPr/>
        </p:nvSpPr>
        <p:spPr>
          <a:xfrm>
            <a:off x="6531000" y="1861175"/>
            <a:ext cx="1662000" cy="445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2"/>
              </a:buClr>
              <a:buSzPts val="1400"/>
              <a:buAutoNum type="arabicParenR" startAt="3"/>
            </a:pPr>
            <a:r>
              <a:rPr lang="en" b="1">
                <a:solidFill>
                  <a:schemeClr val="dk2"/>
                </a:solidFill>
              </a:rPr>
              <a:t>CBB tip RS</a:t>
            </a:r>
            <a:endParaRPr b="1">
              <a:solidFill>
                <a:schemeClr val="dk2"/>
              </a:solidFill>
            </a:endParaRPr>
          </a:p>
        </p:txBody>
      </p:sp>
      <p:graphicFrame>
        <p:nvGraphicFramePr>
          <p:cNvPr id="70" name="Google Shape;70;p14"/>
          <p:cNvGraphicFramePr/>
          <p:nvPr/>
        </p:nvGraphicFramePr>
        <p:xfrm>
          <a:off x="6584600" y="3238650"/>
          <a:ext cx="1973500" cy="1676250"/>
        </p:xfrm>
        <a:graphic>
          <a:graphicData uri="http://schemas.openxmlformats.org/drawingml/2006/table">
            <a:tbl>
              <a:tblPr>
                <a:noFill/>
                <a:tableStyleId>{1CFBFBD1-2C4D-417D-A9A2-8488B4246F20}</a:tableStyleId>
              </a:tblPr>
              <a:tblGrid>
                <a:gridCol w="493375">
                  <a:extLst>
                    <a:ext uri="{9D8B030D-6E8A-4147-A177-3AD203B41FA5}">
                      <a16:colId xmlns:a16="http://schemas.microsoft.com/office/drawing/2014/main" val="20000"/>
                    </a:ext>
                  </a:extLst>
                </a:gridCol>
                <a:gridCol w="493375">
                  <a:extLst>
                    <a:ext uri="{9D8B030D-6E8A-4147-A177-3AD203B41FA5}">
                      <a16:colId xmlns:a16="http://schemas.microsoft.com/office/drawing/2014/main" val="20001"/>
                    </a:ext>
                  </a:extLst>
                </a:gridCol>
                <a:gridCol w="493375">
                  <a:extLst>
                    <a:ext uri="{9D8B030D-6E8A-4147-A177-3AD203B41FA5}">
                      <a16:colId xmlns:a16="http://schemas.microsoft.com/office/drawing/2014/main" val="20002"/>
                    </a:ext>
                  </a:extLst>
                </a:gridCol>
                <a:gridCol w="493375">
                  <a:extLst>
                    <a:ext uri="{9D8B030D-6E8A-4147-A177-3AD203B41FA5}">
                      <a16:colId xmlns:a16="http://schemas.microsoft.com/office/drawing/2014/main" val="20003"/>
                    </a:ext>
                  </a:extLst>
                </a:gridCol>
              </a:tblGrid>
              <a:tr h="289750">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a:t>
                      </a:r>
                      <a:endParaRPr sz="1000" b="1"/>
                    </a:p>
                  </a:txBody>
                  <a:tcPr marL="91425" marR="91425" marT="91425" marB="91425">
                    <a:solidFill>
                      <a:srgbClr val="CCCCCC"/>
                    </a:solidFill>
                  </a:tcPr>
                </a:tc>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t+1</a:t>
                      </a:r>
                      <a:endParaRPr sz="1000" b="1"/>
                    </a:p>
                  </a:txBody>
                  <a:tcPr marL="91425" marR="91425" marT="91425" marB="91425">
                    <a:lnR w="38100" cap="flat" cmpd="sng">
                      <a:solidFill>
                        <a:srgbClr val="9E9E9E"/>
                      </a:solidFill>
                      <a:prstDash val="solid"/>
                      <a:round/>
                      <a:headEnd type="none" w="sm" len="sm"/>
                      <a:tailEnd type="none" w="sm" len="sm"/>
                    </a:lnR>
                    <a:solidFill>
                      <a:srgbClr val="CCCCCC"/>
                    </a:solidFill>
                  </a:tcPr>
                </a:tc>
                <a:tc>
                  <a:txBody>
                    <a:bodyPr/>
                    <a:lstStyle/>
                    <a:p>
                      <a:pPr marL="0" lvl="0" indent="0" algn="ctr" rtl="0">
                        <a:spcBef>
                          <a:spcPts val="0"/>
                        </a:spcBef>
                        <a:spcAft>
                          <a:spcPts val="0"/>
                        </a:spcAft>
                        <a:buNone/>
                      </a:pPr>
                      <a:r>
                        <a:rPr lang="en" sz="1000" b="1"/>
                        <a:t>R</a:t>
                      </a:r>
                      <a:endParaRPr sz="1000" b="1"/>
                    </a:p>
                  </a:txBody>
                  <a:tcPr marL="91425" marR="91425" marT="91425" marB="91425">
                    <a:lnL w="38100" cap="flat" cmpd="sng">
                      <a:solidFill>
                        <a:srgbClr val="9E9E9E"/>
                      </a:solidFill>
                      <a:prstDash val="solid"/>
                      <a:round/>
                      <a:headEnd type="none" w="sm" len="sm"/>
                      <a:tailEnd type="none" w="sm" len="sm"/>
                    </a:lnL>
                    <a:solidFill>
                      <a:srgbClr val="CCCCCC"/>
                    </a:solidFill>
                  </a:tcPr>
                </a:tc>
                <a:tc>
                  <a:txBody>
                    <a:bodyPr/>
                    <a:lstStyle/>
                    <a:p>
                      <a:pPr marL="0" lvl="0" indent="0" algn="ctr" rtl="0">
                        <a:spcBef>
                          <a:spcPts val="0"/>
                        </a:spcBef>
                        <a:spcAft>
                          <a:spcPts val="0"/>
                        </a:spcAft>
                        <a:buNone/>
                      </a:pPr>
                      <a:r>
                        <a:rPr lang="en" sz="1000" b="1"/>
                        <a:t>S</a:t>
                      </a:r>
                      <a:endParaRPr sz="1000" b="1" baseline="30000"/>
                    </a:p>
                  </a:txBody>
                  <a:tcPr marL="91425" marR="91425" marT="91425" marB="91425">
                    <a:solidFill>
                      <a:srgbClr val="CCCCCC"/>
                    </a:solidFill>
                  </a:tcPr>
                </a:tc>
                <a:extLst>
                  <a:ext uri="{0D108BD9-81ED-4DB2-BD59-A6C34878D82A}">
                    <a16:rowId xmlns:a16="http://schemas.microsoft.com/office/drawing/2014/main" val="10000"/>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0</a:t>
                      </a:r>
                      <a:endParaRPr sz="1000"/>
                    </a:p>
                  </a:txBody>
                  <a:tcPr marL="91425" marR="91425" marT="91425" marB="91425"/>
                </a:tc>
                <a:extLst>
                  <a:ext uri="{0D108BD9-81ED-4DB2-BD59-A6C34878D82A}">
                    <a16:rowId xmlns:a16="http://schemas.microsoft.com/office/drawing/2014/main" val="10001"/>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1</a:t>
                      </a:r>
                      <a:endParaRPr sz="1000"/>
                    </a:p>
                  </a:txBody>
                  <a:tcPr marL="91425" marR="91425" marT="91425" marB="91425"/>
                </a:tc>
                <a:extLst>
                  <a:ext uri="{0D108BD9-81ED-4DB2-BD59-A6C34878D82A}">
                    <a16:rowId xmlns:a16="http://schemas.microsoft.com/office/drawing/2014/main" val="10002"/>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1</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0</a:t>
                      </a:r>
                      <a:endParaRPr sz="1000"/>
                    </a:p>
                  </a:txBody>
                  <a:tcPr marL="91425" marR="91425" marT="91425" marB="91425"/>
                </a:tc>
                <a:extLst>
                  <a:ext uri="{0D108BD9-81ED-4DB2-BD59-A6C34878D82A}">
                    <a16:rowId xmlns:a16="http://schemas.microsoft.com/office/drawing/2014/main" val="10003"/>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71" name="Google Shape;71;p14"/>
          <p:cNvSpPr txBox="1"/>
          <p:nvPr/>
        </p:nvSpPr>
        <p:spPr>
          <a:xfrm>
            <a:off x="311688" y="4332725"/>
            <a:ext cx="1662000" cy="44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2"/>
                </a:solidFill>
              </a:rPr>
              <a:t>D = Q</a:t>
            </a:r>
            <a:r>
              <a:rPr lang="en" baseline="30000">
                <a:solidFill>
                  <a:schemeClr val="dk2"/>
                </a:solidFill>
              </a:rPr>
              <a:t>t+1</a:t>
            </a:r>
            <a:endParaRPr baseline="30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00" y="1283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464646"/>
                </a:solidFill>
                <a:latin typeface="Calibri"/>
                <a:ea typeface="Calibri"/>
                <a:cs typeface="Calibri"/>
                <a:sym typeface="Calibri"/>
              </a:rPr>
              <a:t>II. Folosirea organigramelor în sinteza circuitelor secvențiale </a:t>
            </a:r>
            <a:endParaRPr>
              <a:latin typeface="Calibri"/>
              <a:ea typeface="Calibri"/>
              <a:cs typeface="Calibri"/>
              <a:sym typeface="Calibri"/>
            </a:endParaRPr>
          </a:p>
        </p:txBody>
      </p:sp>
      <p:sp>
        <p:nvSpPr>
          <p:cNvPr id="77" name="Google Shape;77;p15"/>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Autofit/>
          </a:bodyPr>
          <a:lstStyle/>
          <a:p>
            <a:pPr marL="0" lvl="0" indent="0" algn="l" rtl="0">
              <a:spcBef>
                <a:spcPts val="400"/>
              </a:spcBef>
              <a:spcAft>
                <a:spcPts val="0"/>
              </a:spcAft>
              <a:buClr>
                <a:schemeClr val="dk1"/>
              </a:buClr>
              <a:buSzPts val="1100"/>
              <a:buFont typeface="Arial"/>
              <a:buNone/>
            </a:pPr>
            <a:r>
              <a:rPr lang="en" sz="1150">
                <a:solidFill>
                  <a:srgbClr val="2DA2BF"/>
                </a:solidFill>
              </a:rPr>
              <a:t>1.</a:t>
            </a:r>
            <a:r>
              <a:rPr lang="en">
                <a:solidFill>
                  <a:schemeClr val="dk1"/>
                </a:solidFill>
              </a:rPr>
              <a:t>Descrierea în cuvinte și sub formă de schemă bloc a  condițiilor de funcționare</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2.</a:t>
            </a:r>
            <a:r>
              <a:rPr lang="en">
                <a:solidFill>
                  <a:schemeClr val="dk1"/>
                </a:solidFill>
              </a:rPr>
              <a:t>Elaborarea organigramei</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3.</a:t>
            </a:r>
            <a:r>
              <a:rPr lang="en">
                <a:solidFill>
                  <a:schemeClr val="dk1"/>
                </a:solidFill>
              </a:rPr>
              <a:t>Codificarea stărilor</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4.</a:t>
            </a:r>
            <a:r>
              <a:rPr lang="en">
                <a:solidFill>
                  <a:schemeClr val="dk1"/>
                </a:solidFill>
              </a:rPr>
              <a:t>Construcția tabelului de adevăr (tabelul tranzițiilor)</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5.</a:t>
            </a:r>
            <a:r>
              <a:rPr lang="en">
                <a:solidFill>
                  <a:schemeClr val="dk1"/>
                </a:solidFill>
              </a:rPr>
              <a:t>Construirea diagramelor Karnaugh pentru variabilele de stare</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6.</a:t>
            </a:r>
            <a:r>
              <a:rPr lang="en">
                <a:solidFill>
                  <a:schemeClr val="dk1"/>
                </a:solidFill>
              </a:rPr>
              <a:t>Obținerea ecuațiilor de stare</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7.</a:t>
            </a:r>
            <a:r>
              <a:rPr lang="en">
                <a:solidFill>
                  <a:schemeClr val="dk1"/>
                </a:solidFill>
              </a:rPr>
              <a:t>Obținerea ecuațiilor de utilizare a CBB-urilor folosite în implementare</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8.</a:t>
            </a:r>
            <a:r>
              <a:rPr lang="en">
                <a:solidFill>
                  <a:schemeClr val="dk1"/>
                </a:solidFill>
              </a:rPr>
              <a:t>Determinarea expresiilor logice ale variabilelor de ieșire</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9.</a:t>
            </a:r>
            <a:r>
              <a:rPr lang="en">
                <a:solidFill>
                  <a:schemeClr val="dk1"/>
                </a:solidFill>
              </a:rPr>
              <a:t>Implementarea cu circuite integrate (desenare schemă)</a:t>
            </a:r>
            <a:endParaRPr>
              <a:solidFill>
                <a:schemeClr val="dk1"/>
              </a:solidFill>
            </a:endParaRPr>
          </a:p>
          <a:p>
            <a:pPr marL="0" lvl="0" indent="0" algn="l" rtl="0">
              <a:spcBef>
                <a:spcPts val="400"/>
              </a:spcBef>
              <a:spcAft>
                <a:spcPts val="0"/>
              </a:spcAft>
              <a:buClr>
                <a:schemeClr val="dk1"/>
              </a:buClr>
              <a:buSzPts val="1100"/>
              <a:buFont typeface="Arial"/>
              <a:buNone/>
            </a:pPr>
            <a:r>
              <a:rPr lang="en" sz="1150">
                <a:solidFill>
                  <a:srgbClr val="2DA2BF"/>
                </a:solidFill>
              </a:rPr>
              <a:t>10.</a:t>
            </a:r>
            <a:r>
              <a:rPr lang="en">
                <a:solidFill>
                  <a:schemeClr val="dk1"/>
                </a:solidFill>
              </a:rPr>
              <a:t>Analiza finală a modului de realizare a tranzițiilor și de apariție a semnalelor de ieșire (curse critice și hazard computațional)</a:t>
            </a:r>
            <a:endParaRPr>
              <a:solidFill>
                <a:schemeClr val="dk1"/>
              </a:solidFill>
            </a:endParaRPr>
          </a:p>
          <a:p>
            <a:pPr marL="0" lvl="0" indent="0" algn="l" rtl="0">
              <a:spcBef>
                <a:spcPts val="0"/>
              </a:spcBef>
              <a:spcAft>
                <a:spcPts val="1600"/>
              </a:spcAft>
              <a:buNone/>
            </a:pP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1. Descrierea în cuvinte și sub formă de schemă bloc </a:t>
            </a:r>
            <a:endParaRPr b="1">
              <a:latin typeface="Calibri"/>
              <a:ea typeface="Calibri"/>
              <a:cs typeface="Calibri"/>
              <a:sym typeface="Calibri"/>
            </a:endParaRPr>
          </a:p>
        </p:txBody>
      </p:sp>
      <p:sp>
        <p:nvSpPr>
          <p:cNvPr id="83" name="Google Shape;8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De curand, hipermarket-urile au introdus casele de self-payment. Se cere să se implementeze modulul de plata al unei astfel de case self-payment. Casa trebuie mai întâi să verifice dacă utilizatorul are card de fidelitate sau nu, și în caz că are, să se afișeze un mesaj referitor la scanarea acestui card. Ulterior, utilizatorul este rugat să aleagă metoda de plată - cash sau card. Dacă utilizatorul are card de fidelitate, se trece într-o stare unde îi sunt adăugate punctele bonus câștigate la cumpărătura curentă și apoi, în funcție de modalitatea de plată aleasă i se afișează mesajul de plată efectuată cu card / cash. Dacă utilizatorul nu are card, i se afiseaza direct mesajul de plată efectuată cu card / cash, după care se încearcă fidelizarea acestuia prin afisarea unei metode prin care ar putea sa obțină un card de fidelitate.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1. Descrierea în cuvinte și sub formă de schemă bloc </a:t>
            </a:r>
            <a:endParaRPr b="1">
              <a:latin typeface="Calibri"/>
              <a:ea typeface="Calibri"/>
              <a:cs typeface="Calibri"/>
              <a:sym typeface="Calibri"/>
            </a:endParaRPr>
          </a:p>
        </p:txBody>
      </p:sp>
      <p:sp>
        <p:nvSpPr>
          <p:cNvPr id="89" name="Google Shape;89;p17"/>
          <p:cNvSpPr txBox="1">
            <a:spLocks noGrp="1"/>
          </p:cNvSpPr>
          <p:nvPr>
            <p:ph type="body" idx="1"/>
          </p:nvPr>
        </p:nvSpPr>
        <p:spPr>
          <a:xfrm>
            <a:off x="311700" y="1152475"/>
            <a:ext cx="8520600" cy="133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Intrări: A - utilizatorul are card de fidelitate sau nu, B - plată cash sau card</a:t>
            </a:r>
            <a:endParaRPr/>
          </a:p>
          <a:p>
            <a:pPr marL="0" lvl="0" indent="0" algn="l" rtl="0">
              <a:spcBef>
                <a:spcPts val="1600"/>
              </a:spcBef>
              <a:spcAft>
                <a:spcPts val="1600"/>
              </a:spcAft>
              <a:buNone/>
            </a:pPr>
            <a:r>
              <a:rPr lang="en"/>
              <a:t>Ieșiri: O1 - scanați cardul de fidelitate, O2 - plată cu cardul efectuată, O3 - plată cash efectuată, O4 - mesaj pentru încercare fidelizare</a:t>
            </a:r>
            <a:endParaRPr/>
          </a:p>
        </p:txBody>
      </p:sp>
      <p:sp>
        <p:nvSpPr>
          <p:cNvPr id="90" name="Google Shape;90;p17"/>
          <p:cNvSpPr/>
          <p:nvPr/>
        </p:nvSpPr>
        <p:spPr>
          <a:xfrm>
            <a:off x="4008258" y="2495550"/>
            <a:ext cx="2622300" cy="2318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casă self-payment</a:t>
            </a:r>
            <a:endParaRPr/>
          </a:p>
        </p:txBody>
      </p:sp>
      <p:pic>
        <p:nvPicPr>
          <p:cNvPr id="91" name="Google Shape;91;p17"/>
          <p:cNvPicPr preferRelativeResize="0"/>
          <p:nvPr/>
        </p:nvPicPr>
        <p:blipFill>
          <a:blip r:embed="rId3">
            <a:alphaModFix/>
          </a:blip>
          <a:stretch>
            <a:fillRect/>
          </a:stretch>
        </p:blipFill>
        <p:spPr>
          <a:xfrm>
            <a:off x="1697625" y="2561763"/>
            <a:ext cx="802325" cy="2122275"/>
          </a:xfrm>
          <a:prstGeom prst="rect">
            <a:avLst/>
          </a:prstGeom>
          <a:noFill/>
          <a:ln>
            <a:noFill/>
          </a:ln>
        </p:spPr>
      </p:pic>
      <p:cxnSp>
        <p:nvCxnSpPr>
          <p:cNvPr id="92" name="Google Shape;92;p17"/>
          <p:cNvCxnSpPr/>
          <p:nvPr/>
        </p:nvCxnSpPr>
        <p:spPr>
          <a:xfrm>
            <a:off x="2677274" y="2763894"/>
            <a:ext cx="1328700" cy="0"/>
          </a:xfrm>
          <a:prstGeom prst="straightConnector1">
            <a:avLst/>
          </a:prstGeom>
          <a:noFill/>
          <a:ln w="9525" cap="flat" cmpd="sng">
            <a:solidFill>
              <a:schemeClr val="dk2"/>
            </a:solidFill>
            <a:prstDash val="solid"/>
            <a:round/>
            <a:headEnd type="none" w="med" len="med"/>
            <a:tailEnd type="triangle" w="med" len="med"/>
          </a:ln>
        </p:spPr>
      </p:cxnSp>
      <p:cxnSp>
        <p:nvCxnSpPr>
          <p:cNvPr id="93" name="Google Shape;93;p17"/>
          <p:cNvCxnSpPr/>
          <p:nvPr/>
        </p:nvCxnSpPr>
        <p:spPr>
          <a:xfrm>
            <a:off x="2677274" y="3199649"/>
            <a:ext cx="1328700" cy="0"/>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94;p17"/>
          <p:cNvCxnSpPr/>
          <p:nvPr/>
        </p:nvCxnSpPr>
        <p:spPr>
          <a:xfrm flipH="1">
            <a:off x="2701952" y="3923667"/>
            <a:ext cx="1314000" cy="3000"/>
          </a:xfrm>
          <a:prstGeom prst="straightConnector1">
            <a:avLst/>
          </a:prstGeom>
          <a:noFill/>
          <a:ln w="9525" cap="flat" cmpd="sng">
            <a:solidFill>
              <a:schemeClr val="dk2"/>
            </a:solidFill>
            <a:prstDash val="solid"/>
            <a:round/>
            <a:headEnd type="none" w="med" len="med"/>
            <a:tailEnd type="triangle" w="med" len="med"/>
          </a:ln>
        </p:spPr>
      </p:cxnSp>
      <p:cxnSp>
        <p:nvCxnSpPr>
          <p:cNvPr id="95" name="Google Shape;95;p17"/>
          <p:cNvCxnSpPr/>
          <p:nvPr/>
        </p:nvCxnSpPr>
        <p:spPr>
          <a:xfrm flipH="1">
            <a:off x="2694258" y="4211882"/>
            <a:ext cx="1314000" cy="3000"/>
          </a:xfrm>
          <a:prstGeom prst="straightConnector1">
            <a:avLst/>
          </a:prstGeom>
          <a:noFill/>
          <a:ln w="9525" cap="flat" cmpd="sng">
            <a:solidFill>
              <a:schemeClr val="dk2"/>
            </a:solidFill>
            <a:prstDash val="solid"/>
            <a:round/>
            <a:headEnd type="none" w="med" len="med"/>
            <a:tailEnd type="triangle" w="med" len="med"/>
          </a:ln>
        </p:spPr>
      </p:cxnSp>
      <p:cxnSp>
        <p:nvCxnSpPr>
          <p:cNvPr id="96" name="Google Shape;96;p17"/>
          <p:cNvCxnSpPr/>
          <p:nvPr/>
        </p:nvCxnSpPr>
        <p:spPr>
          <a:xfrm flipH="1">
            <a:off x="2694258" y="4517826"/>
            <a:ext cx="1314000" cy="3000"/>
          </a:xfrm>
          <a:prstGeom prst="straightConnector1">
            <a:avLst/>
          </a:prstGeom>
          <a:noFill/>
          <a:ln w="9525" cap="flat" cmpd="sng">
            <a:solidFill>
              <a:schemeClr val="dk2"/>
            </a:solidFill>
            <a:prstDash val="solid"/>
            <a:round/>
            <a:headEnd type="none" w="med" len="med"/>
            <a:tailEnd type="triangle" w="med" len="med"/>
          </a:ln>
        </p:spPr>
      </p:cxnSp>
      <p:cxnSp>
        <p:nvCxnSpPr>
          <p:cNvPr id="97" name="Google Shape;97;p17"/>
          <p:cNvCxnSpPr/>
          <p:nvPr/>
        </p:nvCxnSpPr>
        <p:spPr>
          <a:xfrm flipH="1">
            <a:off x="2694258" y="3621393"/>
            <a:ext cx="1314000" cy="3000"/>
          </a:xfrm>
          <a:prstGeom prst="straightConnector1">
            <a:avLst/>
          </a:prstGeom>
          <a:noFill/>
          <a:ln w="9525" cap="flat" cmpd="sng">
            <a:solidFill>
              <a:schemeClr val="dk2"/>
            </a:solidFill>
            <a:prstDash val="solid"/>
            <a:round/>
            <a:headEnd type="none" w="med" len="med"/>
            <a:tailEnd type="triangle" w="med" len="med"/>
          </a:ln>
        </p:spPr>
      </p:cxnSp>
      <p:sp>
        <p:nvSpPr>
          <p:cNvPr id="98" name="Google Shape;98;p17"/>
          <p:cNvSpPr txBox="1"/>
          <p:nvPr/>
        </p:nvSpPr>
        <p:spPr>
          <a:xfrm>
            <a:off x="3142225" y="2342075"/>
            <a:ext cx="4035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99" name="Google Shape;99;p17"/>
          <p:cNvSpPr txBox="1"/>
          <p:nvPr/>
        </p:nvSpPr>
        <p:spPr>
          <a:xfrm>
            <a:off x="3139875" y="2777850"/>
            <a:ext cx="4035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a:t>
            </a:r>
            <a:endParaRPr/>
          </a:p>
        </p:txBody>
      </p:sp>
      <p:sp>
        <p:nvSpPr>
          <p:cNvPr id="100" name="Google Shape;100;p17"/>
          <p:cNvSpPr txBox="1"/>
          <p:nvPr/>
        </p:nvSpPr>
        <p:spPr>
          <a:xfrm>
            <a:off x="3157200" y="3313856"/>
            <a:ext cx="5166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O1</a:t>
            </a:r>
            <a:endParaRPr/>
          </a:p>
        </p:txBody>
      </p:sp>
      <p:sp>
        <p:nvSpPr>
          <p:cNvPr id="101" name="Google Shape;101;p17"/>
          <p:cNvSpPr txBox="1"/>
          <p:nvPr/>
        </p:nvSpPr>
        <p:spPr>
          <a:xfrm>
            <a:off x="3157200" y="3621388"/>
            <a:ext cx="5166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O2</a:t>
            </a:r>
            <a:endParaRPr/>
          </a:p>
        </p:txBody>
      </p:sp>
      <p:sp>
        <p:nvSpPr>
          <p:cNvPr id="102" name="Google Shape;102;p17"/>
          <p:cNvSpPr txBox="1"/>
          <p:nvPr/>
        </p:nvSpPr>
        <p:spPr>
          <a:xfrm>
            <a:off x="3157200" y="3910787"/>
            <a:ext cx="5166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O3</a:t>
            </a:r>
            <a:endParaRPr/>
          </a:p>
        </p:txBody>
      </p:sp>
      <p:sp>
        <p:nvSpPr>
          <p:cNvPr id="103" name="Google Shape;103;p17"/>
          <p:cNvSpPr txBox="1"/>
          <p:nvPr/>
        </p:nvSpPr>
        <p:spPr>
          <a:xfrm>
            <a:off x="3157200" y="4218319"/>
            <a:ext cx="516600" cy="42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387600" y="0"/>
            <a:ext cx="2930400" cy="5727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Calibri"/>
                <a:ea typeface="Calibri"/>
                <a:cs typeface="Calibri"/>
                <a:sym typeface="Calibri"/>
              </a:rPr>
              <a:t>2. Elaborarea organigramei:</a:t>
            </a:r>
            <a:endParaRPr b="1" dirty="0">
              <a:latin typeface="Calibri"/>
              <a:ea typeface="Calibri"/>
              <a:cs typeface="Calibri"/>
              <a:sym typeface="Calibri"/>
            </a:endParaRPr>
          </a:p>
        </p:txBody>
      </p:sp>
      <p:sp>
        <p:nvSpPr>
          <p:cNvPr id="109" name="Google Shape;109;p18"/>
          <p:cNvSpPr txBox="1">
            <a:spLocks noGrp="1"/>
          </p:cNvSpPr>
          <p:nvPr>
            <p:ph type="body" idx="1"/>
          </p:nvPr>
        </p:nvSpPr>
        <p:spPr>
          <a:xfrm>
            <a:off x="0" y="835750"/>
            <a:ext cx="3318000" cy="3623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000" dirty="0">
                <a:solidFill>
                  <a:srgbClr val="434343"/>
                </a:solidFill>
                <a:latin typeface="Calibri"/>
                <a:ea typeface="Calibri"/>
                <a:cs typeface="Calibri"/>
                <a:sym typeface="Calibri"/>
              </a:rPr>
              <a:t>Vom implementa ASM-ul astfel:</a:t>
            </a:r>
            <a:endParaRPr sz="2000" dirty="0">
              <a:solidFill>
                <a:srgbClr val="434343"/>
              </a:solidFill>
              <a:latin typeface="Calibri"/>
              <a:ea typeface="Calibri"/>
              <a:cs typeface="Calibri"/>
              <a:sym typeface="Calibri"/>
            </a:endParaRPr>
          </a:p>
          <a:p>
            <a:pPr marL="457200" lvl="0" indent="-355600" algn="just" rtl="0">
              <a:spcBef>
                <a:spcPts val="1600"/>
              </a:spcBef>
              <a:spcAft>
                <a:spcPts val="0"/>
              </a:spcAft>
              <a:buClr>
                <a:srgbClr val="434343"/>
              </a:buClr>
              <a:buSzPts val="2000"/>
              <a:buFont typeface="Calibri"/>
              <a:buChar char="●"/>
            </a:pPr>
            <a:r>
              <a:rPr lang="en" sz="2000" dirty="0">
                <a:solidFill>
                  <a:srgbClr val="434343"/>
                </a:solidFill>
                <a:latin typeface="Calibri"/>
                <a:ea typeface="Calibri"/>
                <a:cs typeface="Calibri"/>
                <a:sym typeface="Calibri"/>
              </a:rPr>
              <a:t>Q</a:t>
            </a:r>
            <a:r>
              <a:rPr lang="en" sz="2000" baseline="-25000" dirty="0">
                <a:solidFill>
                  <a:srgbClr val="FF0000"/>
                </a:solidFill>
                <a:latin typeface="Calibri"/>
                <a:ea typeface="Calibri"/>
                <a:cs typeface="Calibri"/>
                <a:sym typeface="Calibri"/>
              </a:rPr>
              <a:t>0</a:t>
            </a:r>
            <a:r>
              <a:rPr lang="en" sz="2000" dirty="0">
                <a:solidFill>
                  <a:srgbClr val="434343"/>
                </a:solidFill>
                <a:latin typeface="Calibri"/>
                <a:ea typeface="Calibri"/>
                <a:cs typeface="Calibri"/>
                <a:sym typeface="Calibri"/>
              </a:rPr>
              <a:t> → CBB de tip D și MUX 4:1</a:t>
            </a:r>
            <a:endParaRPr sz="2000" dirty="0">
              <a:solidFill>
                <a:srgbClr val="434343"/>
              </a:solidFill>
              <a:latin typeface="Calibri"/>
              <a:ea typeface="Calibri"/>
              <a:cs typeface="Calibri"/>
              <a:sym typeface="Calibri"/>
            </a:endParaRPr>
          </a:p>
          <a:p>
            <a:pPr marL="457200" lvl="0" indent="-355600" algn="just" rtl="0">
              <a:spcBef>
                <a:spcPts val="0"/>
              </a:spcBef>
              <a:spcAft>
                <a:spcPts val="0"/>
              </a:spcAft>
              <a:buClr>
                <a:srgbClr val="434343"/>
              </a:buClr>
              <a:buSzPts val="2000"/>
              <a:buFont typeface="Calibri"/>
              <a:buChar char="●"/>
            </a:pPr>
            <a:r>
              <a:rPr lang="en" sz="2000" dirty="0">
                <a:solidFill>
                  <a:srgbClr val="434343"/>
                </a:solidFill>
                <a:latin typeface="Calibri"/>
                <a:ea typeface="Calibri"/>
                <a:cs typeface="Calibri"/>
                <a:sym typeface="Calibri"/>
              </a:rPr>
              <a:t>Q</a:t>
            </a:r>
            <a:r>
              <a:rPr lang="en" sz="2000" baseline="-25000" dirty="0">
                <a:solidFill>
                  <a:srgbClr val="FF0000"/>
                </a:solidFill>
                <a:latin typeface="Calibri"/>
                <a:ea typeface="Calibri"/>
                <a:cs typeface="Calibri"/>
                <a:sym typeface="Calibri"/>
              </a:rPr>
              <a:t>2</a:t>
            </a:r>
            <a:r>
              <a:rPr lang="en" sz="2000" dirty="0">
                <a:solidFill>
                  <a:srgbClr val="434343"/>
                </a:solidFill>
                <a:latin typeface="Calibri"/>
                <a:ea typeface="Calibri"/>
                <a:cs typeface="Calibri"/>
                <a:sym typeface="Calibri"/>
              </a:rPr>
              <a:t> → CBB de tip JK unde J e implementat cu MUX 2:1 și K cu MUX 8:1</a:t>
            </a:r>
            <a:endParaRPr sz="2000" dirty="0">
              <a:solidFill>
                <a:srgbClr val="434343"/>
              </a:solidFill>
              <a:latin typeface="Calibri"/>
              <a:ea typeface="Calibri"/>
              <a:cs typeface="Calibri"/>
              <a:sym typeface="Calibri"/>
            </a:endParaRPr>
          </a:p>
          <a:p>
            <a:pPr marL="457200" lvl="0" indent="-355600" algn="just" rtl="0">
              <a:spcBef>
                <a:spcPts val="0"/>
              </a:spcBef>
              <a:spcAft>
                <a:spcPts val="0"/>
              </a:spcAft>
              <a:buClr>
                <a:srgbClr val="434343"/>
              </a:buClr>
              <a:buSzPts val="2000"/>
              <a:buFont typeface="Calibri"/>
              <a:buChar char="●"/>
            </a:pPr>
            <a:r>
              <a:rPr lang="en" sz="2000" dirty="0">
                <a:solidFill>
                  <a:srgbClr val="434343"/>
                </a:solidFill>
                <a:latin typeface="Calibri"/>
                <a:ea typeface="Calibri"/>
                <a:cs typeface="Calibri"/>
                <a:sym typeface="Calibri"/>
              </a:rPr>
              <a:t>Q</a:t>
            </a:r>
            <a:r>
              <a:rPr lang="en" sz="2000" baseline="-25000" dirty="0">
                <a:solidFill>
                  <a:srgbClr val="FF0000"/>
                </a:solidFill>
                <a:latin typeface="Calibri"/>
                <a:ea typeface="Calibri"/>
                <a:cs typeface="Calibri"/>
                <a:sym typeface="Calibri"/>
              </a:rPr>
              <a:t>1</a:t>
            </a:r>
            <a:r>
              <a:rPr lang="en" sz="2000" dirty="0">
                <a:solidFill>
                  <a:srgbClr val="434343"/>
                </a:solidFill>
                <a:latin typeface="Calibri"/>
                <a:ea typeface="Calibri"/>
                <a:cs typeface="Calibri"/>
                <a:sym typeface="Calibri"/>
              </a:rPr>
              <a:t> → CBB de tip JK și porți NOR</a:t>
            </a:r>
            <a:endParaRPr sz="2000" dirty="0">
              <a:solidFill>
                <a:srgbClr val="434343"/>
              </a:solidFill>
              <a:latin typeface="Calibri"/>
              <a:ea typeface="Calibri"/>
              <a:cs typeface="Calibri"/>
              <a:sym typeface="Calibri"/>
            </a:endParaRPr>
          </a:p>
          <a:p>
            <a:pPr marL="457200" lvl="0" indent="-355600" algn="just" rtl="0">
              <a:spcBef>
                <a:spcPts val="0"/>
              </a:spcBef>
              <a:spcAft>
                <a:spcPts val="0"/>
              </a:spcAft>
              <a:buClr>
                <a:srgbClr val="434343"/>
              </a:buClr>
              <a:buSzPts val="2000"/>
              <a:buFont typeface="Calibri"/>
              <a:buChar char="●"/>
            </a:pPr>
            <a:r>
              <a:rPr lang="en" sz="2000" dirty="0">
                <a:solidFill>
                  <a:srgbClr val="434343"/>
                </a:solidFill>
                <a:latin typeface="Calibri"/>
                <a:ea typeface="Calibri"/>
                <a:cs typeface="Calibri"/>
                <a:sym typeface="Calibri"/>
              </a:rPr>
              <a:t>ieșirile se implementează cu porți de tip NAND</a:t>
            </a:r>
            <a:endParaRPr sz="2000" dirty="0">
              <a:solidFill>
                <a:srgbClr val="434343"/>
              </a:solidFill>
              <a:latin typeface="Calibri"/>
              <a:ea typeface="Calibri"/>
              <a:cs typeface="Calibri"/>
              <a:sym typeface="Calibri"/>
            </a:endParaRPr>
          </a:p>
          <a:p>
            <a:pPr marL="0" lvl="0" indent="0" algn="just" rtl="0">
              <a:spcBef>
                <a:spcPts val="1600"/>
              </a:spcBef>
              <a:spcAft>
                <a:spcPts val="1600"/>
              </a:spcAft>
              <a:buNone/>
            </a:pPr>
            <a:endParaRPr sz="2000" dirty="0">
              <a:solidFill>
                <a:srgbClr val="434343"/>
              </a:solidFill>
              <a:latin typeface="Calibri"/>
              <a:ea typeface="Calibri"/>
              <a:cs typeface="Calibri"/>
              <a:sym typeface="Calibri"/>
            </a:endParaRPr>
          </a:p>
        </p:txBody>
      </p:sp>
      <p:pic>
        <p:nvPicPr>
          <p:cNvPr id="110" name="Google Shape;110;p18"/>
          <p:cNvPicPr preferRelativeResize="0"/>
          <p:nvPr/>
        </p:nvPicPr>
        <p:blipFill>
          <a:blip r:embed="rId3">
            <a:alphaModFix/>
          </a:blip>
          <a:stretch>
            <a:fillRect/>
          </a:stretch>
        </p:blipFill>
        <p:spPr>
          <a:xfrm>
            <a:off x="3470400" y="152400"/>
            <a:ext cx="5513455" cy="4838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235325" y="204325"/>
            <a:ext cx="2989500" cy="5727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3. Codificarea + asignarea stărilor </a:t>
            </a:r>
            <a:endParaRPr b="1">
              <a:latin typeface="Calibri"/>
              <a:ea typeface="Calibri"/>
              <a:cs typeface="Calibri"/>
              <a:sym typeface="Calibri"/>
            </a:endParaRPr>
          </a:p>
        </p:txBody>
      </p:sp>
      <p:graphicFrame>
        <p:nvGraphicFramePr>
          <p:cNvPr id="116" name="Google Shape;116;p19"/>
          <p:cNvGraphicFramePr/>
          <p:nvPr/>
        </p:nvGraphicFramePr>
        <p:xfrm>
          <a:off x="387725" y="1182088"/>
          <a:ext cx="2418600" cy="12573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solidFill>
                            <a:srgbClr val="FF0000"/>
                          </a:solidFill>
                        </a:rPr>
                        <a:t>   </a:t>
                      </a:r>
                      <a:r>
                        <a:rPr lang="en" sz="1000" b="1">
                          <a:solidFill>
                            <a:srgbClr val="FF0000"/>
                          </a:solidFill>
                        </a:rPr>
                        <a:t>   Q</a:t>
                      </a:r>
                      <a:r>
                        <a:rPr lang="en" sz="1000" b="1" baseline="-25000">
                          <a:solidFill>
                            <a:srgbClr val="FF0000"/>
                          </a:solidFill>
                        </a:rPr>
                        <a:t>2</a:t>
                      </a:r>
                      <a:r>
                        <a:rPr lang="en" sz="1000" b="1">
                          <a:solidFill>
                            <a:srgbClr val="FF0000"/>
                          </a:solidFill>
                        </a:rPr>
                        <a:t>Q</a:t>
                      </a:r>
                      <a:r>
                        <a:rPr lang="en" sz="1000" b="1" baseline="-25000">
                          <a:solidFill>
                            <a:srgbClr val="FF0000"/>
                          </a:solidFill>
                        </a:rPr>
                        <a:t>1</a:t>
                      </a:r>
                      <a:endParaRPr sz="1000" b="1" baseline="-25000">
                        <a:solidFill>
                          <a:srgbClr val="FF0000"/>
                        </a:solidFill>
                      </a:endParaRPr>
                    </a:p>
                    <a:p>
                      <a:pPr marL="0" lvl="0" indent="0" algn="l" rtl="0">
                        <a:spcBef>
                          <a:spcPts val="0"/>
                        </a:spcBef>
                        <a:spcAft>
                          <a:spcPts val="0"/>
                        </a:spcAft>
                        <a:buNone/>
                      </a:pPr>
                      <a:r>
                        <a:rPr lang="en" sz="1000" b="1">
                          <a:solidFill>
                            <a:srgbClr val="FF0000"/>
                          </a:solidFill>
                        </a:rPr>
                        <a:t> Q</a:t>
                      </a:r>
                      <a:r>
                        <a:rPr lang="en" sz="1000" b="1" baseline="-25000">
                          <a:solidFill>
                            <a:srgbClr val="FF0000"/>
                          </a:solidFill>
                        </a:rPr>
                        <a:t>0</a:t>
                      </a:r>
                      <a:endParaRPr sz="1000" b="1" baseline="-25000">
                        <a:solidFill>
                          <a:srgbClr val="FF0000"/>
                        </a:solidFill>
                      </a:endParaRPr>
                    </a:p>
                  </a:txBody>
                  <a:tcPr marL="0" marR="0" marT="0" marB="0">
                    <a:solidFill>
                      <a:srgbClr val="F3F3F3"/>
                    </a:solidFill>
                  </a:tcPr>
                </a:tc>
                <a:tc>
                  <a:txBody>
                    <a:bodyPr/>
                    <a:lstStyle/>
                    <a:p>
                      <a:pPr marL="0" lvl="0" indent="0" algn="l" rtl="0">
                        <a:spcBef>
                          <a:spcPts val="0"/>
                        </a:spcBef>
                        <a:spcAft>
                          <a:spcPts val="0"/>
                        </a:spcAft>
                        <a:buNone/>
                      </a:pPr>
                      <a:r>
                        <a:rPr lang="en">
                          <a:solidFill>
                            <a:srgbClr val="FF0000"/>
                          </a:solidFill>
                        </a:rPr>
                        <a:t>00</a:t>
                      </a:r>
                      <a:endParaRPr>
                        <a:solidFill>
                          <a:srgbClr val="FF0000"/>
                        </a:solidFill>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solidFill>
                            <a:srgbClr val="FF0000"/>
                          </a:solidFill>
                        </a:rPr>
                        <a:t>01</a:t>
                      </a:r>
                      <a:endParaRPr>
                        <a:solidFill>
                          <a:srgbClr val="FF0000"/>
                        </a:solidFill>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solidFill>
                            <a:srgbClr val="FF0000"/>
                          </a:solidFill>
                        </a:rPr>
                        <a:t>11</a:t>
                      </a:r>
                      <a:endParaRPr>
                        <a:solidFill>
                          <a:srgbClr val="FF0000"/>
                        </a:solidFill>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solidFill>
                            <a:srgbClr val="FF0000"/>
                          </a:solidFill>
                        </a:rPr>
                        <a:t>10</a:t>
                      </a:r>
                      <a:endParaRPr>
                        <a:solidFill>
                          <a:srgbClr val="FF0000"/>
                        </a:solidFill>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solidFill>
                            <a:srgbClr val="FF0000"/>
                          </a:solidFill>
                        </a:rPr>
                        <a:t>0</a:t>
                      </a:r>
                      <a:endParaRPr>
                        <a:solidFill>
                          <a:srgbClr val="FF0000"/>
                        </a:solidFill>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a:t>
                      </a:r>
                      <a:r>
                        <a:rPr lang="en" baseline="-25000"/>
                        <a:t>0</a:t>
                      </a:r>
                      <a:endParaRPr baseline="-25000"/>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S4</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S1</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S3</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solidFill>
                            <a:srgbClr val="FF0000"/>
                          </a:solidFill>
                        </a:rPr>
                        <a:t>1</a:t>
                      </a:r>
                      <a:endParaRPr>
                        <a:solidFill>
                          <a:srgbClr val="FF0000"/>
                        </a:solidFill>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S5</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S2</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S6</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17" name="Google Shape;117;p19"/>
          <p:cNvPicPr preferRelativeResize="0"/>
          <p:nvPr/>
        </p:nvPicPr>
        <p:blipFill>
          <a:blip r:embed="rId3">
            <a:alphaModFix/>
          </a:blip>
          <a:stretch>
            <a:fillRect/>
          </a:stretch>
        </p:blipFill>
        <p:spPr>
          <a:xfrm>
            <a:off x="3630550" y="152400"/>
            <a:ext cx="5513455" cy="4838701"/>
          </a:xfrm>
          <a:prstGeom prst="rect">
            <a:avLst/>
          </a:prstGeom>
          <a:noFill/>
          <a:ln>
            <a:noFill/>
          </a:ln>
        </p:spPr>
      </p:pic>
      <p:graphicFrame>
        <p:nvGraphicFramePr>
          <p:cNvPr id="118" name="Google Shape;118;p19"/>
          <p:cNvGraphicFramePr/>
          <p:nvPr/>
        </p:nvGraphicFramePr>
        <p:xfrm>
          <a:off x="387725" y="2393475"/>
          <a:ext cx="2418600" cy="150455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53575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rgbClr val="000000"/>
                          </a:solidFill>
                        </a:rPr>
                        <a:t>Q</a:t>
                      </a:r>
                      <a:r>
                        <a:rPr lang="en" sz="1000" b="1" baseline="-25000">
                          <a:solidFill>
                            <a:srgbClr val="000000"/>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844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S0</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S1</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S4</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S5</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844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S2</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S3</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S6</a:t>
                      </a:r>
                      <a:endParaRPr/>
                    </a:p>
                  </a:txBody>
                  <a:tcPr marL="91425" marR="0" marT="91425" marB="91425"/>
                </a:tc>
                <a:extLst>
                  <a:ext uri="{0D108BD9-81ED-4DB2-BD59-A6C34878D82A}">
                    <a16:rowId xmlns:a16="http://schemas.microsoft.com/office/drawing/2014/main" val="10002"/>
                  </a:ext>
                </a:extLst>
              </a:tr>
            </a:tbl>
          </a:graphicData>
        </a:graphic>
      </p:graphicFrame>
      <p:sp>
        <p:nvSpPr>
          <p:cNvPr id="119" name="Google Shape;119;p19"/>
          <p:cNvSpPr txBox="1"/>
          <p:nvPr/>
        </p:nvSpPr>
        <p:spPr>
          <a:xfrm>
            <a:off x="6761700" y="0"/>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000</a:t>
            </a:r>
            <a:endParaRPr/>
          </a:p>
        </p:txBody>
      </p:sp>
      <p:sp>
        <p:nvSpPr>
          <p:cNvPr id="120" name="Google Shape;120;p19"/>
          <p:cNvSpPr txBox="1"/>
          <p:nvPr/>
        </p:nvSpPr>
        <p:spPr>
          <a:xfrm>
            <a:off x="5032750" y="3713225"/>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010</a:t>
            </a:r>
            <a:endParaRPr/>
          </a:p>
        </p:txBody>
      </p:sp>
      <p:sp>
        <p:nvSpPr>
          <p:cNvPr id="121" name="Google Shape;121;p19"/>
          <p:cNvSpPr txBox="1"/>
          <p:nvPr/>
        </p:nvSpPr>
        <p:spPr>
          <a:xfrm>
            <a:off x="5370300" y="1676900"/>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110</a:t>
            </a:r>
            <a:endParaRPr/>
          </a:p>
        </p:txBody>
      </p:sp>
      <p:sp>
        <p:nvSpPr>
          <p:cNvPr id="122" name="Google Shape;122;p19"/>
          <p:cNvSpPr txBox="1"/>
          <p:nvPr/>
        </p:nvSpPr>
        <p:spPr>
          <a:xfrm>
            <a:off x="4816611" y="0"/>
            <a:ext cx="9210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baseline="-25000"/>
              <a:t>2</a:t>
            </a:r>
            <a:r>
              <a:rPr lang="en"/>
              <a:t>Q</a:t>
            </a:r>
            <a:r>
              <a:rPr lang="en" baseline="-25000"/>
              <a:t>1</a:t>
            </a:r>
            <a:r>
              <a:rPr lang="en"/>
              <a:t>Q</a:t>
            </a:r>
            <a:r>
              <a:rPr lang="en" baseline="-25000"/>
              <a:t>0</a:t>
            </a:r>
            <a:endParaRPr baseline="-25000"/>
          </a:p>
        </p:txBody>
      </p:sp>
      <p:sp>
        <p:nvSpPr>
          <p:cNvPr id="123" name="Google Shape;123;p19"/>
          <p:cNvSpPr txBox="1"/>
          <p:nvPr/>
        </p:nvSpPr>
        <p:spPr>
          <a:xfrm>
            <a:off x="6534900" y="1676900"/>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011</a:t>
            </a:r>
            <a:endParaRPr/>
          </a:p>
        </p:txBody>
      </p:sp>
      <p:sp>
        <p:nvSpPr>
          <p:cNvPr id="124" name="Google Shape;124;p19"/>
          <p:cNvSpPr txBox="1"/>
          <p:nvPr/>
        </p:nvSpPr>
        <p:spPr>
          <a:xfrm>
            <a:off x="3507200" y="3739125"/>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100</a:t>
            </a:r>
            <a:endParaRPr/>
          </a:p>
        </p:txBody>
      </p:sp>
      <p:sp>
        <p:nvSpPr>
          <p:cNvPr id="125" name="Google Shape;125;p19"/>
          <p:cNvSpPr txBox="1"/>
          <p:nvPr/>
        </p:nvSpPr>
        <p:spPr>
          <a:xfrm>
            <a:off x="7023600" y="3713225"/>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001</a:t>
            </a:r>
            <a:endParaRPr/>
          </a:p>
        </p:txBody>
      </p:sp>
      <p:sp>
        <p:nvSpPr>
          <p:cNvPr id="126" name="Google Shape;126;p19"/>
          <p:cNvSpPr txBox="1"/>
          <p:nvPr/>
        </p:nvSpPr>
        <p:spPr>
          <a:xfrm>
            <a:off x="8459825" y="3739125"/>
            <a:ext cx="4887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111</a:t>
            </a:r>
            <a:endParaRPr/>
          </a:p>
        </p:txBody>
      </p:sp>
      <p:graphicFrame>
        <p:nvGraphicFramePr>
          <p:cNvPr id="127" name="Google Shape;127;p19"/>
          <p:cNvGraphicFramePr/>
          <p:nvPr/>
        </p:nvGraphicFramePr>
        <p:xfrm>
          <a:off x="387725" y="3842925"/>
          <a:ext cx="2418600" cy="14532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844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rgbClr val="000000"/>
                          </a:solidFill>
                        </a:rPr>
                        <a:t>Q</a:t>
                      </a:r>
                      <a:r>
                        <a:rPr lang="en" sz="1000" b="1" baseline="-25000">
                          <a:solidFill>
                            <a:srgbClr val="000000"/>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844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s0</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s4</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s5</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s2</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844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s1</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s3</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s6</a:t>
                      </a:r>
                      <a:endParaRPr/>
                    </a:p>
                  </a:txBody>
                  <a:tcPr marL="91425" marR="0"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p:nvPr>
        </p:nvSpPr>
        <p:spPr>
          <a:xfrm>
            <a:off x="311700" y="445025"/>
            <a:ext cx="3665400" cy="5727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4. Tabelul tranzițiilor</a:t>
            </a:r>
            <a:endParaRPr b="1">
              <a:latin typeface="Calibri"/>
              <a:ea typeface="Calibri"/>
              <a:cs typeface="Calibri"/>
              <a:sym typeface="Calibri"/>
            </a:endParaRPr>
          </a:p>
        </p:txBody>
      </p:sp>
      <p:graphicFrame>
        <p:nvGraphicFramePr>
          <p:cNvPr id="133" name="Google Shape;133;p20"/>
          <p:cNvGraphicFramePr/>
          <p:nvPr/>
        </p:nvGraphicFramePr>
        <p:xfrm>
          <a:off x="429400" y="1139325"/>
          <a:ext cx="6313150" cy="3565890"/>
        </p:xfrm>
        <a:graphic>
          <a:graphicData uri="http://schemas.openxmlformats.org/drawingml/2006/table">
            <a:tbl>
              <a:tblPr>
                <a:noFill/>
                <a:tableStyleId>{1CFBFBD1-2C4D-417D-A9A2-8488B4246F20}</a:tableStyleId>
              </a:tblPr>
              <a:tblGrid>
                <a:gridCol w="449500">
                  <a:extLst>
                    <a:ext uri="{9D8B030D-6E8A-4147-A177-3AD203B41FA5}">
                      <a16:colId xmlns:a16="http://schemas.microsoft.com/office/drawing/2014/main" val="20000"/>
                    </a:ext>
                  </a:extLst>
                </a:gridCol>
                <a:gridCol w="451025">
                  <a:extLst>
                    <a:ext uri="{9D8B030D-6E8A-4147-A177-3AD203B41FA5}">
                      <a16:colId xmlns:a16="http://schemas.microsoft.com/office/drawing/2014/main" val="20001"/>
                    </a:ext>
                  </a:extLst>
                </a:gridCol>
                <a:gridCol w="438075">
                  <a:extLst>
                    <a:ext uri="{9D8B030D-6E8A-4147-A177-3AD203B41FA5}">
                      <a16:colId xmlns:a16="http://schemas.microsoft.com/office/drawing/2014/main" val="20002"/>
                    </a:ext>
                  </a:extLst>
                </a:gridCol>
                <a:gridCol w="594100">
                  <a:extLst>
                    <a:ext uri="{9D8B030D-6E8A-4147-A177-3AD203B41FA5}">
                      <a16:colId xmlns:a16="http://schemas.microsoft.com/office/drawing/2014/main" val="20003"/>
                    </a:ext>
                  </a:extLst>
                </a:gridCol>
                <a:gridCol w="572550">
                  <a:extLst>
                    <a:ext uri="{9D8B030D-6E8A-4147-A177-3AD203B41FA5}">
                      <a16:colId xmlns:a16="http://schemas.microsoft.com/office/drawing/2014/main" val="20004"/>
                    </a:ext>
                  </a:extLst>
                </a:gridCol>
                <a:gridCol w="573850">
                  <a:extLst>
                    <a:ext uri="{9D8B030D-6E8A-4147-A177-3AD203B41FA5}">
                      <a16:colId xmlns:a16="http://schemas.microsoft.com/office/drawing/2014/main" val="20005"/>
                    </a:ext>
                  </a:extLst>
                </a:gridCol>
                <a:gridCol w="421850">
                  <a:extLst>
                    <a:ext uri="{9D8B030D-6E8A-4147-A177-3AD203B41FA5}">
                      <a16:colId xmlns:a16="http://schemas.microsoft.com/office/drawing/2014/main" val="20006"/>
                    </a:ext>
                  </a:extLst>
                </a:gridCol>
                <a:gridCol w="392275">
                  <a:extLst>
                    <a:ext uri="{9D8B030D-6E8A-4147-A177-3AD203B41FA5}">
                      <a16:colId xmlns:a16="http://schemas.microsoft.com/office/drawing/2014/main" val="20007"/>
                    </a:ext>
                  </a:extLst>
                </a:gridCol>
                <a:gridCol w="408125">
                  <a:extLst>
                    <a:ext uri="{9D8B030D-6E8A-4147-A177-3AD203B41FA5}">
                      <a16:colId xmlns:a16="http://schemas.microsoft.com/office/drawing/2014/main" val="20008"/>
                    </a:ext>
                  </a:extLst>
                </a:gridCol>
                <a:gridCol w="428175">
                  <a:extLst>
                    <a:ext uri="{9D8B030D-6E8A-4147-A177-3AD203B41FA5}">
                      <a16:colId xmlns:a16="http://schemas.microsoft.com/office/drawing/2014/main" val="20009"/>
                    </a:ext>
                  </a:extLst>
                </a:gridCol>
                <a:gridCol w="392275">
                  <a:extLst>
                    <a:ext uri="{9D8B030D-6E8A-4147-A177-3AD203B41FA5}">
                      <a16:colId xmlns:a16="http://schemas.microsoft.com/office/drawing/2014/main" val="20010"/>
                    </a:ext>
                  </a:extLst>
                </a:gridCol>
                <a:gridCol w="392275">
                  <a:extLst>
                    <a:ext uri="{9D8B030D-6E8A-4147-A177-3AD203B41FA5}">
                      <a16:colId xmlns:a16="http://schemas.microsoft.com/office/drawing/2014/main" val="20011"/>
                    </a:ext>
                  </a:extLst>
                </a:gridCol>
                <a:gridCol w="392275">
                  <a:extLst>
                    <a:ext uri="{9D8B030D-6E8A-4147-A177-3AD203B41FA5}">
                      <a16:colId xmlns:a16="http://schemas.microsoft.com/office/drawing/2014/main" val="20012"/>
                    </a:ext>
                  </a:extLst>
                </a:gridCol>
                <a:gridCol w="406800">
                  <a:extLst>
                    <a:ext uri="{9D8B030D-6E8A-4147-A177-3AD203B41FA5}">
                      <a16:colId xmlns:a16="http://schemas.microsoft.com/office/drawing/2014/main" val="20013"/>
                    </a:ext>
                  </a:extLst>
                </a:gridCol>
              </a:tblGrid>
              <a:tr h="247425">
                <a:tc>
                  <a:txBody>
                    <a:bodyPr/>
                    <a:lstStyle/>
                    <a:p>
                      <a:pPr marL="0" lvl="0" indent="0" algn="ctr" rtl="0">
                        <a:spcBef>
                          <a:spcPts val="0"/>
                        </a:spcBef>
                        <a:spcAft>
                          <a:spcPts val="0"/>
                        </a:spcAft>
                        <a:buNone/>
                      </a:pPr>
                      <a:r>
                        <a:rPr lang="en" b="1"/>
                        <a:t>Q</a:t>
                      </a:r>
                      <a:r>
                        <a:rPr lang="en" b="1" baseline="-25000"/>
                        <a:t>2</a:t>
                      </a:r>
                      <a:r>
                        <a:rPr lang="en" b="1" baseline="30000"/>
                        <a:t>t</a:t>
                      </a:r>
                      <a:endParaRPr b="1" baseline="30000"/>
                    </a:p>
                  </a:txBody>
                  <a:tcPr marL="91425" marR="91425" marT="91425" marB="91425">
                    <a:solidFill>
                      <a:srgbClr val="FFFF00"/>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1</a:t>
                      </a:r>
                      <a:r>
                        <a:rPr lang="en" b="1" baseline="30000">
                          <a:solidFill>
                            <a:schemeClr val="dk1"/>
                          </a:solidFill>
                        </a:rPr>
                        <a:t>t</a:t>
                      </a:r>
                      <a:endParaRPr b="1"/>
                    </a:p>
                  </a:txBody>
                  <a:tcPr marL="91425" marR="91425" marT="91425" marB="91425">
                    <a:solidFill>
                      <a:srgbClr val="00FFFF"/>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0</a:t>
                      </a:r>
                      <a:r>
                        <a:rPr lang="en" b="1" baseline="30000">
                          <a:solidFill>
                            <a:schemeClr val="dk1"/>
                          </a:solidFill>
                        </a:rPr>
                        <a:t>t</a:t>
                      </a:r>
                      <a:endParaRPr b="1"/>
                    </a:p>
                  </a:txBody>
                  <a:tcPr marL="91425" marR="91425" marT="91425" marB="91425">
                    <a:lnR w="2857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None/>
                      </a:pPr>
                      <a:r>
                        <a:rPr lang="en" b="1"/>
                        <a:t>Q</a:t>
                      </a:r>
                      <a:r>
                        <a:rPr lang="en" b="1" baseline="-25000"/>
                        <a:t>2</a:t>
                      </a:r>
                      <a:r>
                        <a:rPr lang="en" b="1" baseline="30000"/>
                        <a:t>t+1</a:t>
                      </a:r>
                      <a:endParaRPr b="1" baseline="30000"/>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1</a:t>
                      </a:r>
                      <a:r>
                        <a:rPr lang="en" b="1" baseline="30000">
                          <a:solidFill>
                            <a:schemeClr val="dk1"/>
                          </a:solidFill>
                        </a:rPr>
                        <a:t>t+1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FFF"/>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0</a:t>
                      </a:r>
                      <a:r>
                        <a:rPr lang="en" b="1" baseline="30000">
                          <a:solidFill>
                            <a:schemeClr val="dk1"/>
                          </a:solidFill>
                        </a:rPr>
                        <a:t>t+1</a:t>
                      </a:r>
                      <a:endParaRPr b="1"/>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t>O</a:t>
                      </a:r>
                      <a:r>
                        <a:rPr lang="en" b="1" baseline="-25000"/>
                        <a:t>1</a:t>
                      </a:r>
                      <a:endParaRPr b="1" baseline="-25000"/>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3</a:t>
                      </a:r>
                      <a:endParaRPr b="1" baseline="-250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O</a:t>
                      </a:r>
                      <a:r>
                        <a:rPr lang="en" b="1" baseline="-25000">
                          <a:solidFill>
                            <a:schemeClr val="dk1"/>
                          </a:solidFill>
                        </a:rPr>
                        <a:t>4</a:t>
                      </a:r>
                      <a:endParaRPr b="1"/>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J</a:t>
                      </a:r>
                      <a:r>
                        <a:rPr lang="en" b="1" baseline="-25000">
                          <a:solidFill>
                            <a:schemeClr val="dk1"/>
                          </a:solidFill>
                        </a:rPr>
                        <a:t>2</a:t>
                      </a:r>
                      <a:endParaRPr b="1"/>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K</a:t>
                      </a:r>
                      <a:r>
                        <a:rPr lang="en" b="1" baseline="-25000">
                          <a:solidFill>
                            <a:schemeClr val="dk1"/>
                          </a:solidFill>
                        </a:rPr>
                        <a:t>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J</a:t>
                      </a:r>
                      <a:r>
                        <a:rPr lang="en" b="1" baseline="-25000">
                          <a:solidFill>
                            <a:schemeClr val="dk1"/>
                          </a:solidFill>
                        </a:rPr>
                        <a:t>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K</a:t>
                      </a:r>
                      <a:r>
                        <a:rPr lang="en" b="1" baseline="-25000">
                          <a:solidFill>
                            <a:schemeClr val="dk1"/>
                          </a:solidFill>
                        </a:rPr>
                        <a:t>1</a:t>
                      </a:r>
                      <a:endParaRPr b="1"/>
                    </a:p>
                  </a:txBody>
                  <a:tcPr marL="91425" marR="91425" marT="91425" marB="91425">
                    <a:lnL w="9525" cap="flat" cmpd="sng">
                      <a:solidFill>
                        <a:srgbClr val="9E9E9E"/>
                      </a:solidFill>
                      <a:prstDash val="solid"/>
                      <a:round/>
                      <a:headEnd type="none" w="sm" len="sm"/>
                      <a:tailEnd type="none" w="sm" len="sm"/>
                    </a:lnL>
                    <a:solidFill>
                      <a:srgbClr val="D9D9D9"/>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a:t>
                      </a:r>
                      <a:endParaRPr/>
                    </a:p>
                  </a:txBody>
                  <a:tcPr marL="91425" marR="91425" marT="91425" marB="91425">
                    <a:lnL w="2857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solidFill>
                      <a:srgbClr val="FFFF00"/>
                    </a:solidFill>
                  </a:tcPr>
                </a:tc>
                <a:tc>
                  <a:txBody>
                    <a:bodyPr/>
                    <a:lstStyle/>
                    <a:p>
                      <a:pPr marL="0" lvl="0" indent="0" algn="l" rtl="0">
                        <a:spcBef>
                          <a:spcPts val="0"/>
                        </a:spcBef>
                        <a:spcAft>
                          <a:spcPts val="0"/>
                        </a:spcAft>
                        <a:buNone/>
                      </a:pPr>
                      <a:r>
                        <a:rPr lang="en"/>
                        <a:t>1</a:t>
                      </a:r>
                      <a:endParaRPr/>
                    </a:p>
                  </a:txBody>
                  <a:tcPr marL="91425" marR="91425" marT="91425" marB="91425">
                    <a:lnT w="9525" cap="flat" cmpd="sng">
                      <a:solidFill>
                        <a:srgbClr val="9E9E9E"/>
                      </a:solidFill>
                      <a:prstDash val="solid"/>
                      <a:round/>
                      <a:headEnd type="none" w="sm" len="sm"/>
                      <a:tailEnd type="none" w="sm" len="sm"/>
                    </a:lnT>
                    <a:solidFill>
                      <a:srgbClr val="00FFFF"/>
                    </a:solidFill>
                  </a:tcPr>
                </a:tc>
                <a:tc>
                  <a:txBody>
                    <a:bodyPr/>
                    <a:lstStyle/>
                    <a:p>
                      <a:pPr marL="0" lvl="0" indent="0" algn="l" rtl="0">
                        <a:spcBef>
                          <a:spcPts val="0"/>
                        </a:spcBef>
                        <a:spcAft>
                          <a:spcPts val="0"/>
                        </a:spcAft>
                        <a:buNone/>
                      </a:pPr>
                      <a:r>
                        <a:rPr lang="en"/>
                        <a:t>A</a:t>
                      </a:r>
                      <a:endParaRPr/>
                    </a:p>
                  </a:txBody>
                  <a:tcPr marL="91425" marR="91425" marT="91425" marB="9142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B</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6"/>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B</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7"/>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l"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8"/>
                  </a:ext>
                </a:extLst>
              </a:tr>
            </a:tbl>
          </a:graphicData>
        </a:graphic>
      </p:graphicFrame>
      <p:graphicFrame>
        <p:nvGraphicFramePr>
          <p:cNvPr id="134" name="Google Shape;134;p20"/>
          <p:cNvGraphicFramePr/>
          <p:nvPr/>
        </p:nvGraphicFramePr>
        <p:xfrm>
          <a:off x="7170500" y="0"/>
          <a:ext cx="1973500" cy="1676250"/>
        </p:xfrm>
        <a:graphic>
          <a:graphicData uri="http://schemas.openxmlformats.org/drawingml/2006/table">
            <a:tbl>
              <a:tblPr>
                <a:noFill/>
                <a:tableStyleId>{1CFBFBD1-2C4D-417D-A9A2-8488B4246F20}</a:tableStyleId>
              </a:tblPr>
              <a:tblGrid>
                <a:gridCol w="493375">
                  <a:extLst>
                    <a:ext uri="{9D8B030D-6E8A-4147-A177-3AD203B41FA5}">
                      <a16:colId xmlns:a16="http://schemas.microsoft.com/office/drawing/2014/main" val="20000"/>
                    </a:ext>
                  </a:extLst>
                </a:gridCol>
                <a:gridCol w="493375">
                  <a:extLst>
                    <a:ext uri="{9D8B030D-6E8A-4147-A177-3AD203B41FA5}">
                      <a16:colId xmlns:a16="http://schemas.microsoft.com/office/drawing/2014/main" val="20001"/>
                    </a:ext>
                  </a:extLst>
                </a:gridCol>
                <a:gridCol w="463250">
                  <a:extLst>
                    <a:ext uri="{9D8B030D-6E8A-4147-A177-3AD203B41FA5}">
                      <a16:colId xmlns:a16="http://schemas.microsoft.com/office/drawing/2014/main" val="20002"/>
                    </a:ext>
                  </a:extLst>
                </a:gridCol>
                <a:gridCol w="523500">
                  <a:extLst>
                    <a:ext uri="{9D8B030D-6E8A-4147-A177-3AD203B41FA5}">
                      <a16:colId xmlns:a16="http://schemas.microsoft.com/office/drawing/2014/main" val="20003"/>
                    </a:ext>
                  </a:extLst>
                </a:gridCol>
              </a:tblGrid>
              <a:tr h="289750">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a:t>
                      </a:r>
                      <a:endParaRPr sz="1000" b="1"/>
                    </a:p>
                  </a:txBody>
                  <a:tcPr marL="91425" marR="91425" marT="91425" marB="91425">
                    <a:solidFill>
                      <a:srgbClr val="CCCCCC"/>
                    </a:solidFill>
                  </a:tcPr>
                </a:tc>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t+1</a:t>
                      </a:r>
                      <a:endParaRPr sz="1000" b="1"/>
                    </a:p>
                  </a:txBody>
                  <a:tcPr marL="91425" marR="91425" marT="91425" marB="91425">
                    <a:lnR w="38100" cap="flat" cmpd="sng">
                      <a:solidFill>
                        <a:srgbClr val="9E9E9E"/>
                      </a:solidFill>
                      <a:prstDash val="solid"/>
                      <a:round/>
                      <a:headEnd type="none" w="sm" len="sm"/>
                      <a:tailEnd type="none" w="sm" len="sm"/>
                    </a:lnR>
                    <a:solidFill>
                      <a:srgbClr val="CCCCCC"/>
                    </a:solidFill>
                  </a:tcPr>
                </a:tc>
                <a:tc>
                  <a:txBody>
                    <a:bodyPr/>
                    <a:lstStyle/>
                    <a:p>
                      <a:pPr marL="0" lvl="0" indent="0" algn="ctr" rtl="0">
                        <a:spcBef>
                          <a:spcPts val="0"/>
                        </a:spcBef>
                        <a:spcAft>
                          <a:spcPts val="0"/>
                        </a:spcAft>
                        <a:buNone/>
                      </a:pPr>
                      <a:r>
                        <a:rPr lang="en" sz="1000" b="1"/>
                        <a:t>J</a:t>
                      </a:r>
                      <a:endParaRPr sz="1000" b="1"/>
                    </a:p>
                  </a:txBody>
                  <a:tcPr marL="91425" marR="91425" marT="91425" marB="91425">
                    <a:lnL w="38100" cap="flat" cmpd="sng">
                      <a:solidFill>
                        <a:srgbClr val="9E9E9E"/>
                      </a:solidFill>
                      <a:prstDash val="solid"/>
                      <a:round/>
                      <a:headEnd type="none" w="sm" len="sm"/>
                      <a:tailEnd type="none" w="sm" len="sm"/>
                    </a:lnL>
                    <a:solidFill>
                      <a:srgbClr val="CCCCCC"/>
                    </a:solidFill>
                  </a:tcPr>
                </a:tc>
                <a:tc>
                  <a:txBody>
                    <a:bodyPr/>
                    <a:lstStyle/>
                    <a:p>
                      <a:pPr marL="0" lvl="0" indent="0" algn="ctr" rtl="0">
                        <a:spcBef>
                          <a:spcPts val="0"/>
                        </a:spcBef>
                        <a:spcAft>
                          <a:spcPts val="0"/>
                        </a:spcAft>
                        <a:buNone/>
                      </a:pPr>
                      <a:r>
                        <a:rPr lang="en" sz="1000" b="1"/>
                        <a:t>K</a:t>
                      </a:r>
                      <a:endParaRPr sz="1000" b="1" baseline="30000"/>
                    </a:p>
                  </a:txBody>
                  <a:tcPr marL="91425" marR="91425" marT="91425" marB="91425">
                    <a:solidFill>
                      <a:srgbClr val="CCCCCC"/>
                    </a:solidFill>
                  </a:tcPr>
                </a:tc>
                <a:extLst>
                  <a:ext uri="{0D108BD9-81ED-4DB2-BD59-A6C34878D82A}">
                    <a16:rowId xmlns:a16="http://schemas.microsoft.com/office/drawing/2014/main" val="10000"/>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1"/>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1</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2"/>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1</a:t>
                      </a:r>
                      <a:endParaRPr sz="1000"/>
                    </a:p>
                  </a:txBody>
                  <a:tcPr marL="91425" marR="91425" marT="91425" marB="91425"/>
                </a:tc>
                <a:extLst>
                  <a:ext uri="{0D108BD9-81ED-4DB2-BD59-A6C34878D82A}">
                    <a16:rowId xmlns:a16="http://schemas.microsoft.com/office/drawing/2014/main" val="10003"/>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0</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135" name="Google Shape;135;p20"/>
          <p:cNvSpPr txBox="1"/>
          <p:nvPr/>
        </p:nvSpPr>
        <p:spPr>
          <a:xfrm>
            <a:off x="7009825" y="1944075"/>
            <a:ext cx="2134200" cy="7464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Clr>
                <a:schemeClr val="dk1"/>
              </a:buClr>
              <a:buSzPts val="1100"/>
              <a:buFont typeface="Arial"/>
              <a:buNone/>
            </a:pPr>
            <a:r>
              <a:rPr lang="en">
                <a:solidFill>
                  <a:schemeClr val="dk1"/>
                </a:solidFill>
              </a:rPr>
              <a:t>Q = 0 --&gt; J = Q</a:t>
            </a:r>
            <a:r>
              <a:rPr lang="en" baseline="30000">
                <a:solidFill>
                  <a:schemeClr val="dk1"/>
                </a:solidFill>
              </a:rPr>
              <a:t>t+1</a:t>
            </a:r>
            <a:r>
              <a:rPr lang="en">
                <a:solidFill>
                  <a:schemeClr val="dk1"/>
                </a:solidFill>
              </a:rPr>
              <a:t> ; K =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Q = 1 --&gt; J = *; K = !Q</a:t>
            </a:r>
            <a:r>
              <a:rPr lang="en" baseline="30000">
                <a:solidFill>
                  <a:schemeClr val="dk1"/>
                </a:solidFill>
              </a:rPr>
              <a:t>t+1</a:t>
            </a:r>
            <a:endParaRPr/>
          </a:p>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337225" y="115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5-6. Construirea diagramelor Karnaugh pentru variabilele de stare + Obținerea ecuațiilor de stare</a:t>
            </a:r>
            <a:endParaRPr b="1">
              <a:latin typeface="Calibri"/>
              <a:ea typeface="Calibri"/>
              <a:cs typeface="Calibri"/>
              <a:sym typeface="Calibri"/>
            </a:endParaRPr>
          </a:p>
        </p:txBody>
      </p:sp>
      <p:graphicFrame>
        <p:nvGraphicFramePr>
          <p:cNvPr id="141" name="Google Shape;141;p21"/>
          <p:cNvGraphicFramePr/>
          <p:nvPr/>
        </p:nvGraphicFramePr>
        <p:xfrm>
          <a:off x="311700" y="1581300"/>
          <a:ext cx="2418600" cy="12573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solidFill>
                      <a:srgbClr val="FFFFFF"/>
                    </a:solidFill>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solidFill>
                      <a:srgbClr val="FFFFFF"/>
                    </a:solidFill>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solidFill>
                      <a:srgbClr val="FFFFFF"/>
                    </a:solidFill>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solidFill>
                      <a:srgbClr val="FFFFFF"/>
                    </a:solidFill>
                  </a:tcPr>
                </a:tc>
                <a:tc>
                  <a:txBody>
                    <a:bodyPr/>
                    <a:lstStyle/>
                    <a:p>
                      <a:pPr marL="0" lvl="0" indent="0" algn="l" rtl="0">
                        <a:spcBef>
                          <a:spcPts val="0"/>
                        </a:spcBef>
                        <a:spcAft>
                          <a:spcPts val="0"/>
                        </a:spcAft>
                        <a:buNone/>
                      </a:pPr>
                      <a:r>
                        <a:rPr lang="en"/>
                        <a:t>B</a:t>
                      </a:r>
                      <a:endParaRPr/>
                    </a:p>
                  </a:txBody>
                  <a:tcPr marL="91425" marR="0" marT="91425" marB="91425">
                    <a:solidFill>
                      <a:srgbClr val="FFFFFF"/>
                    </a:solidFill>
                  </a:tcPr>
                </a:tc>
                <a:tc>
                  <a:txBody>
                    <a:bodyPr/>
                    <a:lstStyle/>
                    <a:p>
                      <a:pPr marL="0" lvl="0" indent="0" algn="l" rtl="0">
                        <a:spcBef>
                          <a:spcPts val="0"/>
                        </a:spcBef>
                        <a:spcAft>
                          <a:spcPts val="0"/>
                        </a:spcAft>
                        <a:buNone/>
                      </a:pPr>
                      <a:r>
                        <a:rPr lang="en"/>
                        <a:t>0</a:t>
                      </a:r>
                      <a:endParaRPr/>
                    </a:p>
                  </a:txBody>
                  <a:tcPr marL="91425" marR="0" marT="91425" marB="91425">
                    <a:solidFill>
                      <a:srgbClr val="FFFFFF"/>
                    </a:solidFill>
                  </a:tcPr>
                </a:tc>
                <a:tc>
                  <a:txBody>
                    <a:bodyPr/>
                    <a:lstStyle/>
                    <a:p>
                      <a:pPr marL="0" lvl="0" indent="0" algn="l" rtl="0">
                        <a:spcBef>
                          <a:spcPts val="0"/>
                        </a:spcBef>
                        <a:spcAft>
                          <a:spcPts val="0"/>
                        </a:spcAft>
                        <a:buNone/>
                      </a:pPr>
                      <a:r>
                        <a:rPr lang="en"/>
                        <a:t>*</a:t>
                      </a:r>
                      <a:endParaRPr/>
                    </a:p>
                  </a:txBody>
                  <a:tcPr marL="91425" marR="0" marT="91425" marB="91425">
                    <a:solidFill>
                      <a:srgbClr val="FFFFFF"/>
                    </a:solidFill>
                  </a:tcPr>
                </a:tc>
                <a:extLst>
                  <a:ext uri="{0D108BD9-81ED-4DB2-BD59-A6C34878D82A}">
                    <a16:rowId xmlns:a16="http://schemas.microsoft.com/office/drawing/2014/main" val="10002"/>
                  </a:ext>
                </a:extLst>
              </a:tr>
            </a:tbl>
          </a:graphicData>
        </a:graphic>
      </p:graphicFrame>
      <p:graphicFrame>
        <p:nvGraphicFramePr>
          <p:cNvPr id="142" name="Google Shape;142;p21"/>
          <p:cNvGraphicFramePr/>
          <p:nvPr/>
        </p:nvGraphicFramePr>
        <p:xfrm>
          <a:off x="3238750" y="1581300"/>
          <a:ext cx="2418600" cy="12573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B</a:t>
                      </a:r>
                      <a:endParaRPr/>
                    </a:p>
                  </a:txBody>
                  <a:tcPr marL="91425" marR="0" marT="91425" marB="91425"/>
                </a:tc>
                <a:tc>
                  <a:txBody>
                    <a:bodyPr/>
                    <a:lstStyle/>
                    <a:p>
                      <a:pPr marL="0" lvl="0" indent="0" algn="l" rtl="0">
                        <a:spcBef>
                          <a:spcPts val="0"/>
                        </a:spcBef>
                        <a:spcAft>
                          <a:spcPts val="0"/>
                        </a:spcAft>
                        <a:buNone/>
                      </a:pPr>
                      <a:r>
                        <a:rPr lang="en"/>
                        <a:t>0</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graphicFrame>
        <p:nvGraphicFramePr>
          <p:cNvPr id="143" name="Google Shape;143;p21"/>
          <p:cNvGraphicFramePr/>
          <p:nvPr/>
        </p:nvGraphicFramePr>
        <p:xfrm>
          <a:off x="6190750" y="1581300"/>
          <a:ext cx="2418600" cy="12573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1</a:t>
                      </a:r>
                      <a:endParaRPr/>
                    </a:p>
                  </a:txBody>
                  <a:tcPr marL="91425" marR="0" marT="91425" marB="91425"/>
                </a:tc>
                <a:tc>
                  <a:txBody>
                    <a:bodyPr/>
                    <a:lstStyle/>
                    <a:p>
                      <a:pPr marL="0" lvl="0" indent="0" algn="l" rtl="0">
                        <a:spcBef>
                          <a:spcPts val="0"/>
                        </a:spcBef>
                        <a:spcAft>
                          <a:spcPts val="0"/>
                        </a:spcAft>
                        <a:buNone/>
                      </a:pPr>
                      <a:r>
                        <a:rPr lang="en"/>
                        <a:t>0</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144" name="Google Shape;144;p21"/>
          <p:cNvSpPr txBox="1">
            <a:spLocks noGrp="1"/>
          </p:cNvSpPr>
          <p:nvPr>
            <p:ph type="body" idx="1"/>
          </p:nvPr>
        </p:nvSpPr>
        <p:spPr>
          <a:xfrm>
            <a:off x="286750" y="3186500"/>
            <a:ext cx="2811600" cy="1179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Q</a:t>
            </a:r>
            <a:r>
              <a:rPr lang="en" baseline="-25000"/>
              <a:t>2</a:t>
            </a:r>
            <a:r>
              <a:rPr lang="en" baseline="30000"/>
              <a:t>t+1</a:t>
            </a:r>
            <a:r>
              <a:rPr lang="en"/>
              <a:t> =!Q2Q1Q0B+Q2Q1!Q0!B+!Q2!Q1!Q0!A </a:t>
            </a:r>
            <a:endParaRPr/>
          </a:p>
        </p:txBody>
      </p:sp>
      <p:sp>
        <p:nvSpPr>
          <p:cNvPr id="145" name="Google Shape;145;p21"/>
          <p:cNvSpPr txBox="1">
            <a:spLocks noGrp="1"/>
          </p:cNvSpPr>
          <p:nvPr>
            <p:ph type="body" idx="1"/>
          </p:nvPr>
        </p:nvSpPr>
        <p:spPr>
          <a:xfrm>
            <a:off x="3238750" y="3186500"/>
            <a:ext cx="2952000" cy="141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baseline="-25000"/>
              <a:t>1</a:t>
            </a:r>
            <a:r>
              <a:rPr lang="en" baseline="30000"/>
              <a:t>t+1</a:t>
            </a:r>
            <a:r>
              <a:rPr lang="en"/>
              <a:t>=!Q2!Q1!Q0+Q2Q1!Q0B+!Q2Q1Q0B</a:t>
            </a:r>
            <a:endParaRPr/>
          </a:p>
          <a:p>
            <a:pPr marL="0" lvl="0" indent="0" algn="l" rtl="0">
              <a:spcBef>
                <a:spcPts val="1600"/>
              </a:spcBef>
              <a:spcAft>
                <a:spcPts val="1600"/>
              </a:spcAft>
              <a:buNone/>
            </a:pPr>
            <a:r>
              <a:rPr lang="en"/>
              <a:t> </a:t>
            </a:r>
            <a:endParaRPr/>
          </a:p>
        </p:txBody>
      </p:sp>
      <p:sp>
        <p:nvSpPr>
          <p:cNvPr id="146" name="Google Shape;146;p21"/>
          <p:cNvSpPr txBox="1">
            <a:spLocks noGrp="1"/>
          </p:cNvSpPr>
          <p:nvPr>
            <p:ph type="body" idx="1"/>
          </p:nvPr>
        </p:nvSpPr>
        <p:spPr>
          <a:xfrm>
            <a:off x="6190750" y="3186500"/>
            <a:ext cx="2667000" cy="908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Q</a:t>
            </a:r>
            <a:r>
              <a:rPr lang="en" baseline="-25000"/>
              <a:t>0</a:t>
            </a:r>
            <a:r>
              <a:rPr lang="en" baseline="30000"/>
              <a:t>t+1</a:t>
            </a:r>
            <a:r>
              <a:rPr lang="en"/>
              <a:t> = Q0Q1!Q2+!Q0!Q1!Q2A</a:t>
            </a:r>
            <a:endParaRPr/>
          </a:p>
        </p:txBody>
      </p:sp>
      <p:sp>
        <p:nvSpPr>
          <p:cNvPr id="147" name="Google Shape;147;p21"/>
          <p:cNvSpPr/>
          <p:nvPr/>
        </p:nvSpPr>
        <p:spPr>
          <a:xfrm>
            <a:off x="7180250" y="4175450"/>
            <a:ext cx="723900" cy="4005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1"/>
          <p:cNvSpPr/>
          <p:nvPr/>
        </p:nvSpPr>
        <p:spPr>
          <a:xfrm rot="5400000">
            <a:off x="7788175" y="4175450"/>
            <a:ext cx="723900" cy="4005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1"/>
          <p:cNvSpPr/>
          <p:nvPr/>
        </p:nvSpPr>
        <p:spPr>
          <a:xfrm rot="10800000">
            <a:off x="7733363" y="4743009"/>
            <a:ext cx="723900" cy="400500"/>
          </a:xfrm>
          <a:prstGeom prst="round2SameRect">
            <a:avLst>
              <a:gd name="adj1" fmla="val 16667"/>
              <a:gd name="adj2" fmla="val 0"/>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1"/>
          <p:cNvSpPr/>
          <p:nvPr/>
        </p:nvSpPr>
        <p:spPr>
          <a:xfrm rot="-5400000">
            <a:off x="6223850" y="4385850"/>
            <a:ext cx="7239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311700" y="445025"/>
            <a:ext cx="3665400" cy="5727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4. Tabelul tranzițiilor</a:t>
            </a:r>
            <a:endParaRPr b="1">
              <a:latin typeface="Calibri"/>
              <a:ea typeface="Calibri"/>
              <a:cs typeface="Calibri"/>
              <a:sym typeface="Calibri"/>
            </a:endParaRPr>
          </a:p>
        </p:txBody>
      </p:sp>
      <p:graphicFrame>
        <p:nvGraphicFramePr>
          <p:cNvPr id="156" name="Google Shape;156;p22"/>
          <p:cNvGraphicFramePr/>
          <p:nvPr/>
        </p:nvGraphicFramePr>
        <p:xfrm>
          <a:off x="124600" y="1139325"/>
          <a:ext cx="3000000" cy="3000000"/>
        </p:xfrm>
        <a:graphic>
          <a:graphicData uri="http://schemas.openxmlformats.org/drawingml/2006/table">
            <a:tbl>
              <a:tblPr>
                <a:noFill/>
                <a:tableStyleId>{1CFBFBD1-2C4D-417D-A9A2-8488B4246F20}</a:tableStyleId>
              </a:tblPr>
              <a:tblGrid>
                <a:gridCol w="449500">
                  <a:extLst>
                    <a:ext uri="{9D8B030D-6E8A-4147-A177-3AD203B41FA5}">
                      <a16:colId xmlns:a16="http://schemas.microsoft.com/office/drawing/2014/main" val="20000"/>
                    </a:ext>
                  </a:extLst>
                </a:gridCol>
                <a:gridCol w="451025">
                  <a:extLst>
                    <a:ext uri="{9D8B030D-6E8A-4147-A177-3AD203B41FA5}">
                      <a16:colId xmlns:a16="http://schemas.microsoft.com/office/drawing/2014/main" val="20001"/>
                    </a:ext>
                  </a:extLst>
                </a:gridCol>
                <a:gridCol w="438075">
                  <a:extLst>
                    <a:ext uri="{9D8B030D-6E8A-4147-A177-3AD203B41FA5}">
                      <a16:colId xmlns:a16="http://schemas.microsoft.com/office/drawing/2014/main" val="20002"/>
                    </a:ext>
                  </a:extLst>
                </a:gridCol>
                <a:gridCol w="594100">
                  <a:extLst>
                    <a:ext uri="{9D8B030D-6E8A-4147-A177-3AD203B41FA5}">
                      <a16:colId xmlns:a16="http://schemas.microsoft.com/office/drawing/2014/main" val="20003"/>
                    </a:ext>
                  </a:extLst>
                </a:gridCol>
                <a:gridCol w="572550">
                  <a:extLst>
                    <a:ext uri="{9D8B030D-6E8A-4147-A177-3AD203B41FA5}">
                      <a16:colId xmlns:a16="http://schemas.microsoft.com/office/drawing/2014/main" val="20004"/>
                    </a:ext>
                  </a:extLst>
                </a:gridCol>
                <a:gridCol w="573850">
                  <a:extLst>
                    <a:ext uri="{9D8B030D-6E8A-4147-A177-3AD203B41FA5}">
                      <a16:colId xmlns:a16="http://schemas.microsoft.com/office/drawing/2014/main" val="20005"/>
                    </a:ext>
                  </a:extLst>
                </a:gridCol>
                <a:gridCol w="421850">
                  <a:extLst>
                    <a:ext uri="{9D8B030D-6E8A-4147-A177-3AD203B41FA5}">
                      <a16:colId xmlns:a16="http://schemas.microsoft.com/office/drawing/2014/main" val="20006"/>
                    </a:ext>
                  </a:extLst>
                </a:gridCol>
                <a:gridCol w="392275">
                  <a:extLst>
                    <a:ext uri="{9D8B030D-6E8A-4147-A177-3AD203B41FA5}">
                      <a16:colId xmlns:a16="http://schemas.microsoft.com/office/drawing/2014/main" val="20007"/>
                    </a:ext>
                  </a:extLst>
                </a:gridCol>
                <a:gridCol w="408125">
                  <a:extLst>
                    <a:ext uri="{9D8B030D-6E8A-4147-A177-3AD203B41FA5}">
                      <a16:colId xmlns:a16="http://schemas.microsoft.com/office/drawing/2014/main" val="20008"/>
                    </a:ext>
                  </a:extLst>
                </a:gridCol>
                <a:gridCol w="428175">
                  <a:extLst>
                    <a:ext uri="{9D8B030D-6E8A-4147-A177-3AD203B41FA5}">
                      <a16:colId xmlns:a16="http://schemas.microsoft.com/office/drawing/2014/main" val="20009"/>
                    </a:ext>
                  </a:extLst>
                </a:gridCol>
                <a:gridCol w="392275">
                  <a:extLst>
                    <a:ext uri="{9D8B030D-6E8A-4147-A177-3AD203B41FA5}">
                      <a16:colId xmlns:a16="http://schemas.microsoft.com/office/drawing/2014/main" val="20010"/>
                    </a:ext>
                  </a:extLst>
                </a:gridCol>
                <a:gridCol w="392275">
                  <a:extLst>
                    <a:ext uri="{9D8B030D-6E8A-4147-A177-3AD203B41FA5}">
                      <a16:colId xmlns:a16="http://schemas.microsoft.com/office/drawing/2014/main" val="20011"/>
                    </a:ext>
                  </a:extLst>
                </a:gridCol>
                <a:gridCol w="392275">
                  <a:extLst>
                    <a:ext uri="{9D8B030D-6E8A-4147-A177-3AD203B41FA5}">
                      <a16:colId xmlns:a16="http://schemas.microsoft.com/office/drawing/2014/main" val="20012"/>
                    </a:ext>
                  </a:extLst>
                </a:gridCol>
                <a:gridCol w="406800">
                  <a:extLst>
                    <a:ext uri="{9D8B030D-6E8A-4147-A177-3AD203B41FA5}">
                      <a16:colId xmlns:a16="http://schemas.microsoft.com/office/drawing/2014/main" val="20013"/>
                    </a:ext>
                  </a:extLst>
                </a:gridCol>
              </a:tblGrid>
              <a:tr h="247425">
                <a:tc>
                  <a:txBody>
                    <a:bodyPr/>
                    <a:lstStyle/>
                    <a:p>
                      <a:pPr marL="0" lvl="0" indent="0" algn="ctr" rtl="0">
                        <a:spcBef>
                          <a:spcPts val="0"/>
                        </a:spcBef>
                        <a:spcAft>
                          <a:spcPts val="0"/>
                        </a:spcAft>
                        <a:buNone/>
                      </a:pPr>
                      <a:r>
                        <a:rPr lang="en" b="1"/>
                        <a:t>Q</a:t>
                      </a:r>
                      <a:r>
                        <a:rPr lang="en" b="1" baseline="-25000"/>
                        <a:t>2</a:t>
                      </a:r>
                      <a:r>
                        <a:rPr lang="en" b="1" baseline="30000"/>
                        <a:t>t</a:t>
                      </a:r>
                      <a:endParaRPr b="1" baseline="30000"/>
                    </a:p>
                  </a:txBody>
                  <a:tcPr marL="91425" marR="91425" marT="91425" marB="91425">
                    <a:solidFill>
                      <a:srgbClr val="FFFF00"/>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1</a:t>
                      </a:r>
                      <a:r>
                        <a:rPr lang="en" b="1" baseline="30000">
                          <a:solidFill>
                            <a:schemeClr val="dk1"/>
                          </a:solidFill>
                        </a:rPr>
                        <a:t>t</a:t>
                      </a:r>
                      <a:endParaRPr b="1"/>
                    </a:p>
                  </a:txBody>
                  <a:tcPr marL="91425" marR="91425" marT="91425" marB="91425">
                    <a:solidFill>
                      <a:srgbClr val="00FFFF"/>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0</a:t>
                      </a:r>
                      <a:r>
                        <a:rPr lang="en" b="1" baseline="30000">
                          <a:solidFill>
                            <a:schemeClr val="dk1"/>
                          </a:solidFill>
                        </a:rPr>
                        <a:t>t</a:t>
                      </a:r>
                      <a:endParaRPr b="1"/>
                    </a:p>
                  </a:txBody>
                  <a:tcPr marL="91425" marR="91425" marT="91425" marB="91425">
                    <a:lnR w="2857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None/>
                      </a:pPr>
                      <a:r>
                        <a:rPr lang="en" b="1"/>
                        <a:t>Q</a:t>
                      </a:r>
                      <a:r>
                        <a:rPr lang="en" b="1" baseline="-25000"/>
                        <a:t>2</a:t>
                      </a:r>
                      <a:r>
                        <a:rPr lang="en" b="1" baseline="30000"/>
                        <a:t>t+1</a:t>
                      </a:r>
                      <a:endParaRPr b="1" baseline="30000"/>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1</a:t>
                      </a:r>
                      <a:r>
                        <a:rPr lang="en" b="1" baseline="30000">
                          <a:solidFill>
                            <a:schemeClr val="dk1"/>
                          </a:solidFill>
                        </a:rPr>
                        <a:t>t+1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00FFFF"/>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0</a:t>
                      </a:r>
                      <a:r>
                        <a:rPr lang="en" b="1" baseline="30000">
                          <a:solidFill>
                            <a:schemeClr val="dk1"/>
                          </a:solidFill>
                        </a:rPr>
                        <a:t>t+1</a:t>
                      </a:r>
                      <a:endParaRPr b="1"/>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t>O</a:t>
                      </a:r>
                      <a:r>
                        <a:rPr lang="en" b="1" baseline="-25000"/>
                        <a:t>1</a:t>
                      </a:r>
                      <a:endParaRPr b="1" baseline="-25000"/>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3</a:t>
                      </a:r>
                      <a:endParaRPr b="1" baseline="-250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O</a:t>
                      </a:r>
                      <a:r>
                        <a:rPr lang="en" b="1" baseline="-25000">
                          <a:solidFill>
                            <a:schemeClr val="dk1"/>
                          </a:solidFill>
                        </a:rPr>
                        <a:t>4</a:t>
                      </a:r>
                      <a:endParaRPr b="1"/>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J</a:t>
                      </a:r>
                      <a:r>
                        <a:rPr lang="en" b="1" baseline="-25000">
                          <a:solidFill>
                            <a:schemeClr val="dk1"/>
                          </a:solidFill>
                        </a:rPr>
                        <a:t>2</a:t>
                      </a:r>
                      <a:endParaRPr b="1"/>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K</a:t>
                      </a:r>
                      <a:r>
                        <a:rPr lang="en" b="1" baseline="-25000">
                          <a:solidFill>
                            <a:schemeClr val="dk1"/>
                          </a:solidFill>
                        </a:rPr>
                        <a:t>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J</a:t>
                      </a:r>
                      <a:r>
                        <a:rPr lang="en" b="1" baseline="-25000">
                          <a:solidFill>
                            <a:schemeClr val="dk1"/>
                          </a:solidFill>
                        </a:rPr>
                        <a:t>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K</a:t>
                      </a:r>
                      <a:r>
                        <a:rPr lang="en" b="1" baseline="-25000">
                          <a:solidFill>
                            <a:schemeClr val="dk1"/>
                          </a:solidFill>
                        </a:rPr>
                        <a:t>1</a:t>
                      </a:r>
                      <a:endParaRPr b="1"/>
                    </a:p>
                  </a:txBody>
                  <a:tcPr marL="91425" marR="91425" marT="91425" marB="91425">
                    <a:lnL w="9525" cap="flat" cmpd="sng">
                      <a:solidFill>
                        <a:srgbClr val="9E9E9E"/>
                      </a:solidFill>
                      <a:prstDash val="solid"/>
                      <a:round/>
                      <a:headEnd type="none" w="sm" len="sm"/>
                      <a:tailEnd type="none" w="sm" len="sm"/>
                    </a:lnL>
                    <a:solidFill>
                      <a:srgbClr val="D9D9D9"/>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a:t>
                      </a:r>
                      <a:endParaRPr/>
                    </a:p>
                  </a:txBody>
                  <a:tcPr marL="91425" marR="91425" marT="91425" marB="91425">
                    <a:lnL w="2857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lnT w="9525" cap="flat" cmpd="sng">
                      <a:solidFill>
                        <a:srgbClr val="9E9E9E"/>
                      </a:solidFill>
                      <a:prstDash val="solid"/>
                      <a:round/>
                      <a:headEnd type="none" w="sm" len="sm"/>
                      <a:tailEnd type="none" w="sm" len="sm"/>
                    </a:lnT>
                    <a:solidFill>
                      <a:srgbClr val="00FFFF"/>
                    </a:solidFill>
                  </a:tcPr>
                </a:tc>
                <a:tc>
                  <a:txBody>
                    <a:bodyPr/>
                    <a:lstStyle/>
                    <a:p>
                      <a:pPr marL="0" lvl="0" indent="0" algn="ctr" rtl="0">
                        <a:spcBef>
                          <a:spcPts val="0"/>
                        </a:spcBef>
                        <a:spcAft>
                          <a:spcPts val="0"/>
                        </a:spcAft>
                        <a:buNone/>
                      </a:pPr>
                      <a:r>
                        <a:rPr lang="en"/>
                        <a:t>A</a:t>
                      </a:r>
                      <a:endParaRPr/>
                    </a:p>
                  </a:txBody>
                  <a:tcPr marL="91425" marR="91425" marT="91425" marB="9142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a:t>!A</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B</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6"/>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B</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7"/>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FFF00"/>
                    </a:solidFill>
                  </a:tcPr>
                </a:tc>
                <a:tc>
                  <a:txBody>
                    <a:bodyPr/>
                    <a:lstStyle/>
                    <a:p>
                      <a:pPr marL="0" lvl="0" indent="0" algn="ctr" rtl="0">
                        <a:spcBef>
                          <a:spcPts val="0"/>
                        </a:spcBef>
                        <a:spcAft>
                          <a:spcPts val="0"/>
                        </a:spcAft>
                        <a:buNone/>
                      </a:pPr>
                      <a:r>
                        <a:rPr lang="en"/>
                        <a:t>1</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a:t>0</a:t>
                      </a:r>
                      <a:endParaRPr/>
                    </a:p>
                  </a:txBody>
                  <a:tcPr marL="91425" marR="91425" marT="91425" marB="91425">
                    <a:solidFill>
                      <a:srgbClr val="00FFFF"/>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solidFill>
                      <a:srgbClr val="F3F3F3"/>
                    </a:solidFill>
                  </a:tcPr>
                </a:tc>
                <a:extLst>
                  <a:ext uri="{0D108BD9-81ED-4DB2-BD59-A6C34878D82A}">
                    <a16:rowId xmlns:a16="http://schemas.microsoft.com/office/drawing/2014/main" val="10008"/>
                  </a:ext>
                </a:extLst>
              </a:tr>
            </a:tbl>
          </a:graphicData>
        </a:graphic>
      </p:graphicFrame>
      <p:graphicFrame>
        <p:nvGraphicFramePr>
          <p:cNvPr id="157" name="Google Shape;157;p22"/>
          <p:cNvGraphicFramePr/>
          <p:nvPr/>
        </p:nvGraphicFramePr>
        <p:xfrm>
          <a:off x="7170500" y="0"/>
          <a:ext cx="3000000" cy="3000000"/>
        </p:xfrm>
        <a:graphic>
          <a:graphicData uri="http://schemas.openxmlformats.org/drawingml/2006/table">
            <a:tbl>
              <a:tblPr>
                <a:noFill/>
                <a:tableStyleId>{1CFBFBD1-2C4D-417D-A9A2-8488B4246F20}</a:tableStyleId>
              </a:tblPr>
              <a:tblGrid>
                <a:gridCol w="493375">
                  <a:extLst>
                    <a:ext uri="{9D8B030D-6E8A-4147-A177-3AD203B41FA5}">
                      <a16:colId xmlns:a16="http://schemas.microsoft.com/office/drawing/2014/main" val="20000"/>
                    </a:ext>
                  </a:extLst>
                </a:gridCol>
                <a:gridCol w="493375">
                  <a:extLst>
                    <a:ext uri="{9D8B030D-6E8A-4147-A177-3AD203B41FA5}">
                      <a16:colId xmlns:a16="http://schemas.microsoft.com/office/drawing/2014/main" val="20001"/>
                    </a:ext>
                  </a:extLst>
                </a:gridCol>
                <a:gridCol w="493375">
                  <a:extLst>
                    <a:ext uri="{9D8B030D-6E8A-4147-A177-3AD203B41FA5}">
                      <a16:colId xmlns:a16="http://schemas.microsoft.com/office/drawing/2014/main" val="20002"/>
                    </a:ext>
                  </a:extLst>
                </a:gridCol>
                <a:gridCol w="493375">
                  <a:extLst>
                    <a:ext uri="{9D8B030D-6E8A-4147-A177-3AD203B41FA5}">
                      <a16:colId xmlns:a16="http://schemas.microsoft.com/office/drawing/2014/main" val="20003"/>
                    </a:ext>
                  </a:extLst>
                </a:gridCol>
              </a:tblGrid>
              <a:tr h="289750">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a:t>
                      </a:r>
                      <a:endParaRPr sz="1000" b="1"/>
                    </a:p>
                  </a:txBody>
                  <a:tcPr marL="91425" marR="91425" marT="91425" marB="91425">
                    <a:solidFill>
                      <a:srgbClr val="CCCCCC"/>
                    </a:solidFill>
                  </a:tcPr>
                </a:tc>
                <a:tc>
                  <a:txBody>
                    <a:bodyPr/>
                    <a:lstStyle/>
                    <a:p>
                      <a:pPr marL="0" lvl="0" indent="0" algn="ctr" rtl="0">
                        <a:spcBef>
                          <a:spcPts val="0"/>
                        </a:spcBef>
                        <a:spcAft>
                          <a:spcPts val="0"/>
                        </a:spcAft>
                        <a:buNone/>
                      </a:pPr>
                      <a:r>
                        <a:rPr lang="en" sz="1000" b="1">
                          <a:solidFill>
                            <a:schemeClr val="dk1"/>
                          </a:solidFill>
                        </a:rPr>
                        <a:t>Q</a:t>
                      </a:r>
                      <a:r>
                        <a:rPr lang="en" sz="1000" b="1" baseline="30000">
                          <a:solidFill>
                            <a:schemeClr val="dk1"/>
                          </a:solidFill>
                        </a:rPr>
                        <a:t>t+1</a:t>
                      </a:r>
                      <a:endParaRPr sz="1000" b="1"/>
                    </a:p>
                  </a:txBody>
                  <a:tcPr marL="91425" marR="91425" marT="91425" marB="91425">
                    <a:lnR w="38100" cap="flat" cmpd="sng">
                      <a:solidFill>
                        <a:srgbClr val="9E9E9E"/>
                      </a:solidFill>
                      <a:prstDash val="solid"/>
                      <a:round/>
                      <a:headEnd type="none" w="sm" len="sm"/>
                      <a:tailEnd type="none" w="sm" len="sm"/>
                    </a:lnR>
                    <a:solidFill>
                      <a:srgbClr val="CCCCCC"/>
                    </a:solidFill>
                  </a:tcPr>
                </a:tc>
                <a:tc>
                  <a:txBody>
                    <a:bodyPr/>
                    <a:lstStyle/>
                    <a:p>
                      <a:pPr marL="0" lvl="0" indent="0" algn="ctr" rtl="0">
                        <a:spcBef>
                          <a:spcPts val="0"/>
                        </a:spcBef>
                        <a:spcAft>
                          <a:spcPts val="0"/>
                        </a:spcAft>
                        <a:buNone/>
                      </a:pPr>
                      <a:r>
                        <a:rPr lang="en" sz="1000" b="1"/>
                        <a:t>J</a:t>
                      </a:r>
                      <a:endParaRPr sz="1000" b="1"/>
                    </a:p>
                  </a:txBody>
                  <a:tcPr marL="91425" marR="91425" marT="91425" marB="91425">
                    <a:lnL w="38100" cap="flat" cmpd="sng">
                      <a:solidFill>
                        <a:srgbClr val="9E9E9E"/>
                      </a:solidFill>
                      <a:prstDash val="solid"/>
                      <a:round/>
                      <a:headEnd type="none" w="sm" len="sm"/>
                      <a:tailEnd type="none" w="sm" len="sm"/>
                    </a:lnL>
                    <a:solidFill>
                      <a:srgbClr val="CCCCCC"/>
                    </a:solidFill>
                  </a:tcPr>
                </a:tc>
                <a:tc>
                  <a:txBody>
                    <a:bodyPr/>
                    <a:lstStyle/>
                    <a:p>
                      <a:pPr marL="0" lvl="0" indent="0" algn="ctr" rtl="0">
                        <a:spcBef>
                          <a:spcPts val="0"/>
                        </a:spcBef>
                        <a:spcAft>
                          <a:spcPts val="0"/>
                        </a:spcAft>
                        <a:buNone/>
                      </a:pPr>
                      <a:r>
                        <a:rPr lang="en" sz="1000" b="1"/>
                        <a:t>K</a:t>
                      </a:r>
                      <a:endParaRPr sz="1000" b="1" baseline="30000"/>
                    </a:p>
                  </a:txBody>
                  <a:tcPr marL="91425" marR="91425" marT="91425" marB="91425">
                    <a:solidFill>
                      <a:srgbClr val="CCCCCC"/>
                    </a:solidFill>
                  </a:tcPr>
                </a:tc>
                <a:extLst>
                  <a:ext uri="{0D108BD9-81ED-4DB2-BD59-A6C34878D82A}">
                    <a16:rowId xmlns:a16="http://schemas.microsoft.com/office/drawing/2014/main" val="10000"/>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0</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1"/>
                  </a:ext>
                </a:extLst>
              </a:tr>
              <a:tr h="289750">
                <a:tc>
                  <a:txBody>
                    <a:bodyPr/>
                    <a:lstStyle/>
                    <a:p>
                      <a:pPr marL="0" lvl="0" indent="0" algn="ctr" rtl="0">
                        <a:spcBef>
                          <a:spcPts val="0"/>
                        </a:spcBef>
                        <a:spcAft>
                          <a:spcPts val="0"/>
                        </a:spcAft>
                        <a:buNone/>
                      </a:pPr>
                      <a:r>
                        <a:rPr lang="en" sz="1000"/>
                        <a:t>0</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1</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a:t>
                      </a:r>
                      <a:endParaRPr sz="1000"/>
                    </a:p>
                  </a:txBody>
                  <a:tcPr marL="91425" marR="91425" marT="91425" marB="91425"/>
                </a:tc>
                <a:extLst>
                  <a:ext uri="{0D108BD9-81ED-4DB2-BD59-A6C34878D82A}">
                    <a16:rowId xmlns:a16="http://schemas.microsoft.com/office/drawing/2014/main" val="10002"/>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0</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1</a:t>
                      </a:r>
                      <a:endParaRPr sz="1000"/>
                    </a:p>
                  </a:txBody>
                  <a:tcPr marL="91425" marR="91425" marT="91425" marB="91425"/>
                </a:tc>
                <a:extLst>
                  <a:ext uri="{0D108BD9-81ED-4DB2-BD59-A6C34878D82A}">
                    <a16:rowId xmlns:a16="http://schemas.microsoft.com/office/drawing/2014/main" val="10003"/>
                  </a:ext>
                </a:extLst>
              </a:tr>
              <a:tr h="289750">
                <a:tc>
                  <a:txBody>
                    <a:bodyPr/>
                    <a:lstStyle/>
                    <a:p>
                      <a:pPr marL="0" lvl="0" indent="0" algn="ctr" rtl="0">
                        <a:spcBef>
                          <a:spcPts val="0"/>
                        </a:spcBef>
                        <a:spcAft>
                          <a:spcPts val="0"/>
                        </a:spcAft>
                        <a:buNone/>
                      </a:pPr>
                      <a:r>
                        <a:rPr lang="en" sz="1000"/>
                        <a:t>1</a:t>
                      </a:r>
                      <a:endParaRPr sz="1000"/>
                    </a:p>
                  </a:txBody>
                  <a:tcPr marL="91425" marR="91425" marT="91425" marB="91425"/>
                </a:tc>
                <a:tc>
                  <a:txBody>
                    <a:bodyPr/>
                    <a:lstStyle/>
                    <a:p>
                      <a:pPr marL="0" lvl="0" indent="0" algn="ctr" rtl="0">
                        <a:spcBef>
                          <a:spcPts val="0"/>
                        </a:spcBef>
                        <a:spcAft>
                          <a:spcPts val="0"/>
                        </a:spcAft>
                        <a:buNone/>
                      </a:pPr>
                      <a:r>
                        <a:rPr lang="en" sz="1000"/>
                        <a:t>1</a:t>
                      </a:r>
                      <a:endParaRPr sz="1000"/>
                    </a:p>
                  </a:txBody>
                  <a:tcPr marL="91425" marR="91425" marT="91425" marB="91425">
                    <a:lnR w="38100"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000"/>
                        <a:t>-</a:t>
                      </a:r>
                      <a:endParaRPr sz="1000"/>
                    </a:p>
                  </a:txBody>
                  <a:tcPr marL="91425" marR="91425" marT="91425" marB="91425">
                    <a:lnL w="38100" cap="flat" cmpd="sng">
                      <a:solidFill>
                        <a:srgbClr val="9E9E9E"/>
                      </a:solidFill>
                      <a:prstDash val="solid"/>
                      <a:round/>
                      <a:headEnd type="none" w="sm" len="sm"/>
                      <a:tailEnd type="none" w="sm" len="sm"/>
                    </a:lnL>
                  </a:tcPr>
                </a:tc>
                <a:tc>
                  <a:txBody>
                    <a:bodyPr/>
                    <a:lstStyle/>
                    <a:p>
                      <a:pPr marL="0" lvl="0" indent="0" algn="ctr" rtl="0">
                        <a:spcBef>
                          <a:spcPts val="0"/>
                        </a:spcBef>
                        <a:spcAft>
                          <a:spcPts val="0"/>
                        </a:spcAft>
                        <a:buNone/>
                      </a:pPr>
                      <a:r>
                        <a:rPr lang="en" sz="1000"/>
                        <a:t>0</a:t>
                      </a:r>
                      <a:endParaRPr sz="1000"/>
                    </a:p>
                  </a:txBody>
                  <a:tcPr marL="91425" marR="91425" marT="91425" marB="91425"/>
                </a:tc>
                <a:extLst>
                  <a:ext uri="{0D108BD9-81ED-4DB2-BD59-A6C34878D82A}">
                    <a16:rowId xmlns:a16="http://schemas.microsoft.com/office/drawing/2014/main" val="10004"/>
                  </a:ext>
                </a:extLst>
              </a:tr>
            </a:tbl>
          </a:graphicData>
        </a:graphic>
      </p:graphicFrame>
      <p:sp>
        <p:nvSpPr>
          <p:cNvPr id="158" name="Google Shape;158;p22"/>
          <p:cNvSpPr txBox="1"/>
          <p:nvPr/>
        </p:nvSpPr>
        <p:spPr>
          <a:xfrm>
            <a:off x="4821325" y="144400"/>
            <a:ext cx="2134200" cy="74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 = 0 --&gt; J = Q</a:t>
            </a:r>
            <a:r>
              <a:rPr lang="en" baseline="30000"/>
              <a:t>t+1</a:t>
            </a:r>
            <a:r>
              <a:rPr lang="en"/>
              <a:t> ; K = *</a:t>
            </a:r>
            <a:endParaRPr/>
          </a:p>
          <a:p>
            <a:pPr marL="0" lvl="0" indent="0" algn="l" rtl="0">
              <a:spcBef>
                <a:spcPts val="0"/>
              </a:spcBef>
              <a:spcAft>
                <a:spcPts val="0"/>
              </a:spcAft>
              <a:buNone/>
            </a:pPr>
            <a:r>
              <a:rPr lang="en">
                <a:solidFill>
                  <a:schemeClr val="dk1"/>
                </a:solidFill>
              </a:rPr>
              <a:t>Q = 1 --&gt; J = *; K = !Q</a:t>
            </a:r>
            <a:r>
              <a:rPr lang="en" baseline="30000">
                <a:solidFill>
                  <a:schemeClr val="dk1"/>
                </a:solidFill>
              </a:rPr>
              <a:t>t+1</a:t>
            </a:r>
            <a:endParaRPr>
              <a:solidFill>
                <a:schemeClr val="dk1"/>
              </a:solidFill>
            </a:endParaRPr>
          </a:p>
          <a:p>
            <a:pPr marL="0" lvl="0" indent="0" algn="l" rtl="0">
              <a:spcBef>
                <a:spcPts val="0"/>
              </a:spcBef>
              <a:spcAft>
                <a:spcPts val="0"/>
              </a:spcAft>
              <a:buNone/>
            </a:pPr>
            <a:endParaRPr/>
          </a:p>
        </p:txBody>
      </p:sp>
      <p:sp>
        <p:nvSpPr>
          <p:cNvPr id="159" name="Google Shape;159;p22"/>
          <p:cNvSpPr txBox="1"/>
          <p:nvPr/>
        </p:nvSpPr>
        <p:spPr>
          <a:xfrm>
            <a:off x="6643225" y="1701325"/>
            <a:ext cx="2503200" cy="3000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2000">
                <a:solidFill>
                  <a:srgbClr val="434343"/>
                </a:solidFill>
                <a:latin typeface="Calibri"/>
                <a:ea typeface="Calibri"/>
                <a:cs typeface="Calibri"/>
                <a:sym typeface="Calibri"/>
              </a:rPr>
              <a:t>Q</a:t>
            </a:r>
            <a:r>
              <a:rPr lang="en" sz="2000" baseline="-25000">
                <a:solidFill>
                  <a:srgbClr val="FF0000"/>
                </a:solidFill>
                <a:latin typeface="Calibri"/>
                <a:ea typeface="Calibri"/>
                <a:cs typeface="Calibri"/>
                <a:sym typeface="Calibri"/>
              </a:rPr>
              <a:t>0</a:t>
            </a:r>
            <a:r>
              <a:rPr lang="en" sz="2000">
                <a:solidFill>
                  <a:srgbClr val="434343"/>
                </a:solidFill>
                <a:latin typeface="Calibri"/>
                <a:ea typeface="Calibri"/>
                <a:cs typeface="Calibri"/>
                <a:sym typeface="Calibri"/>
              </a:rPr>
              <a:t> → CBB de tip D și MUX 4:1</a:t>
            </a:r>
            <a:endParaRPr sz="2000">
              <a:solidFill>
                <a:srgbClr val="434343"/>
              </a:solidFill>
              <a:latin typeface="Calibri"/>
              <a:ea typeface="Calibri"/>
              <a:cs typeface="Calibri"/>
              <a:sym typeface="Calibri"/>
            </a:endParaRPr>
          </a:p>
          <a:p>
            <a:pPr marL="0" lvl="0" indent="0" algn="just" rtl="0">
              <a:lnSpc>
                <a:spcPct val="115000"/>
              </a:lnSpc>
              <a:spcBef>
                <a:spcPts val="1600"/>
              </a:spcBef>
              <a:spcAft>
                <a:spcPts val="0"/>
              </a:spcAft>
              <a:buNone/>
            </a:pPr>
            <a:r>
              <a:rPr lang="en" sz="2000">
                <a:solidFill>
                  <a:srgbClr val="434343"/>
                </a:solidFill>
                <a:latin typeface="Calibri"/>
                <a:ea typeface="Calibri"/>
                <a:cs typeface="Calibri"/>
                <a:sym typeface="Calibri"/>
              </a:rPr>
              <a:t>Q</a:t>
            </a:r>
            <a:r>
              <a:rPr lang="en" sz="2000" baseline="-25000">
                <a:solidFill>
                  <a:srgbClr val="FF0000"/>
                </a:solidFill>
                <a:latin typeface="Calibri"/>
                <a:ea typeface="Calibri"/>
                <a:cs typeface="Calibri"/>
                <a:sym typeface="Calibri"/>
              </a:rPr>
              <a:t>2</a:t>
            </a:r>
            <a:r>
              <a:rPr lang="en" sz="2000">
                <a:solidFill>
                  <a:srgbClr val="434343"/>
                </a:solidFill>
                <a:latin typeface="Calibri"/>
                <a:ea typeface="Calibri"/>
                <a:cs typeface="Calibri"/>
                <a:sym typeface="Calibri"/>
              </a:rPr>
              <a:t> → CBB de tip JK unde J e implementat cu MUX 2:1 și K cu MUX 8:1</a:t>
            </a:r>
            <a:endParaRPr sz="2000">
              <a:solidFill>
                <a:srgbClr val="434343"/>
              </a:solidFill>
              <a:latin typeface="Calibri"/>
              <a:ea typeface="Calibri"/>
              <a:cs typeface="Calibri"/>
              <a:sym typeface="Calibri"/>
            </a:endParaRPr>
          </a:p>
          <a:p>
            <a:pPr marL="0" lvl="0" indent="0" algn="just" rtl="0">
              <a:lnSpc>
                <a:spcPct val="115000"/>
              </a:lnSpc>
              <a:spcBef>
                <a:spcPts val="1600"/>
              </a:spcBef>
              <a:spcAft>
                <a:spcPts val="1600"/>
              </a:spcAft>
              <a:buNone/>
            </a:pPr>
            <a:r>
              <a:rPr lang="en" sz="2000">
                <a:solidFill>
                  <a:srgbClr val="434343"/>
                </a:solidFill>
                <a:latin typeface="Calibri"/>
                <a:ea typeface="Calibri"/>
                <a:cs typeface="Calibri"/>
                <a:sym typeface="Calibri"/>
              </a:rPr>
              <a:t>Q</a:t>
            </a:r>
            <a:r>
              <a:rPr lang="en" sz="2000" baseline="-25000">
                <a:solidFill>
                  <a:srgbClr val="FF0000"/>
                </a:solidFill>
                <a:latin typeface="Calibri"/>
                <a:ea typeface="Calibri"/>
                <a:cs typeface="Calibri"/>
                <a:sym typeface="Calibri"/>
              </a:rPr>
              <a:t>1</a:t>
            </a:r>
            <a:r>
              <a:rPr lang="en" sz="2000">
                <a:solidFill>
                  <a:srgbClr val="434343"/>
                </a:solidFill>
                <a:latin typeface="Calibri"/>
                <a:ea typeface="Calibri"/>
                <a:cs typeface="Calibri"/>
                <a:sym typeface="Calibri"/>
              </a:rPr>
              <a:t> → CBB de tip JK și porți NOR</a:t>
            </a:r>
            <a:endParaRPr sz="2000">
              <a:solidFill>
                <a:srgbClr val="434343"/>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337225" y="-1129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Calibri"/>
                <a:ea typeface="Calibri"/>
                <a:cs typeface="Calibri"/>
                <a:sym typeface="Calibri"/>
              </a:rPr>
              <a:t>7.Construirea diagramelor Karnaugh pentru intrările CBB-urilor folosite în implementare (minimizările sunt opționale)</a:t>
            </a:r>
            <a:endParaRPr b="1">
              <a:latin typeface="Calibri"/>
              <a:ea typeface="Calibri"/>
              <a:cs typeface="Calibri"/>
              <a:sym typeface="Calibri"/>
            </a:endParaRPr>
          </a:p>
        </p:txBody>
      </p:sp>
      <p:graphicFrame>
        <p:nvGraphicFramePr>
          <p:cNvPr id="165" name="Google Shape;165;p23"/>
          <p:cNvGraphicFramePr/>
          <p:nvPr/>
        </p:nvGraphicFramePr>
        <p:xfrm>
          <a:off x="311700" y="12765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B</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graphicFrame>
        <p:nvGraphicFramePr>
          <p:cNvPr id="166" name="Google Shape;166;p23"/>
          <p:cNvGraphicFramePr/>
          <p:nvPr/>
        </p:nvGraphicFramePr>
        <p:xfrm>
          <a:off x="337225" y="331865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1</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graphicFrame>
        <p:nvGraphicFramePr>
          <p:cNvPr id="167" name="Google Shape;167;p23"/>
          <p:cNvGraphicFramePr/>
          <p:nvPr/>
        </p:nvGraphicFramePr>
        <p:xfrm>
          <a:off x="3593650" y="12765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solidFill>
                      <a:srgbClr val="FFFF00"/>
                    </a:solidFill>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solidFill>
                      <a:srgbClr val="FFFF00"/>
                    </a:solidFill>
                  </a:tcPr>
                </a:tc>
                <a:tc>
                  <a:txBody>
                    <a:bodyPr/>
                    <a:lstStyle/>
                    <a:p>
                      <a:pPr marL="0" lvl="0" indent="0" algn="l" rtl="0">
                        <a:spcBef>
                          <a:spcPts val="0"/>
                        </a:spcBef>
                        <a:spcAft>
                          <a:spcPts val="0"/>
                        </a:spcAft>
                        <a:buNone/>
                      </a:pPr>
                      <a:r>
                        <a:rPr lang="en"/>
                        <a:t>!B</a:t>
                      </a:r>
                      <a:endParaRPr/>
                    </a:p>
                  </a:txBody>
                  <a:tcPr marL="91425" marR="0" marT="91425" marB="91425"/>
                </a:tc>
                <a:tc>
                  <a:txBody>
                    <a:bodyPr/>
                    <a:lstStyle/>
                    <a:p>
                      <a:pPr marL="0" lvl="0" indent="0" algn="l" rtl="0">
                        <a:spcBef>
                          <a:spcPts val="0"/>
                        </a:spcBef>
                        <a:spcAft>
                          <a:spcPts val="0"/>
                        </a:spcAft>
                        <a:buNone/>
                      </a:pPr>
                      <a:r>
                        <a:rPr lang="en"/>
                        <a:t>1</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solidFill>
                      <a:srgbClr val="FFFF00"/>
                    </a:solidFill>
                  </a:tcPr>
                </a:tc>
                <a:extLst>
                  <a:ext uri="{0D108BD9-81ED-4DB2-BD59-A6C34878D82A}">
                    <a16:rowId xmlns:a16="http://schemas.microsoft.com/office/drawing/2014/main" val="10002"/>
                  </a:ext>
                </a:extLst>
              </a:tr>
            </a:tbl>
          </a:graphicData>
        </a:graphic>
      </p:graphicFrame>
      <p:sp>
        <p:nvSpPr>
          <p:cNvPr id="168" name="Google Shape;168;p23"/>
          <p:cNvSpPr txBox="1">
            <a:spLocks noGrp="1"/>
          </p:cNvSpPr>
          <p:nvPr>
            <p:ph type="body" idx="1"/>
          </p:nvPr>
        </p:nvSpPr>
        <p:spPr>
          <a:xfrm>
            <a:off x="378125" y="2533800"/>
            <a:ext cx="2418600" cy="653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J</a:t>
            </a:r>
            <a:r>
              <a:rPr lang="en" baseline="-25000"/>
              <a:t>2</a:t>
            </a:r>
            <a:r>
              <a:rPr lang="en"/>
              <a:t> = !A!Q0!Q1 +BQ0Q1</a:t>
            </a:r>
            <a:endParaRPr/>
          </a:p>
        </p:txBody>
      </p:sp>
      <p:sp>
        <p:nvSpPr>
          <p:cNvPr id="169" name="Google Shape;169;p23"/>
          <p:cNvSpPr txBox="1">
            <a:spLocks noGrp="1"/>
          </p:cNvSpPr>
          <p:nvPr>
            <p:ph type="body" idx="1"/>
          </p:nvPr>
        </p:nvSpPr>
        <p:spPr>
          <a:xfrm>
            <a:off x="337225" y="4668725"/>
            <a:ext cx="2418600" cy="908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K</a:t>
            </a:r>
            <a:r>
              <a:rPr lang="en" baseline="-25000"/>
              <a:t>2</a:t>
            </a:r>
            <a:r>
              <a:rPr lang="en"/>
              <a:t> = B + Q0 + !Q1</a:t>
            </a:r>
            <a:endParaRPr/>
          </a:p>
        </p:txBody>
      </p:sp>
      <p:sp>
        <p:nvSpPr>
          <p:cNvPr id="170" name="Google Shape;170;p23"/>
          <p:cNvSpPr txBox="1">
            <a:spLocks noGrp="1"/>
          </p:cNvSpPr>
          <p:nvPr>
            <p:ph type="body" idx="1"/>
          </p:nvPr>
        </p:nvSpPr>
        <p:spPr>
          <a:xfrm>
            <a:off x="3699825" y="2655100"/>
            <a:ext cx="309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K</a:t>
            </a:r>
            <a:r>
              <a:rPr lang="en" baseline="-25000"/>
              <a:t>1</a:t>
            </a:r>
            <a:r>
              <a:rPr lang="en"/>
              <a:t> = !B + !Q0!Q2 + Q0Q2</a:t>
            </a:r>
            <a:endParaRPr baseline="-25000">
              <a:solidFill>
                <a:srgbClr val="0000FF"/>
              </a:solidFill>
            </a:endParaRPr>
          </a:p>
        </p:txBody>
      </p:sp>
      <p:sp>
        <p:nvSpPr>
          <p:cNvPr id="171" name="Google Shape;171;p23"/>
          <p:cNvSpPr/>
          <p:nvPr/>
        </p:nvSpPr>
        <p:spPr>
          <a:xfrm rot="5400000">
            <a:off x="2160975" y="3944925"/>
            <a:ext cx="723900" cy="4620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72" name="Google Shape;172;p23"/>
          <p:cNvGraphicFramePr/>
          <p:nvPr/>
        </p:nvGraphicFramePr>
        <p:xfrm>
          <a:off x="3593650" y="331865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solidFill>
                      <a:srgbClr val="F4CCCC"/>
                    </a:solidFill>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solidFill>
                      <a:srgbClr val="F4CCCC"/>
                    </a:solidFill>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a:t>
                      </a:r>
                      <a:endParaRPr/>
                    </a:p>
                  </a:txBody>
                  <a:tcPr marL="91425" marR="0" marT="91425" marB="91425">
                    <a:solidFill>
                      <a:srgbClr val="F4CCCC"/>
                    </a:solidFill>
                  </a:tcPr>
                </a:tc>
                <a:tc>
                  <a:txBody>
                    <a:bodyPr/>
                    <a:lstStyle/>
                    <a:p>
                      <a:pPr marL="0" lvl="0" indent="0" algn="l" rtl="0">
                        <a:spcBef>
                          <a:spcPts val="0"/>
                        </a:spcBef>
                        <a:spcAft>
                          <a:spcPts val="0"/>
                        </a:spcAft>
                        <a:buNone/>
                      </a:pPr>
                      <a:r>
                        <a:rPr lang="en"/>
                        <a:t>*</a:t>
                      </a:r>
                      <a:endParaRPr/>
                    </a:p>
                  </a:txBody>
                  <a:tcPr marL="91425" marR="0" marT="91425" marB="91425">
                    <a:solidFill>
                      <a:srgbClr val="F4CCCC"/>
                    </a:solidFill>
                  </a:tcPr>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173" name="Google Shape;173;p23"/>
          <p:cNvSpPr txBox="1">
            <a:spLocks noGrp="1"/>
          </p:cNvSpPr>
          <p:nvPr>
            <p:ph type="body" idx="1"/>
          </p:nvPr>
        </p:nvSpPr>
        <p:spPr>
          <a:xfrm>
            <a:off x="3593650" y="4666800"/>
            <a:ext cx="3096900" cy="442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J</a:t>
            </a:r>
            <a:r>
              <a:rPr lang="en" baseline="-25000"/>
              <a:t>1</a:t>
            </a:r>
            <a:r>
              <a:rPr lang="en"/>
              <a:t> = !Q0!Q2</a:t>
            </a:r>
            <a:endParaRPr>
              <a:solidFill>
                <a:srgbClr val="FF9900"/>
              </a:solidFill>
            </a:endParaRPr>
          </a:p>
        </p:txBody>
      </p:sp>
      <p:sp>
        <p:nvSpPr>
          <p:cNvPr id="174" name="Google Shape;174;p23"/>
          <p:cNvSpPr txBox="1">
            <a:spLocks noGrp="1"/>
          </p:cNvSpPr>
          <p:nvPr>
            <p:ph type="body" idx="1"/>
          </p:nvPr>
        </p:nvSpPr>
        <p:spPr>
          <a:xfrm>
            <a:off x="6499050" y="1056700"/>
            <a:ext cx="2610000" cy="90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1600"/>
              </a:spcAft>
              <a:buNone/>
            </a:pPr>
            <a:r>
              <a:rPr lang="en"/>
              <a:t> </a:t>
            </a:r>
            <a:endParaRPr/>
          </a:p>
        </p:txBody>
      </p:sp>
      <p:sp>
        <p:nvSpPr>
          <p:cNvPr id="175" name="Google Shape;175;p23"/>
          <p:cNvSpPr/>
          <p:nvPr/>
        </p:nvSpPr>
        <p:spPr>
          <a:xfrm>
            <a:off x="1372525" y="2110300"/>
            <a:ext cx="8043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3"/>
          <p:cNvSpPr/>
          <p:nvPr/>
        </p:nvSpPr>
        <p:spPr>
          <a:xfrm>
            <a:off x="852225" y="1668100"/>
            <a:ext cx="4947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3"/>
          <p:cNvSpPr/>
          <p:nvPr/>
        </p:nvSpPr>
        <p:spPr>
          <a:xfrm rot="5400000">
            <a:off x="1666500" y="3474075"/>
            <a:ext cx="334800" cy="17928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3"/>
          <p:cNvSpPr/>
          <p:nvPr/>
        </p:nvSpPr>
        <p:spPr>
          <a:xfrm>
            <a:off x="2222938" y="1668088"/>
            <a:ext cx="4947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3"/>
          <p:cNvSpPr/>
          <p:nvPr/>
        </p:nvSpPr>
        <p:spPr>
          <a:xfrm rot="5400000">
            <a:off x="765750" y="3985725"/>
            <a:ext cx="723900" cy="3804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3"/>
          <p:cNvSpPr/>
          <p:nvPr/>
        </p:nvSpPr>
        <p:spPr>
          <a:xfrm>
            <a:off x="5088650" y="2110300"/>
            <a:ext cx="9237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3"/>
          <p:cNvSpPr/>
          <p:nvPr/>
        </p:nvSpPr>
        <p:spPr>
          <a:xfrm>
            <a:off x="4152825" y="1668088"/>
            <a:ext cx="9237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3"/>
          <p:cNvSpPr/>
          <p:nvPr/>
        </p:nvSpPr>
        <p:spPr>
          <a:xfrm>
            <a:off x="4152825" y="3726200"/>
            <a:ext cx="923700" cy="442200"/>
          </a:xfrm>
          <a:prstGeom prst="round2SameRect">
            <a:avLst>
              <a:gd name="adj1" fmla="val 16667"/>
              <a:gd name="adj2" fmla="val 0"/>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latin typeface="Calibri"/>
                <a:ea typeface="Calibri"/>
                <a:cs typeface="Calibri"/>
                <a:sym typeface="Calibri"/>
              </a:rPr>
              <a:t>9. Implementare Q</a:t>
            </a:r>
            <a:r>
              <a:rPr lang="en" b="1" baseline="-25000">
                <a:solidFill>
                  <a:srgbClr val="FF0000"/>
                </a:solidFill>
                <a:latin typeface="Calibri"/>
                <a:ea typeface="Calibri"/>
                <a:cs typeface="Calibri"/>
                <a:sym typeface="Calibri"/>
              </a:rPr>
              <a:t>0</a:t>
            </a:r>
            <a:r>
              <a:rPr lang="en" b="1">
                <a:latin typeface="Calibri"/>
                <a:ea typeface="Calibri"/>
                <a:cs typeface="Calibri"/>
                <a:sym typeface="Calibri"/>
              </a:rPr>
              <a:t> folosind CBB tip D și MUX 4:1</a:t>
            </a:r>
            <a:endParaRPr b="1">
              <a:latin typeface="Calibri"/>
              <a:ea typeface="Calibri"/>
              <a:cs typeface="Calibri"/>
              <a:sym typeface="Calibri"/>
            </a:endParaRPr>
          </a:p>
          <a:p>
            <a:pPr marL="0" lvl="0" indent="0" algn="l" rtl="0">
              <a:spcBef>
                <a:spcPts val="0"/>
              </a:spcBef>
              <a:spcAft>
                <a:spcPts val="0"/>
              </a:spcAft>
              <a:buNone/>
            </a:pPr>
            <a:endParaRPr/>
          </a:p>
        </p:txBody>
      </p:sp>
      <p:sp>
        <p:nvSpPr>
          <p:cNvPr id="188" name="Google Shape;188;p24"/>
          <p:cNvSpPr txBox="1">
            <a:spLocks noGrp="1"/>
          </p:cNvSpPr>
          <p:nvPr>
            <p:ph type="body" idx="1"/>
          </p:nvPr>
        </p:nvSpPr>
        <p:spPr>
          <a:xfrm>
            <a:off x="311700" y="3046775"/>
            <a:ext cx="4061700" cy="46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
            </a:r>
            <a:r>
              <a:rPr lang="en" baseline="-25000"/>
              <a:t>0</a:t>
            </a:r>
            <a:r>
              <a:rPr lang="en"/>
              <a:t> = Q</a:t>
            </a:r>
            <a:r>
              <a:rPr lang="en" sz="1400" baseline="-25000">
                <a:solidFill>
                  <a:schemeClr val="dk1"/>
                </a:solidFill>
              </a:rPr>
              <a:t>0</a:t>
            </a:r>
            <a:r>
              <a:rPr lang="en" sz="1400" baseline="30000">
                <a:solidFill>
                  <a:schemeClr val="dk1"/>
                </a:solidFill>
              </a:rPr>
              <a:t>t+1</a:t>
            </a:r>
            <a:r>
              <a:rPr lang="en" sz="1400">
                <a:solidFill>
                  <a:schemeClr val="dk1"/>
                </a:solidFill>
              </a:rPr>
              <a:t> = </a:t>
            </a:r>
            <a:r>
              <a:rPr lang="en"/>
              <a:t>Q0Q1!Q2+!Q0!Q1!Q2A</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graphicFrame>
        <p:nvGraphicFramePr>
          <p:cNvPr id="189" name="Google Shape;189;p24"/>
          <p:cNvGraphicFramePr/>
          <p:nvPr/>
        </p:nvGraphicFramePr>
        <p:xfrm>
          <a:off x="311700" y="15813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F9900"/>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190" name="Google Shape;190;p24"/>
          <p:cNvCxnSpPr/>
          <p:nvPr/>
        </p:nvCxnSpPr>
        <p:spPr>
          <a:xfrm>
            <a:off x="324900" y="1581425"/>
            <a:ext cx="530100" cy="404700"/>
          </a:xfrm>
          <a:prstGeom prst="straightConnector1">
            <a:avLst/>
          </a:prstGeom>
          <a:noFill/>
          <a:ln w="9525" cap="flat" cmpd="sng">
            <a:solidFill>
              <a:srgbClr val="595959"/>
            </a:solidFill>
            <a:prstDash val="solid"/>
            <a:round/>
            <a:headEnd type="none" w="med" len="med"/>
            <a:tailEnd type="none" w="med" len="med"/>
          </a:ln>
        </p:spPr>
      </p:cxnSp>
      <p:sp>
        <p:nvSpPr>
          <p:cNvPr id="191" name="Google Shape;191;p24"/>
          <p:cNvSpPr/>
          <p:nvPr/>
        </p:nvSpPr>
        <p:spPr>
          <a:xfrm>
            <a:off x="3548250" y="1371275"/>
            <a:ext cx="1139100" cy="4005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4"/>
          <p:cNvSpPr/>
          <p:nvPr/>
        </p:nvSpPr>
        <p:spPr>
          <a:xfrm rot="5400000">
            <a:off x="4436500" y="2129650"/>
            <a:ext cx="723900" cy="4005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4"/>
          <p:cNvSpPr/>
          <p:nvPr/>
        </p:nvSpPr>
        <p:spPr>
          <a:xfrm rot="10800000">
            <a:off x="3034938" y="2577259"/>
            <a:ext cx="723900" cy="400500"/>
          </a:xfrm>
          <a:prstGeom prst="round2SameRect">
            <a:avLst>
              <a:gd name="adj1" fmla="val 16667"/>
              <a:gd name="adj2" fmla="val 0"/>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4"/>
          <p:cNvSpPr/>
          <p:nvPr/>
        </p:nvSpPr>
        <p:spPr>
          <a:xfrm rot="-5400000">
            <a:off x="3816575" y="2129650"/>
            <a:ext cx="7239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5" name="Google Shape;195;p24"/>
          <p:cNvPicPr preferRelativeResize="0"/>
          <p:nvPr/>
        </p:nvPicPr>
        <p:blipFill>
          <a:blip r:embed="rId3">
            <a:alphaModFix/>
          </a:blip>
          <a:stretch>
            <a:fillRect/>
          </a:stretch>
        </p:blipFill>
        <p:spPr>
          <a:xfrm>
            <a:off x="6747513" y="2772016"/>
            <a:ext cx="2150500" cy="1781287"/>
          </a:xfrm>
          <a:prstGeom prst="rect">
            <a:avLst/>
          </a:prstGeom>
          <a:noFill/>
          <a:ln>
            <a:noFill/>
          </a:ln>
        </p:spPr>
      </p:pic>
      <p:grpSp>
        <p:nvGrpSpPr>
          <p:cNvPr id="196" name="Google Shape;196;p24"/>
          <p:cNvGrpSpPr/>
          <p:nvPr/>
        </p:nvGrpSpPr>
        <p:grpSpPr>
          <a:xfrm>
            <a:off x="5139576" y="2772031"/>
            <a:ext cx="1884893" cy="1418375"/>
            <a:chOff x="564519" y="1297263"/>
            <a:chExt cx="1884893" cy="1418375"/>
          </a:xfrm>
        </p:grpSpPr>
        <p:sp>
          <p:nvSpPr>
            <p:cNvPr id="197" name="Google Shape;197;p24"/>
            <p:cNvSpPr/>
            <p:nvPr/>
          </p:nvSpPr>
          <p:spPr>
            <a:xfrm rot="5400000">
              <a:off x="1081725" y="1440363"/>
              <a:ext cx="1256700" cy="9705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4"/>
            <p:cNvSpPr txBox="1"/>
            <p:nvPr/>
          </p:nvSpPr>
          <p:spPr>
            <a:xfrm>
              <a:off x="1436138" y="1590663"/>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4:1</a:t>
              </a:r>
              <a:endParaRPr/>
            </a:p>
          </p:txBody>
        </p:sp>
        <p:sp>
          <p:nvSpPr>
            <p:cNvPr id="199" name="Google Shape;199;p24"/>
            <p:cNvSpPr txBox="1"/>
            <p:nvPr/>
          </p:nvSpPr>
          <p:spPr>
            <a:xfrm>
              <a:off x="1246700" y="1381688"/>
              <a:ext cx="405600" cy="10500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D2</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D3</a:t>
              </a:r>
              <a:endParaRPr>
                <a:solidFill>
                  <a:srgbClr val="000000"/>
                </a:solidFill>
              </a:endParaRPr>
            </a:p>
          </p:txBody>
        </p:sp>
        <p:cxnSp>
          <p:nvCxnSpPr>
            <p:cNvPr id="200" name="Google Shape;200;p24"/>
            <p:cNvCxnSpPr/>
            <p:nvPr/>
          </p:nvCxnSpPr>
          <p:spPr>
            <a:xfrm rot="10800000">
              <a:off x="1092388" y="15829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01" name="Google Shape;201;p24"/>
            <p:cNvCxnSpPr/>
            <p:nvPr/>
          </p:nvCxnSpPr>
          <p:spPr>
            <a:xfrm rot="10800000">
              <a:off x="1092388" y="182586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02" name="Google Shape;202;p24"/>
            <p:cNvCxnSpPr/>
            <p:nvPr/>
          </p:nvCxnSpPr>
          <p:spPr>
            <a:xfrm rot="10800000">
              <a:off x="1092388" y="20688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03" name="Google Shape;203;p24"/>
            <p:cNvCxnSpPr/>
            <p:nvPr/>
          </p:nvCxnSpPr>
          <p:spPr>
            <a:xfrm rot="10800000">
              <a:off x="1092388" y="2311763"/>
              <a:ext cx="135600" cy="0"/>
            </a:xfrm>
            <a:prstGeom prst="straightConnector1">
              <a:avLst/>
            </a:prstGeom>
            <a:noFill/>
            <a:ln w="9525" cap="flat" cmpd="sng">
              <a:solidFill>
                <a:srgbClr val="595959"/>
              </a:solidFill>
              <a:prstDash val="solid"/>
              <a:round/>
              <a:headEnd type="none" w="med" len="med"/>
              <a:tailEnd type="none" w="med" len="med"/>
            </a:ln>
          </p:spPr>
        </p:cxnSp>
        <p:sp>
          <p:nvSpPr>
            <p:cNvPr id="204" name="Google Shape;204;p24"/>
            <p:cNvSpPr txBox="1"/>
            <p:nvPr/>
          </p:nvSpPr>
          <p:spPr>
            <a:xfrm rot="-782417">
              <a:off x="1406552" y="2079688"/>
              <a:ext cx="761847" cy="3266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S1  S0</a:t>
              </a:r>
              <a:endParaRPr/>
            </a:p>
          </p:txBody>
        </p:sp>
        <p:cxnSp>
          <p:nvCxnSpPr>
            <p:cNvPr id="205" name="Google Shape;205;p24"/>
            <p:cNvCxnSpPr/>
            <p:nvPr/>
          </p:nvCxnSpPr>
          <p:spPr>
            <a:xfrm>
              <a:off x="1652288" y="2456688"/>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206" name="Google Shape;206;p24"/>
            <p:cNvCxnSpPr/>
            <p:nvPr/>
          </p:nvCxnSpPr>
          <p:spPr>
            <a:xfrm>
              <a:off x="1943288" y="2379938"/>
              <a:ext cx="8100" cy="335700"/>
            </a:xfrm>
            <a:prstGeom prst="straightConnector1">
              <a:avLst/>
            </a:prstGeom>
            <a:noFill/>
            <a:ln w="9525" cap="flat" cmpd="sng">
              <a:solidFill>
                <a:srgbClr val="595959"/>
              </a:solidFill>
              <a:prstDash val="solid"/>
              <a:round/>
              <a:headEnd type="none" w="med" len="med"/>
              <a:tailEnd type="none" w="med" len="med"/>
            </a:ln>
          </p:spPr>
        </p:cxnSp>
        <p:cxnSp>
          <p:nvCxnSpPr>
            <p:cNvPr id="207" name="Google Shape;207;p24"/>
            <p:cNvCxnSpPr/>
            <p:nvPr/>
          </p:nvCxnSpPr>
          <p:spPr>
            <a:xfrm>
              <a:off x="2195313" y="1925613"/>
              <a:ext cx="254100" cy="0"/>
            </a:xfrm>
            <a:prstGeom prst="straightConnector1">
              <a:avLst/>
            </a:prstGeom>
            <a:noFill/>
            <a:ln w="9525" cap="flat" cmpd="sng">
              <a:solidFill>
                <a:srgbClr val="595959"/>
              </a:solidFill>
              <a:prstDash val="solid"/>
              <a:round/>
              <a:headEnd type="none" w="med" len="med"/>
              <a:tailEnd type="none" w="med" len="med"/>
            </a:ln>
          </p:spPr>
        </p:cxnSp>
        <p:sp>
          <p:nvSpPr>
            <p:cNvPr id="208" name="Google Shape;208;p24"/>
            <p:cNvSpPr txBox="1"/>
            <p:nvPr/>
          </p:nvSpPr>
          <p:spPr>
            <a:xfrm>
              <a:off x="1939025" y="1733113"/>
              <a:ext cx="217500" cy="2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209" name="Google Shape;209;p24"/>
            <p:cNvSpPr txBox="1"/>
            <p:nvPr/>
          </p:nvSpPr>
          <p:spPr>
            <a:xfrm>
              <a:off x="564519" y="1366256"/>
              <a:ext cx="723900" cy="11187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t>A!Q0</a:t>
              </a:r>
              <a:endParaRPr/>
            </a:p>
            <a:p>
              <a:pPr marL="0" marR="0" lvl="0" indent="0" algn="l" rtl="0">
                <a:lnSpc>
                  <a:spcPct val="115000"/>
                </a:lnSpc>
                <a:spcBef>
                  <a:spcPts val="0"/>
                </a:spcBef>
                <a:spcAft>
                  <a:spcPts val="0"/>
                </a:spcAft>
                <a:buNone/>
              </a:pPr>
              <a:r>
                <a:rPr lang="en"/>
                <a:t>Q0</a:t>
              </a:r>
              <a:endParaRPr/>
            </a:p>
            <a:p>
              <a:pPr marL="0" marR="0" lvl="0" indent="0" algn="l" rtl="0">
                <a:lnSpc>
                  <a:spcPct val="115000"/>
                </a:lnSpc>
                <a:spcBef>
                  <a:spcPts val="0"/>
                </a:spcBef>
                <a:spcAft>
                  <a:spcPts val="0"/>
                </a:spcAft>
                <a:buNone/>
              </a:pPr>
              <a:r>
                <a:rPr lang="en"/>
                <a:t>0</a:t>
              </a:r>
              <a:endParaRPr/>
            </a:p>
            <a:p>
              <a:pPr marL="0" marR="0" lvl="0" indent="0" algn="l" rtl="0">
                <a:lnSpc>
                  <a:spcPct val="115000"/>
                </a:lnSpc>
                <a:spcBef>
                  <a:spcPts val="0"/>
                </a:spcBef>
                <a:spcAft>
                  <a:spcPts val="0"/>
                </a:spcAft>
                <a:buNone/>
              </a:pPr>
              <a:r>
                <a:rPr lang="en"/>
                <a:t>0</a:t>
              </a:r>
              <a:endParaRPr/>
            </a:p>
          </p:txBody>
        </p:sp>
      </p:grpSp>
      <p:sp>
        <p:nvSpPr>
          <p:cNvPr id="210" name="Google Shape;210;p24"/>
          <p:cNvSpPr txBox="1"/>
          <p:nvPr/>
        </p:nvSpPr>
        <p:spPr>
          <a:xfrm>
            <a:off x="5960925" y="4106325"/>
            <a:ext cx="786600" cy="35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sz="1500" baseline="-25000"/>
              <a:t>2</a:t>
            </a:r>
            <a:r>
              <a:rPr lang="en" sz="1500"/>
              <a:t>  Q</a:t>
            </a:r>
            <a:r>
              <a:rPr lang="en" sz="1500" baseline="-25000"/>
              <a:t>1</a:t>
            </a:r>
            <a:endParaRPr sz="1500" baseline="-25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5"/>
          <p:cNvSpPr txBox="1">
            <a:spLocks noGrp="1"/>
          </p:cNvSpPr>
          <p:nvPr>
            <p:ph type="title"/>
          </p:nvPr>
        </p:nvSpPr>
        <p:spPr>
          <a:xfrm>
            <a:off x="159675" y="72350"/>
            <a:ext cx="873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434343"/>
                </a:solidFill>
                <a:latin typeface="Calibri"/>
                <a:ea typeface="Calibri"/>
                <a:cs typeface="Calibri"/>
                <a:sym typeface="Calibri"/>
              </a:rPr>
              <a:t>9. Implementare Q</a:t>
            </a:r>
            <a:r>
              <a:rPr lang="en" b="1" baseline="-25000">
                <a:solidFill>
                  <a:srgbClr val="434343"/>
                </a:solidFill>
                <a:latin typeface="Calibri"/>
                <a:ea typeface="Calibri"/>
                <a:cs typeface="Calibri"/>
                <a:sym typeface="Calibri"/>
              </a:rPr>
              <a:t>2</a:t>
            </a:r>
            <a:r>
              <a:rPr lang="en" b="1">
                <a:solidFill>
                  <a:srgbClr val="434343"/>
                </a:solidFill>
                <a:latin typeface="Calibri"/>
                <a:ea typeface="Calibri"/>
                <a:cs typeface="Calibri"/>
                <a:sym typeface="Calibri"/>
              </a:rPr>
              <a:t> folosind CBB tip JK unde J e implementat cu MUX 2:1 și K cu MUX 8:1</a:t>
            </a:r>
            <a:endParaRPr b="1">
              <a:solidFill>
                <a:srgbClr val="434343"/>
              </a:solidFill>
              <a:latin typeface="Calibri"/>
              <a:ea typeface="Calibri"/>
              <a:cs typeface="Calibri"/>
              <a:sym typeface="Calibri"/>
            </a:endParaRPr>
          </a:p>
          <a:p>
            <a:pPr marL="0" lvl="0" indent="0" algn="l" rtl="0">
              <a:spcBef>
                <a:spcPts val="0"/>
              </a:spcBef>
              <a:spcAft>
                <a:spcPts val="0"/>
              </a:spcAft>
              <a:buNone/>
            </a:pPr>
            <a:endParaRPr>
              <a:solidFill>
                <a:srgbClr val="434343"/>
              </a:solidFill>
              <a:latin typeface="Calibri"/>
              <a:ea typeface="Calibri"/>
              <a:cs typeface="Calibri"/>
              <a:sym typeface="Calibri"/>
            </a:endParaRPr>
          </a:p>
        </p:txBody>
      </p:sp>
      <p:sp>
        <p:nvSpPr>
          <p:cNvPr id="216" name="Google Shape;216;p25"/>
          <p:cNvSpPr/>
          <p:nvPr/>
        </p:nvSpPr>
        <p:spPr>
          <a:xfrm rot="5400000">
            <a:off x="2966925" y="3244000"/>
            <a:ext cx="723900" cy="4005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5"/>
          <p:cNvSpPr/>
          <p:nvPr/>
        </p:nvSpPr>
        <p:spPr>
          <a:xfrm rot="-5400000">
            <a:off x="3547400" y="2091975"/>
            <a:ext cx="451800" cy="7740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8" name="Google Shape;218;p25"/>
          <p:cNvCxnSpPr/>
          <p:nvPr/>
        </p:nvCxnSpPr>
        <p:spPr>
          <a:xfrm>
            <a:off x="311700" y="1234050"/>
            <a:ext cx="530100" cy="404700"/>
          </a:xfrm>
          <a:prstGeom prst="straightConnector1">
            <a:avLst/>
          </a:prstGeom>
          <a:noFill/>
          <a:ln w="9525" cap="flat" cmpd="sng">
            <a:solidFill>
              <a:srgbClr val="595959"/>
            </a:solidFill>
            <a:prstDash val="solid"/>
            <a:round/>
            <a:headEnd type="none" w="med" len="med"/>
            <a:tailEnd type="none" w="med" len="med"/>
          </a:ln>
        </p:spPr>
      </p:cxnSp>
      <p:cxnSp>
        <p:nvCxnSpPr>
          <p:cNvPr id="219" name="Google Shape;219;p25"/>
          <p:cNvCxnSpPr/>
          <p:nvPr/>
        </p:nvCxnSpPr>
        <p:spPr>
          <a:xfrm>
            <a:off x="322125" y="3279975"/>
            <a:ext cx="530100" cy="404700"/>
          </a:xfrm>
          <a:prstGeom prst="straightConnector1">
            <a:avLst/>
          </a:prstGeom>
          <a:noFill/>
          <a:ln w="9525" cap="flat" cmpd="sng">
            <a:solidFill>
              <a:srgbClr val="595959"/>
            </a:solidFill>
            <a:prstDash val="solid"/>
            <a:round/>
            <a:headEnd type="none" w="med" len="med"/>
            <a:tailEnd type="none" w="med" len="med"/>
          </a:ln>
        </p:spPr>
      </p:cxnSp>
      <p:grpSp>
        <p:nvGrpSpPr>
          <p:cNvPr id="220" name="Google Shape;220;p25"/>
          <p:cNvGrpSpPr/>
          <p:nvPr/>
        </p:nvGrpSpPr>
        <p:grpSpPr>
          <a:xfrm>
            <a:off x="4618000" y="923325"/>
            <a:ext cx="4275575" cy="3735956"/>
            <a:chOff x="4700400" y="1007575"/>
            <a:chExt cx="4275575" cy="3735956"/>
          </a:xfrm>
        </p:grpSpPr>
        <p:pic>
          <p:nvPicPr>
            <p:cNvPr id="221" name="Google Shape;221;p25"/>
            <p:cNvPicPr preferRelativeResize="0"/>
            <p:nvPr/>
          </p:nvPicPr>
          <p:blipFill>
            <a:blip r:embed="rId3">
              <a:alphaModFix/>
            </a:blip>
            <a:stretch>
              <a:fillRect/>
            </a:stretch>
          </p:blipFill>
          <p:spPr>
            <a:xfrm>
              <a:off x="6751675" y="2107400"/>
              <a:ext cx="2224300" cy="2325900"/>
            </a:xfrm>
            <a:prstGeom prst="rect">
              <a:avLst/>
            </a:prstGeom>
            <a:noFill/>
            <a:ln>
              <a:noFill/>
            </a:ln>
          </p:spPr>
        </p:pic>
        <p:grpSp>
          <p:nvGrpSpPr>
            <p:cNvPr id="222" name="Google Shape;222;p25"/>
            <p:cNvGrpSpPr/>
            <p:nvPr/>
          </p:nvGrpSpPr>
          <p:grpSpPr>
            <a:xfrm>
              <a:off x="4748825" y="1007575"/>
              <a:ext cx="1932900" cy="1100625"/>
              <a:chOff x="465200" y="2973563"/>
              <a:chExt cx="1932900" cy="1100625"/>
            </a:xfrm>
          </p:grpSpPr>
          <p:sp>
            <p:nvSpPr>
              <p:cNvPr id="223" name="Google Shape;223;p25"/>
              <p:cNvSpPr/>
              <p:nvPr/>
            </p:nvSpPr>
            <p:spPr>
              <a:xfrm rot="5400000">
                <a:off x="1230800" y="2984063"/>
                <a:ext cx="923700" cy="9027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5"/>
              <p:cNvSpPr txBox="1"/>
              <p:nvPr/>
            </p:nvSpPr>
            <p:spPr>
              <a:xfrm>
                <a:off x="1461250" y="3124013"/>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2:1</a:t>
                </a:r>
                <a:endParaRPr/>
              </a:p>
            </p:txBody>
          </p:sp>
          <p:sp>
            <p:nvSpPr>
              <p:cNvPr id="225" name="Google Shape;225;p25"/>
              <p:cNvSpPr txBox="1"/>
              <p:nvPr/>
            </p:nvSpPr>
            <p:spPr>
              <a:xfrm>
                <a:off x="1264675" y="3118113"/>
                <a:ext cx="405600" cy="5577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endParaRPr>
                  <a:solidFill>
                    <a:srgbClr val="000000"/>
                  </a:solidFill>
                </a:endParaRPr>
              </a:p>
            </p:txBody>
          </p:sp>
          <p:cxnSp>
            <p:nvCxnSpPr>
              <p:cNvPr id="226" name="Google Shape;226;p25"/>
              <p:cNvCxnSpPr/>
              <p:nvPr/>
            </p:nvCxnSpPr>
            <p:spPr>
              <a:xfrm rot="10800000">
                <a:off x="1111100" y="33055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27" name="Google Shape;227;p25"/>
              <p:cNvCxnSpPr/>
              <p:nvPr/>
            </p:nvCxnSpPr>
            <p:spPr>
              <a:xfrm rot="10800000">
                <a:off x="1111100" y="3548463"/>
                <a:ext cx="135600" cy="0"/>
              </a:xfrm>
              <a:prstGeom prst="straightConnector1">
                <a:avLst/>
              </a:prstGeom>
              <a:noFill/>
              <a:ln w="9525" cap="flat" cmpd="sng">
                <a:solidFill>
                  <a:srgbClr val="595959"/>
                </a:solidFill>
                <a:prstDash val="solid"/>
                <a:round/>
                <a:headEnd type="none" w="med" len="med"/>
                <a:tailEnd type="none" w="med" len="med"/>
              </a:ln>
            </p:spPr>
          </p:cxnSp>
          <p:sp>
            <p:nvSpPr>
              <p:cNvPr id="228" name="Google Shape;228;p25"/>
              <p:cNvSpPr txBox="1"/>
              <p:nvPr/>
            </p:nvSpPr>
            <p:spPr>
              <a:xfrm rot="-781890">
                <a:off x="1333854" y="3529791"/>
                <a:ext cx="419093" cy="24909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S0</a:t>
                </a:r>
                <a:endParaRPr/>
              </a:p>
            </p:txBody>
          </p:sp>
          <p:cxnSp>
            <p:nvCxnSpPr>
              <p:cNvPr id="229" name="Google Shape;229;p25"/>
              <p:cNvCxnSpPr/>
              <p:nvPr/>
            </p:nvCxnSpPr>
            <p:spPr>
              <a:xfrm>
                <a:off x="1573400" y="3815288"/>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230" name="Google Shape;230;p25"/>
              <p:cNvCxnSpPr/>
              <p:nvPr/>
            </p:nvCxnSpPr>
            <p:spPr>
              <a:xfrm>
                <a:off x="2144000" y="3444213"/>
                <a:ext cx="254100" cy="0"/>
              </a:xfrm>
              <a:prstGeom prst="straightConnector1">
                <a:avLst/>
              </a:prstGeom>
              <a:noFill/>
              <a:ln w="9525" cap="flat" cmpd="sng">
                <a:solidFill>
                  <a:srgbClr val="595959"/>
                </a:solidFill>
                <a:prstDash val="solid"/>
                <a:round/>
                <a:headEnd type="none" w="med" len="med"/>
                <a:tailEnd type="none" w="med" len="med"/>
              </a:ln>
            </p:spPr>
          </p:cxnSp>
          <p:sp>
            <p:nvSpPr>
              <p:cNvPr id="231" name="Google Shape;231;p25"/>
              <p:cNvSpPr txBox="1"/>
              <p:nvPr/>
            </p:nvSpPr>
            <p:spPr>
              <a:xfrm>
                <a:off x="1897688" y="3240763"/>
                <a:ext cx="217500" cy="2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232" name="Google Shape;232;p25"/>
              <p:cNvSpPr txBox="1"/>
              <p:nvPr/>
            </p:nvSpPr>
            <p:spPr>
              <a:xfrm>
                <a:off x="465200" y="3094988"/>
                <a:ext cx="723900" cy="6537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t>!Q1!A</a:t>
                </a:r>
                <a:endParaRPr/>
              </a:p>
              <a:p>
                <a:pPr marL="0" marR="0" lvl="0" indent="0" algn="l" rtl="0">
                  <a:lnSpc>
                    <a:spcPct val="115000"/>
                  </a:lnSpc>
                  <a:spcBef>
                    <a:spcPts val="0"/>
                  </a:spcBef>
                  <a:spcAft>
                    <a:spcPts val="0"/>
                  </a:spcAft>
                  <a:buNone/>
                </a:pPr>
                <a:r>
                  <a:rPr lang="en"/>
                  <a:t>Q1B</a:t>
                </a:r>
                <a:endParaRPr/>
              </a:p>
            </p:txBody>
          </p:sp>
        </p:grpSp>
        <p:grpSp>
          <p:nvGrpSpPr>
            <p:cNvPr id="233" name="Google Shape;233;p25"/>
            <p:cNvGrpSpPr/>
            <p:nvPr/>
          </p:nvGrpSpPr>
          <p:grpSpPr>
            <a:xfrm>
              <a:off x="4700400" y="2337206"/>
              <a:ext cx="2133413" cy="2406325"/>
              <a:chOff x="3234150" y="1368588"/>
              <a:chExt cx="2133413" cy="2406325"/>
            </a:xfrm>
          </p:grpSpPr>
          <p:sp>
            <p:nvSpPr>
              <p:cNvPr id="234" name="Google Shape;234;p25"/>
              <p:cNvSpPr/>
              <p:nvPr/>
            </p:nvSpPr>
            <p:spPr>
              <a:xfrm rot="5400000">
                <a:off x="3382613" y="1894938"/>
                <a:ext cx="2257200" cy="12045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txBox="1"/>
              <p:nvPr/>
            </p:nvSpPr>
            <p:spPr>
              <a:xfrm>
                <a:off x="4164213" y="2162238"/>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8:1</a:t>
                </a:r>
                <a:endParaRPr/>
              </a:p>
            </p:txBody>
          </p:sp>
          <p:sp>
            <p:nvSpPr>
              <p:cNvPr id="236" name="Google Shape;236;p25"/>
              <p:cNvSpPr txBox="1"/>
              <p:nvPr/>
            </p:nvSpPr>
            <p:spPr>
              <a:xfrm>
                <a:off x="3930738" y="1453013"/>
                <a:ext cx="405600" cy="21093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D2</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D3</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D4</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D5</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D6</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D7</a:t>
                </a:r>
                <a:endParaRPr>
                  <a:solidFill>
                    <a:srgbClr val="000000"/>
                  </a:solidFill>
                </a:endParaRPr>
              </a:p>
            </p:txBody>
          </p:sp>
          <p:cxnSp>
            <p:nvCxnSpPr>
              <p:cNvPr id="237" name="Google Shape;237;p25"/>
              <p:cNvCxnSpPr/>
              <p:nvPr/>
            </p:nvCxnSpPr>
            <p:spPr>
              <a:xfrm rot="10800000">
                <a:off x="3776438" y="165423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38" name="Google Shape;238;p25"/>
              <p:cNvCxnSpPr/>
              <p:nvPr/>
            </p:nvCxnSpPr>
            <p:spPr>
              <a:xfrm rot="10800000">
                <a:off x="3776438" y="18971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39" name="Google Shape;239;p25"/>
              <p:cNvCxnSpPr/>
              <p:nvPr/>
            </p:nvCxnSpPr>
            <p:spPr>
              <a:xfrm rot="10800000">
                <a:off x="3776438" y="214013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40" name="Google Shape;240;p25"/>
              <p:cNvCxnSpPr/>
              <p:nvPr/>
            </p:nvCxnSpPr>
            <p:spPr>
              <a:xfrm rot="10800000">
                <a:off x="3776438" y="23830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41" name="Google Shape;241;p25"/>
              <p:cNvCxnSpPr/>
              <p:nvPr/>
            </p:nvCxnSpPr>
            <p:spPr>
              <a:xfrm rot="10800000">
                <a:off x="3776438" y="26404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42" name="Google Shape;242;p25"/>
              <p:cNvCxnSpPr/>
              <p:nvPr/>
            </p:nvCxnSpPr>
            <p:spPr>
              <a:xfrm rot="10800000">
                <a:off x="3776438" y="2894079"/>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43" name="Google Shape;243;p25"/>
              <p:cNvCxnSpPr/>
              <p:nvPr/>
            </p:nvCxnSpPr>
            <p:spPr>
              <a:xfrm rot="10800000">
                <a:off x="3776438" y="3147671"/>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244" name="Google Shape;244;p25"/>
              <p:cNvCxnSpPr/>
              <p:nvPr/>
            </p:nvCxnSpPr>
            <p:spPr>
              <a:xfrm rot="10800000">
                <a:off x="3776438" y="3401263"/>
                <a:ext cx="135600" cy="0"/>
              </a:xfrm>
              <a:prstGeom prst="straightConnector1">
                <a:avLst/>
              </a:prstGeom>
              <a:noFill/>
              <a:ln w="9525" cap="flat" cmpd="sng">
                <a:solidFill>
                  <a:srgbClr val="595959"/>
                </a:solidFill>
                <a:prstDash val="solid"/>
                <a:round/>
                <a:headEnd type="none" w="med" len="med"/>
                <a:tailEnd type="none" w="med" len="med"/>
              </a:ln>
            </p:spPr>
          </p:cxnSp>
          <p:sp>
            <p:nvSpPr>
              <p:cNvPr id="245" name="Google Shape;245;p25"/>
              <p:cNvSpPr txBox="1"/>
              <p:nvPr/>
            </p:nvSpPr>
            <p:spPr>
              <a:xfrm rot="-781861">
                <a:off x="4136129" y="3120136"/>
                <a:ext cx="1061742" cy="3266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S2  S1  S0</a:t>
                </a:r>
                <a:endParaRPr/>
              </a:p>
            </p:txBody>
          </p:sp>
          <p:cxnSp>
            <p:nvCxnSpPr>
              <p:cNvPr id="246" name="Google Shape;246;p25"/>
              <p:cNvCxnSpPr/>
              <p:nvPr/>
            </p:nvCxnSpPr>
            <p:spPr>
              <a:xfrm>
                <a:off x="4362388" y="3515963"/>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247" name="Google Shape;247;p25"/>
              <p:cNvCxnSpPr/>
              <p:nvPr/>
            </p:nvCxnSpPr>
            <p:spPr>
              <a:xfrm>
                <a:off x="4653388" y="3439213"/>
                <a:ext cx="8100" cy="335700"/>
              </a:xfrm>
              <a:prstGeom prst="straightConnector1">
                <a:avLst/>
              </a:prstGeom>
              <a:noFill/>
              <a:ln w="9525" cap="flat" cmpd="sng">
                <a:solidFill>
                  <a:srgbClr val="595959"/>
                </a:solidFill>
                <a:prstDash val="solid"/>
                <a:round/>
                <a:headEnd type="none" w="med" len="med"/>
                <a:tailEnd type="none" w="med" len="med"/>
              </a:ln>
            </p:spPr>
          </p:cxnSp>
          <p:cxnSp>
            <p:nvCxnSpPr>
              <p:cNvPr id="248" name="Google Shape;248;p25"/>
              <p:cNvCxnSpPr/>
              <p:nvPr/>
            </p:nvCxnSpPr>
            <p:spPr>
              <a:xfrm>
                <a:off x="4982738" y="3359288"/>
                <a:ext cx="3900" cy="415500"/>
              </a:xfrm>
              <a:prstGeom prst="straightConnector1">
                <a:avLst/>
              </a:prstGeom>
              <a:noFill/>
              <a:ln w="9525" cap="flat" cmpd="sng">
                <a:solidFill>
                  <a:srgbClr val="595959"/>
                </a:solidFill>
                <a:prstDash val="solid"/>
                <a:round/>
                <a:headEnd type="none" w="med" len="med"/>
                <a:tailEnd type="none" w="med" len="med"/>
              </a:ln>
            </p:spPr>
          </p:cxnSp>
          <p:cxnSp>
            <p:nvCxnSpPr>
              <p:cNvPr id="249" name="Google Shape;249;p25"/>
              <p:cNvCxnSpPr>
                <a:stCxn id="234" idx="0"/>
              </p:cNvCxnSpPr>
              <p:nvPr/>
            </p:nvCxnSpPr>
            <p:spPr>
              <a:xfrm>
                <a:off x="5113463" y="2497188"/>
                <a:ext cx="254100" cy="0"/>
              </a:xfrm>
              <a:prstGeom prst="straightConnector1">
                <a:avLst/>
              </a:prstGeom>
              <a:noFill/>
              <a:ln w="9525" cap="flat" cmpd="sng">
                <a:solidFill>
                  <a:srgbClr val="595959"/>
                </a:solidFill>
                <a:prstDash val="solid"/>
                <a:round/>
                <a:headEnd type="none" w="med" len="med"/>
                <a:tailEnd type="none" w="med" len="med"/>
              </a:ln>
            </p:spPr>
          </p:cxnSp>
          <p:sp>
            <p:nvSpPr>
              <p:cNvPr id="250" name="Google Shape;250;p25"/>
              <p:cNvSpPr txBox="1"/>
              <p:nvPr/>
            </p:nvSpPr>
            <p:spPr>
              <a:xfrm>
                <a:off x="4853113" y="2295888"/>
                <a:ext cx="217500" cy="2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251" name="Google Shape;251;p25"/>
              <p:cNvSpPr txBox="1"/>
              <p:nvPr/>
            </p:nvSpPr>
            <p:spPr>
              <a:xfrm>
                <a:off x="3234150" y="1442531"/>
                <a:ext cx="530100" cy="21093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t>*</a:t>
                </a:r>
                <a:endParaRPr/>
              </a:p>
              <a:p>
                <a:pPr marL="0" marR="0" lvl="0" indent="0" algn="l" rtl="0">
                  <a:lnSpc>
                    <a:spcPct val="115000"/>
                  </a:lnSpc>
                  <a:spcBef>
                    <a:spcPts val="0"/>
                  </a:spcBef>
                  <a:spcAft>
                    <a:spcPts val="0"/>
                  </a:spcAft>
                  <a:buNone/>
                </a:pPr>
                <a:r>
                  <a:rPr lang="en"/>
                  <a:t>*</a:t>
                </a:r>
                <a:endParaRPr/>
              </a:p>
              <a:p>
                <a:pPr marL="0" marR="0" lvl="0" indent="0" algn="l" rtl="0">
                  <a:lnSpc>
                    <a:spcPct val="115000"/>
                  </a:lnSpc>
                  <a:spcBef>
                    <a:spcPts val="0"/>
                  </a:spcBef>
                  <a:spcAft>
                    <a:spcPts val="0"/>
                  </a:spcAft>
                  <a:buNone/>
                </a:pPr>
                <a:r>
                  <a:rPr lang="en"/>
                  <a:t>1</a:t>
                </a:r>
                <a:endParaRPr/>
              </a:p>
              <a:p>
                <a:pPr marL="0" marR="0" lvl="0" indent="0" algn="l" rtl="0">
                  <a:lnSpc>
                    <a:spcPct val="115000"/>
                  </a:lnSpc>
                  <a:spcBef>
                    <a:spcPts val="0"/>
                  </a:spcBef>
                  <a:spcAft>
                    <a:spcPts val="0"/>
                  </a:spcAft>
                  <a:buNone/>
                </a:pPr>
                <a:r>
                  <a:rPr lang="en"/>
                  <a:t>B</a:t>
                </a:r>
                <a:endParaRPr/>
              </a:p>
              <a:p>
                <a:pPr marL="0" marR="0" lvl="0" indent="0" algn="l" rtl="0">
                  <a:lnSpc>
                    <a:spcPct val="115000"/>
                  </a:lnSpc>
                  <a:spcBef>
                    <a:spcPts val="0"/>
                  </a:spcBef>
                  <a:spcAft>
                    <a:spcPts val="0"/>
                  </a:spcAft>
                  <a:buNone/>
                </a:pPr>
                <a:r>
                  <a:rPr lang="en"/>
                  <a:t>*</a:t>
                </a:r>
                <a:endParaRPr/>
              </a:p>
              <a:p>
                <a:pPr marL="0" marR="0" lvl="0" indent="0" algn="l" rtl="0">
                  <a:lnSpc>
                    <a:spcPct val="115000"/>
                  </a:lnSpc>
                  <a:spcBef>
                    <a:spcPts val="0"/>
                  </a:spcBef>
                  <a:spcAft>
                    <a:spcPts val="0"/>
                  </a:spcAft>
                  <a:buNone/>
                </a:pPr>
                <a:r>
                  <a:rPr lang="en"/>
                  <a:t>*</a:t>
                </a:r>
                <a:endParaRPr/>
              </a:p>
              <a:p>
                <a:pPr marL="0" marR="0" lvl="0" indent="0" algn="l" rtl="0">
                  <a:lnSpc>
                    <a:spcPct val="115000"/>
                  </a:lnSpc>
                  <a:spcBef>
                    <a:spcPts val="0"/>
                  </a:spcBef>
                  <a:spcAft>
                    <a:spcPts val="0"/>
                  </a:spcAft>
                  <a:buNone/>
                </a:pPr>
                <a:r>
                  <a:rPr lang="en"/>
                  <a:t>*</a:t>
                </a:r>
                <a:endParaRPr/>
              </a:p>
              <a:p>
                <a:pPr marL="0" marR="0" lvl="0" indent="0" algn="l" rtl="0">
                  <a:lnSpc>
                    <a:spcPct val="115000"/>
                  </a:lnSpc>
                  <a:spcBef>
                    <a:spcPts val="0"/>
                  </a:spcBef>
                  <a:spcAft>
                    <a:spcPts val="0"/>
                  </a:spcAft>
                  <a:buNone/>
                </a:pPr>
                <a:r>
                  <a:rPr lang="en"/>
                  <a:t>1</a:t>
                </a:r>
                <a:endParaRPr/>
              </a:p>
            </p:txBody>
          </p:sp>
        </p:grpSp>
        <p:cxnSp>
          <p:nvCxnSpPr>
            <p:cNvPr id="252" name="Google Shape;252;p25"/>
            <p:cNvCxnSpPr/>
            <p:nvPr/>
          </p:nvCxnSpPr>
          <p:spPr>
            <a:xfrm rot="-5400000" flipH="1">
              <a:off x="6156975" y="2001700"/>
              <a:ext cx="1216200" cy="177300"/>
            </a:xfrm>
            <a:prstGeom prst="bentConnector3">
              <a:avLst>
                <a:gd name="adj1" fmla="val 100352"/>
              </a:avLst>
            </a:prstGeom>
            <a:noFill/>
            <a:ln w="9525" cap="flat" cmpd="sng">
              <a:solidFill>
                <a:srgbClr val="000000"/>
              </a:solidFill>
              <a:prstDash val="solid"/>
              <a:round/>
              <a:headEnd type="none" w="med" len="med"/>
              <a:tailEnd type="none" w="med" len="med"/>
            </a:ln>
          </p:spPr>
        </p:cxnSp>
      </p:grpSp>
      <p:sp>
        <p:nvSpPr>
          <p:cNvPr id="253" name="Google Shape;253;p25"/>
          <p:cNvSpPr txBox="1"/>
          <p:nvPr/>
        </p:nvSpPr>
        <p:spPr>
          <a:xfrm>
            <a:off x="5665625" y="2072250"/>
            <a:ext cx="400500" cy="32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baseline="-25000"/>
              <a:t>0</a:t>
            </a:r>
            <a:endParaRPr baseline="-25000"/>
          </a:p>
        </p:txBody>
      </p:sp>
      <p:sp>
        <p:nvSpPr>
          <p:cNvPr id="254" name="Google Shape;254;p25"/>
          <p:cNvSpPr txBox="1"/>
          <p:nvPr/>
        </p:nvSpPr>
        <p:spPr>
          <a:xfrm>
            <a:off x="5683159" y="4689543"/>
            <a:ext cx="1036200" cy="32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Q</a:t>
            </a:r>
            <a:r>
              <a:rPr lang="en" baseline="-25000">
                <a:solidFill>
                  <a:schemeClr val="dk1"/>
                </a:solidFill>
              </a:rPr>
              <a:t>2</a:t>
            </a:r>
            <a:r>
              <a:rPr lang="en"/>
              <a:t>  </a:t>
            </a:r>
            <a:r>
              <a:rPr lang="en">
                <a:solidFill>
                  <a:schemeClr val="dk1"/>
                </a:solidFill>
              </a:rPr>
              <a:t>Q</a:t>
            </a:r>
            <a:r>
              <a:rPr lang="en" baseline="-25000">
                <a:solidFill>
                  <a:schemeClr val="dk1"/>
                </a:solidFill>
              </a:rPr>
              <a:t>1</a:t>
            </a:r>
            <a:r>
              <a:rPr lang="en"/>
              <a:t>  Q</a:t>
            </a:r>
            <a:r>
              <a:rPr lang="en" baseline="-25000"/>
              <a:t>0</a:t>
            </a:r>
            <a:endParaRPr baseline="-25000"/>
          </a:p>
        </p:txBody>
      </p:sp>
      <p:graphicFrame>
        <p:nvGraphicFramePr>
          <p:cNvPr id="255" name="Google Shape;255;p25"/>
          <p:cNvGraphicFramePr/>
          <p:nvPr/>
        </p:nvGraphicFramePr>
        <p:xfrm>
          <a:off x="311700" y="3265575"/>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1</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256" name="Google Shape;256;p25"/>
          <p:cNvSpPr txBox="1">
            <a:spLocks noGrp="1"/>
          </p:cNvSpPr>
          <p:nvPr>
            <p:ph type="body" idx="1"/>
          </p:nvPr>
        </p:nvSpPr>
        <p:spPr>
          <a:xfrm>
            <a:off x="311700" y="4568450"/>
            <a:ext cx="2418600" cy="90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t>
            </a:r>
            <a:r>
              <a:rPr lang="en" baseline="-25000"/>
              <a:t>2</a:t>
            </a:r>
            <a:r>
              <a:rPr lang="en"/>
              <a:t> = B + Q0 + !Q1</a:t>
            </a:r>
            <a:endParaRPr/>
          </a:p>
          <a:p>
            <a:pPr marL="0" lvl="0" indent="0" algn="l" rtl="0">
              <a:spcBef>
                <a:spcPts val="1600"/>
              </a:spcBef>
              <a:spcAft>
                <a:spcPts val="1600"/>
              </a:spcAft>
              <a:buNone/>
            </a:pPr>
            <a:r>
              <a:rPr lang="en"/>
              <a:t> </a:t>
            </a:r>
            <a:endParaRPr/>
          </a:p>
        </p:txBody>
      </p:sp>
      <p:graphicFrame>
        <p:nvGraphicFramePr>
          <p:cNvPr id="257" name="Google Shape;257;p25"/>
          <p:cNvGraphicFramePr/>
          <p:nvPr/>
        </p:nvGraphicFramePr>
        <p:xfrm>
          <a:off x="311700" y="1211375"/>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B</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258" name="Google Shape;258;p25"/>
          <p:cNvSpPr txBox="1">
            <a:spLocks noGrp="1"/>
          </p:cNvSpPr>
          <p:nvPr>
            <p:ph type="body" idx="1"/>
          </p:nvPr>
        </p:nvSpPr>
        <p:spPr>
          <a:xfrm>
            <a:off x="378125" y="2533800"/>
            <a:ext cx="2959200" cy="6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t>
            </a:r>
            <a:r>
              <a:rPr lang="en" baseline="-25000"/>
              <a:t>2</a:t>
            </a:r>
            <a:r>
              <a:rPr lang="en"/>
              <a:t> =!A!Q0!Q1 +BQ0Q1</a:t>
            </a:r>
            <a:endParaRPr/>
          </a:p>
          <a:p>
            <a:pPr marL="0" lvl="0" indent="0" algn="l" rtl="0">
              <a:spcBef>
                <a:spcPts val="1600"/>
              </a:spcBef>
              <a:spcAft>
                <a:spcPts val="1600"/>
              </a:spcAft>
              <a:buNone/>
            </a:pPr>
            <a:endParaRPr/>
          </a:p>
        </p:txBody>
      </p:sp>
      <p:sp>
        <p:nvSpPr>
          <p:cNvPr id="259" name="Google Shape;259;p25"/>
          <p:cNvSpPr/>
          <p:nvPr/>
        </p:nvSpPr>
        <p:spPr>
          <a:xfrm rot="5400000">
            <a:off x="3421025" y="1704900"/>
            <a:ext cx="233100" cy="400500"/>
          </a:xfrm>
          <a:prstGeom prst="round2SameRect">
            <a:avLst>
              <a:gd name="adj1" fmla="val 16667"/>
              <a:gd name="adj2" fmla="val 0"/>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5"/>
          <p:cNvSpPr/>
          <p:nvPr/>
        </p:nvSpPr>
        <p:spPr>
          <a:xfrm rot="10800000">
            <a:off x="3343025" y="1490625"/>
            <a:ext cx="389100" cy="241200"/>
          </a:xfrm>
          <a:prstGeom prst="round2SameRect">
            <a:avLst>
              <a:gd name="adj1" fmla="val 16667"/>
              <a:gd name="adj2" fmla="val 0"/>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title"/>
          </p:nvPr>
        </p:nvSpPr>
        <p:spPr>
          <a:xfrm>
            <a:off x="159675" y="72350"/>
            <a:ext cx="873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434343"/>
                </a:solidFill>
                <a:latin typeface="Calibri"/>
                <a:ea typeface="Calibri"/>
                <a:cs typeface="Calibri"/>
                <a:sym typeface="Calibri"/>
              </a:rPr>
              <a:t>9. Implementare Q</a:t>
            </a:r>
            <a:r>
              <a:rPr lang="en" b="1" baseline="-25000">
                <a:solidFill>
                  <a:srgbClr val="434343"/>
                </a:solidFill>
                <a:latin typeface="Calibri"/>
                <a:ea typeface="Calibri"/>
                <a:cs typeface="Calibri"/>
                <a:sym typeface="Calibri"/>
              </a:rPr>
              <a:t>1</a:t>
            </a:r>
            <a:r>
              <a:rPr lang="en" b="1">
                <a:solidFill>
                  <a:srgbClr val="434343"/>
                </a:solidFill>
                <a:latin typeface="Calibri"/>
                <a:ea typeface="Calibri"/>
                <a:cs typeface="Calibri"/>
                <a:sym typeface="Calibri"/>
              </a:rPr>
              <a:t> folosind CBB tip JK unde J și K sunt implementate cu porți NOR</a:t>
            </a:r>
            <a:endParaRPr>
              <a:solidFill>
                <a:srgbClr val="434343"/>
              </a:solidFill>
              <a:latin typeface="Calibri"/>
              <a:ea typeface="Calibri"/>
              <a:cs typeface="Calibri"/>
              <a:sym typeface="Calibri"/>
            </a:endParaRPr>
          </a:p>
        </p:txBody>
      </p:sp>
      <p:sp>
        <p:nvSpPr>
          <p:cNvPr id="266" name="Google Shape;266;p26"/>
          <p:cNvSpPr txBox="1">
            <a:spLocks noGrp="1"/>
          </p:cNvSpPr>
          <p:nvPr>
            <p:ph type="body" idx="1"/>
          </p:nvPr>
        </p:nvSpPr>
        <p:spPr>
          <a:xfrm>
            <a:off x="2686550" y="1511100"/>
            <a:ext cx="4486200" cy="517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J</a:t>
            </a:r>
            <a:r>
              <a:rPr lang="en" baseline="-25000"/>
              <a:t>1</a:t>
            </a:r>
            <a:r>
              <a:rPr lang="en"/>
              <a:t> = !Q0!Q2 = !!(!Q0!Q2) = !(Q0 + Q2)</a:t>
            </a:r>
            <a:endParaRPr/>
          </a:p>
        </p:txBody>
      </p:sp>
      <p:graphicFrame>
        <p:nvGraphicFramePr>
          <p:cNvPr id="267" name="Google Shape;267;p26"/>
          <p:cNvGraphicFramePr/>
          <p:nvPr/>
        </p:nvGraphicFramePr>
        <p:xfrm>
          <a:off x="311700" y="123405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bl>
          </a:graphicData>
        </a:graphic>
      </p:graphicFrame>
      <p:cxnSp>
        <p:nvCxnSpPr>
          <p:cNvPr id="268" name="Google Shape;268;p26"/>
          <p:cNvCxnSpPr/>
          <p:nvPr/>
        </p:nvCxnSpPr>
        <p:spPr>
          <a:xfrm>
            <a:off x="311700" y="1234050"/>
            <a:ext cx="530100" cy="404700"/>
          </a:xfrm>
          <a:prstGeom prst="straightConnector1">
            <a:avLst/>
          </a:prstGeom>
          <a:noFill/>
          <a:ln w="9525" cap="flat" cmpd="sng">
            <a:solidFill>
              <a:srgbClr val="595959"/>
            </a:solidFill>
            <a:prstDash val="solid"/>
            <a:round/>
            <a:headEnd type="none" w="med" len="med"/>
            <a:tailEnd type="none" w="med" len="med"/>
          </a:ln>
        </p:spPr>
      </p:cxnSp>
      <p:cxnSp>
        <p:nvCxnSpPr>
          <p:cNvPr id="269" name="Google Shape;269;p26"/>
          <p:cNvCxnSpPr/>
          <p:nvPr/>
        </p:nvCxnSpPr>
        <p:spPr>
          <a:xfrm>
            <a:off x="196275" y="3314925"/>
            <a:ext cx="530100" cy="404700"/>
          </a:xfrm>
          <a:prstGeom prst="straightConnector1">
            <a:avLst/>
          </a:prstGeom>
          <a:noFill/>
          <a:ln w="9525" cap="flat" cmpd="sng">
            <a:solidFill>
              <a:srgbClr val="595959"/>
            </a:solidFill>
            <a:prstDash val="solid"/>
            <a:round/>
            <a:headEnd type="none" w="med" len="med"/>
            <a:tailEnd type="none" w="med" len="med"/>
          </a:ln>
        </p:spPr>
      </p:cxnSp>
      <p:pic>
        <p:nvPicPr>
          <p:cNvPr id="270" name="Google Shape;270;p26"/>
          <p:cNvPicPr preferRelativeResize="0"/>
          <p:nvPr/>
        </p:nvPicPr>
        <p:blipFill>
          <a:blip r:embed="rId3">
            <a:alphaModFix/>
          </a:blip>
          <a:stretch>
            <a:fillRect/>
          </a:stretch>
        </p:blipFill>
        <p:spPr>
          <a:xfrm>
            <a:off x="6751675" y="2096291"/>
            <a:ext cx="2224300" cy="2325900"/>
          </a:xfrm>
          <a:prstGeom prst="rect">
            <a:avLst/>
          </a:prstGeom>
          <a:noFill/>
          <a:ln>
            <a:noFill/>
          </a:ln>
        </p:spPr>
      </p:pic>
      <p:grpSp>
        <p:nvGrpSpPr>
          <p:cNvPr id="271" name="Google Shape;271;p26"/>
          <p:cNvGrpSpPr/>
          <p:nvPr/>
        </p:nvGrpSpPr>
        <p:grpSpPr>
          <a:xfrm>
            <a:off x="5715550" y="3157888"/>
            <a:ext cx="1166263" cy="572700"/>
            <a:chOff x="6444550" y="-17150"/>
            <a:chExt cx="1166263" cy="572700"/>
          </a:xfrm>
        </p:grpSpPr>
        <p:grpSp>
          <p:nvGrpSpPr>
            <p:cNvPr id="272" name="Google Shape;272;p26"/>
            <p:cNvGrpSpPr/>
            <p:nvPr/>
          </p:nvGrpSpPr>
          <p:grpSpPr>
            <a:xfrm>
              <a:off x="6444550" y="-17150"/>
              <a:ext cx="1166263" cy="572700"/>
              <a:chOff x="5166775" y="1204250"/>
              <a:chExt cx="1166263" cy="572700"/>
            </a:xfrm>
          </p:grpSpPr>
          <p:cxnSp>
            <p:nvCxnSpPr>
              <p:cNvPr id="273" name="Google Shape;273;p26"/>
              <p:cNvCxnSpPr/>
              <p:nvPr/>
            </p:nvCxnSpPr>
            <p:spPr>
              <a:xfrm flipH="1">
                <a:off x="5166775" y="13351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274" name="Google Shape;274;p26"/>
              <p:cNvCxnSpPr/>
              <p:nvPr/>
            </p:nvCxnSpPr>
            <p:spPr>
              <a:xfrm rot="10800000">
                <a:off x="5167025" y="1645100"/>
                <a:ext cx="594300" cy="2400"/>
              </a:xfrm>
              <a:prstGeom prst="straightConnector1">
                <a:avLst/>
              </a:prstGeom>
              <a:noFill/>
              <a:ln w="9525" cap="flat" cmpd="sng">
                <a:solidFill>
                  <a:srgbClr val="595959"/>
                </a:solidFill>
                <a:prstDash val="solid"/>
                <a:round/>
                <a:headEnd type="none" w="med" len="med"/>
                <a:tailEnd type="none" w="med" len="med"/>
              </a:ln>
            </p:spPr>
          </p:cxnSp>
          <p:sp>
            <p:nvSpPr>
              <p:cNvPr id="275" name="Google Shape;275;p26"/>
              <p:cNvSpPr/>
              <p:nvPr/>
            </p:nvSpPr>
            <p:spPr>
              <a:xfrm flipH="1">
                <a:off x="5552025" y="1204250"/>
                <a:ext cx="538200" cy="5727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6" name="Google Shape;276;p26"/>
              <p:cNvCxnSpPr/>
              <p:nvPr/>
            </p:nvCxnSpPr>
            <p:spPr>
              <a:xfrm rot="10800000" flipH="1">
                <a:off x="6152138" y="1481712"/>
                <a:ext cx="180900" cy="900"/>
              </a:xfrm>
              <a:prstGeom prst="straightConnector1">
                <a:avLst/>
              </a:prstGeom>
              <a:noFill/>
              <a:ln w="9525" cap="flat" cmpd="sng">
                <a:solidFill>
                  <a:srgbClr val="595959"/>
                </a:solidFill>
                <a:prstDash val="solid"/>
                <a:round/>
                <a:headEnd type="none" w="med" len="med"/>
                <a:tailEnd type="none" w="med" len="med"/>
              </a:ln>
            </p:spPr>
          </p:cxnSp>
        </p:grpSp>
        <p:sp>
          <p:nvSpPr>
            <p:cNvPr id="277" name="Google Shape;277;p26"/>
            <p:cNvSpPr/>
            <p:nvPr/>
          </p:nvSpPr>
          <p:spPr>
            <a:xfrm>
              <a:off x="7370650" y="228288"/>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 name="Google Shape;278;p26"/>
          <p:cNvGrpSpPr/>
          <p:nvPr/>
        </p:nvGrpSpPr>
        <p:grpSpPr>
          <a:xfrm>
            <a:off x="4624625" y="3284587"/>
            <a:ext cx="1162188" cy="647400"/>
            <a:chOff x="6444725" y="737100"/>
            <a:chExt cx="1162188" cy="647400"/>
          </a:xfrm>
        </p:grpSpPr>
        <p:grpSp>
          <p:nvGrpSpPr>
            <p:cNvPr id="279" name="Google Shape;279;p26"/>
            <p:cNvGrpSpPr/>
            <p:nvPr/>
          </p:nvGrpSpPr>
          <p:grpSpPr>
            <a:xfrm>
              <a:off x="6444725" y="737100"/>
              <a:ext cx="1162188" cy="647400"/>
              <a:chOff x="5166950" y="1958500"/>
              <a:chExt cx="1162188" cy="647400"/>
            </a:xfrm>
          </p:grpSpPr>
          <p:cxnSp>
            <p:nvCxnSpPr>
              <p:cNvPr id="280" name="Google Shape;280;p26"/>
              <p:cNvCxnSpPr/>
              <p:nvPr/>
            </p:nvCxnSpPr>
            <p:spPr>
              <a:xfrm flipH="1">
                <a:off x="5243125" y="2094325"/>
                <a:ext cx="483600" cy="900"/>
              </a:xfrm>
              <a:prstGeom prst="straightConnector1">
                <a:avLst/>
              </a:prstGeom>
              <a:noFill/>
              <a:ln w="9525" cap="flat" cmpd="sng">
                <a:solidFill>
                  <a:srgbClr val="595959"/>
                </a:solidFill>
                <a:prstDash val="solid"/>
                <a:round/>
                <a:headEnd type="none" w="med" len="med"/>
                <a:tailEnd type="none" w="med" len="med"/>
              </a:ln>
            </p:spPr>
          </p:cxnSp>
          <p:cxnSp>
            <p:nvCxnSpPr>
              <p:cNvPr id="281" name="Google Shape;281;p26"/>
              <p:cNvCxnSpPr/>
              <p:nvPr/>
            </p:nvCxnSpPr>
            <p:spPr>
              <a:xfrm flipH="1">
                <a:off x="5167025" y="2265675"/>
                <a:ext cx="636300" cy="1800"/>
              </a:xfrm>
              <a:prstGeom prst="straightConnector1">
                <a:avLst/>
              </a:prstGeom>
              <a:noFill/>
              <a:ln w="9525" cap="flat" cmpd="sng">
                <a:solidFill>
                  <a:srgbClr val="595959"/>
                </a:solidFill>
                <a:prstDash val="solid"/>
                <a:round/>
                <a:headEnd type="none" w="med" len="med"/>
                <a:tailEnd type="none" w="med" len="med"/>
              </a:ln>
            </p:spPr>
          </p:cxnSp>
          <p:cxnSp>
            <p:nvCxnSpPr>
              <p:cNvPr id="282" name="Google Shape;282;p26"/>
              <p:cNvCxnSpPr/>
              <p:nvPr/>
            </p:nvCxnSpPr>
            <p:spPr>
              <a:xfrm flipH="1">
                <a:off x="5166950" y="2420675"/>
                <a:ext cx="646200" cy="1200"/>
              </a:xfrm>
              <a:prstGeom prst="straightConnector1">
                <a:avLst/>
              </a:prstGeom>
              <a:noFill/>
              <a:ln w="9525" cap="flat" cmpd="sng">
                <a:solidFill>
                  <a:srgbClr val="595959"/>
                </a:solidFill>
                <a:prstDash val="solid"/>
                <a:round/>
                <a:headEnd type="none" w="med" len="med"/>
                <a:tailEnd type="none" w="med" len="med"/>
              </a:ln>
            </p:spPr>
          </p:cxnSp>
          <p:sp>
            <p:nvSpPr>
              <p:cNvPr id="283" name="Google Shape;283;p26"/>
              <p:cNvSpPr/>
              <p:nvPr/>
            </p:nvSpPr>
            <p:spPr>
              <a:xfrm flipH="1">
                <a:off x="5552025" y="1958500"/>
                <a:ext cx="538200" cy="6474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4" name="Google Shape;284;p26"/>
              <p:cNvCxnSpPr/>
              <p:nvPr/>
            </p:nvCxnSpPr>
            <p:spPr>
              <a:xfrm>
                <a:off x="6152138" y="2275925"/>
                <a:ext cx="177000" cy="3000"/>
              </a:xfrm>
              <a:prstGeom prst="straightConnector1">
                <a:avLst/>
              </a:prstGeom>
              <a:noFill/>
              <a:ln w="9525" cap="flat" cmpd="sng">
                <a:solidFill>
                  <a:srgbClr val="595959"/>
                </a:solidFill>
                <a:prstDash val="solid"/>
                <a:round/>
                <a:headEnd type="none" w="med" len="med"/>
                <a:tailEnd type="none" w="med" len="med"/>
              </a:ln>
            </p:spPr>
          </p:cxnSp>
        </p:grpSp>
        <p:sp>
          <p:nvSpPr>
            <p:cNvPr id="285" name="Google Shape;285;p26"/>
            <p:cNvSpPr/>
            <p:nvPr/>
          </p:nvSpPr>
          <p:spPr>
            <a:xfrm>
              <a:off x="7365875" y="1019875"/>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 name="Google Shape;286;p26"/>
          <p:cNvGrpSpPr/>
          <p:nvPr/>
        </p:nvGrpSpPr>
        <p:grpSpPr>
          <a:xfrm>
            <a:off x="3255200" y="2422397"/>
            <a:ext cx="1166263" cy="572700"/>
            <a:chOff x="6444550" y="-17150"/>
            <a:chExt cx="1166263" cy="572700"/>
          </a:xfrm>
        </p:grpSpPr>
        <p:grpSp>
          <p:nvGrpSpPr>
            <p:cNvPr id="287" name="Google Shape;287;p26"/>
            <p:cNvGrpSpPr/>
            <p:nvPr/>
          </p:nvGrpSpPr>
          <p:grpSpPr>
            <a:xfrm>
              <a:off x="6444550" y="-17150"/>
              <a:ext cx="1166263" cy="572700"/>
              <a:chOff x="5166775" y="1204250"/>
              <a:chExt cx="1166263" cy="572700"/>
            </a:xfrm>
          </p:grpSpPr>
          <p:cxnSp>
            <p:nvCxnSpPr>
              <p:cNvPr id="288" name="Google Shape;288;p26"/>
              <p:cNvCxnSpPr/>
              <p:nvPr/>
            </p:nvCxnSpPr>
            <p:spPr>
              <a:xfrm flipH="1">
                <a:off x="5166775" y="13351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289" name="Google Shape;289;p26"/>
              <p:cNvCxnSpPr/>
              <p:nvPr/>
            </p:nvCxnSpPr>
            <p:spPr>
              <a:xfrm rot="10800000">
                <a:off x="5167025" y="1645100"/>
                <a:ext cx="594300" cy="2400"/>
              </a:xfrm>
              <a:prstGeom prst="straightConnector1">
                <a:avLst/>
              </a:prstGeom>
              <a:noFill/>
              <a:ln w="9525" cap="flat" cmpd="sng">
                <a:solidFill>
                  <a:srgbClr val="595959"/>
                </a:solidFill>
                <a:prstDash val="solid"/>
                <a:round/>
                <a:headEnd type="none" w="med" len="med"/>
                <a:tailEnd type="none" w="med" len="med"/>
              </a:ln>
            </p:spPr>
          </p:cxnSp>
          <p:sp>
            <p:nvSpPr>
              <p:cNvPr id="290" name="Google Shape;290;p26"/>
              <p:cNvSpPr/>
              <p:nvPr/>
            </p:nvSpPr>
            <p:spPr>
              <a:xfrm flipH="1">
                <a:off x="5552025" y="1204250"/>
                <a:ext cx="538200" cy="5727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1" name="Google Shape;291;p26"/>
              <p:cNvCxnSpPr/>
              <p:nvPr/>
            </p:nvCxnSpPr>
            <p:spPr>
              <a:xfrm rot="10800000" flipH="1">
                <a:off x="6152138" y="1481712"/>
                <a:ext cx="180900" cy="900"/>
              </a:xfrm>
              <a:prstGeom prst="straightConnector1">
                <a:avLst/>
              </a:prstGeom>
              <a:noFill/>
              <a:ln w="9525" cap="flat" cmpd="sng">
                <a:solidFill>
                  <a:srgbClr val="595959"/>
                </a:solidFill>
                <a:prstDash val="solid"/>
                <a:round/>
                <a:headEnd type="none" w="med" len="med"/>
                <a:tailEnd type="none" w="med" len="med"/>
              </a:ln>
            </p:spPr>
          </p:cxnSp>
        </p:grpSp>
        <p:sp>
          <p:nvSpPr>
            <p:cNvPr id="292" name="Google Shape;292;p26"/>
            <p:cNvSpPr/>
            <p:nvPr/>
          </p:nvSpPr>
          <p:spPr>
            <a:xfrm>
              <a:off x="7370650" y="228288"/>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3" name="Google Shape;293;p26"/>
          <p:cNvSpPr txBox="1"/>
          <p:nvPr/>
        </p:nvSpPr>
        <p:spPr>
          <a:xfrm>
            <a:off x="5443525" y="940875"/>
            <a:ext cx="4005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aseline="-25000"/>
          </a:p>
        </p:txBody>
      </p:sp>
      <p:grpSp>
        <p:nvGrpSpPr>
          <p:cNvPr id="294" name="Google Shape;294;p26"/>
          <p:cNvGrpSpPr/>
          <p:nvPr/>
        </p:nvGrpSpPr>
        <p:grpSpPr>
          <a:xfrm>
            <a:off x="7441288" y="598875"/>
            <a:ext cx="1167125" cy="1331400"/>
            <a:chOff x="6444550" y="1556500"/>
            <a:chExt cx="1167125" cy="1331400"/>
          </a:xfrm>
        </p:grpSpPr>
        <p:grpSp>
          <p:nvGrpSpPr>
            <p:cNvPr id="295" name="Google Shape;295;p26"/>
            <p:cNvGrpSpPr/>
            <p:nvPr/>
          </p:nvGrpSpPr>
          <p:grpSpPr>
            <a:xfrm>
              <a:off x="6444550" y="1556500"/>
              <a:ext cx="1167125" cy="1331400"/>
              <a:chOff x="5166775" y="2777900"/>
              <a:chExt cx="1167125" cy="1331400"/>
            </a:xfrm>
          </p:grpSpPr>
          <p:cxnSp>
            <p:nvCxnSpPr>
              <p:cNvPr id="296" name="Google Shape;296;p26"/>
              <p:cNvCxnSpPr/>
              <p:nvPr/>
            </p:nvCxnSpPr>
            <p:spPr>
              <a:xfrm flipH="1">
                <a:off x="5167050" y="2844375"/>
                <a:ext cx="443100" cy="600"/>
              </a:xfrm>
              <a:prstGeom prst="straightConnector1">
                <a:avLst/>
              </a:prstGeom>
              <a:noFill/>
              <a:ln w="9525" cap="flat" cmpd="sng">
                <a:solidFill>
                  <a:srgbClr val="595959"/>
                </a:solidFill>
                <a:prstDash val="solid"/>
                <a:round/>
                <a:headEnd type="none" w="med" len="med"/>
                <a:tailEnd type="none" w="med" len="med"/>
              </a:ln>
            </p:spPr>
          </p:cxnSp>
          <p:cxnSp>
            <p:nvCxnSpPr>
              <p:cNvPr id="297" name="Google Shape;297;p26"/>
              <p:cNvCxnSpPr/>
              <p:nvPr/>
            </p:nvCxnSpPr>
            <p:spPr>
              <a:xfrm flipH="1">
                <a:off x="5167050" y="3021175"/>
                <a:ext cx="557700" cy="2100"/>
              </a:xfrm>
              <a:prstGeom prst="straightConnector1">
                <a:avLst/>
              </a:prstGeom>
              <a:noFill/>
              <a:ln w="9525" cap="flat" cmpd="sng">
                <a:solidFill>
                  <a:srgbClr val="595959"/>
                </a:solidFill>
                <a:prstDash val="solid"/>
                <a:round/>
                <a:headEnd type="none" w="med" len="med"/>
                <a:tailEnd type="none" w="med" len="med"/>
              </a:ln>
            </p:spPr>
          </p:cxnSp>
          <p:cxnSp>
            <p:nvCxnSpPr>
              <p:cNvPr id="298" name="Google Shape;298;p26"/>
              <p:cNvCxnSpPr/>
              <p:nvPr/>
            </p:nvCxnSpPr>
            <p:spPr>
              <a:xfrm flipH="1">
                <a:off x="5166875" y="3178350"/>
                <a:ext cx="616800" cy="4200"/>
              </a:xfrm>
              <a:prstGeom prst="straightConnector1">
                <a:avLst/>
              </a:prstGeom>
              <a:noFill/>
              <a:ln w="9525" cap="flat" cmpd="sng">
                <a:solidFill>
                  <a:srgbClr val="595959"/>
                </a:solidFill>
                <a:prstDash val="solid"/>
                <a:round/>
                <a:headEnd type="none" w="med" len="med"/>
                <a:tailEnd type="none" w="med" len="med"/>
              </a:ln>
            </p:spPr>
          </p:cxnSp>
          <p:cxnSp>
            <p:nvCxnSpPr>
              <p:cNvPr id="299" name="Google Shape;299;p26"/>
              <p:cNvCxnSpPr/>
              <p:nvPr/>
            </p:nvCxnSpPr>
            <p:spPr>
              <a:xfrm flipH="1">
                <a:off x="5166925" y="3357350"/>
                <a:ext cx="649500" cy="3600"/>
              </a:xfrm>
              <a:prstGeom prst="straightConnector1">
                <a:avLst/>
              </a:prstGeom>
              <a:noFill/>
              <a:ln w="9525" cap="flat" cmpd="sng">
                <a:solidFill>
                  <a:srgbClr val="595959"/>
                </a:solidFill>
                <a:prstDash val="solid"/>
                <a:round/>
                <a:headEnd type="none" w="med" len="med"/>
                <a:tailEnd type="none" w="med" len="med"/>
              </a:ln>
            </p:spPr>
          </p:cxnSp>
          <p:cxnSp>
            <p:nvCxnSpPr>
              <p:cNvPr id="300" name="Google Shape;300;p26"/>
              <p:cNvCxnSpPr/>
              <p:nvPr/>
            </p:nvCxnSpPr>
            <p:spPr>
              <a:xfrm flipH="1">
                <a:off x="5167025" y="3522175"/>
                <a:ext cx="651600" cy="2700"/>
              </a:xfrm>
              <a:prstGeom prst="straightConnector1">
                <a:avLst/>
              </a:prstGeom>
              <a:noFill/>
              <a:ln w="9525" cap="flat" cmpd="sng">
                <a:solidFill>
                  <a:srgbClr val="595959"/>
                </a:solidFill>
                <a:prstDash val="solid"/>
                <a:round/>
                <a:headEnd type="none" w="med" len="med"/>
                <a:tailEnd type="none" w="med" len="med"/>
              </a:ln>
            </p:spPr>
          </p:cxnSp>
          <p:cxnSp>
            <p:nvCxnSpPr>
              <p:cNvPr id="301" name="Google Shape;301;p26"/>
              <p:cNvCxnSpPr/>
              <p:nvPr/>
            </p:nvCxnSpPr>
            <p:spPr>
              <a:xfrm flipH="1">
                <a:off x="5166775" y="3701175"/>
                <a:ext cx="618000" cy="2100"/>
              </a:xfrm>
              <a:prstGeom prst="straightConnector1">
                <a:avLst/>
              </a:prstGeom>
              <a:noFill/>
              <a:ln w="9525" cap="flat" cmpd="sng">
                <a:solidFill>
                  <a:srgbClr val="595959"/>
                </a:solidFill>
                <a:prstDash val="solid"/>
                <a:round/>
                <a:headEnd type="none" w="med" len="med"/>
                <a:tailEnd type="none" w="med" len="med"/>
              </a:ln>
            </p:spPr>
          </p:cxnSp>
          <p:cxnSp>
            <p:nvCxnSpPr>
              <p:cNvPr id="302" name="Google Shape;302;p26"/>
              <p:cNvCxnSpPr/>
              <p:nvPr/>
            </p:nvCxnSpPr>
            <p:spPr>
              <a:xfrm flipH="1">
                <a:off x="5166925" y="3859425"/>
                <a:ext cx="562200" cy="3300"/>
              </a:xfrm>
              <a:prstGeom prst="straightConnector1">
                <a:avLst/>
              </a:prstGeom>
              <a:noFill/>
              <a:ln w="9525" cap="flat" cmpd="sng">
                <a:solidFill>
                  <a:srgbClr val="595959"/>
                </a:solidFill>
                <a:prstDash val="solid"/>
                <a:round/>
                <a:headEnd type="none" w="med" len="med"/>
                <a:tailEnd type="none" w="med" len="med"/>
              </a:ln>
            </p:spPr>
          </p:cxnSp>
          <p:cxnSp>
            <p:nvCxnSpPr>
              <p:cNvPr id="303" name="Google Shape;303;p26"/>
              <p:cNvCxnSpPr/>
              <p:nvPr/>
            </p:nvCxnSpPr>
            <p:spPr>
              <a:xfrm flipH="1">
                <a:off x="5166800" y="4039525"/>
                <a:ext cx="448800" cy="1500"/>
              </a:xfrm>
              <a:prstGeom prst="straightConnector1">
                <a:avLst/>
              </a:prstGeom>
              <a:noFill/>
              <a:ln w="9525" cap="flat" cmpd="sng">
                <a:solidFill>
                  <a:srgbClr val="595959"/>
                </a:solidFill>
                <a:prstDash val="solid"/>
                <a:round/>
                <a:headEnd type="none" w="med" len="med"/>
                <a:tailEnd type="none" w="med" len="med"/>
              </a:ln>
            </p:spPr>
          </p:cxnSp>
          <p:sp>
            <p:nvSpPr>
              <p:cNvPr id="304" name="Google Shape;304;p26"/>
              <p:cNvSpPr/>
              <p:nvPr/>
            </p:nvSpPr>
            <p:spPr>
              <a:xfrm flipH="1">
                <a:off x="5552025" y="2777900"/>
                <a:ext cx="538200" cy="13314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5" name="Google Shape;305;p26"/>
              <p:cNvCxnSpPr/>
              <p:nvPr/>
            </p:nvCxnSpPr>
            <p:spPr>
              <a:xfrm>
                <a:off x="6156900" y="3442100"/>
                <a:ext cx="177000" cy="3000"/>
              </a:xfrm>
              <a:prstGeom prst="straightConnector1">
                <a:avLst/>
              </a:prstGeom>
              <a:noFill/>
              <a:ln w="9525" cap="flat" cmpd="sng">
                <a:solidFill>
                  <a:srgbClr val="595959"/>
                </a:solidFill>
                <a:prstDash val="solid"/>
                <a:round/>
                <a:headEnd type="none" w="med" len="med"/>
                <a:tailEnd type="none" w="med" len="med"/>
              </a:ln>
            </p:spPr>
          </p:cxnSp>
        </p:grpSp>
        <p:sp>
          <p:nvSpPr>
            <p:cNvPr id="306" name="Google Shape;306;p26"/>
            <p:cNvSpPr/>
            <p:nvPr/>
          </p:nvSpPr>
          <p:spPr>
            <a:xfrm>
              <a:off x="7370650" y="2186050"/>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26"/>
          <p:cNvGrpSpPr/>
          <p:nvPr/>
        </p:nvGrpSpPr>
        <p:grpSpPr>
          <a:xfrm>
            <a:off x="3462975" y="3322050"/>
            <a:ext cx="1166263" cy="572700"/>
            <a:chOff x="6444550" y="-17150"/>
            <a:chExt cx="1166263" cy="572700"/>
          </a:xfrm>
        </p:grpSpPr>
        <p:grpSp>
          <p:nvGrpSpPr>
            <p:cNvPr id="308" name="Google Shape;308;p26"/>
            <p:cNvGrpSpPr/>
            <p:nvPr/>
          </p:nvGrpSpPr>
          <p:grpSpPr>
            <a:xfrm>
              <a:off x="6444550" y="-17150"/>
              <a:ext cx="1166263" cy="572700"/>
              <a:chOff x="5166775" y="1204250"/>
              <a:chExt cx="1166263" cy="572700"/>
            </a:xfrm>
          </p:grpSpPr>
          <p:cxnSp>
            <p:nvCxnSpPr>
              <p:cNvPr id="309" name="Google Shape;309;p26"/>
              <p:cNvCxnSpPr/>
              <p:nvPr/>
            </p:nvCxnSpPr>
            <p:spPr>
              <a:xfrm flipH="1">
                <a:off x="5166775" y="13351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310" name="Google Shape;310;p26"/>
              <p:cNvCxnSpPr/>
              <p:nvPr/>
            </p:nvCxnSpPr>
            <p:spPr>
              <a:xfrm rot="10800000">
                <a:off x="5167025" y="1645100"/>
                <a:ext cx="594300" cy="2400"/>
              </a:xfrm>
              <a:prstGeom prst="straightConnector1">
                <a:avLst/>
              </a:prstGeom>
              <a:noFill/>
              <a:ln w="9525" cap="flat" cmpd="sng">
                <a:solidFill>
                  <a:srgbClr val="595959"/>
                </a:solidFill>
                <a:prstDash val="solid"/>
                <a:round/>
                <a:headEnd type="none" w="med" len="med"/>
                <a:tailEnd type="none" w="med" len="med"/>
              </a:ln>
            </p:spPr>
          </p:cxnSp>
          <p:sp>
            <p:nvSpPr>
              <p:cNvPr id="311" name="Google Shape;311;p26"/>
              <p:cNvSpPr/>
              <p:nvPr/>
            </p:nvSpPr>
            <p:spPr>
              <a:xfrm flipH="1">
                <a:off x="5552025" y="1204250"/>
                <a:ext cx="538200" cy="5727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2" name="Google Shape;312;p26"/>
              <p:cNvCxnSpPr/>
              <p:nvPr/>
            </p:nvCxnSpPr>
            <p:spPr>
              <a:xfrm rot="10800000" flipH="1">
                <a:off x="6152138" y="1481712"/>
                <a:ext cx="180900" cy="900"/>
              </a:xfrm>
              <a:prstGeom prst="straightConnector1">
                <a:avLst/>
              </a:prstGeom>
              <a:noFill/>
              <a:ln w="9525" cap="flat" cmpd="sng">
                <a:solidFill>
                  <a:srgbClr val="595959"/>
                </a:solidFill>
                <a:prstDash val="solid"/>
                <a:round/>
                <a:headEnd type="none" w="med" len="med"/>
                <a:tailEnd type="none" w="med" len="med"/>
              </a:ln>
            </p:spPr>
          </p:cxnSp>
        </p:grpSp>
        <p:sp>
          <p:nvSpPr>
            <p:cNvPr id="313" name="Google Shape;313;p26"/>
            <p:cNvSpPr/>
            <p:nvPr/>
          </p:nvSpPr>
          <p:spPr>
            <a:xfrm>
              <a:off x="7370650" y="228288"/>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26"/>
          <p:cNvGrpSpPr/>
          <p:nvPr/>
        </p:nvGrpSpPr>
        <p:grpSpPr>
          <a:xfrm>
            <a:off x="3322925" y="4124413"/>
            <a:ext cx="1166263" cy="572700"/>
            <a:chOff x="6444550" y="-17150"/>
            <a:chExt cx="1166263" cy="572700"/>
          </a:xfrm>
        </p:grpSpPr>
        <p:grpSp>
          <p:nvGrpSpPr>
            <p:cNvPr id="315" name="Google Shape;315;p26"/>
            <p:cNvGrpSpPr/>
            <p:nvPr/>
          </p:nvGrpSpPr>
          <p:grpSpPr>
            <a:xfrm>
              <a:off x="6444550" y="-17150"/>
              <a:ext cx="1166263" cy="572700"/>
              <a:chOff x="5166775" y="1204250"/>
              <a:chExt cx="1166263" cy="572700"/>
            </a:xfrm>
          </p:grpSpPr>
          <p:cxnSp>
            <p:nvCxnSpPr>
              <p:cNvPr id="316" name="Google Shape;316;p26"/>
              <p:cNvCxnSpPr/>
              <p:nvPr/>
            </p:nvCxnSpPr>
            <p:spPr>
              <a:xfrm flipH="1">
                <a:off x="5166775" y="13351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317" name="Google Shape;317;p26"/>
              <p:cNvCxnSpPr/>
              <p:nvPr/>
            </p:nvCxnSpPr>
            <p:spPr>
              <a:xfrm rot="10800000">
                <a:off x="5167025" y="1645100"/>
                <a:ext cx="594300" cy="2400"/>
              </a:xfrm>
              <a:prstGeom prst="straightConnector1">
                <a:avLst/>
              </a:prstGeom>
              <a:noFill/>
              <a:ln w="9525" cap="flat" cmpd="sng">
                <a:solidFill>
                  <a:srgbClr val="595959"/>
                </a:solidFill>
                <a:prstDash val="solid"/>
                <a:round/>
                <a:headEnd type="none" w="med" len="med"/>
                <a:tailEnd type="none" w="med" len="med"/>
              </a:ln>
            </p:spPr>
          </p:cxnSp>
          <p:sp>
            <p:nvSpPr>
              <p:cNvPr id="318" name="Google Shape;318;p26"/>
              <p:cNvSpPr/>
              <p:nvPr/>
            </p:nvSpPr>
            <p:spPr>
              <a:xfrm flipH="1">
                <a:off x="5552025" y="1204250"/>
                <a:ext cx="538200" cy="5727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9" name="Google Shape;319;p26"/>
              <p:cNvCxnSpPr/>
              <p:nvPr/>
            </p:nvCxnSpPr>
            <p:spPr>
              <a:xfrm rot="10800000" flipH="1">
                <a:off x="6152138" y="1481712"/>
                <a:ext cx="180900" cy="900"/>
              </a:xfrm>
              <a:prstGeom prst="straightConnector1">
                <a:avLst/>
              </a:prstGeom>
              <a:noFill/>
              <a:ln w="9525" cap="flat" cmpd="sng">
                <a:solidFill>
                  <a:srgbClr val="595959"/>
                </a:solidFill>
                <a:prstDash val="solid"/>
                <a:round/>
                <a:headEnd type="none" w="med" len="med"/>
                <a:tailEnd type="none" w="med" len="med"/>
              </a:ln>
            </p:spPr>
          </p:cxnSp>
        </p:grpSp>
        <p:sp>
          <p:nvSpPr>
            <p:cNvPr id="320" name="Google Shape;320;p26"/>
            <p:cNvSpPr/>
            <p:nvPr/>
          </p:nvSpPr>
          <p:spPr>
            <a:xfrm>
              <a:off x="7370650" y="228288"/>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26"/>
          <p:cNvSpPr txBox="1"/>
          <p:nvPr/>
        </p:nvSpPr>
        <p:spPr>
          <a:xfrm>
            <a:off x="2910075" y="2336600"/>
            <a:ext cx="4005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aseline="-25000"/>
          </a:p>
        </p:txBody>
      </p:sp>
      <p:sp>
        <p:nvSpPr>
          <p:cNvPr id="322" name="Google Shape;322;p26"/>
          <p:cNvSpPr txBox="1"/>
          <p:nvPr/>
        </p:nvSpPr>
        <p:spPr>
          <a:xfrm>
            <a:off x="3091025" y="3291700"/>
            <a:ext cx="4638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aseline="-25000"/>
          </a:p>
        </p:txBody>
      </p:sp>
      <p:cxnSp>
        <p:nvCxnSpPr>
          <p:cNvPr id="323" name="Google Shape;323;p26"/>
          <p:cNvCxnSpPr/>
          <p:nvPr/>
        </p:nvCxnSpPr>
        <p:spPr>
          <a:xfrm rot="10800000" flipH="1">
            <a:off x="4245500" y="2699484"/>
            <a:ext cx="2664300" cy="4500"/>
          </a:xfrm>
          <a:prstGeom prst="straightConnector1">
            <a:avLst/>
          </a:prstGeom>
          <a:noFill/>
          <a:ln w="9525" cap="flat" cmpd="sng">
            <a:solidFill>
              <a:schemeClr val="dk2"/>
            </a:solidFill>
            <a:prstDash val="solid"/>
            <a:round/>
            <a:headEnd type="none" w="med" len="med"/>
            <a:tailEnd type="none" w="med" len="med"/>
          </a:ln>
        </p:spPr>
      </p:cxnSp>
      <p:cxnSp>
        <p:nvCxnSpPr>
          <p:cNvPr id="324" name="Google Shape;324;p26"/>
          <p:cNvCxnSpPr/>
          <p:nvPr/>
        </p:nvCxnSpPr>
        <p:spPr>
          <a:xfrm>
            <a:off x="5714750" y="3299400"/>
            <a:ext cx="0" cy="288900"/>
          </a:xfrm>
          <a:prstGeom prst="straightConnector1">
            <a:avLst/>
          </a:prstGeom>
          <a:noFill/>
          <a:ln w="9525" cap="flat" cmpd="sng">
            <a:solidFill>
              <a:schemeClr val="dk2"/>
            </a:solidFill>
            <a:prstDash val="solid"/>
            <a:round/>
            <a:headEnd type="none" w="med" len="med"/>
            <a:tailEnd type="none" w="med" len="med"/>
          </a:ln>
        </p:spPr>
      </p:cxnSp>
      <p:cxnSp>
        <p:nvCxnSpPr>
          <p:cNvPr id="325" name="Google Shape;325;p26"/>
          <p:cNvCxnSpPr/>
          <p:nvPr/>
        </p:nvCxnSpPr>
        <p:spPr>
          <a:xfrm>
            <a:off x="4710250" y="2699516"/>
            <a:ext cx="0" cy="733200"/>
          </a:xfrm>
          <a:prstGeom prst="straightConnector1">
            <a:avLst/>
          </a:prstGeom>
          <a:noFill/>
          <a:ln w="9525" cap="flat" cmpd="sng">
            <a:solidFill>
              <a:schemeClr val="dk2"/>
            </a:solidFill>
            <a:prstDash val="solid"/>
            <a:round/>
            <a:headEnd type="none" w="med" len="med"/>
            <a:tailEnd type="none" w="med" len="med"/>
          </a:ln>
        </p:spPr>
      </p:cxnSp>
      <p:sp>
        <p:nvSpPr>
          <p:cNvPr id="326" name="Google Shape;326;p26"/>
          <p:cNvSpPr txBox="1"/>
          <p:nvPr/>
        </p:nvSpPr>
        <p:spPr>
          <a:xfrm>
            <a:off x="3014225" y="4246800"/>
            <a:ext cx="308700" cy="3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baseline="-25000"/>
          </a:p>
        </p:txBody>
      </p:sp>
      <p:cxnSp>
        <p:nvCxnSpPr>
          <p:cNvPr id="327" name="Google Shape;327;p26"/>
          <p:cNvCxnSpPr/>
          <p:nvPr/>
        </p:nvCxnSpPr>
        <p:spPr>
          <a:xfrm>
            <a:off x="3322925" y="4266313"/>
            <a:ext cx="0" cy="288900"/>
          </a:xfrm>
          <a:prstGeom prst="straightConnector1">
            <a:avLst/>
          </a:prstGeom>
          <a:noFill/>
          <a:ln w="9525" cap="flat" cmpd="sng">
            <a:solidFill>
              <a:schemeClr val="dk2"/>
            </a:solidFill>
            <a:prstDash val="solid"/>
            <a:round/>
            <a:headEnd type="none" w="med" len="med"/>
            <a:tailEnd type="none" w="med" len="med"/>
          </a:ln>
        </p:spPr>
      </p:cxnSp>
      <p:cxnSp>
        <p:nvCxnSpPr>
          <p:cNvPr id="328" name="Google Shape;328;p26"/>
          <p:cNvCxnSpPr/>
          <p:nvPr/>
        </p:nvCxnSpPr>
        <p:spPr>
          <a:xfrm rot="10800000" flipH="1">
            <a:off x="4527475" y="3785325"/>
            <a:ext cx="103800" cy="623400"/>
          </a:xfrm>
          <a:prstGeom prst="straightConnector1">
            <a:avLst/>
          </a:prstGeom>
          <a:noFill/>
          <a:ln w="9525" cap="flat" cmpd="sng">
            <a:solidFill>
              <a:schemeClr val="dk2"/>
            </a:solidFill>
            <a:prstDash val="solid"/>
            <a:round/>
            <a:headEnd type="none" w="med" len="med"/>
            <a:tailEnd type="none" w="med" len="med"/>
          </a:ln>
        </p:spPr>
      </p:cxnSp>
      <p:sp>
        <p:nvSpPr>
          <p:cNvPr id="329" name="Google Shape;329;p26"/>
          <p:cNvSpPr txBox="1">
            <a:spLocks noGrp="1"/>
          </p:cNvSpPr>
          <p:nvPr>
            <p:ph type="body" idx="1"/>
          </p:nvPr>
        </p:nvSpPr>
        <p:spPr>
          <a:xfrm>
            <a:off x="59200" y="4543200"/>
            <a:ext cx="8797800" cy="51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a:t>
            </a:r>
            <a:r>
              <a:rPr lang="en" baseline="-25000"/>
              <a:t>1</a:t>
            </a:r>
            <a:r>
              <a:rPr lang="en"/>
              <a:t> = !B + !Q0!Q2 + Q0Q2 = !!(!B + !Q0!Q2 + Q0Q2) = !(B + !(Q0 + Q2) + !(!Q0 + !Q2)</a:t>
            </a:r>
            <a:endParaRPr/>
          </a:p>
          <a:p>
            <a:pPr marL="0" lvl="0" indent="0" algn="l" rtl="0">
              <a:spcBef>
                <a:spcPts val="1600"/>
              </a:spcBef>
              <a:spcAft>
                <a:spcPts val="0"/>
              </a:spcAft>
              <a:buNone/>
            </a:pPr>
            <a:endParaRPr>
              <a:solidFill>
                <a:schemeClr val="dk1"/>
              </a:solidFill>
            </a:endParaRPr>
          </a:p>
          <a:p>
            <a:pPr marL="0" lvl="0" indent="0" algn="l" rtl="0">
              <a:spcBef>
                <a:spcPts val="1600"/>
              </a:spcBef>
              <a:spcAft>
                <a:spcPts val="1600"/>
              </a:spcAft>
              <a:buNone/>
            </a:pPr>
            <a:r>
              <a:rPr lang="en"/>
              <a:t> </a:t>
            </a:r>
            <a:endParaRPr/>
          </a:p>
        </p:txBody>
      </p:sp>
      <p:graphicFrame>
        <p:nvGraphicFramePr>
          <p:cNvPr id="330" name="Google Shape;330;p26"/>
          <p:cNvGraphicFramePr/>
          <p:nvPr/>
        </p:nvGraphicFramePr>
        <p:xfrm>
          <a:off x="159675" y="32994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solidFill>
                      <a:srgbClr val="F4CCCC"/>
                    </a:solidFill>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solidFill>
                      <a:srgbClr val="F4CCCC"/>
                    </a:solidFill>
                  </a:tcPr>
                </a:tc>
                <a:tc>
                  <a:txBody>
                    <a:bodyPr/>
                    <a:lstStyle/>
                    <a:p>
                      <a:pPr marL="0" lvl="0" indent="0" algn="l" rtl="0">
                        <a:spcBef>
                          <a:spcPts val="0"/>
                        </a:spcBef>
                        <a:spcAft>
                          <a:spcPts val="0"/>
                        </a:spcAft>
                        <a:buNone/>
                      </a:pPr>
                      <a:r>
                        <a:rPr lang="en"/>
                        <a:t>*</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!B</a:t>
                      </a:r>
                      <a:endParaRPr/>
                    </a:p>
                  </a:txBody>
                  <a:tcPr marL="91425" marR="0" marT="91425" marB="91425">
                    <a:solidFill>
                      <a:srgbClr val="F4CCCC"/>
                    </a:solidFill>
                  </a:tcPr>
                </a:tc>
                <a:tc>
                  <a:txBody>
                    <a:bodyPr/>
                    <a:lstStyle/>
                    <a:p>
                      <a:pPr marL="0" lvl="0" indent="0" algn="l" rtl="0">
                        <a:spcBef>
                          <a:spcPts val="0"/>
                        </a:spcBef>
                        <a:spcAft>
                          <a:spcPts val="0"/>
                        </a:spcAft>
                        <a:buNone/>
                      </a:pPr>
                      <a:r>
                        <a:rPr lang="en"/>
                        <a:t>1</a:t>
                      </a:r>
                      <a:endParaRPr/>
                    </a:p>
                  </a:txBody>
                  <a:tcPr marL="91425" marR="0" marT="91425" marB="91425">
                    <a:solidFill>
                      <a:srgbClr val="F4CCCC"/>
                    </a:solidFill>
                  </a:tcPr>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331" name="Google Shape;331;p26"/>
          <p:cNvSpPr txBox="1"/>
          <p:nvPr/>
        </p:nvSpPr>
        <p:spPr>
          <a:xfrm>
            <a:off x="2910075" y="2336600"/>
            <a:ext cx="4005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baseline="-25000"/>
              <a:t>2</a:t>
            </a:r>
            <a:endParaRPr baseline="-25000"/>
          </a:p>
          <a:p>
            <a:pPr marL="0" lvl="0" indent="0" algn="l" rtl="0">
              <a:spcBef>
                <a:spcPts val="0"/>
              </a:spcBef>
              <a:spcAft>
                <a:spcPts val="0"/>
              </a:spcAft>
              <a:buNone/>
            </a:pPr>
            <a:r>
              <a:rPr lang="en"/>
              <a:t>Q</a:t>
            </a:r>
            <a:r>
              <a:rPr lang="en" baseline="-25000"/>
              <a:t>0</a:t>
            </a:r>
            <a:endParaRPr baseline="-25000"/>
          </a:p>
        </p:txBody>
      </p:sp>
      <p:sp>
        <p:nvSpPr>
          <p:cNvPr id="332" name="Google Shape;332;p26"/>
          <p:cNvSpPr txBox="1"/>
          <p:nvPr/>
        </p:nvSpPr>
        <p:spPr>
          <a:xfrm>
            <a:off x="3195975" y="3236063"/>
            <a:ext cx="4638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r>
              <a:rPr lang="en" baseline="-25000"/>
              <a:t>2</a:t>
            </a:r>
            <a:endParaRPr baseline="-25000"/>
          </a:p>
          <a:p>
            <a:pPr marL="0" lvl="0" indent="0" algn="l" rtl="0">
              <a:spcBef>
                <a:spcPts val="0"/>
              </a:spcBef>
              <a:spcAft>
                <a:spcPts val="0"/>
              </a:spcAft>
              <a:buNone/>
            </a:pPr>
            <a:r>
              <a:rPr lang="en"/>
              <a:t>!Q</a:t>
            </a:r>
            <a:r>
              <a:rPr lang="en" baseline="-25000"/>
              <a:t>0</a:t>
            </a:r>
            <a:endParaRPr baseline="-25000"/>
          </a:p>
        </p:txBody>
      </p:sp>
      <p:sp>
        <p:nvSpPr>
          <p:cNvPr id="333" name="Google Shape;333;p26"/>
          <p:cNvSpPr txBox="1"/>
          <p:nvPr/>
        </p:nvSpPr>
        <p:spPr>
          <a:xfrm>
            <a:off x="3014225" y="4246800"/>
            <a:ext cx="308700" cy="3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a:t>
            </a:r>
            <a:endParaRPr baseline="-25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latin typeface="Calibri"/>
                <a:ea typeface="Calibri"/>
                <a:cs typeface="Calibri"/>
                <a:sym typeface="Calibri"/>
              </a:rPr>
              <a:t>8-9. Determinarea expresiilor logice ale variabilelor de ieșire + Implementarea ieșirii cu NAND</a:t>
            </a:r>
            <a:endParaRPr b="1">
              <a:latin typeface="Calibri"/>
              <a:ea typeface="Calibri"/>
              <a:cs typeface="Calibri"/>
              <a:sym typeface="Calibri"/>
            </a:endParaRPr>
          </a:p>
        </p:txBody>
      </p:sp>
      <p:graphicFrame>
        <p:nvGraphicFramePr>
          <p:cNvPr id="339" name="Google Shape;339;p27"/>
          <p:cNvGraphicFramePr/>
          <p:nvPr/>
        </p:nvGraphicFramePr>
        <p:xfrm>
          <a:off x="311700" y="10479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40" name="Google Shape;340;p27"/>
          <p:cNvSpPr txBox="1"/>
          <p:nvPr/>
        </p:nvSpPr>
        <p:spPr>
          <a:xfrm>
            <a:off x="548700" y="2371525"/>
            <a:ext cx="2181600" cy="7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a:t>
            </a:r>
            <a:r>
              <a:rPr lang="en" baseline="-25000"/>
              <a:t>1</a:t>
            </a:r>
            <a:r>
              <a:rPr lang="en"/>
              <a:t> =Q0!Q2Q1</a:t>
            </a:r>
            <a:endParaRPr/>
          </a:p>
        </p:txBody>
      </p:sp>
      <p:grpSp>
        <p:nvGrpSpPr>
          <p:cNvPr id="341" name="Google Shape;341;p27"/>
          <p:cNvGrpSpPr/>
          <p:nvPr/>
        </p:nvGrpSpPr>
        <p:grpSpPr>
          <a:xfrm>
            <a:off x="7870462" y="662844"/>
            <a:ext cx="1100300" cy="572700"/>
            <a:chOff x="844300" y="1149025"/>
            <a:chExt cx="1100300" cy="572700"/>
          </a:xfrm>
        </p:grpSpPr>
        <p:sp>
          <p:nvSpPr>
            <p:cNvPr id="342" name="Google Shape;342;p27"/>
            <p:cNvSpPr/>
            <p:nvPr/>
          </p:nvSpPr>
          <p:spPr>
            <a:xfrm>
              <a:off x="1229400" y="1149025"/>
              <a:ext cx="538200" cy="572700"/>
            </a:xfrm>
            <a:prstGeom prst="flowChartDelay">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3" name="Google Shape;343;p27"/>
            <p:cNvCxnSpPr/>
            <p:nvPr/>
          </p:nvCxnSpPr>
          <p:spPr>
            <a:xfrm flipH="1">
              <a:off x="844300" y="127330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344" name="Google Shape;344;p27"/>
            <p:cNvCxnSpPr/>
            <p:nvPr/>
          </p:nvCxnSpPr>
          <p:spPr>
            <a:xfrm flipH="1">
              <a:off x="844300" y="157995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345" name="Google Shape;345;p27"/>
            <p:cNvCxnSpPr>
              <a:stCxn id="342" idx="3"/>
            </p:cNvCxnSpPr>
            <p:nvPr/>
          </p:nvCxnSpPr>
          <p:spPr>
            <a:xfrm>
              <a:off x="1767600" y="1435375"/>
              <a:ext cx="177000" cy="3000"/>
            </a:xfrm>
            <a:prstGeom prst="straightConnector1">
              <a:avLst/>
            </a:prstGeom>
            <a:noFill/>
            <a:ln w="9525" cap="flat" cmpd="sng">
              <a:solidFill>
                <a:srgbClr val="595959"/>
              </a:solidFill>
              <a:prstDash val="solid"/>
              <a:round/>
              <a:headEnd type="none" w="med" len="med"/>
              <a:tailEnd type="none" w="med" len="med"/>
            </a:ln>
          </p:spPr>
        </p:cxnSp>
        <p:sp>
          <p:nvSpPr>
            <p:cNvPr id="346" name="Google Shape;346;p27"/>
            <p:cNvSpPr/>
            <p:nvPr/>
          </p:nvSpPr>
          <p:spPr>
            <a:xfrm>
              <a:off x="1767600" y="1400725"/>
              <a:ext cx="64200" cy="723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47" name="Google Shape;347;p27"/>
          <p:cNvGraphicFramePr/>
          <p:nvPr/>
        </p:nvGraphicFramePr>
        <p:xfrm>
          <a:off x="6070250" y="1455650"/>
          <a:ext cx="3000000" cy="3000000"/>
        </p:xfrm>
        <a:graphic>
          <a:graphicData uri="http://schemas.openxmlformats.org/drawingml/2006/table">
            <a:tbl>
              <a:tblPr>
                <a:noFill/>
                <a:tableStyleId>{1CFBFBD1-2C4D-417D-A9A2-8488B4246F20}</a:tableStyleId>
              </a:tblPr>
              <a:tblGrid>
                <a:gridCol w="426725">
                  <a:extLst>
                    <a:ext uri="{9D8B030D-6E8A-4147-A177-3AD203B41FA5}">
                      <a16:colId xmlns:a16="http://schemas.microsoft.com/office/drawing/2014/main" val="20000"/>
                    </a:ext>
                  </a:extLst>
                </a:gridCol>
                <a:gridCol w="425750">
                  <a:extLst>
                    <a:ext uri="{9D8B030D-6E8A-4147-A177-3AD203B41FA5}">
                      <a16:colId xmlns:a16="http://schemas.microsoft.com/office/drawing/2014/main" val="20001"/>
                    </a:ext>
                  </a:extLst>
                </a:gridCol>
                <a:gridCol w="452575">
                  <a:extLst>
                    <a:ext uri="{9D8B030D-6E8A-4147-A177-3AD203B41FA5}">
                      <a16:colId xmlns:a16="http://schemas.microsoft.com/office/drawing/2014/main" val="20002"/>
                    </a:ext>
                  </a:extLst>
                </a:gridCol>
                <a:gridCol w="414300">
                  <a:extLst>
                    <a:ext uri="{9D8B030D-6E8A-4147-A177-3AD203B41FA5}">
                      <a16:colId xmlns:a16="http://schemas.microsoft.com/office/drawing/2014/main" val="20003"/>
                    </a:ext>
                  </a:extLst>
                </a:gridCol>
                <a:gridCol w="409925">
                  <a:extLst>
                    <a:ext uri="{9D8B030D-6E8A-4147-A177-3AD203B41FA5}">
                      <a16:colId xmlns:a16="http://schemas.microsoft.com/office/drawing/2014/main" val="20004"/>
                    </a:ext>
                  </a:extLst>
                </a:gridCol>
                <a:gridCol w="409925">
                  <a:extLst>
                    <a:ext uri="{9D8B030D-6E8A-4147-A177-3AD203B41FA5}">
                      <a16:colId xmlns:a16="http://schemas.microsoft.com/office/drawing/2014/main" val="20005"/>
                    </a:ext>
                  </a:extLst>
                </a:gridCol>
                <a:gridCol w="420500">
                  <a:extLst>
                    <a:ext uri="{9D8B030D-6E8A-4147-A177-3AD203B41FA5}">
                      <a16:colId xmlns:a16="http://schemas.microsoft.com/office/drawing/2014/main" val="20006"/>
                    </a:ext>
                  </a:extLst>
                </a:gridCol>
              </a:tblGrid>
              <a:tr h="247425">
                <a:tc>
                  <a:txBody>
                    <a:bodyPr/>
                    <a:lstStyle/>
                    <a:p>
                      <a:pPr marL="0" lvl="0" indent="0" algn="ctr" rtl="0">
                        <a:spcBef>
                          <a:spcPts val="0"/>
                        </a:spcBef>
                        <a:spcAft>
                          <a:spcPts val="0"/>
                        </a:spcAft>
                        <a:buNone/>
                      </a:pPr>
                      <a:r>
                        <a:rPr lang="en" b="1"/>
                        <a:t>Q</a:t>
                      </a:r>
                      <a:r>
                        <a:rPr lang="en" b="1" baseline="-25000"/>
                        <a:t>2</a:t>
                      </a:r>
                      <a:r>
                        <a:rPr lang="en" b="1" baseline="30000"/>
                        <a:t>t</a:t>
                      </a:r>
                      <a:endParaRPr b="1" baseline="30000"/>
                    </a:p>
                  </a:txBody>
                  <a:tcPr marL="91425" marR="91425" marT="91425" marB="91425">
                    <a:solidFill>
                      <a:srgbClr val="D9D9D9"/>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1</a:t>
                      </a:r>
                      <a:r>
                        <a:rPr lang="en" b="1" baseline="30000">
                          <a:solidFill>
                            <a:schemeClr val="dk1"/>
                          </a:solidFill>
                        </a:rPr>
                        <a:t>t</a:t>
                      </a:r>
                      <a:endParaRPr b="1"/>
                    </a:p>
                  </a:txBody>
                  <a:tcPr marL="91425" marR="91425" marT="91425" marB="91425">
                    <a:solidFill>
                      <a:srgbClr val="D9D9D9"/>
                    </a:solidFill>
                  </a:tcPr>
                </a:tc>
                <a:tc>
                  <a:txBody>
                    <a:bodyPr/>
                    <a:lstStyle/>
                    <a:p>
                      <a:pPr marL="0" lvl="0" indent="0" algn="ctr" rtl="0">
                        <a:spcBef>
                          <a:spcPts val="0"/>
                        </a:spcBef>
                        <a:spcAft>
                          <a:spcPts val="0"/>
                        </a:spcAft>
                        <a:buNone/>
                      </a:pPr>
                      <a:r>
                        <a:rPr lang="en" b="1">
                          <a:solidFill>
                            <a:schemeClr val="dk1"/>
                          </a:solidFill>
                        </a:rPr>
                        <a:t>Q</a:t>
                      </a:r>
                      <a:r>
                        <a:rPr lang="en" b="1" baseline="-25000">
                          <a:solidFill>
                            <a:schemeClr val="dk1"/>
                          </a:solidFill>
                        </a:rPr>
                        <a:t>0</a:t>
                      </a:r>
                      <a:r>
                        <a:rPr lang="en" b="1" baseline="30000">
                          <a:solidFill>
                            <a:schemeClr val="dk1"/>
                          </a:solidFill>
                        </a:rPr>
                        <a:t>t</a:t>
                      </a:r>
                      <a:endParaRPr b="1"/>
                    </a:p>
                  </a:txBody>
                  <a:tcPr marL="91425" marR="91425" marT="91425" marB="91425">
                    <a:lnR w="28575" cap="flat" cmpd="sng">
                      <a:solidFill>
                        <a:srgbClr val="9E9E9E"/>
                      </a:solidFill>
                      <a:prstDash val="solid"/>
                      <a:round/>
                      <a:headEnd type="none" w="sm" len="sm"/>
                      <a:tailEnd type="none" w="sm" len="sm"/>
                    </a:lnR>
                    <a:solidFill>
                      <a:srgbClr val="D9D9D9"/>
                    </a:solidFill>
                  </a:tcPr>
                </a:tc>
                <a:tc>
                  <a:txBody>
                    <a:bodyPr/>
                    <a:lstStyle/>
                    <a:p>
                      <a:pPr marL="0" lvl="0" indent="0" algn="ctr" rtl="0">
                        <a:spcBef>
                          <a:spcPts val="0"/>
                        </a:spcBef>
                        <a:spcAft>
                          <a:spcPts val="0"/>
                        </a:spcAft>
                        <a:buNone/>
                      </a:pPr>
                      <a:r>
                        <a:rPr lang="en" b="1"/>
                        <a:t>O</a:t>
                      </a:r>
                      <a:r>
                        <a:rPr lang="en" b="1" baseline="-25000"/>
                        <a:t>1</a:t>
                      </a:r>
                      <a:endParaRPr b="1" baseline="-25000"/>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Clr>
                          <a:schemeClr val="dk1"/>
                        </a:buClr>
                        <a:buSzPts val="1100"/>
                        <a:buFont typeface="Arial"/>
                        <a:buNone/>
                      </a:pPr>
                      <a:r>
                        <a:rPr lang="en" b="1">
                          <a:solidFill>
                            <a:schemeClr val="dk1"/>
                          </a:solidFill>
                        </a:rPr>
                        <a:t>O</a:t>
                      </a:r>
                      <a:r>
                        <a:rPr lang="en" b="1" baseline="-25000">
                          <a:solidFill>
                            <a:schemeClr val="dk1"/>
                          </a:solidFill>
                        </a:rPr>
                        <a:t>3</a:t>
                      </a:r>
                      <a:endParaRPr b="1">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b="1">
                          <a:solidFill>
                            <a:schemeClr val="dk1"/>
                          </a:solidFill>
                        </a:rPr>
                        <a:t>O</a:t>
                      </a:r>
                      <a:r>
                        <a:rPr lang="en" b="1" baseline="-25000">
                          <a:solidFill>
                            <a:schemeClr val="dk1"/>
                          </a:solidFill>
                        </a:rPr>
                        <a:t>4</a:t>
                      </a:r>
                      <a:endParaRPr b="1"/>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396200">
                <a:tc>
                  <a:txBody>
                    <a:bodyPr/>
                    <a:lstStyle/>
                    <a:p>
                      <a:pPr marL="0" lvl="0" indent="0" algn="ctr" rtl="0">
                        <a:spcBef>
                          <a:spcPts val="0"/>
                        </a:spcBef>
                        <a:spcAft>
                          <a:spcPts val="0"/>
                        </a:spcAft>
                        <a:buNone/>
                      </a:pPr>
                      <a:r>
                        <a:rPr lang="en"/>
                        <a:t>0</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3962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a:t>*</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a:t>*</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B</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7"/>
                  </a:ext>
                </a:extLst>
              </a:tr>
              <a:tr h="396200">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R w="28575" cap="flat" cmpd="sng">
                      <a:solidFill>
                        <a:srgbClr val="9E9E9E"/>
                      </a:solidFill>
                      <a:prstDash val="solid"/>
                      <a:round/>
                      <a:headEnd type="none" w="sm" len="sm"/>
                      <a:tailEnd type="none" w="sm" len="sm"/>
                    </a:lnR>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1</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a:t>0</a:t>
                      </a:r>
                      <a:endParaRPr/>
                    </a:p>
                  </a:txBody>
                  <a:tcPr marL="91425" marR="91425" marT="91425" marB="91425">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8"/>
                  </a:ext>
                </a:extLst>
              </a:tr>
            </a:tbl>
          </a:graphicData>
        </a:graphic>
      </p:graphicFrame>
      <p:graphicFrame>
        <p:nvGraphicFramePr>
          <p:cNvPr id="348" name="Google Shape;348;p27"/>
          <p:cNvGraphicFramePr/>
          <p:nvPr/>
        </p:nvGraphicFramePr>
        <p:xfrm>
          <a:off x="3072475" y="10479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!B</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1</a:t>
                      </a:r>
                      <a:endParaRPr/>
                    </a:p>
                  </a:txBody>
                  <a:tcPr marL="91425" marR="0" marT="91425" marB="91425">
                    <a:lnL w="9525"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a:t>*</a:t>
                      </a:r>
                      <a:endParaRPr/>
                    </a:p>
                  </a:txBody>
                  <a:tcPr marL="91425" marR="0"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2"/>
                  </a:ext>
                </a:extLst>
              </a:tr>
            </a:tbl>
          </a:graphicData>
        </a:graphic>
      </p:graphicFrame>
      <p:graphicFrame>
        <p:nvGraphicFramePr>
          <p:cNvPr id="349" name="Google Shape;349;p27"/>
          <p:cNvGraphicFramePr/>
          <p:nvPr/>
        </p:nvGraphicFramePr>
        <p:xfrm>
          <a:off x="311700" y="29529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B</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0</a:t>
                      </a:r>
                      <a:endParaRPr/>
                    </a:p>
                  </a:txBody>
                  <a:tcPr marL="91425" marR="0" marT="91425" marB="91425"/>
                </a:tc>
                <a:tc>
                  <a:txBody>
                    <a:bodyPr/>
                    <a:lstStyle/>
                    <a:p>
                      <a:pPr marL="0" lvl="0" indent="0" algn="l" rtl="0">
                        <a:spcBef>
                          <a:spcPts val="0"/>
                        </a:spcBef>
                        <a:spcAft>
                          <a:spcPts val="0"/>
                        </a:spcAft>
                        <a:buNone/>
                      </a:pPr>
                      <a:r>
                        <a:rPr lang="en"/>
                        <a:t>1</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350" name="Google Shape;350;p27"/>
          <p:cNvSpPr txBox="1"/>
          <p:nvPr/>
        </p:nvSpPr>
        <p:spPr>
          <a:xfrm>
            <a:off x="504300" y="4255125"/>
            <a:ext cx="2181600" cy="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a:t>
            </a:r>
            <a:r>
              <a:rPr lang="en" baseline="-25000"/>
              <a:t>3</a:t>
            </a:r>
            <a:r>
              <a:rPr lang="en"/>
              <a:t> = BQ2Q1+Q0Q2</a:t>
            </a:r>
            <a:endParaRPr/>
          </a:p>
        </p:txBody>
      </p:sp>
      <p:graphicFrame>
        <p:nvGraphicFramePr>
          <p:cNvPr id="351" name="Google Shape;351;p27"/>
          <p:cNvGraphicFramePr/>
          <p:nvPr/>
        </p:nvGraphicFramePr>
        <p:xfrm>
          <a:off x="3008075" y="2952900"/>
          <a:ext cx="3000000" cy="3000000"/>
        </p:xfrm>
        <a:graphic>
          <a:graphicData uri="http://schemas.openxmlformats.org/drawingml/2006/table">
            <a:tbl>
              <a:tblPr>
                <a:noFill/>
                <a:tableStyleId>{1CFBFBD1-2C4D-417D-A9A2-8488B4246F20}</a:tableStyleId>
              </a:tblPr>
              <a:tblGrid>
                <a:gridCol w="540525">
                  <a:extLst>
                    <a:ext uri="{9D8B030D-6E8A-4147-A177-3AD203B41FA5}">
                      <a16:colId xmlns:a16="http://schemas.microsoft.com/office/drawing/2014/main" val="20000"/>
                    </a:ext>
                  </a:extLst>
                </a:gridCol>
                <a:gridCol w="494775">
                  <a:extLst>
                    <a:ext uri="{9D8B030D-6E8A-4147-A177-3AD203B41FA5}">
                      <a16:colId xmlns:a16="http://schemas.microsoft.com/office/drawing/2014/main" val="20001"/>
                    </a:ext>
                  </a:extLst>
                </a:gridCol>
                <a:gridCol w="459700">
                  <a:extLst>
                    <a:ext uri="{9D8B030D-6E8A-4147-A177-3AD203B41FA5}">
                      <a16:colId xmlns:a16="http://schemas.microsoft.com/office/drawing/2014/main" val="20002"/>
                    </a:ext>
                  </a:extLst>
                </a:gridCol>
                <a:gridCol w="459700">
                  <a:extLst>
                    <a:ext uri="{9D8B030D-6E8A-4147-A177-3AD203B41FA5}">
                      <a16:colId xmlns:a16="http://schemas.microsoft.com/office/drawing/2014/main" val="20003"/>
                    </a:ext>
                  </a:extLst>
                </a:gridCol>
                <a:gridCol w="463900">
                  <a:extLst>
                    <a:ext uri="{9D8B030D-6E8A-4147-A177-3AD203B41FA5}">
                      <a16:colId xmlns:a16="http://schemas.microsoft.com/office/drawing/2014/main" val="20004"/>
                    </a:ext>
                  </a:extLst>
                </a:gridCol>
              </a:tblGrid>
              <a:tr h="419100">
                <a:tc>
                  <a:txBody>
                    <a:bodyPr/>
                    <a:lstStyle/>
                    <a:p>
                      <a:pPr marL="0" lvl="0" indent="0" algn="l" rtl="0">
                        <a:spcBef>
                          <a:spcPts val="0"/>
                        </a:spcBef>
                        <a:spcAft>
                          <a:spcPts val="0"/>
                        </a:spcAft>
                        <a:buNone/>
                      </a:pPr>
                      <a:r>
                        <a:rPr lang="en" sz="1000"/>
                        <a:t>   </a:t>
                      </a:r>
                      <a:r>
                        <a:rPr lang="en" sz="1000" b="1"/>
                        <a:t>   Q</a:t>
                      </a:r>
                      <a:r>
                        <a:rPr lang="en" sz="1000" b="1" baseline="-25000"/>
                        <a:t>2</a:t>
                      </a:r>
                      <a:r>
                        <a:rPr lang="en" sz="1000" b="1">
                          <a:solidFill>
                            <a:schemeClr val="dk1"/>
                          </a:solidFill>
                        </a:rPr>
                        <a:t>Q</a:t>
                      </a:r>
                      <a:r>
                        <a:rPr lang="en" sz="1000" b="1" baseline="-25000">
                          <a:solidFill>
                            <a:schemeClr val="dk1"/>
                          </a:solidFill>
                        </a:rPr>
                        <a:t>1</a:t>
                      </a:r>
                      <a:endParaRPr sz="1000" b="1" baseline="-25000"/>
                    </a:p>
                    <a:p>
                      <a:pPr marL="0" lvl="0" indent="0" algn="l" rtl="0">
                        <a:spcBef>
                          <a:spcPts val="0"/>
                        </a:spcBef>
                        <a:spcAft>
                          <a:spcPts val="0"/>
                        </a:spcAft>
                        <a:buNone/>
                      </a:pPr>
                      <a:r>
                        <a:rPr lang="en" sz="1000" b="1"/>
                        <a:t> Q</a:t>
                      </a:r>
                      <a:r>
                        <a:rPr lang="en" sz="1000" b="1" baseline="-25000"/>
                        <a:t>0</a:t>
                      </a:r>
                      <a:endParaRPr sz="1000" b="1" baseline="-25000"/>
                    </a:p>
                  </a:txBody>
                  <a:tcPr marL="0" marR="0" marT="0" marB="0">
                    <a:solidFill>
                      <a:srgbClr val="F3F3F3"/>
                    </a:solidFill>
                  </a:tcPr>
                </a:tc>
                <a:tc>
                  <a:txBody>
                    <a:bodyPr/>
                    <a:lstStyle/>
                    <a:p>
                      <a:pPr marL="0" lvl="0" indent="0" algn="l" rtl="0">
                        <a:spcBef>
                          <a:spcPts val="0"/>
                        </a:spcBef>
                        <a:spcAft>
                          <a:spcPts val="0"/>
                        </a:spcAft>
                        <a:buNone/>
                      </a:pPr>
                      <a:r>
                        <a:rPr lang="en"/>
                        <a:t>00</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01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11</a:t>
                      </a:r>
                      <a:endParaRPr/>
                    </a:p>
                  </a:txBody>
                  <a:tcPr marL="91425" marR="0" marT="91425" marB="91425">
                    <a:lnB w="9525" cap="flat" cmpd="sng">
                      <a:solidFill>
                        <a:srgbClr val="000000"/>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
                        <a:t>10</a:t>
                      </a:r>
                      <a:endParaRPr/>
                    </a:p>
                  </a:txBody>
                  <a:tcPr marL="91425" marR="0" marT="91425" marB="91425">
                    <a:lnB w="9525" cap="flat" cmpd="sng">
                      <a:solidFill>
                        <a:srgbClr val="000000"/>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419100">
                <a:tc>
                  <a:txBody>
                    <a:bodyPr/>
                    <a:lstStyle/>
                    <a:p>
                      <a:pPr marL="0" lvl="0" indent="0" algn="l" rtl="0">
                        <a:spcBef>
                          <a:spcPts val="0"/>
                        </a:spcBef>
                        <a:spcAft>
                          <a:spcPts val="0"/>
                        </a:spcAft>
                        <a:buNone/>
                      </a:pPr>
                      <a:r>
                        <a:rPr lang="en"/>
                        <a:t>0</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0</a:t>
                      </a:r>
                      <a:endParaRPr/>
                    </a:p>
                  </a:txBody>
                  <a:tcPr marL="91425" marR="0"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
                        <a:t>1</a:t>
                      </a:r>
                      <a:endParaRPr/>
                    </a:p>
                  </a:txBody>
                  <a:tcPr marL="91425" marR="0"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1"/>
                  </a:ext>
                </a:extLst>
              </a:tr>
              <a:tr h="419100">
                <a:tc>
                  <a:txBody>
                    <a:bodyPr/>
                    <a:lstStyle/>
                    <a:p>
                      <a:pPr marL="0" lvl="0" indent="0" algn="l" rtl="0">
                        <a:spcBef>
                          <a:spcPts val="0"/>
                        </a:spcBef>
                        <a:spcAft>
                          <a:spcPts val="0"/>
                        </a:spcAft>
                        <a:buNone/>
                      </a:pPr>
                      <a:r>
                        <a:rPr lang="en"/>
                        <a:t>1</a:t>
                      </a:r>
                      <a:endParaRPr/>
                    </a:p>
                  </a:txBody>
                  <a:tcPr marL="91425" marR="0" marT="91425" marB="91425">
                    <a:lnR w="9525" cap="flat" cmpd="sng">
                      <a:solidFill>
                        <a:srgbClr val="000000"/>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r>
                        <a:rPr lang="en"/>
                        <a:t>0</a:t>
                      </a:r>
                      <a:endParaRPr/>
                    </a:p>
                  </a:txBody>
                  <a:tcPr marL="91425" marR="0"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
                        <a:t>0</a:t>
                      </a:r>
                      <a:endParaRPr/>
                    </a:p>
                  </a:txBody>
                  <a:tcPr marL="91425" marR="0" marT="91425" marB="91425"/>
                </a:tc>
                <a:tc>
                  <a:txBody>
                    <a:bodyPr/>
                    <a:lstStyle/>
                    <a:p>
                      <a:pPr marL="0" lvl="0" indent="0" algn="l" rtl="0">
                        <a:spcBef>
                          <a:spcPts val="0"/>
                        </a:spcBef>
                        <a:spcAft>
                          <a:spcPts val="0"/>
                        </a:spcAft>
                        <a:buNone/>
                      </a:pPr>
                      <a:r>
                        <a:rPr lang="en"/>
                        <a:t>0</a:t>
                      </a:r>
                      <a:endParaRPr/>
                    </a:p>
                  </a:txBody>
                  <a:tcPr marL="91425" marR="0" marT="91425" marB="91425"/>
                </a:tc>
                <a:tc>
                  <a:txBody>
                    <a:bodyPr/>
                    <a:lstStyle/>
                    <a:p>
                      <a:pPr marL="0" lvl="0" indent="0" algn="l" rtl="0">
                        <a:spcBef>
                          <a:spcPts val="0"/>
                        </a:spcBef>
                        <a:spcAft>
                          <a:spcPts val="0"/>
                        </a:spcAft>
                        <a:buNone/>
                      </a:pPr>
                      <a:r>
                        <a:rPr lang="en"/>
                        <a:t>*</a:t>
                      </a:r>
                      <a:endParaRPr/>
                    </a:p>
                  </a:txBody>
                  <a:tcPr marL="91425" marR="0" marT="91425" marB="91425"/>
                </a:tc>
                <a:extLst>
                  <a:ext uri="{0D108BD9-81ED-4DB2-BD59-A6C34878D82A}">
                    <a16:rowId xmlns:a16="http://schemas.microsoft.com/office/drawing/2014/main" val="10002"/>
                  </a:ext>
                </a:extLst>
              </a:tr>
            </a:tbl>
          </a:graphicData>
        </a:graphic>
      </p:graphicFrame>
      <p:sp>
        <p:nvSpPr>
          <p:cNvPr id="352" name="Google Shape;352;p27"/>
          <p:cNvSpPr txBox="1"/>
          <p:nvPr/>
        </p:nvSpPr>
        <p:spPr>
          <a:xfrm>
            <a:off x="3203100" y="4255125"/>
            <a:ext cx="2418600" cy="7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O</a:t>
            </a:r>
            <a:r>
              <a:rPr lang="en" baseline="-25000"/>
              <a:t>4</a:t>
            </a:r>
            <a:r>
              <a:rPr lang="en"/>
              <a:t> = !Q2Q1!Q0+Q2!Q1</a:t>
            </a:r>
            <a:endParaRPr/>
          </a:p>
        </p:txBody>
      </p:sp>
      <p:sp>
        <p:nvSpPr>
          <p:cNvPr id="353" name="Google Shape;353;p27"/>
          <p:cNvSpPr/>
          <p:nvPr/>
        </p:nvSpPr>
        <p:spPr>
          <a:xfrm rot="5400000">
            <a:off x="6949713" y="635850"/>
            <a:ext cx="3465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7"/>
          <p:cNvSpPr/>
          <p:nvPr/>
        </p:nvSpPr>
        <p:spPr>
          <a:xfrm rot="5400000">
            <a:off x="4600775" y="1476300"/>
            <a:ext cx="3339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7"/>
          <p:cNvSpPr/>
          <p:nvPr/>
        </p:nvSpPr>
        <p:spPr>
          <a:xfrm rot="10800000">
            <a:off x="1880462" y="3870225"/>
            <a:ext cx="748200" cy="3849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7"/>
          <p:cNvSpPr/>
          <p:nvPr/>
        </p:nvSpPr>
        <p:spPr>
          <a:xfrm rot="5400000">
            <a:off x="6682985" y="873250"/>
            <a:ext cx="346500" cy="718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7"/>
          <p:cNvSpPr txBox="1"/>
          <p:nvPr/>
        </p:nvSpPr>
        <p:spPr>
          <a:xfrm>
            <a:off x="3072475" y="2371525"/>
            <a:ext cx="2418600" cy="73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O</a:t>
            </a:r>
            <a:r>
              <a:rPr lang="en" baseline="-25000">
                <a:solidFill>
                  <a:schemeClr val="dk1"/>
                </a:solidFill>
              </a:rPr>
              <a:t>2</a:t>
            </a:r>
            <a:r>
              <a:rPr lang="en">
                <a:solidFill>
                  <a:schemeClr val="dk1"/>
                </a:solidFill>
              </a:rPr>
              <a:t> = Q0!Q1 + !Q0Q1Q2!B</a:t>
            </a:r>
            <a:endParaRPr/>
          </a:p>
        </p:txBody>
      </p:sp>
      <p:sp>
        <p:nvSpPr>
          <p:cNvPr id="358" name="Google Shape;358;p27"/>
          <p:cNvSpPr/>
          <p:nvPr/>
        </p:nvSpPr>
        <p:spPr>
          <a:xfrm rot="5400000">
            <a:off x="1421838" y="1859100"/>
            <a:ext cx="3465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7"/>
          <p:cNvSpPr/>
          <p:nvPr/>
        </p:nvSpPr>
        <p:spPr>
          <a:xfrm rot="5400000">
            <a:off x="3639988" y="1859100"/>
            <a:ext cx="3465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7"/>
          <p:cNvSpPr/>
          <p:nvPr/>
        </p:nvSpPr>
        <p:spPr>
          <a:xfrm rot="-5400000">
            <a:off x="5054163" y="1859088"/>
            <a:ext cx="3465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7"/>
          <p:cNvSpPr/>
          <p:nvPr/>
        </p:nvSpPr>
        <p:spPr>
          <a:xfrm rot="5400000">
            <a:off x="1621600" y="3593400"/>
            <a:ext cx="7707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7"/>
          <p:cNvSpPr/>
          <p:nvPr/>
        </p:nvSpPr>
        <p:spPr>
          <a:xfrm rot="5400000">
            <a:off x="4108513" y="3381300"/>
            <a:ext cx="3465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7"/>
          <p:cNvSpPr/>
          <p:nvPr/>
        </p:nvSpPr>
        <p:spPr>
          <a:xfrm rot="5400000">
            <a:off x="4790575" y="3611925"/>
            <a:ext cx="744900" cy="400500"/>
          </a:xfrm>
          <a:prstGeom prst="round2SameRect">
            <a:avLst>
              <a:gd name="adj1" fmla="val 16667"/>
              <a:gd name="adj2" fmla="val 0"/>
            </a:avLst>
          </a:prstGeom>
          <a:noFill/>
          <a:ln w="1905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8"/>
          <p:cNvSpPr txBox="1">
            <a:spLocks noGrp="1"/>
          </p:cNvSpPr>
          <p:nvPr>
            <p:ph type="title"/>
          </p:nvPr>
        </p:nvSpPr>
        <p:spPr>
          <a:xfrm>
            <a:off x="261025" y="83150"/>
            <a:ext cx="4311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latin typeface="Calibri"/>
                <a:ea typeface="Calibri"/>
                <a:cs typeface="Calibri"/>
                <a:sym typeface="Calibri"/>
              </a:rPr>
              <a:t>Implementarea circuitului</a:t>
            </a:r>
            <a:endParaRPr b="1">
              <a:latin typeface="Calibri"/>
              <a:ea typeface="Calibri"/>
              <a:cs typeface="Calibri"/>
              <a:sym typeface="Calibri"/>
            </a:endParaRPr>
          </a:p>
          <a:p>
            <a:pPr marL="0" lvl="0" indent="0" algn="l" rtl="0">
              <a:spcBef>
                <a:spcPts val="0"/>
              </a:spcBef>
              <a:spcAft>
                <a:spcPts val="0"/>
              </a:spcAft>
              <a:buNone/>
            </a:pPr>
            <a:endParaRPr/>
          </a:p>
        </p:txBody>
      </p:sp>
      <p:sp>
        <p:nvSpPr>
          <p:cNvPr id="369" name="Google Shape;369;p28"/>
          <p:cNvSpPr txBox="1"/>
          <p:nvPr/>
        </p:nvSpPr>
        <p:spPr>
          <a:xfrm>
            <a:off x="5394700" y="4748700"/>
            <a:ext cx="37494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https://alin1popa.github.io/logic-gates-labs/</a:t>
            </a:r>
            <a:endParaRPr/>
          </a:p>
          <a:p>
            <a:pPr marL="0" lvl="0" indent="0" algn="l" rtl="0">
              <a:spcBef>
                <a:spcPts val="0"/>
              </a:spcBef>
              <a:spcAft>
                <a:spcPts val="0"/>
              </a:spcAft>
              <a:buNone/>
            </a:pPr>
            <a:endParaRPr/>
          </a:p>
        </p:txBody>
      </p:sp>
      <p:grpSp>
        <p:nvGrpSpPr>
          <p:cNvPr id="370" name="Google Shape;370;p28"/>
          <p:cNvGrpSpPr/>
          <p:nvPr/>
        </p:nvGrpSpPr>
        <p:grpSpPr>
          <a:xfrm>
            <a:off x="5095425" y="302925"/>
            <a:ext cx="1100300" cy="572700"/>
            <a:chOff x="844300" y="1149025"/>
            <a:chExt cx="1100300" cy="572700"/>
          </a:xfrm>
        </p:grpSpPr>
        <p:sp>
          <p:nvSpPr>
            <p:cNvPr id="371" name="Google Shape;371;p28"/>
            <p:cNvSpPr/>
            <p:nvPr/>
          </p:nvSpPr>
          <p:spPr>
            <a:xfrm>
              <a:off x="1229400" y="1149025"/>
              <a:ext cx="538200" cy="572700"/>
            </a:xfrm>
            <a:prstGeom prst="flowChartDelay">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2" name="Google Shape;372;p28"/>
            <p:cNvCxnSpPr/>
            <p:nvPr/>
          </p:nvCxnSpPr>
          <p:spPr>
            <a:xfrm flipH="1">
              <a:off x="844300" y="127330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373" name="Google Shape;373;p28"/>
            <p:cNvCxnSpPr/>
            <p:nvPr/>
          </p:nvCxnSpPr>
          <p:spPr>
            <a:xfrm flipH="1">
              <a:off x="844300" y="157995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374" name="Google Shape;374;p28"/>
            <p:cNvCxnSpPr>
              <a:stCxn id="371" idx="3"/>
            </p:cNvCxnSpPr>
            <p:nvPr/>
          </p:nvCxnSpPr>
          <p:spPr>
            <a:xfrm>
              <a:off x="1767600" y="1435375"/>
              <a:ext cx="177000" cy="3000"/>
            </a:xfrm>
            <a:prstGeom prst="straightConnector1">
              <a:avLst/>
            </a:prstGeom>
            <a:noFill/>
            <a:ln w="9525" cap="flat" cmpd="sng">
              <a:solidFill>
                <a:srgbClr val="595959"/>
              </a:solidFill>
              <a:prstDash val="solid"/>
              <a:round/>
              <a:headEnd type="none" w="med" len="med"/>
              <a:tailEnd type="none" w="med" len="med"/>
            </a:ln>
          </p:spPr>
        </p:cxnSp>
      </p:grpSp>
      <p:grpSp>
        <p:nvGrpSpPr>
          <p:cNvPr id="375" name="Google Shape;375;p28"/>
          <p:cNvGrpSpPr/>
          <p:nvPr/>
        </p:nvGrpSpPr>
        <p:grpSpPr>
          <a:xfrm>
            <a:off x="5095350" y="1210150"/>
            <a:ext cx="1100450" cy="572700"/>
            <a:chOff x="7152400" y="610750"/>
            <a:chExt cx="1100450" cy="572700"/>
          </a:xfrm>
        </p:grpSpPr>
        <p:cxnSp>
          <p:nvCxnSpPr>
            <p:cNvPr id="376" name="Google Shape;376;p28"/>
            <p:cNvCxnSpPr/>
            <p:nvPr/>
          </p:nvCxnSpPr>
          <p:spPr>
            <a:xfrm flipH="1">
              <a:off x="7152400" y="7416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377" name="Google Shape;377;p28"/>
            <p:cNvCxnSpPr/>
            <p:nvPr/>
          </p:nvCxnSpPr>
          <p:spPr>
            <a:xfrm rot="10800000">
              <a:off x="7152650" y="1051600"/>
              <a:ext cx="594300" cy="2400"/>
            </a:xfrm>
            <a:prstGeom prst="straightConnector1">
              <a:avLst/>
            </a:prstGeom>
            <a:noFill/>
            <a:ln w="9525" cap="flat" cmpd="sng">
              <a:solidFill>
                <a:srgbClr val="595959"/>
              </a:solidFill>
              <a:prstDash val="solid"/>
              <a:round/>
              <a:headEnd type="none" w="med" len="med"/>
              <a:tailEnd type="none" w="med" len="med"/>
            </a:ln>
          </p:spPr>
        </p:cxnSp>
        <p:sp>
          <p:nvSpPr>
            <p:cNvPr id="378" name="Google Shape;378;p28"/>
            <p:cNvSpPr/>
            <p:nvPr/>
          </p:nvSpPr>
          <p:spPr>
            <a:xfrm flipH="1">
              <a:off x="7537650" y="610750"/>
              <a:ext cx="538200" cy="572700"/>
            </a:xfrm>
            <a:prstGeom prst="moon">
              <a:avLst>
                <a:gd name="adj" fmla="val 50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9" name="Google Shape;379;p28"/>
            <p:cNvCxnSpPr/>
            <p:nvPr/>
          </p:nvCxnSpPr>
          <p:spPr>
            <a:xfrm>
              <a:off x="8075850" y="885812"/>
              <a:ext cx="177000" cy="3000"/>
            </a:xfrm>
            <a:prstGeom prst="straightConnector1">
              <a:avLst/>
            </a:prstGeom>
            <a:noFill/>
            <a:ln w="9525" cap="flat" cmpd="sng">
              <a:solidFill>
                <a:srgbClr val="595959"/>
              </a:solidFill>
              <a:prstDash val="solid"/>
              <a:round/>
              <a:headEnd type="none" w="med" len="med"/>
              <a:tailEnd type="none" w="med" len="med"/>
            </a:ln>
          </p:spPr>
        </p:cxnSp>
      </p:grpSp>
      <p:grpSp>
        <p:nvGrpSpPr>
          <p:cNvPr id="380" name="Google Shape;380;p28"/>
          <p:cNvGrpSpPr/>
          <p:nvPr/>
        </p:nvGrpSpPr>
        <p:grpSpPr>
          <a:xfrm>
            <a:off x="6476100" y="82663"/>
            <a:ext cx="2356200" cy="1561513"/>
            <a:chOff x="6476100" y="82663"/>
            <a:chExt cx="2356200" cy="1561513"/>
          </a:xfrm>
        </p:grpSpPr>
        <p:grpSp>
          <p:nvGrpSpPr>
            <p:cNvPr id="381" name="Google Shape;381;p28"/>
            <p:cNvGrpSpPr/>
            <p:nvPr/>
          </p:nvGrpSpPr>
          <p:grpSpPr>
            <a:xfrm>
              <a:off x="6476100" y="82663"/>
              <a:ext cx="2356200" cy="1220100"/>
              <a:chOff x="2835000" y="1160300"/>
              <a:chExt cx="2356200" cy="1220100"/>
            </a:xfrm>
          </p:grpSpPr>
          <p:sp>
            <p:nvSpPr>
              <p:cNvPr id="382" name="Google Shape;382;p28"/>
              <p:cNvSpPr/>
              <p:nvPr/>
            </p:nvSpPr>
            <p:spPr>
              <a:xfrm>
                <a:off x="3373200" y="1160300"/>
                <a:ext cx="1279800" cy="1220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83" name="Google Shape;383;p28"/>
              <p:cNvSpPr txBox="1"/>
              <p:nvPr/>
            </p:nvSpPr>
            <p:spPr>
              <a:xfrm>
                <a:off x="3373200" y="1572950"/>
                <a:ext cx="3111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cxnSp>
            <p:nvCxnSpPr>
              <p:cNvPr id="384" name="Google Shape;384;p28"/>
              <p:cNvCxnSpPr/>
              <p:nvPr/>
            </p:nvCxnSpPr>
            <p:spPr>
              <a:xfrm>
                <a:off x="4653000" y="1484825"/>
                <a:ext cx="538200" cy="0"/>
              </a:xfrm>
              <a:prstGeom prst="straightConnector1">
                <a:avLst/>
              </a:prstGeom>
              <a:noFill/>
              <a:ln w="9525" cap="flat" cmpd="sng">
                <a:solidFill>
                  <a:schemeClr val="dk2"/>
                </a:solidFill>
                <a:prstDash val="solid"/>
                <a:round/>
                <a:headEnd type="none" w="med" len="med"/>
                <a:tailEnd type="none" w="med" len="med"/>
              </a:ln>
            </p:spPr>
          </p:cxnSp>
          <p:cxnSp>
            <p:nvCxnSpPr>
              <p:cNvPr id="385" name="Google Shape;385;p28"/>
              <p:cNvCxnSpPr/>
              <p:nvPr/>
            </p:nvCxnSpPr>
            <p:spPr>
              <a:xfrm>
                <a:off x="4653000" y="2055875"/>
                <a:ext cx="538200" cy="0"/>
              </a:xfrm>
              <a:prstGeom prst="straightConnector1">
                <a:avLst/>
              </a:prstGeom>
              <a:noFill/>
              <a:ln w="9525" cap="flat" cmpd="sng">
                <a:solidFill>
                  <a:schemeClr val="dk2"/>
                </a:solidFill>
                <a:prstDash val="solid"/>
                <a:round/>
                <a:headEnd type="none" w="med" len="med"/>
                <a:tailEnd type="none" w="med" len="med"/>
              </a:ln>
            </p:spPr>
          </p:cxnSp>
          <p:cxnSp>
            <p:nvCxnSpPr>
              <p:cNvPr id="386" name="Google Shape;386;p28"/>
              <p:cNvCxnSpPr/>
              <p:nvPr/>
            </p:nvCxnSpPr>
            <p:spPr>
              <a:xfrm>
                <a:off x="2835000" y="1770350"/>
                <a:ext cx="538200" cy="0"/>
              </a:xfrm>
              <a:prstGeom prst="straightConnector1">
                <a:avLst/>
              </a:prstGeom>
              <a:noFill/>
              <a:ln w="9525" cap="flat" cmpd="sng">
                <a:solidFill>
                  <a:schemeClr val="dk2"/>
                </a:solidFill>
                <a:prstDash val="solid"/>
                <a:round/>
                <a:headEnd type="none" w="med" len="med"/>
                <a:tailEnd type="none" w="med" len="med"/>
              </a:ln>
            </p:spPr>
          </p:cxnSp>
          <p:sp>
            <p:nvSpPr>
              <p:cNvPr id="387" name="Google Shape;387;p28"/>
              <p:cNvSpPr txBox="1"/>
              <p:nvPr/>
            </p:nvSpPr>
            <p:spPr>
              <a:xfrm>
                <a:off x="4341900" y="1287425"/>
                <a:ext cx="3111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endParaRPr/>
              </a:p>
            </p:txBody>
          </p:sp>
          <p:sp>
            <p:nvSpPr>
              <p:cNvPr id="388" name="Google Shape;388;p28"/>
              <p:cNvSpPr txBox="1"/>
              <p:nvPr/>
            </p:nvSpPr>
            <p:spPr>
              <a:xfrm>
                <a:off x="4288200" y="1858475"/>
                <a:ext cx="4185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endParaRPr/>
              </a:p>
            </p:txBody>
          </p:sp>
          <p:sp>
            <p:nvSpPr>
              <p:cNvPr id="389" name="Google Shape;389;p28"/>
              <p:cNvSpPr txBox="1"/>
              <p:nvPr/>
            </p:nvSpPr>
            <p:spPr>
              <a:xfrm>
                <a:off x="3675150" y="1484825"/>
                <a:ext cx="675900" cy="39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CBB</a:t>
                </a:r>
                <a:br>
                  <a:rPr lang="en"/>
                </a:br>
                <a:r>
                  <a:rPr lang="en"/>
                  <a:t>D</a:t>
                </a:r>
                <a:endParaRPr/>
              </a:p>
            </p:txBody>
          </p:sp>
        </p:grpSp>
        <p:cxnSp>
          <p:nvCxnSpPr>
            <p:cNvPr id="390" name="Google Shape;390;p28"/>
            <p:cNvCxnSpPr>
              <a:stCxn id="382" idx="2"/>
            </p:cNvCxnSpPr>
            <p:nvPr/>
          </p:nvCxnSpPr>
          <p:spPr>
            <a:xfrm>
              <a:off x="7654200" y="1302763"/>
              <a:ext cx="1200" cy="288000"/>
            </a:xfrm>
            <a:prstGeom prst="straightConnector1">
              <a:avLst/>
            </a:prstGeom>
            <a:noFill/>
            <a:ln w="9525" cap="flat" cmpd="sng">
              <a:solidFill>
                <a:schemeClr val="dk2"/>
              </a:solidFill>
              <a:prstDash val="solid"/>
              <a:round/>
              <a:headEnd type="none" w="med" len="med"/>
              <a:tailEnd type="none" w="med" len="med"/>
            </a:ln>
          </p:spPr>
        </p:cxnSp>
        <p:sp>
          <p:nvSpPr>
            <p:cNvPr id="391" name="Google Shape;391;p28"/>
            <p:cNvSpPr txBox="1"/>
            <p:nvPr/>
          </p:nvSpPr>
          <p:spPr>
            <a:xfrm>
              <a:off x="7715250" y="1249375"/>
              <a:ext cx="6102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CLK</a:t>
              </a:r>
              <a:endParaRPr/>
            </a:p>
          </p:txBody>
        </p:sp>
      </p:grpSp>
      <p:grpSp>
        <p:nvGrpSpPr>
          <p:cNvPr id="392" name="Google Shape;392;p28"/>
          <p:cNvGrpSpPr/>
          <p:nvPr/>
        </p:nvGrpSpPr>
        <p:grpSpPr>
          <a:xfrm>
            <a:off x="6570525" y="2466838"/>
            <a:ext cx="2356200" cy="1675363"/>
            <a:chOff x="6476100" y="1787725"/>
            <a:chExt cx="2356200" cy="1675363"/>
          </a:xfrm>
        </p:grpSpPr>
        <p:grpSp>
          <p:nvGrpSpPr>
            <p:cNvPr id="393" name="Google Shape;393;p28"/>
            <p:cNvGrpSpPr/>
            <p:nvPr/>
          </p:nvGrpSpPr>
          <p:grpSpPr>
            <a:xfrm>
              <a:off x="6476100" y="1787725"/>
              <a:ext cx="2356200" cy="1240913"/>
              <a:chOff x="2835000" y="1287425"/>
              <a:chExt cx="2356200" cy="1240913"/>
            </a:xfrm>
          </p:grpSpPr>
          <p:sp>
            <p:nvSpPr>
              <p:cNvPr id="394" name="Google Shape;394;p28"/>
              <p:cNvSpPr/>
              <p:nvPr/>
            </p:nvSpPr>
            <p:spPr>
              <a:xfrm>
                <a:off x="3373200" y="1308238"/>
                <a:ext cx="1279800" cy="1220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95" name="Google Shape;395;p28"/>
              <p:cNvSpPr txBox="1"/>
              <p:nvPr/>
            </p:nvSpPr>
            <p:spPr>
              <a:xfrm>
                <a:off x="3373200" y="1297800"/>
                <a:ext cx="3111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J</a:t>
                </a:r>
                <a:endParaRPr/>
              </a:p>
            </p:txBody>
          </p:sp>
          <p:sp>
            <p:nvSpPr>
              <p:cNvPr id="396" name="Google Shape;396;p28"/>
              <p:cNvSpPr txBox="1"/>
              <p:nvPr/>
            </p:nvSpPr>
            <p:spPr>
              <a:xfrm>
                <a:off x="3335250" y="1858475"/>
                <a:ext cx="3111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K</a:t>
                </a:r>
                <a:endParaRPr/>
              </a:p>
            </p:txBody>
          </p:sp>
          <p:cxnSp>
            <p:nvCxnSpPr>
              <p:cNvPr id="397" name="Google Shape;397;p28"/>
              <p:cNvCxnSpPr/>
              <p:nvPr/>
            </p:nvCxnSpPr>
            <p:spPr>
              <a:xfrm>
                <a:off x="4653000" y="1484825"/>
                <a:ext cx="538200" cy="0"/>
              </a:xfrm>
              <a:prstGeom prst="straightConnector1">
                <a:avLst/>
              </a:prstGeom>
              <a:noFill/>
              <a:ln w="9525" cap="flat" cmpd="sng">
                <a:solidFill>
                  <a:schemeClr val="dk2"/>
                </a:solidFill>
                <a:prstDash val="solid"/>
                <a:round/>
                <a:headEnd type="none" w="med" len="med"/>
                <a:tailEnd type="none" w="med" len="med"/>
              </a:ln>
            </p:spPr>
          </p:cxnSp>
          <p:cxnSp>
            <p:nvCxnSpPr>
              <p:cNvPr id="398" name="Google Shape;398;p28"/>
              <p:cNvCxnSpPr/>
              <p:nvPr/>
            </p:nvCxnSpPr>
            <p:spPr>
              <a:xfrm>
                <a:off x="4653000" y="2055875"/>
                <a:ext cx="538200" cy="0"/>
              </a:xfrm>
              <a:prstGeom prst="straightConnector1">
                <a:avLst/>
              </a:prstGeom>
              <a:noFill/>
              <a:ln w="9525" cap="flat" cmpd="sng">
                <a:solidFill>
                  <a:schemeClr val="dk2"/>
                </a:solidFill>
                <a:prstDash val="solid"/>
                <a:round/>
                <a:headEnd type="none" w="med" len="med"/>
                <a:tailEnd type="none" w="med" len="med"/>
              </a:ln>
            </p:spPr>
          </p:cxnSp>
          <p:cxnSp>
            <p:nvCxnSpPr>
              <p:cNvPr id="399" name="Google Shape;399;p28"/>
              <p:cNvCxnSpPr/>
              <p:nvPr/>
            </p:nvCxnSpPr>
            <p:spPr>
              <a:xfrm>
                <a:off x="2835000" y="1484825"/>
                <a:ext cx="538200" cy="0"/>
              </a:xfrm>
              <a:prstGeom prst="straightConnector1">
                <a:avLst/>
              </a:prstGeom>
              <a:noFill/>
              <a:ln w="9525" cap="flat" cmpd="sng">
                <a:solidFill>
                  <a:schemeClr val="dk2"/>
                </a:solidFill>
                <a:prstDash val="solid"/>
                <a:round/>
                <a:headEnd type="none" w="med" len="med"/>
                <a:tailEnd type="none" w="med" len="med"/>
              </a:ln>
            </p:spPr>
          </p:cxnSp>
          <p:cxnSp>
            <p:nvCxnSpPr>
              <p:cNvPr id="400" name="Google Shape;400;p28"/>
              <p:cNvCxnSpPr/>
              <p:nvPr/>
            </p:nvCxnSpPr>
            <p:spPr>
              <a:xfrm>
                <a:off x="2835000" y="2055875"/>
                <a:ext cx="538200" cy="0"/>
              </a:xfrm>
              <a:prstGeom prst="straightConnector1">
                <a:avLst/>
              </a:prstGeom>
              <a:noFill/>
              <a:ln w="9525" cap="flat" cmpd="sng">
                <a:solidFill>
                  <a:schemeClr val="dk2"/>
                </a:solidFill>
                <a:prstDash val="solid"/>
                <a:round/>
                <a:headEnd type="none" w="med" len="med"/>
                <a:tailEnd type="none" w="med" len="med"/>
              </a:ln>
            </p:spPr>
          </p:cxnSp>
          <p:sp>
            <p:nvSpPr>
              <p:cNvPr id="401" name="Google Shape;401;p28"/>
              <p:cNvSpPr txBox="1"/>
              <p:nvPr/>
            </p:nvSpPr>
            <p:spPr>
              <a:xfrm>
                <a:off x="4341900" y="1287425"/>
                <a:ext cx="3111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endParaRPr/>
              </a:p>
            </p:txBody>
          </p:sp>
          <p:sp>
            <p:nvSpPr>
              <p:cNvPr id="402" name="Google Shape;402;p28"/>
              <p:cNvSpPr txBox="1"/>
              <p:nvPr/>
            </p:nvSpPr>
            <p:spPr>
              <a:xfrm>
                <a:off x="4288200" y="1858475"/>
                <a:ext cx="4185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!Q</a:t>
                </a:r>
                <a:endParaRPr/>
              </a:p>
            </p:txBody>
          </p:sp>
          <p:sp>
            <p:nvSpPr>
              <p:cNvPr id="403" name="Google Shape;403;p28"/>
              <p:cNvSpPr txBox="1"/>
              <p:nvPr/>
            </p:nvSpPr>
            <p:spPr>
              <a:xfrm>
                <a:off x="3675150" y="1484825"/>
                <a:ext cx="675900" cy="39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CBB</a:t>
                </a:r>
                <a:br>
                  <a:rPr lang="en"/>
                </a:br>
                <a:r>
                  <a:rPr lang="en"/>
                  <a:t>JK</a:t>
                </a:r>
                <a:endParaRPr/>
              </a:p>
            </p:txBody>
          </p:sp>
        </p:grpSp>
        <p:grpSp>
          <p:nvGrpSpPr>
            <p:cNvPr id="404" name="Google Shape;404;p28"/>
            <p:cNvGrpSpPr/>
            <p:nvPr/>
          </p:nvGrpSpPr>
          <p:grpSpPr>
            <a:xfrm>
              <a:off x="7653600" y="3028638"/>
              <a:ext cx="611400" cy="434450"/>
              <a:chOff x="7644750" y="1154263"/>
              <a:chExt cx="611400" cy="434450"/>
            </a:xfrm>
          </p:grpSpPr>
          <p:cxnSp>
            <p:nvCxnSpPr>
              <p:cNvPr id="405" name="Google Shape;405;p28"/>
              <p:cNvCxnSpPr/>
              <p:nvPr/>
            </p:nvCxnSpPr>
            <p:spPr>
              <a:xfrm>
                <a:off x="7644750" y="1154263"/>
                <a:ext cx="1200" cy="288000"/>
              </a:xfrm>
              <a:prstGeom prst="straightConnector1">
                <a:avLst/>
              </a:prstGeom>
              <a:noFill/>
              <a:ln w="9525" cap="flat" cmpd="sng">
                <a:solidFill>
                  <a:schemeClr val="dk2"/>
                </a:solidFill>
                <a:prstDash val="solid"/>
                <a:round/>
                <a:headEnd type="none" w="med" len="med"/>
                <a:tailEnd type="none" w="med" len="med"/>
              </a:ln>
            </p:spPr>
          </p:cxnSp>
          <p:sp>
            <p:nvSpPr>
              <p:cNvPr id="406" name="Google Shape;406;p28"/>
              <p:cNvSpPr txBox="1"/>
              <p:nvPr/>
            </p:nvSpPr>
            <p:spPr>
              <a:xfrm>
                <a:off x="7645950" y="1193913"/>
                <a:ext cx="610200" cy="39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CLK</a:t>
                </a:r>
                <a:endParaRPr/>
              </a:p>
            </p:txBody>
          </p:sp>
        </p:grpSp>
      </p:grpSp>
      <p:grpSp>
        <p:nvGrpSpPr>
          <p:cNvPr id="407" name="Google Shape;407;p28"/>
          <p:cNvGrpSpPr/>
          <p:nvPr/>
        </p:nvGrpSpPr>
        <p:grpSpPr>
          <a:xfrm>
            <a:off x="4616700" y="1975263"/>
            <a:ext cx="1697913" cy="1418375"/>
            <a:chOff x="751500" y="1297263"/>
            <a:chExt cx="1697913" cy="1418375"/>
          </a:xfrm>
        </p:grpSpPr>
        <p:sp>
          <p:nvSpPr>
            <p:cNvPr id="408" name="Google Shape;408;p28"/>
            <p:cNvSpPr/>
            <p:nvPr/>
          </p:nvSpPr>
          <p:spPr>
            <a:xfrm rot="5400000">
              <a:off x="1081725" y="1440363"/>
              <a:ext cx="1256700" cy="9705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8"/>
            <p:cNvSpPr txBox="1"/>
            <p:nvPr/>
          </p:nvSpPr>
          <p:spPr>
            <a:xfrm>
              <a:off x="1436138" y="1590663"/>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4:1</a:t>
              </a:r>
              <a:endParaRPr/>
            </a:p>
          </p:txBody>
        </p:sp>
        <p:sp>
          <p:nvSpPr>
            <p:cNvPr id="410" name="Google Shape;410;p28"/>
            <p:cNvSpPr txBox="1"/>
            <p:nvPr/>
          </p:nvSpPr>
          <p:spPr>
            <a:xfrm>
              <a:off x="1246700" y="1381688"/>
              <a:ext cx="405600" cy="10500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D2</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D3</a:t>
              </a:r>
              <a:endParaRPr>
                <a:solidFill>
                  <a:srgbClr val="000000"/>
                </a:solidFill>
              </a:endParaRPr>
            </a:p>
          </p:txBody>
        </p:sp>
        <p:cxnSp>
          <p:nvCxnSpPr>
            <p:cNvPr id="411" name="Google Shape;411;p28"/>
            <p:cNvCxnSpPr/>
            <p:nvPr/>
          </p:nvCxnSpPr>
          <p:spPr>
            <a:xfrm rot="10800000">
              <a:off x="1092388" y="15829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12" name="Google Shape;412;p28"/>
            <p:cNvCxnSpPr/>
            <p:nvPr/>
          </p:nvCxnSpPr>
          <p:spPr>
            <a:xfrm rot="10800000">
              <a:off x="1092388" y="182586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13" name="Google Shape;413;p28"/>
            <p:cNvCxnSpPr/>
            <p:nvPr/>
          </p:nvCxnSpPr>
          <p:spPr>
            <a:xfrm rot="10800000">
              <a:off x="1092388" y="20688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14" name="Google Shape;414;p28"/>
            <p:cNvCxnSpPr/>
            <p:nvPr/>
          </p:nvCxnSpPr>
          <p:spPr>
            <a:xfrm rot="10800000">
              <a:off x="1092388" y="2311763"/>
              <a:ext cx="135600" cy="0"/>
            </a:xfrm>
            <a:prstGeom prst="straightConnector1">
              <a:avLst/>
            </a:prstGeom>
            <a:noFill/>
            <a:ln w="9525" cap="flat" cmpd="sng">
              <a:solidFill>
                <a:srgbClr val="595959"/>
              </a:solidFill>
              <a:prstDash val="solid"/>
              <a:round/>
              <a:headEnd type="none" w="med" len="med"/>
              <a:tailEnd type="none" w="med" len="med"/>
            </a:ln>
          </p:spPr>
        </p:cxnSp>
        <p:sp>
          <p:nvSpPr>
            <p:cNvPr id="415" name="Google Shape;415;p28"/>
            <p:cNvSpPr txBox="1"/>
            <p:nvPr/>
          </p:nvSpPr>
          <p:spPr>
            <a:xfrm rot="-782417">
              <a:off x="1406552" y="2079688"/>
              <a:ext cx="761847" cy="3266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S1  S0</a:t>
              </a:r>
              <a:endParaRPr/>
            </a:p>
          </p:txBody>
        </p:sp>
        <p:cxnSp>
          <p:nvCxnSpPr>
            <p:cNvPr id="416" name="Google Shape;416;p28"/>
            <p:cNvCxnSpPr/>
            <p:nvPr/>
          </p:nvCxnSpPr>
          <p:spPr>
            <a:xfrm>
              <a:off x="1652288" y="2456688"/>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417" name="Google Shape;417;p28"/>
            <p:cNvCxnSpPr/>
            <p:nvPr/>
          </p:nvCxnSpPr>
          <p:spPr>
            <a:xfrm>
              <a:off x="1943288" y="2379938"/>
              <a:ext cx="8100" cy="335700"/>
            </a:xfrm>
            <a:prstGeom prst="straightConnector1">
              <a:avLst/>
            </a:prstGeom>
            <a:noFill/>
            <a:ln w="9525" cap="flat" cmpd="sng">
              <a:solidFill>
                <a:srgbClr val="595959"/>
              </a:solidFill>
              <a:prstDash val="solid"/>
              <a:round/>
              <a:headEnd type="none" w="med" len="med"/>
              <a:tailEnd type="none" w="med" len="med"/>
            </a:ln>
          </p:spPr>
        </p:cxnSp>
        <p:cxnSp>
          <p:nvCxnSpPr>
            <p:cNvPr id="418" name="Google Shape;418;p28"/>
            <p:cNvCxnSpPr/>
            <p:nvPr/>
          </p:nvCxnSpPr>
          <p:spPr>
            <a:xfrm>
              <a:off x="2195313" y="1925613"/>
              <a:ext cx="254100" cy="0"/>
            </a:xfrm>
            <a:prstGeom prst="straightConnector1">
              <a:avLst/>
            </a:prstGeom>
            <a:noFill/>
            <a:ln w="9525" cap="flat" cmpd="sng">
              <a:solidFill>
                <a:srgbClr val="595959"/>
              </a:solidFill>
              <a:prstDash val="solid"/>
              <a:round/>
              <a:headEnd type="none" w="med" len="med"/>
              <a:tailEnd type="none" w="med" len="med"/>
            </a:ln>
          </p:spPr>
        </p:cxnSp>
        <p:sp>
          <p:nvSpPr>
            <p:cNvPr id="419" name="Google Shape;419;p28"/>
            <p:cNvSpPr txBox="1"/>
            <p:nvPr/>
          </p:nvSpPr>
          <p:spPr>
            <a:xfrm>
              <a:off x="1939025" y="1733113"/>
              <a:ext cx="217500" cy="2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420" name="Google Shape;420;p28"/>
            <p:cNvSpPr txBox="1"/>
            <p:nvPr/>
          </p:nvSpPr>
          <p:spPr>
            <a:xfrm>
              <a:off x="751500" y="1381688"/>
              <a:ext cx="405600" cy="11187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p:txBody>
        </p:sp>
      </p:grpSp>
      <p:grpSp>
        <p:nvGrpSpPr>
          <p:cNvPr id="421" name="Google Shape;421;p28"/>
          <p:cNvGrpSpPr/>
          <p:nvPr/>
        </p:nvGrpSpPr>
        <p:grpSpPr>
          <a:xfrm>
            <a:off x="4648700" y="3651563"/>
            <a:ext cx="1614600" cy="1100625"/>
            <a:chOff x="783500" y="2973563"/>
            <a:chExt cx="1614600" cy="1100625"/>
          </a:xfrm>
        </p:grpSpPr>
        <p:sp>
          <p:nvSpPr>
            <p:cNvPr id="422" name="Google Shape;422;p28"/>
            <p:cNvSpPr/>
            <p:nvPr/>
          </p:nvSpPr>
          <p:spPr>
            <a:xfrm rot="5400000">
              <a:off x="1230800" y="2984063"/>
              <a:ext cx="923700" cy="9027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txBox="1"/>
            <p:nvPr/>
          </p:nvSpPr>
          <p:spPr>
            <a:xfrm>
              <a:off x="1461250" y="3124013"/>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2:1</a:t>
              </a:r>
              <a:endParaRPr/>
            </a:p>
          </p:txBody>
        </p:sp>
        <p:sp>
          <p:nvSpPr>
            <p:cNvPr id="424" name="Google Shape;424;p28"/>
            <p:cNvSpPr txBox="1"/>
            <p:nvPr/>
          </p:nvSpPr>
          <p:spPr>
            <a:xfrm>
              <a:off x="1264675" y="3118113"/>
              <a:ext cx="405600" cy="5577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endParaRPr>
                <a:solidFill>
                  <a:srgbClr val="000000"/>
                </a:solidFill>
              </a:endParaRPr>
            </a:p>
          </p:txBody>
        </p:sp>
        <p:cxnSp>
          <p:nvCxnSpPr>
            <p:cNvPr id="425" name="Google Shape;425;p28"/>
            <p:cNvCxnSpPr/>
            <p:nvPr/>
          </p:nvCxnSpPr>
          <p:spPr>
            <a:xfrm rot="10800000">
              <a:off x="1111100" y="3305513"/>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26" name="Google Shape;426;p28"/>
            <p:cNvCxnSpPr/>
            <p:nvPr/>
          </p:nvCxnSpPr>
          <p:spPr>
            <a:xfrm rot="10800000">
              <a:off x="1111100" y="3548463"/>
              <a:ext cx="135600" cy="0"/>
            </a:xfrm>
            <a:prstGeom prst="straightConnector1">
              <a:avLst/>
            </a:prstGeom>
            <a:noFill/>
            <a:ln w="9525" cap="flat" cmpd="sng">
              <a:solidFill>
                <a:srgbClr val="595959"/>
              </a:solidFill>
              <a:prstDash val="solid"/>
              <a:round/>
              <a:headEnd type="none" w="med" len="med"/>
              <a:tailEnd type="none" w="med" len="med"/>
            </a:ln>
          </p:spPr>
        </p:cxnSp>
        <p:sp>
          <p:nvSpPr>
            <p:cNvPr id="427" name="Google Shape;427;p28"/>
            <p:cNvSpPr txBox="1"/>
            <p:nvPr/>
          </p:nvSpPr>
          <p:spPr>
            <a:xfrm rot="-781890">
              <a:off x="1333854" y="3529791"/>
              <a:ext cx="419093" cy="24909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S0</a:t>
              </a:r>
              <a:endParaRPr/>
            </a:p>
          </p:txBody>
        </p:sp>
        <p:cxnSp>
          <p:nvCxnSpPr>
            <p:cNvPr id="428" name="Google Shape;428;p28"/>
            <p:cNvCxnSpPr/>
            <p:nvPr/>
          </p:nvCxnSpPr>
          <p:spPr>
            <a:xfrm>
              <a:off x="1573400" y="3815288"/>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429" name="Google Shape;429;p28"/>
            <p:cNvCxnSpPr/>
            <p:nvPr/>
          </p:nvCxnSpPr>
          <p:spPr>
            <a:xfrm>
              <a:off x="2144000" y="3444213"/>
              <a:ext cx="254100" cy="0"/>
            </a:xfrm>
            <a:prstGeom prst="straightConnector1">
              <a:avLst/>
            </a:prstGeom>
            <a:noFill/>
            <a:ln w="9525" cap="flat" cmpd="sng">
              <a:solidFill>
                <a:srgbClr val="595959"/>
              </a:solidFill>
              <a:prstDash val="solid"/>
              <a:round/>
              <a:headEnd type="none" w="med" len="med"/>
              <a:tailEnd type="none" w="med" len="med"/>
            </a:ln>
          </p:spPr>
        </p:cxnSp>
        <p:sp>
          <p:nvSpPr>
            <p:cNvPr id="430" name="Google Shape;430;p28"/>
            <p:cNvSpPr txBox="1"/>
            <p:nvPr/>
          </p:nvSpPr>
          <p:spPr>
            <a:xfrm>
              <a:off x="1897688" y="3240763"/>
              <a:ext cx="217500" cy="26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431" name="Google Shape;431;p28"/>
            <p:cNvSpPr txBox="1"/>
            <p:nvPr/>
          </p:nvSpPr>
          <p:spPr>
            <a:xfrm>
              <a:off x="783500" y="3094988"/>
              <a:ext cx="405600" cy="6537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p:txBody>
        </p:sp>
      </p:grpSp>
      <p:grpSp>
        <p:nvGrpSpPr>
          <p:cNvPr id="432" name="Google Shape;432;p28"/>
          <p:cNvGrpSpPr/>
          <p:nvPr/>
        </p:nvGrpSpPr>
        <p:grpSpPr>
          <a:xfrm>
            <a:off x="3647975" y="1071475"/>
            <a:ext cx="1100300" cy="572700"/>
            <a:chOff x="844300" y="1149025"/>
            <a:chExt cx="1100300" cy="572700"/>
          </a:xfrm>
        </p:grpSpPr>
        <p:sp>
          <p:nvSpPr>
            <p:cNvPr id="433" name="Google Shape;433;p28"/>
            <p:cNvSpPr/>
            <p:nvPr/>
          </p:nvSpPr>
          <p:spPr>
            <a:xfrm>
              <a:off x="1229400" y="1149025"/>
              <a:ext cx="538200" cy="572700"/>
            </a:xfrm>
            <a:prstGeom prst="flowChartDelay">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4" name="Google Shape;434;p28"/>
            <p:cNvCxnSpPr/>
            <p:nvPr/>
          </p:nvCxnSpPr>
          <p:spPr>
            <a:xfrm flipH="1">
              <a:off x="844300" y="127330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435" name="Google Shape;435;p28"/>
            <p:cNvCxnSpPr/>
            <p:nvPr/>
          </p:nvCxnSpPr>
          <p:spPr>
            <a:xfrm flipH="1">
              <a:off x="844300" y="1579950"/>
              <a:ext cx="387600" cy="2100"/>
            </a:xfrm>
            <a:prstGeom prst="straightConnector1">
              <a:avLst/>
            </a:prstGeom>
            <a:noFill/>
            <a:ln w="9525" cap="flat" cmpd="sng">
              <a:solidFill>
                <a:srgbClr val="595959"/>
              </a:solidFill>
              <a:prstDash val="solid"/>
              <a:round/>
              <a:headEnd type="none" w="med" len="med"/>
              <a:tailEnd type="none" w="med" len="med"/>
            </a:ln>
          </p:spPr>
        </p:cxnSp>
        <p:cxnSp>
          <p:nvCxnSpPr>
            <p:cNvPr id="436" name="Google Shape;436;p28"/>
            <p:cNvCxnSpPr>
              <a:stCxn id="433" idx="3"/>
            </p:cNvCxnSpPr>
            <p:nvPr/>
          </p:nvCxnSpPr>
          <p:spPr>
            <a:xfrm>
              <a:off x="1767600" y="1435375"/>
              <a:ext cx="177000" cy="3000"/>
            </a:xfrm>
            <a:prstGeom prst="straightConnector1">
              <a:avLst/>
            </a:prstGeom>
            <a:noFill/>
            <a:ln w="9525" cap="flat" cmpd="sng">
              <a:solidFill>
                <a:srgbClr val="595959"/>
              </a:solidFill>
              <a:prstDash val="solid"/>
              <a:round/>
              <a:headEnd type="none" w="med" len="med"/>
              <a:tailEnd type="none" w="med" len="med"/>
            </a:ln>
          </p:spPr>
        </p:cxnSp>
        <p:sp>
          <p:nvSpPr>
            <p:cNvPr id="437" name="Google Shape;437;p28"/>
            <p:cNvSpPr/>
            <p:nvPr/>
          </p:nvSpPr>
          <p:spPr>
            <a:xfrm>
              <a:off x="1767600" y="1400725"/>
              <a:ext cx="64200" cy="723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28"/>
          <p:cNvGrpSpPr/>
          <p:nvPr/>
        </p:nvGrpSpPr>
        <p:grpSpPr>
          <a:xfrm>
            <a:off x="202050" y="3267788"/>
            <a:ext cx="1166263" cy="572700"/>
            <a:chOff x="6444550" y="-17150"/>
            <a:chExt cx="1166263" cy="572700"/>
          </a:xfrm>
        </p:grpSpPr>
        <p:grpSp>
          <p:nvGrpSpPr>
            <p:cNvPr id="439" name="Google Shape;439;p28"/>
            <p:cNvGrpSpPr/>
            <p:nvPr/>
          </p:nvGrpSpPr>
          <p:grpSpPr>
            <a:xfrm>
              <a:off x="6444550" y="-17150"/>
              <a:ext cx="1166263" cy="572700"/>
              <a:chOff x="5166775" y="1204250"/>
              <a:chExt cx="1166263" cy="572700"/>
            </a:xfrm>
          </p:grpSpPr>
          <p:cxnSp>
            <p:nvCxnSpPr>
              <p:cNvPr id="440" name="Google Shape;440;p28"/>
              <p:cNvCxnSpPr/>
              <p:nvPr/>
            </p:nvCxnSpPr>
            <p:spPr>
              <a:xfrm flipH="1">
                <a:off x="5166775" y="1335100"/>
                <a:ext cx="584700" cy="3600"/>
              </a:xfrm>
              <a:prstGeom prst="straightConnector1">
                <a:avLst/>
              </a:prstGeom>
              <a:noFill/>
              <a:ln w="9525" cap="flat" cmpd="sng">
                <a:solidFill>
                  <a:srgbClr val="595959"/>
                </a:solidFill>
                <a:prstDash val="solid"/>
                <a:round/>
                <a:headEnd type="none" w="med" len="med"/>
                <a:tailEnd type="none" w="med" len="med"/>
              </a:ln>
            </p:spPr>
          </p:cxnSp>
          <p:cxnSp>
            <p:nvCxnSpPr>
              <p:cNvPr id="441" name="Google Shape;441;p28"/>
              <p:cNvCxnSpPr/>
              <p:nvPr/>
            </p:nvCxnSpPr>
            <p:spPr>
              <a:xfrm rot="10800000">
                <a:off x="5167025" y="1645100"/>
                <a:ext cx="594300" cy="2400"/>
              </a:xfrm>
              <a:prstGeom prst="straightConnector1">
                <a:avLst/>
              </a:prstGeom>
              <a:noFill/>
              <a:ln w="9525" cap="flat" cmpd="sng">
                <a:solidFill>
                  <a:srgbClr val="595959"/>
                </a:solidFill>
                <a:prstDash val="solid"/>
                <a:round/>
                <a:headEnd type="none" w="med" len="med"/>
                <a:tailEnd type="none" w="med" len="med"/>
              </a:ln>
            </p:spPr>
          </p:cxnSp>
          <p:sp>
            <p:nvSpPr>
              <p:cNvPr id="442" name="Google Shape;442;p28"/>
              <p:cNvSpPr/>
              <p:nvPr/>
            </p:nvSpPr>
            <p:spPr>
              <a:xfrm flipH="1">
                <a:off x="5552025" y="1204250"/>
                <a:ext cx="538200" cy="5727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3" name="Google Shape;443;p28"/>
              <p:cNvCxnSpPr/>
              <p:nvPr/>
            </p:nvCxnSpPr>
            <p:spPr>
              <a:xfrm rot="10800000" flipH="1">
                <a:off x="6152138" y="1481712"/>
                <a:ext cx="180900" cy="900"/>
              </a:xfrm>
              <a:prstGeom prst="straightConnector1">
                <a:avLst/>
              </a:prstGeom>
              <a:noFill/>
              <a:ln w="9525" cap="flat" cmpd="sng">
                <a:solidFill>
                  <a:srgbClr val="595959"/>
                </a:solidFill>
                <a:prstDash val="solid"/>
                <a:round/>
                <a:headEnd type="none" w="med" len="med"/>
                <a:tailEnd type="none" w="med" len="med"/>
              </a:ln>
            </p:spPr>
          </p:cxnSp>
        </p:grpSp>
        <p:sp>
          <p:nvSpPr>
            <p:cNvPr id="444" name="Google Shape;444;p28"/>
            <p:cNvSpPr/>
            <p:nvPr/>
          </p:nvSpPr>
          <p:spPr>
            <a:xfrm>
              <a:off x="7370650" y="228288"/>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28"/>
          <p:cNvGrpSpPr/>
          <p:nvPr/>
        </p:nvGrpSpPr>
        <p:grpSpPr>
          <a:xfrm>
            <a:off x="204075" y="4142212"/>
            <a:ext cx="1162213" cy="647400"/>
            <a:chOff x="6444700" y="737100"/>
            <a:chExt cx="1162213" cy="647400"/>
          </a:xfrm>
        </p:grpSpPr>
        <p:grpSp>
          <p:nvGrpSpPr>
            <p:cNvPr id="446" name="Google Shape;446;p28"/>
            <p:cNvGrpSpPr/>
            <p:nvPr/>
          </p:nvGrpSpPr>
          <p:grpSpPr>
            <a:xfrm>
              <a:off x="6444700" y="737100"/>
              <a:ext cx="1162213" cy="647400"/>
              <a:chOff x="5166925" y="1958500"/>
              <a:chExt cx="1162213" cy="647400"/>
            </a:xfrm>
          </p:grpSpPr>
          <p:cxnSp>
            <p:nvCxnSpPr>
              <p:cNvPr id="447" name="Google Shape;447;p28"/>
              <p:cNvCxnSpPr/>
              <p:nvPr/>
            </p:nvCxnSpPr>
            <p:spPr>
              <a:xfrm flipH="1">
                <a:off x="5166925" y="2018125"/>
                <a:ext cx="483600" cy="900"/>
              </a:xfrm>
              <a:prstGeom prst="straightConnector1">
                <a:avLst/>
              </a:prstGeom>
              <a:noFill/>
              <a:ln w="9525" cap="flat" cmpd="sng">
                <a:solidFill>
                  <a:srgbClr val="595959"/>
                </a:solidFill>
                <a:prstDash val="solid"/>
                <a:round/>
                <a:headEnd type="none" w="med" len="med"/>
                <a:tailEnd type="none" w="med" len="med"/>
              </a:ln>
            </p:spPr>
          </p:cxnSp>
          <p:cxnSp>
            <p:nvCxnSpPr>
              <p:cNvPr id="448" name="Google Shape;448;p28"/>
              <p:cNvCxnSpPr/>
              <p:nvPr/>
            </p:nvCxnSpPr>
            <p:spPr>
              <a:xfrm flipH="1">
                <a:off x="5167025" y="2189475"/>
                <a:ext cx="636300" cy="1800"/>
              </a:xfrm>
              <a:prstGeom prst="straightConnector1">
                <a:avLst/>
              </a:prstGeom>
              <a:noFill/>
              <a:ln w="9525" cap="flat" cmpd="sng">
                <a:solidFill>
                  <a:srgbClr val="595959"/>
                </a:solidFill>
                <a:prstDash val="solid"/>
                <a:round/>
                <a:headEnd type="none" w="med" len="med"/>
                <a:tailEnd type="none" w="med" len="med"/>
              </a:ln>
            </p:spPr>
          </p:cxnSp>
          <p:cxnSp>
            <p:nvCxnSpPr>
              <p:cNvPr id="449" name="Google Shape;449;p28"/>
              <p:cNvCxnSpPr/>
              <p:nvPr/>
            </p:nvCxnSpPr>
            <p:spPr>
              <a:xfrm flipH="1">
                <a:off x="5166950" y="2344475"/>
                <a:ext cx="646200" cy="1200"/>
              </a:xfrm>
              <a:prstGeom prst="straightConnector1">
                <a:avLst/>
              </a:prstGeom>
              <a:noFill/>
              <a:ln w="9525" cap="flat" cmpd="sng">
                <a:solidFill>
                  <a:srgbClr val="595959"/>
                </a:solidFill>
                <a:prstDash val="solid"/>
                <a:round/>
                <a:headEnd type="none" w="med" len="med"/>
                <a:tailEnd type="none" w="med" len="med"/>
              </a:ln>
            </p:spPr>
          </p:cxnSp>
          <p:cxnSp>
            <p:nvCxnSpPr>
              <p:cNvPr id="450" name="Google Shape;450;p28"/>
              <p:cNvCxnSpPr/>
              <p:nvPr/>
            </p:nvCxnSpPr>
            <p:spPr>
              <a:xfrm rot="10800000">
                <a:off x="5167000" y="2518025"/>
                <a:ext cx="525000" cy="0"/>
              </a:xfrm>
              <a:prstGeom prst="straightConnector1">
                <a:avLst/>
              </a:prstGeom>
              <a:noFill/>
              <a:ln w="9525" cap="flat" cmpd="sng">
                <a:solidFill>
                  <a:srgbClr val="595959"/>
                </a:solidFill>
                <a:prstDash val="solid"/>
                <a:round/>
                <a:headEnd type="none" w="med" len="med"/>
                <a:tailEnd type="none" w="med" len="med"/>
              </a:ln>
            </p:spPr>
          </p:cxnSp>
          <p:sp>
            <p:nvSpPr>
              <p:cNvPr id="451" name="Google Shape;451;p28"/>
              <p:cNvSpPr/>
              <p:nvPr/>
            </p:nvSpPr>
            <p:spPr>
              <a:xfrm flipH="1">
                <a:off x="5552025" y="1958500"/>
                <a:ext cx="538200" cy="6474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2" name="Google Shape;452;p28"/>
              <p:cNvCxnSpPr/>
              <p:nvPr/>
            </p:nvCxnSpPr>
            <p:spPr>
              <a:xfrm>
                <a:off x="6152138" y="2275925"/>
                <a:ext cx="177000" cy="3000"/>
              </a:xfrm>
              <a:prstGeom prst="straightConnector1">
                <a:avLst/>
              </a:prstGeom>
              <a:noFill/>
              <a:ln w="9525" cap="flat" cmpd="sng">
                <a:solidFill>
                  <a:srgbClr val="595959"/>
                </a:solidFill>
                <a:prstDash val="solid"/>
                <a:round/>
                <a:headEnd type="none" w="med" len="med"/>
                <a:tailEnd type="none" w="med" len="med"/>
              </a:ln>
            </p:spPr>
          </p:cxnSp>
        </p:grpSp>
        <p:sp>
          <p:nvSpPr>
            <p:cNvPr id="453" name="Google Shape;453;p28"/>
            <p:cNvSpPr/>
            <p:nvPr/>
          </p:nvSpPr>
          <p:spPr>
            <a:xfrm>
              <a:off x="7365875" y="1019875"/>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454;p28"/>
          <p:cNvGrpSpPr/>
          <p:nvPr/>
        </p:nvGrpSpPr>
        <p:grpSpPr>
          <a:xfrm>
            <a:off x="1706688" y="3393650"/>
            <a:ext cx="1167125" cy="1331400"/>
            <a:chOff x="6444550" y="1556500"/>
            <a:chExt cx="1167125" cy="1331400"/>
          </a:xfrm>
        </p:grpSpPr>
        <p:grpSp>
          <p:nvGrpSpPr>
            <p:cNvPr id="455" name="Google Shape;455;p28"/>
            <p:cNvGrpSpPr/>
            <p:nvPr/>
          </p:nvGrpSpPr>
          <p:grpSpPr>
            <a:xfrm>
              <a:off x="6444550" y="1556500"/>
              <a:ext cx="1167125" cy="1331400"/>
              <a:chOff x="5166775" y="2777900"/>
              <a:chExt cx="1167125" cy="1331400"/>
            </a:xfrm>
          </p:grpSpPr>
          <p:cxnSp>
            <p:nvCxnSpPr>
              <p:cNvPr id="456" name="Google Shape;456;p28"/>
              <p:cNvCxnSpPr/>
              <p:nvPr/>
            </p:nvCxnSpPr>
            <p:spPr>
              <a:xfrm flipH="1">
                <a:off x="5167050" y="2844375"/>
                <a:ext cx="443100" cy="600"/>
              </a:xfrm>
              <a:prstGeom prst="straightConnector1">
                <a:avLst/>
              </a:prstGeom>
              <a:noFill/>
              <a:ln w="9525" cap="flat" cmpd="sng">
                <a:solidFill>
                  <a:srgbClr val="595959"/>
                </a:solidFill>
                <a:prstDash val="solid"/>
                <a:round/>
                <a:headEnd type="none" w="med" len="med"/>
                <a:tailEnd type="none" w="med" len="med"/>
              </a:ln>
            </p:spPr>
          </p:cxnSp>
          <p:cxnSp>
            <p:nvCxnSpPr>
              <p:cNvPr id="457" name="Google Shape;457;p28"/>
              <p:cNvCxnSpPr/>
              <p:nvPr/>
            </p:nvCxnSpPr>
            <p:spPr>
              <a:xfrm flipH="1">
                <a:off x="5167050" y="3021175"/>
                <a:ext cx="557700" cy="2100"/>
              </a:xfrm>
              <a:prstGeom prst="straightConnector1">
                <a:avLst/>
              </a:prstGeom>
              <a:noFill/>
              <a:ln w="9525" cap="flat" cmpd="sng">
                <a:solidFill>
                  <a:srgbClr val="595959"/>
                </a:solidFill>
                <a:prstDash val="solid"/>
                <a:round/>
                <a:headEnd type="none" w="med" len="med"/>
                <a:tailEnd type="none" w="med" len="med"/>
              </a:ln>
            </p:spPr>
          </p:cxnSp>
          <p:cxnSp>
            <p:nvCxnSpPr>
              <p:cNvPr id="458" name="Google Shape;458;p28"/>
              <p:cNvCxnSpPr/>
              <p:nvPr/>
            </p:nvCxnSpPr>
            <p:spPr>
              <a:xfrm flipH="1">
                <a:off x="5166875" y="3178350"/>
                <a:ext cx="616800" cy="4200"/>
              </a:xfrm>
              <a:prstGeom prst="straightConnector1">
                <a:avLst/>
              </a:prstGeom>
              <a:noFill/>
              <a:ln w="9525" cap="flat" cmpd="sng">
                <a:solidFill>
                  <a:srgbClr val="595959"/>
                </a:solidFill>
                <a:prstDash val="solid"/>
                <a:round/>
                <a:headEnd type="none" w="med" len="med"/>
                <a:tailEnd type="none" w="med" len="med"/>
              </a:ln>
            </p:spPr>
          </p:cxnSp>
          <p:cxnSp>
            <p:nvCxnSpPr>
              <p:cNvPr id="459" name="Google Shape;459;p28"/>
              <p:cNvCxnSpPr/>
              <p:nvPr/>
            </p:nvCxnSpPr>
            <p:spPr>
              <a:xfrm flipH="1">
                <a:off x="5166925" y="3357350"/>
                <a:ext cx="649500" cy="3600"/>
              </a:xfrm>
              <a:prstGeom prst="straightConnector1">
                <a:avLst/>
              </a:prstGeom>
              <a:noFill/>
              <a:ln w="9525" cap="flat" cmpd="sng">
                <a:solidFill>
                  <a:srgbClr val="595959"/>
                </a:solidFill>
                <a:prstDash val="solid"/>
                <a:round/>
                <a:headEnd type="none" w="med" len="med"/>
                <a:tailEnd type="none" w="med" len="med"/>
              </a:ln>
            </p:spPr>
          </p:cxnSp>
          <p:cxnSp>
            <p:nvCxnSpPr>
              <p:cNvPr id="460" name="Google Shape;460;p28"/>
              <p:cNvCxnSpPr/>
              <p:nvPr/>
            </p:nvCxnSpPr>
            <p:spPr>
              <a:xfrm flipH="1">
                <a:off x="5167025" y="3522175"/>
                <a:ext cx="651600" cy="2700"/>
              </a:xfrm>
              <a:prstGeom prst="straightConnector1">
                <a:avLst/>
              </a:prstGeom>
              <a:noFill/>
              <a:ln w="9525" cap="flat" cmpd="sng">
                <a:solidFill>
                  <a:srgbClr val="595959"/>
                </a:solidFill>
                <a:prstDash val="solid"/>
                <a:round/>
                <a:headEnd type="none" w="med" len="med"/>
                <a:tailEnd type="none" w="med" len="med"/>
              </a:ln>
            </p:spPr>
          </p:cxnSp>
          <p:cxnSp>
            <p:nvCxnSpPr>
              <p:cNvPr id="461" name="Google Shape;461;p28"/>
              <p:cNvCxnSpPr/>
              <p:nvPr/>
            </p:nvCxnSpPr>
            <p:spPr>
              <a:xfrm flipH="1">
                <a:off x="5166775" y="3701175"/>
                <a:ext cx="618000" cy="2100"/>
              </a:xfrm>
              <a:prstGeom prst="straightConnector1">
                <a:avLst/>
              </a:prstGeom>
              <a:noFill/>
              <a:ln w="9525" cap="flat" cmpd="sng">
                <a:solidFill>
                  <a:srgbClr val="595959"/>
                </a:solidFill>
                <a:prstDash val="solid"/>
                <a:round/>
                <a:headEnd type="none" w="med" len="med"/>
                <a:tailEnd type="none" w="med" len="med"/>
              </a:ln>
            </p:spPr>
          </p:cxnSp>
          <p:cxnSp>
            <p:nvCxnSpPr>
              <p:cNvPr id="462" name="Google Shape;462;p28"/>
              <p:cNvCxnSpPr/>
              <p:nvPr/>
            </p:nvCxnSpPr>
            <p:spPr>
              <a:xfrm flipH="1">
                <a:off x="5166925" y="3859425"/>
                <a:ext cx="562200" cy="3300"/>
              </a:xfrm>
              <a:prstGeom prst="straightConnector1">
                <a:avLst/>
              </a:prstGeom>
              <a:noFill/>
              <a:ln w="9525" cap="flat" cmpd="sng">
                <a:solidFill>
                  <a:srgbClr val="595959"/>
                </a:solidFill>
                <a:prstDash val="solid"/>
                <a:round/>
                <a:headEnd type="none" w="med" len="med"/>
                <a:tailEnd type="none" w="med" len="med"/>
              </a:ln>
            </p:spPr>
          </p:cxnSp>
          <p:cxnSp>
            <p:nvCxnSpPr>
              <p:cNvPr id="463" name="Google Shape;463;p28"/>
              <p:cNvCxnSpPr/>
              <p:nvPr/>
            </p:nvCxnSpPr>
            <p:spPr>
              <a:xfrm flipH="1">
                <a:off x="5166800" y="4039525"/>
                <a:ext cx="448800" cy="1500"/>
              </a:xfrm>
              <a:prstGeom prst="straightConnector1">
                <a:avLst/>
              </a:prstGeom>
              <a:noFill/>
              <a:ln w="9525" cap="flat" cmpd="sng">
                <a:solidFill>
                  <a:srgbClr val="595959"/>
                </a:solidFill>
                <a:prstDash val="solid"/>
                <a:round/>
                <a:headEnd type="none" w="med" len="med"/>
                <a:tailEnd type="none" w="med" len="med"/>
              </a:ln>
            </p:spPr>
          </p:cxnSp>
          <p:sp>
            <p:nvSpPr>
              <p:cNvPr id="464" name="Google Shape;464;p28"/>
              <p:cNvSpPr/>
              <p:nvPr/>
            </p:nvSpPr>
            <p:spPr>
              <a:xfrm flipH="1">
                <a:off x="5552025" y="2777900"/>
                <a:ext cx="538200" cy="13314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5" name="Google Shape;465;p28"/>
              <p:cNvCxnSpPr/>
              <p:nvPr/>
            </p:nvCxnSpPr>
            <p:spPr>
              <a:xfrm>
                <a:off x="6156900" y="3442100"/>
                <a:ext cx="177000" cy="3000"/>
              </a:xfrm>
              <a:prstGeom prst="straightConnector1">
                <a:avLst/>
              </a:prstGeom>
              <a:noFill/>
              <a:ln w="9525" cap="flat" cmpd="sng">
                <a:solidFill>
                  <a:srgbClr val="595959"/>
                </a:solidFill>
                <a:prstDash val="solid"/>
                <a:round/>
                <a:headEnd type="none" w="med" len="med"/>
                <a:tailEnd type="none" w="med" len="med"/>
              </a:ln>
            </p:spPr>
          </p:cxnSp>
        </p:grpSp>
        <p:sp>
          <p:nvSpPr>
            <p:cNvPr id="466" name="Google Shape;466;p28"/>
            <p:cNvSpPr/>
            <p:nvPr/>
          </p:nvSpPr>
          <p:spPr>
            <a:xfrm>
              <a:off x="7370650" y="2186050"/>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28"/>
          <p:cNvGrpSpPr/>
          <p:nvPr/>
        </p:nvGrpSpPr>
        <p:grpSpPr>
          <a:xfrm>
            <a:off x="3212200" y="2059800"/>
            <a:ext cx="1167125" cy="2688900"/>
            <a:chOff x="8043550" y="51900"/>
            <a:chExt cx="1167125" cy="2688900"/>
          </a:xfrm>
        </p:grpSpPr>
        <p:grpSp>
          <p:nvGrpSpPr>
            <p:cNvPr id="468" name="Google Shape;468;p28"/>
            <p:cNvGrpSpPr/>
            <p:nvPr/>
          </p:nvGrpSpPr>
          <p:grpSpPr>
            <a:xfrm>
              <a:off x="8043550" y="51900"/>
              <a:ext cx="1167125" cy="2688900"/>
              <a:chOff x="6765775" y="1273300"/>
              <a:chExt cx="1167125" cy="2688900"/>
            </a:xfrm>
          </p:grpSpPr>
          <p:cxnSp>
            <p:nvCxnSpPr>
              <p:cNvPr id="469" name="Google Shape;469;p28"/>
              <p:cNvCxnSpPr/>
              <p:nvPr/>
            </p:nvCxnSpPr>
            <p:spPr>
              <a:xfrm flipH="1">
                <a:off x="6765875" y="1340325"/>
                <a:ext cx="414900" cy="1200"/>
              </a:xfrm>
              <a:prstGeom prst="straightConnector1">
                <a:avLst/>
              </a:prstGeom>
              <a:noFill/>
              <a:ln w="9525" cap="flat" cmpd="sng">
                <a:solidFill>
                  <a:srgbClr val="595959"/>
                </a:solidFill>
                <a:prstDash val="solid"/>
                <a:round/>
                <a:headEnd type="none" w="med" len="med"/>
                <a:tailEnd type="none" w="med" len="med"/>
              </a:ln>
            </p:spPr>
          </p:cxnSp>
          <p:cxnSp>
            <p:nvCxnSpPr>
              <p:cNvPr id="470" name="Google Shape;470;p28"/>
              <p:cNvCxnSpPr/>
              <p:nvPr/>
            </p:nvCxnSpPr>
            <p:spPr>
              <a:xfrm flipH="1">
                <a:off x="6765800" y="1516050"/>
                <a:ext cx="488100" cy="3900"/>
              </a:xfrm>
              <a:prstGeom prst="straightConnector1">
                <a:avLst/>
              </a:prstGeom>
              <a:noFill/>
              <a:ln w="9525" cap="flat" cmpd="sng">
                <a:solidFill>
                  <a:srgbClr val="595959"/>
                </a:solidFill>
                <a:prstDash val="solid"/>
                <a:round/>
                <a:headEnd type="none" w="med" len="med"/>
                <a:tailEnd type="none" w="med" len="med"/>
              </a:ln>
            </p:spPr>
          </p:cxnSp>
          <p:cxnSp>
            <p:nvCxnSpPr>
              <p:cNvPr id="471" name="Google Shape;471;p28"/>
              <p:cNvCxnSpPr/>
              <p:nvPr/>
            </p:nvCxnSpPr>
            <p:spPr>
              <a:xfrm flipH="1">
                <a:off x="6766000" y="1675400"/>
                <a:ext cx="537000" cy="3900"/>
              </a:xfrm>
              <a:prstGeom prst="straightConnector1">
                <a:avLst/>
              </a:prstGeom>
              <a:noFill/>
              <a:ln w="9525" cap="flat" cmpd="sng">
                <a:solidFill>
                  <a:srgbClr val="595959"/>
                </a:solidFill>
                <a:prstDash val="solid"/>
                <a:round/>
                <a:headEnd type="none" w="med" len="med"/>
                <a:tailEnd type="none" w="med" len="med"/>
              </a:ln>
            </p:spPr>
          </p:cxnSp>
          <p:cxnSp>
            <p:nvCxnSpPr>
              <p:cNvPr id="472" name="Google Shape;472;p28"/>
              <p:cNvCxnSpPr/>
              <p:nvPr/>
            </p:nvCxnSpPr>
            <p:spPr>
              <a:xfrm flipH="1">
                <a:off x="6765875" y="1854400"/>
                <a:ext cx="580800" cy="3000"/>
              </a:xfrm>
              <a:prstGeom prst="straightConnector1">
                <a:avLst/>
              </a:prstGeom>
              <a:noFill/>
              <a:ln w="9525" cap="flat" cmpd="sng">
                <a:solidFill>
                  <a:srgbClr val="595959"/>
                </a:solidFill>
                <a:prstDash val="solid"/>
                <a:round/>
                <a:headEnd type="none" w="med" len="med"/>
                <a:tailEnd type="none" w="med" len="med"/>
              </a:ln>
            </p:spPr>
          </p:cxnSp>
          <p:cxnSp>
            <p:nvCxnSpPr>
              <p:cNvPr id="473" name="Google Shape;473;p28"/>
              <p:cNvCxnSpPr/>
              <p:nvPr/>
            </p:nvCxnSpPr>
            <p:spPr>
              <a:xfrm flipH="1">
                <a:off x="6766050" y="2017025"/>
                <a:ext cx="609000" cy="4800"/>
              </a:xfrm>
              <a:prstGeom prst="straightConnector1">
                <a:avLst/>
              </a:prstGeom>
              <a:noFill/>
              <a:ln w="9525" cap="flat" cmpd="sng">
                <a:solidFill>
                  <a:srgbClr val="595959"/>
                </a:solidFill>
                <a:prstDash val="solid"/>
                <a:round/>
                <a:headEnd type="none" w="med" len="med"/>
                <a:tailEnd type="none" w="med" len="med"/>
              </a:ln>
            </p:spPr>
          </p:cxnSp>
          <p:cxnSp>
            <p:nvCxnSpPr>
              <p:cNvPr id="474" name="Google Shape;474;p28"/>
              <p:cNvCxnSpPr/>
              <p:nvPr/>
            </p:nvCxnSpPr>
            <p:spPr>
              <a:xfrm flipH="1">
                <a:off x="6765975" y="2198225"/>
                <a:ext cx="630900" cy="1800"/>
              </a:xfrm>
              <a:prstGeom prst="straightConnector1">
                <a:avLst/>
              </a:prstGeom>
              <a:noFill/>
              <a:ln w="9525" cap="flat" cmpd="sng">
                <a:solidFill>
                  <a:srgbClr val="595959"/>
                </a:solidFill>
                <a:prstDash val="solid"/>
                <a:round/>
                <a:headEnd type="none" w="med" len="med"/>
                <a:tailEnd type="none" w="med" len="med"/>
              </a:ln>
            </p:spPr>
          </p:cxnSp>
          <p:cxnSp>
            <p:nvCxnSpPr>
              <p:cNvPr id="475" name="Google Shape;475;p28"/>
              <p:cNvCxnSpPr/>
              <p:nvPr/>
            </p:nvCxnSpPr>
            <p:spPr>
              <a:xfrm rot="10800000">
                <a:off x="6765850" y="2359350"/>
                <a:ext cx="647400" cy="1500"/>
              </a:xfrm>
              <a:prstGeom prst="straightConnector1">
                <a:avLst/>
              </a:prstGeom>
              <a:noFill/>
              <a:ln w="9525" cap="flat" cmpd="sng">
                <a:solidFill>
                  <a:srgbClr val="595959"/>
                </a:solidFill>
                <a:prstDash val="solid"/>
                <a:round/>
                <a:headEnd type="none" w="med" len="med"/>
                <a:tailEnd type="none" w="med" len="med"/>
              </a:ln>
            </p:spPr>
          </p:cxnSp>
          <p:cxnSp>
            <p:nvCxnSpPr>
              <p:cNvPr id="476" name="Google Shape;476;p28"/>
              <p:cNvCxnSpPr/>
              <p:nvPr/>
            </p:nvCxnSpPr>
            <p:spPr>
              <a:xfrm rot="10800000">
                <a:off x="6766000" y="2537650"/>
                <a:ext cx="654900" cy="0"/>
              </a:xfrm>
              <a:prstGeom prst="straightConnector1">
                <a:avLst/>
              </a:prstGeom>
              <a:noFill/>
              <a:ln w="9525" cap="flat" cmpd="sng">
                <a:solidFill>
                  <a:srgbClr val="595959"/>
                </a:solidFill>
                <a:prstDash val="solid"/>
                <a:round/>
                <a:headEnd type="none" w="med" len="med"/>
                <a:tailEnd type="none" w="med" len="med"/>
              </a:ln>
            </p:spPr>
          </p:cxnSp>
          <p:cxnSp>
            <p:nvCxnSpPr>
              <p:cNvPr id="477" name="Google Shape;477;p28"/>
              <p:cNvCxnSpPr/>
              <p:nvPr/>
            </p:nvCxnSpPr>
            <p:spPr>
              <a:xfrm rot="10800000">
                <a:off x="6765900" y="2697200"/>
                <a:ext cx="652800" cy="900"/>
              </a:xfrm>
              <a:prstGeom prst="straightConnector1">
                <a:avLst/>
              </a:prstGeom>
              <a:noFill/>
              <a:ln w="9525" cap="flat" cmpd="sng">
                <a:solidFill>
                  <a:srgbClr val="595959"/>
                </a:solidFill>
                <a:prstDash val="solid"/>
                <a:round/>
                <a:headEnd type="none" w="med" len="med"/>
                <a:tailEnd type="none" w="med" len="med"/>
              </a:ln>
            </p:spPr>
          </p:cxnSp>
          <p:cxnSp>
            <p:nvCxnSpPr>
              <p:cNvPr id="478" name="Google Shape;478;p28"/>
              <p:cNvCxnSpPr/>
              <p:nvPr/>
            </p:nvCxnSpPr>
            <p:spPr>
              <a:xfrm flipH="1">
                <a:off x="6766050" y="2872750"/>
                <a:ext cx="648300" cy="2700"/>
              </a:xfrm>
              <a:prstGeom prst="straightConnector1">
                <a:avLst/>
              </a:prstGeom>
              <a:noFill/>
              <a:ln w="9525" cap="flat" cmpd="sng">
                <a:solidFill>
                  <a:srgbClr val="595959"/>
                </a:solidFill>
                <a:prstDash val="solid"/>
                <a:round/>
                <a:headEnd type="none" w="med" len="med"/>
                <a:tailEnd type="none" w="med" len="med"/>
              </a:ln>
            </p:spPr>
          </p:cxnSp>
          <p:cxnSp>
            <p:nvCxnSpPr>
              <p:cNvPr id="479" name="Google Shape;479;p28"/>
              <p:cNvCxnSpPr/>
              <p:nvPr/>
            </p:nvCxnSpPr>
            <p:spPr>
              <a:xfrm flipH="1">
                <a:off x="6765875" y="3033200"/>
                <a:ext cx="632100" cy="1500"/>
              </a:xfrm>
              <a:prstGeom prst="straightConnector1">
                <a:avLst/>
              </a:prstGeom>
              <a:noFill/>
              <a:ln w="9525" cap="flat" cmpd="sng">
                <a:solidFill>
                  <a:srgbClr val="595959"/>
                </a:solidFill>
                <a:prstDash val="solid"/>
                <a:round/>
                <a:headEnd type="none" w="med" len="med"/>
                <a:tailEnd type="none" w="med" len="med"/>
              </a:ln>
            </p:spPr>
          </p:cxnSp>
          <p:cxnSp>
            <p:nvCxnSpPr>
              <p:cNvPr id="480" name="Google Shape;480;p28"/>
              <p:cNvCxnSpPr/>
              <p:nvPr/>
            </p:nvCxnSpPr>
            <p:spPr>
              <a:xfrm flipH="1">
                <a:off x="6765825" y="3212200"/>
                <a:ext cx="611400" cy="900"/>
              </a:xfrm>
              <a:prstGeom prst="straightConnector1">
                <a:avLst/>
              </a:prstGeom>
              <a:noFill/>
              <a:ln w="9525" cap="flat" cmpd="sng">
                <a:solidFill>
                  <a:srgbClr val="595959"/>
                </a:solidFill>
                <a:prstDash val="solid"/>
                <a:round/>
                <a:headEnd type="none" w="med" len="med"/>
                <a:tailEnd type="none" w="med" len="med"/>
              </a:ln>
            </p:spPr>
          </p:cxnSp>
          <p:cxnSp>
            <p:nvCxnSpPr>
              <p:cNvPr id="481" name="Google Shape;481;p28"/>
              <p:cNvCxnSpPr/>
              <p:nvPr/>
            </p:nvCxnSpPr>
            <p:spPr>
              <a:xfrm rot="10800000">
                <a:off x="6765775" y="3377200"/>
                <a:ext cx="578700" cy="900"/>
              </a:xfrm>
              <a:prstGeom prst="straightConnector1">
                <a:avLst/>
              </a:prstGeom>
              <a:noFill/>
              <a:ln w="9525" cap="flat" cmpd="sng">
                <a:solidFill>
                  <a:srgbClr val="595959"/>
                </a:solidFill>
                <a:prstDash val="solid"/>
                <a:round/>
                <a:headEnd type="none" w="med" len="med"/>
                <a:tailEnd type="none" w="med" len="med"/>
              </a:ln>
            </p:spPr>
          </p:cxnSp>
          <p:cxnSp>
            <p:nvCxnSpPr>
              <p:cNvPr id="482" name="Google Shape;482;p28"/>
              <p:cNvCxnSpPr/>
              <p:nvPr/>
            </p:nvCxnSpPr>
            <p:spPr>
              <a:xfrm flipH="1">
                <a:off x="6765800" y="3554900"/>
                <a:ext cx="539400" cy="600"/>
              </a:xfrm>
              <a:prstGeom prst="straightConnector1">
                <a:avLst/>
              </a:prstGeom>
              <a:noFill/>
              <a:ln w="9525" cap="flat" cmpd="sng">
                <a:solidFill>
                  <a:srgbClr val="595959"/>
                </a:solidFill>
                <a:prstDash val="solid"/>
                <a:round/>
                <a:headEnd type="none" w="med" len="med"/>
                <a:tailEnd type="none" w="med" len="med"/>
              </a:ln>
            </p:spPr>
          </p:cxnSp>
          <p:cxnSp>
            <p:nvCxnSpPr>
              <p:cNvPr id="483" name="Google Shape;483;p28"/>
              <p:cNvCxnSpPr/>
              <p:nvPr/>
            </p:nvCxnSpPr>
            <p:spPr>
              <a:xfrm flipH="1">
                <a:off x="6765775" y="3714275"/>
                <a:ext cx="491400" cy="600"/>
              </a:xfrm>
              <a:prstGeom prst="straightConnector1">
                <a:avLst/>
              </a:prstGeom>
              <a:noFill/>
              <a:ln w="9525" cap="flat" cmpd="sng">
                <a:solidFill>
                  <a:srgbClr val="595959"/>
                </a:solidFill>
                <a:prstDash val="solid"/>
                <a:round/>
                <a:headEnd type="none" w="med" len="med"/>
                <a:tailEnd type="none" w="med" len="med"/>
              </a:ln>
            </p:spPr>
          </p:cxnSp>
          <p:cxnSp>
            <p:nvCxnSpPr>
              <p:cNvPr id="484" name="Google Shape;484;p28"/>
              <p:cNvCxnSpPr/>
              <p:nvPr/>
            </p:nvCxnSpPr>
            <p:spPr>
              <a:xfrm flipH="1">
                <a:off x="6765825" y="3891075"/>
                <a:ext cx="421500" cy="2100"/>
              </a:xfrm>
              <a:prstGeom prst="straightConnector1">
                <a:avLst/>
              </a:prstGeom>
              <a:noFill/>
              <a:ln w="9525" cap="flat" cmpd="sng">
                <a:solidFill>
                  <a:srgbClr val="595959"/>
                </a:solidFill>
                <a:prstDash val="solid"/>
                <a:round/>
                <a:headEnd type="none" w="med" len="med"/>
                <a:tailEnd type="none" w="med" len="med"/>
              </a:ln>
            </p:spPr>
          </p:cxnSp>
          <p:sp>
            <p:nvSpPr>
              <p:cNvPr id="485" name="Google Shape;485;p28"/>
              <p:cNvSpPr/>
              <p:nvPr/>
            </p:nvSpPr>
            <p:spPr>
              <a:xfrm flipH="1">
                <a:off x="7151025" y="1273300"/>
                <a:ext cx="538200" cy="2688900"/>
              </a:xfrm>
              <a:prstGeom prst="moon">
                <a:avLst>
                  <a:gd name="adj" fmla="val 50000"/>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86" name="Google Shape;486;p28"/>
              <p:cNvCxnSpPr/>
              <p:nvPr/>
            </p:nvCxnSpPr>
            <p:spPr>
              <a:xfrm>
                <a:off x="7755900" y="2616250"/>
                <a:ext cx="177000" cy="3000"/>
              </a:xfrm>
              <a:prstGeom prst="straightConnector1">
                <a:avLst/>
              </a:prstGeom>
              <a:noFill/>
              <a:ln w="9525" cap="flat" cmpd="sng">
                <a:solidFill>
                  <a:srgbClr val="595959"/>
                </a:solidFill>
                <a:prstDash val="solid"/>
                <a:round/>
                <a:headEnd type="none" w="med" len="med"/>
                <a:tailEnd type="none" w="med" len="med"/>
              </a:ln>
            </p:spPr>
          </p:cxnSp>
        </p:grpSp>
        <p:sp>
          <p:nvSpPr>
            <p:cNvPr id="487" name="Google Shape;487;p28"/>
            <p:cNvSpPr/>
            <p:nvPr/>
          </p:nvSpPr>
          <p:spPr>
            <a:xfrm>
              <a:off x="8966075" y="1360200"/>
              <a:ext cx="64200" cy="72300"/>
            </a:xfrm>
            <a:prstGeom prst="ellipse">
              <a:avLst/>
            </a:prstGeom>
            <a:solidFill>
              <a:srgbClr val="EEEEEE"/>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28"/>
          <p:cNvGrpSpPr/>
          <p:nvPr/>
        </p:nvGrpSpPr>
        <p:grpSpPr>
          <a:xfrm>
            <a:off x="1228875" y="758650"/>
            <a:ext cx="1919088" cy="2406325"/>
            <a:chOff x="3448475" y="1368588"/>
            <a:chExt cx="1919088" cy="2406325"/>
          </a:xfrm>
        </p:grpSpPr>
        <p:sp>
          <p:nvSpPr>
            <p:cNvPr id="489" name="Google Shape;489;p28"/>
            <p:cNvSpPr/>
            <p:nvPr/>
          </p:nvSpPr>
          <p:spPr>
            <a:xfrm rot="5400000">
              <a:off x="3382613" y="1894938"/>
              <a:ext cx="2257200" cy="1204500"/>
            </a:xfrm>
            <a:prstGeom prst="trapezoid">
              <a:avLst>
                <a:gd name="adj" fmla="val 25000"/>
              </a:avLst>
            </a:prstGeom>
            <a:no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8"/>
            <p:cNvSpPr txBox="1"/>
            <p:nvPr/>
          </p:nvSpPr>
          <p:spPr>
            <a:xfrm>
              <a:off x="4164213" y="2162238"/>
              <a:ext cx="588600" cy="66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MUX</a:t>
              </a:r>
              <a:endParaRPr/>
            </a:p>
            <a:p>
              <a:pPr marL="0" lvl="0" indent="0" algn="ctr" rtl="0">
                <a:spcBef>
                  <a:spcPts val="0"/>
                </a:spcBef>
                <a:spcAft>
                  <a:spcPts val="0"/>
                </a:spcAft>
                <a:buNone/>
              </a:pPr>
              <a:r>
                <a:rPr lang="en"/>
                <a:t>8:1</a:t>
              </a:r>
              <a:endParaRPr/>
            </a:p>
          </p:txBody>
        </p:sp>
        <p:sp>
          <p:nvSpPr>
            <p:cNvPr id="491" name="Google Shape;491;p28"/>
            <p:cNvSpPr txBox="1"/>
            <p:nvPr/>
          </p:nvSpPr>
          <p:spPr>
            <a:xfrm>
              <a:off x="3930738" y="1453013"/>
              <a:ext cx="405600" cy="2109300"/>
            </a:xfrm>
            <a:prstGeom prst="rect">
              <a:avLst/>
            </a:prstGeom>
            <a:noFill/>
            <a:ln>
              <a:noFill/>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D0</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D1</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D2</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D3</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D4</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D5</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D6</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D7</a:t>
              </a:r>
              <a:endParaRPr>
                <a:solidFill>
                  <a:srgbClr val="000000"/>
                </a:solidFill>
              </a:endParaRPr>
            </a:p>
          </p:txBody>
        </p:sp>
        <p:cxnSp>
          <p:nvCxnSpPr>
            <p:cNvPr id="492" name="Google Shape;492;p28"/>
            <p:cNvCxnSpPr/>
            <p:nvPr/>
          </p:nvCxnSpPr>
          <p:spPr>
            <a:xfrm rot="10800000">
              <a:off x="3776438" y="165423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3" name="Google Shape;493;p28"/>
            <p:cNvCxnSpPr/>
            <p:nvPr/>
          </p:nvCxnSpPr>
          <p:spPr>
            <a:xfrm rot="10800000">
              <a:off x="3776438" y="18971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4" name="Google Shape;494;p28"/>
            <p:cNvCxnSpPr/>
            <p:nvPr/>
          </p:nvCxnSpPr>
          <p:spPr>
            <a:xfrm rot="10800000">
              <a:off x="3776438" y="214013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5" name="Google Shape;495;p28"/>
            <p:cNvCxnSpPr/>
            <p:nvPr/>
          </p:nvCxnSpPr>
          <p:spPr>
            <a:xfrm rot="10800000">
              <a:off x="3776438" y="23830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6" name="Google Shape;496;p28"/>
            <p:cNvCxnSpPr/>
            <p:nvPr/>
          </p:nvCxnSpPr>
          <p:spPr>
            <a:xfrm rot="10800000">
              <a:off x="3776438" y="2640488"/>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7" name="Google Shape;497;p28"/>
            <p:cNvCxnSpPr/>
            <p:nvPr/>
          </p:nvCxnSpPr>
          <p:spPr>
            <a:xfrm rot="10800000">
              <a:off x="3776438" y="2894079"/>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8" name="Google Shape;498;p28"/>
            <p:cNvCxnSpPr/>
            <p:nvPr/>
          </p:nvCxnSpPr>
          <p:spPr>
            <a:xfrm rot="10800000">
              <a:off x="3776438" y="3147671"/>
              <a:ext cx="135600" cy="0"/>
            </a:xfrm>
            <a:prstGeom prst="straightConnector1">
              <a:avLst/>
            </a:prstGeom>
            <a:noFill/>
            <a:ln w="9525" cap="flat" cmpd="sng">
              <a:solidFill>
                <a:srgbClr val="595959"/>
              </a:solidFill>
              <a:prstDash val="solid"/>
              <a:round/>
              <a:headEnd type="none" w="med" len="med"/>
              <a:tailEnd type="none" w="med" len="med"/>
            </a:ln>
          </p:spPr>
        </p:cxnSp>
        <p:cxnSp>
          <p:nvCxnSpPr>
            <p:cNvPr id="499" name="Google Shape;499;p28"/>
            <p:cNvCxnSpPr/>
            <p:nvPr/>
          </p:nvCxnSpPr>
          <p:spPr>
            <a:xfrm rot="10800000">
              <a:off x="3776438" y="3401263"/>
              <a:ext cx="135600" cy="0"/>
            </a:xfrm>
            <a:prstGeom prst="straightConnector1">
              <a:avLst/>
            </a:prstGeom>
            <a:noFill/>
            <a:ln w="9525" cap="flat" cmpd="sng">
              <a:solidFill>
                <a:srgbClr val="595959"/>
              </a:solidFill>
              <a:prstDash val="solid"/>
              <a:round/>
              <a:headEnd type="none" w="med" len="med"/>
              <a:tailEnd type="none" w="med" len="med"/>
            </a:ln>
          </p:spPr>
        </p:cxnSp>
        <p:sp>
          <p:nvSpPr>
            <p:cNvPr id="500" name="Google Shape;500;p28"/>
            <p:cNvSpPr txBox="1"/>
            <p:nvPr/>
          </p:nvSpPr>
          <p:spPr>
            <a:xfrm rot="-781861">
              <a:off x="4136129" y="3120136"/>
              <a:ext cx="1061742" cy="3266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S2  S1  S0</a:t>
              </a:r>
              <a:endParaRPr/>
            </a:p>
          </p:txBody>
        </p:sp>
        <p:cxnSp>
          <p:nvCxnSpPr>
            <p:cNvPr id="501" name="Google Shape;501;p28"/>
            <p:cNvCxnSpPr/>
            <p:nvPr/>
          </p:nvCxnSpPr>
          <p:spPr>
            <a:xfrm>
              <a:off x="4362388" y="3515963"/>
              <a:ext cx="4800" cy="258900"/>
            </a:xfrm>
            <a:prstGeom prst="straightConnector1">
              <a:avLst/>
            </a:prstGeom>
            <a:noFill/>
            <a:ln w="9525" cap="flat" cmpd="sng">
              <a:solidFill>
                <a:srgbClr val="595959"/>
              </a:solidFill>
              <a:prstDash val="solid"/>
              <a:round/>
              <a:headEnd type="none" w="med" len="med"/>
              <a:tailEnd type="none" w="med" len="med"/>
            </a:ln>
          </p:spPr>
        </p:cxnSp>
        <p:cxnSp>
          <p:nvCxnSpPr>
            <p:cNvPr id="502" name="Google Shape;502;p28"/>
            <p:cNvCxnSpPr/>
            <p:nvPr/>
          </p:nvCxnSpPr>
          <p:spPr>
            <a:xfrm>
              <a:off x="4653388" y="3439213"/>
              <a:ext cx="8100" cy="335700"/>
            </a:xfrm>
            <a:prstGeom prst="straightConnector1">
              <a:avLst/>
            </a:prstGeom>
            <a:noFill/>
            <a:ln w="9525" cap="flat" cmpd="sng">
              <a:solidFill>
                <a:srgbClr val="595959"/>
              </a:solidFill>
              <a:prstDash val="solid"/>
              <a:round/>
              <a:headEnd type="none" w="med" len="med"/>
              <a:tailEnd type="none" w="med" len="med"/>
            </a:ln>
          </p:spPr>
        </p:cxnSp>
        <p:cxnSp>
          <p:nvCxnSpPr>
            <p:cNvPr id="503" name="Google Shape;503;p28"/>
            <p:cNvCxnSpPr/>
            <p:nvPr/>
          </p:nvCxnSpPr>
          <p:spPr>
            <a:xfrm>
              <a:off x="4982738" y="3359288"/>
              <a:ext cx="3900" cy="415500"/>
            </a:xfrm>
            <a:prstGeom prst="straightConnector1">
              <a:avLst/>
            </a:prstGeom>
            <a:noFill/>
            <a:ln w="9525" cap="flat" cmpd="sng">
              <a:solidFill>
                <a:srgbClr val="595959"/>
              </a:solidFill>
              <a:prstDash val="solid"/>
              <a:round/>
              <a:headEnd type="none" w="med" len="med"/>
              <a:tailEnd type="none" w="med" len="med"/>
            </a:ln>
          </p:spPr>
        </p:cxnSp>
        <p:cxnSp>
          <p:nvCxnSpPr>
            <p:cNvPr id="504" name="Google Shape;504;p28"/>
            <p:cNvCxnSpPr>
              <a:stCxn id="489" idx="0"/>
            </p:cNvCxnSpPr>
            <p:nvPr/>
          </p:nvCxnSpPr>
          <p:spPr>
            <a:xfrm>
              <a:off x="5113463" y="2497188"/>
              <a:ext cx="254100" cy="0"/>
            </a:xfrm>
            <a:prstGeom prst="straightConnector1">
              <a:avLst/>
            </a:prstGeom>
            <a:noFill/>
            <a:ln w="9525" cap="flat" cmpd="sng">
              <a:solidFill>
                <a:srgbClr val="595959"/>
              </a:solidFill>
              <a:prstDash val="solid"/>
              <a:round/>
              <a:headEnd type="none" w="med" len="med"/>
              <a:tailEnd type="none" w="med" len="med"/>
            </a:ln>
          </p:spPr>
        </p:cxnSp>
        <p:sp>
          <p:nvSpPr>
            <p:cNvPr id="505" name="Google Shape;505;p28"/>
            <p:cNvSpPr txBox="1"/>
            <p:nvPr/>
          </p:nvSpPr>
          <p:spPr>
            <a:xfrm>
              <a:off x="4853113" y="2295888"/>
              <a:ext cx="217500" cy="2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Y</a:t>
              </a:r>
              <a:endParaRPr/>
            </a:p>
          </p:txBody>
        </p:sp>
        <p:sp>
          <p:nvSpPr>
            <p:cNvPr id="506" name="Google Shape;506;p28"/>
            <p:cNvSpPr txBox="1"/>
            <p:nvPr/>
          </p:nvSpPr>
          <p:spPr>
            <a:xfrm>
              <a:off x="3448475" y="1442550"/>
              <a:ext cx="405600" cy="2109300"/>
            </a:xfrm>
            <a:prstGeom prst="rect">
              <a:avLst/>
            </a:prstGeom>
            <a:noFill/>
            <a:ln w="9525" cap="flat" cmpd="sng">
              <a:solidFill>
                <a:srgbClr val="B7B7B7"/>
              </a:solidFill>
              <a:prstDash val="dot"/>
              <a:round/>
              <a:headEnd type="none" w="sm" len="sm"/>
              <a:tailEnd type="none" w="sm" len="sm"/>
            </a:ln>
          </p:spPr>
          <p:txBody>
            <a:bodyPr spcFirstLastPara="1" wrap="square" lIns="0" tIns="91425" rIns="194000" bIns="91425" anchor="t" anchorCtr="0">
              <a:noAutofit/>
            </a:bodyPr>
            <a:lstStyle/>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a:p>
              <a:pPr marL="0" marR="0" lvl="0" indent="0" algn="l" rtl="0">
                <a:lnSpc>
                  <a:spcPct val="115000"/>
                </a:lnSpc>
                <a:spcBef>
                  <a:spcPts val="0"/>
                </a:spcBef>
                <a:spcAft>
                  <a:spcPts val="0"/>
                </a:spcAft>
                <a:buNone/>
              </a:pPr>
              <a:r>
                <a:rPr lang="en">
                  <a:solidFill>
                    <a:srgbClr val="000000"/>
                  </a:solidFill>
                </a:rPr>
                <a:t>?</a:t>
              </a:r>
              <a:endParaRPr>
                <a:solidFill>
                  <a:srgbClr val="000000"/>
                </a:solidFill>
              </a:endParaRPr>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1794</Words>
  <Application>Microsoft Office PowerPoint</Application>
  <PresentationFormat>On-screen Show (16:9)</PresentationFormat>
  <Paragraphs>895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Simple Light</vt:lpstr>
      <vt:lpstr>CBB JK</vt:lpstr>
      <vt:lpstr>I. Circuite basculante bistabile (CBB)</vt:lpstr>
      <vt:lpstr>II. Folosirea organigramelor în sinteza circuitelor secvențiale </vt:lpstr>
      <vt:lpstr>1. Descrierea în cuvinte și sub formă de schemă bloc </vt:lpstr>
      <vt:lpstr>1. Descrierea în cuvinte și sub formă de schemă bloc </vt:lpstr>
      <vt:lpstr>2. Elaborarea organigramei:</vt:lpstr>
      <vt:lpstr>3. Codificarea + asignarea stărilor </vt:lpstr>
      <vt:lpstr>4. Tabelul tranzițiilor</vt:lpstr>
      <vt:lpstr>5-6. Construirea diagramelor Karnaugh pentru variabilele de stare + Obținerea ecuațiilor de stare</vt:lpstr>
      <vt:lpstr>4. Tabelul tranzițiilor</vt:lpstr>
      <vt:lpstr>7.Construirea diagramelor Karnaugh pentru intrările CBB-urilor folosite în implementare (minimizările sunt opționale)</vt:lpstr>
      <vt:lpstr>9. Implementare Q0 folosind CBB tip D și MUX 4:1 </vt:lpstr>
      <vt:lpstr>9. Implementare Q2 folosind CBB tip JK unde J e implementat cu MUX 2:1 și K cu MUX 8:1 </vt:lpstr>
      <vt:lpstr>9. Implementare Q1 folosind CBB tip JK unde J și K sunt implementate cu porți NOR</vt:lpstr>
      <vt:lpstr>8-9. Determinarea expresiilor logice ale variabilelor de ieșire + Implementarea ieșirii cu NAND</vt:lpstr>
      <vt:lpstr>Implementarea circuitului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CBB JK</dc:title>
  <cp:lastModifiedBy>Florin-Ioan SUBȚIRICĂ (123781)</cp:lastModifiedBy>
  <cp:revision>1</cp:revision>
  <dcterms:modified xsi:type="dcterms:W3CDTF">2021-12-03T21:33:02Z</dcterms:modified>
</cp:coreProperties>
</file>